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3" r:id="rId1"/>
  </p:sldMasterIdLst>
  <p:notesMasterIdLst>
    <p:notesMasterId r:id="rId23"/>
  </p:notesMasterIdLst>
  <p:sldIdLst>
    <p:sldId id="351" r:id="rId2"/>
    <p:sldId id="359" r:id="rId3"/>
    <p:sldId id="366" r:id="rId4"/>
    <p:sldId id="375" r:id="rId5"/>
    <p:sldId id="371" r:id="rId6"/>
    <p:sldId id="367" r:id="rId7"/>
    <p:sldId id="368" r:id="rId8"/>
    <p:sldId id="369" r:id="rId9"/>
    <p:sldId id="352" r:id="rId10"/>
    <p:sldId id="353" r:id="rId11"/>
    <p:sldId id="364" r:id="rId12"/>
    <p:sldId id="374" r:id="rId13"/>
    <p:sldId id="355" r:id="rId14"/>
    <p:sldId id="370" r:id="rId15"/>
    <p:sldId id="357" r:id="rId16"/>
    <p:sldId id="361" r:id="rId17"/>
    <p:sldId id="376" r:id="rId18"/>
    <p:sldId id="377" r:id="rId19"/>
    <p:sldId id="378" r:id="rId20"/>
    <p:sldId id="365" r:id="rId21"/>
    <p:sldId id="372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165" autoAdjust="0"/>
    <p:restoredTop sz="94660"/>
  </p:normalViewPr>
  <p:slideViewPr>
    <p:cSldViewPr>
      <p:cViewPr varScale="1">
        <p:scale>
          <a:sx n="48" d="100"/>
          <a:sy n="48" d="100"/>
        </p:scale>
        <p:origin x="1066" y="4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3ED07577-8327-4E73-A3B8-3BCFBB08078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3328ECE1-ACF3-43BA-9375-E0C16447F08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548FACAF-550F-4A9C-A75A-45E57328FEC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7" name="Rectangle 5">
            <a:extLst>
              <a:ext uri="{FF2B5EF4-FFF2-40B4-BE49-F238E27FC236}">
                <a16:creationId xmlns:a16="http://schemas.microsoft.com/office/drawing/2014/main" id="{05B06BE3-94C8-43E1-A8D8-A0B83600DA1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3798" name="Rectangle 6">
            <a:extLst>
              <a:ext uri="{FF2B5EF4-FFF2-40B4-BE49-F238E27FC236}">
                <a16:creationId xmlns:a16="http://schemas.microsoft.com/office/drawing/2014/main" id="{B427335B-714B-4E3E-B6B7-AFA3B2AEC28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799" name="Rectangle 7">
            <a:extLst>
              <a:ext uri="{FF2B5EF4-FFF2-40B4-BE49-F238E27FC236}">
                <a16:creationId xmlns:a16="http://schemas.microsoft.com/office/drawing/2014/main" id="{C45FAC3E-AFAE-4C91-BB6C-A5EF6A127D6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5EA45674-30F8-420C-A303-8DFF9E94562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D8216A35-DF30-4B6E-9A6D-1E59A0487C5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B37C1B2-1E1A-47DD-81E3-BD43A8B40880}" type="slidenum">
              <a:rPr lang="en-US" altLang="en-US" smtClean="0"/>
              <a:pPr/>
              <a:t>2</a:t>
            </a:fld>
            <a:endParaRPr lang="en-US" altLang="en-US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78BC507E-4057-48C2-A0A1-47501FF1AEF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E9A6BE2A-9674-4074-B937-A9D3578AE1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EA45674-30F8-420C-A303-8DFF9E945628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896292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fld id="{E09070B1-C1D9-4F06-B234-A9FCC0B1DA32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3321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46842"/>
            <a:ext cx="78867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93851"/>
            <a:ext cx="7886700" cy="44831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57950" y="6141245"/>
            <a:ext cx="2057400" cy="365125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2350" y="6413501"/>
            <a:ext cx="1143000" cy="365125"/>
          </a:xfrm>
        </p:spPr>
        <p:txBody>
          <a:bodyPr/>
          <a:lstStyle/>
          <a:p>
            <a:pPr>
              <a:defRPr/>
            </a:pPr>
            <a:fld id="{ADE5204E-6AEF-4076-9314-93C0E027C67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1225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23966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3227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BB7110-41F4-4121-B679-54BEB383A90B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6441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62877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62877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D819A21-3852-4F37-AA13-EE68A35525E5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23356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87904E-CBDC-43ED-A0B4-5B9D79DD2DB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9586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836E59-ED36-47D7-ADCD-982D96427D2B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10734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900" y="1781176"/>
            <a:ext cx="2711450" cy="4244974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F0B17F-6A58-49F0-AB1F-E22BCFD75F2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297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F0B17F-6A58-49F0-AB1F-E22BCFD75F2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1462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C43105-B9D3-468F-80FE-92088B3E707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0459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F0B17F-6A58-49F0-AB1F-E22BCFD75F2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9440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F0B17F-6A58-49F0-AB1F-E22BCFD75F2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57771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457200"/>
            <a:ext cx="4629150" cy="54038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0A6F0C-353A-4FB0-A6C5-46A2F84C8BF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64152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457200"/>
            <a:ext cx="4629150" cy="540385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AC788A-1DA9-42C7-9DD7-69FB6F2B1F62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25788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48EE5CC-75F0-43BC-9254-2F6AB84EC4E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41734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C692AC-4054-419A-A6D3-2402EC05993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493418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981200"/>
            <a:ext cx="8229600" cy="38862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05AA9AB-8C65-4679-B24D-0BAB14F141A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BA57630-A65B-4FB7-B220-45B7981011B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891477-D32A-418E-ACBE-39B9ED53300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F0827B1C-D7C3-49B6-B1A7-4121AD2461D2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542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15557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625600"/>
            <a:ext cx="7886700" cy="44608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97750" y="6121400"/>
            <a:ext cx="1117600" cy="2762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87850" y="6432550"/>
            <a:ext cx="3009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97750" y="6432551"/>
            <a:ext cx="1117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fld id="{99F0B17F-6A58-49F0-AB1F-E22BCFD75F2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9833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4" r:id="rId1"/>
    <p:sldLayoutId id="2147483815" r:id="rId2"/>
    <p:sldLayoutId id="2147483816" r:id="rId3"/>
    <p:sldLayoutId id="2147483817" r:id="rId4"/>
    <p:sldLayoutId id="2147483818" r:id="rId5"/>
    <p:sldLayoutId id="2147483819" r:id="rId6"/>
    <p:sldLayoutId id="2147483820" r:id="rId7"/>
    <p:sldLayoutId id="2147483821" r:id="rId8"/>
    <p:sldLayoutId id="2147483822" r:id="rId9"/>
    <p:sldLayoutId id="2147483823" r:id="rId10"/>
    <p:sldLayoutId id="2147483824" r:id="rId11"/>
    <p:sldLayoutId id="2147483825" r:id="rId12"/>
    <p:sldLayoutId id="2147483826" r:id="rId13"/>
    <p:sldLayoutId id="2147483827" r:id="rId14"/>
    <p:sldLayoutId id="2147483828" r:id="rId15"/>
    <p:sldLayoutId id="2147483829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4">
            <a:extLst>
              <a:ext uri="{FF2B5EF4-FFF2-40B4-BE49-F238E27FC236}">
                <a16:creationId xmlns:a16="http://schemas.microsoft.com/office/drawing/2014/main" id="{F40F4AEA-26DC-4CAC-8ED3-91673C81934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Unit 8. </a:t>
            </a:r>
            <a:br>
              <a:rPr lang="en-US" altLang="en-US" dirty="0"/>
            </a:br>
            <a:r>
              <a:rPr lang="en-US" altLang="en-US" dirty="0"/>
              <a:t>LL(k) grammars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7C3E5F5D-6F87-479F-A69F-68C33A9388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5300" y="152400"/>
            <a:ext cx="8153400" cy="1371600"/>
          </a:xfrm>
        </p:spPr>
        <p:txBody>
          <a:bodyPr/>
          <a:lstStyle/>
          <a:p>
            <a:pPr eaLnBrk="1" hangingPunct="1"/>
            <a:r>
              <a:rPr lang="en-US" altLang="en-US" sz="4000" dirty="0">
                <a:ea typeface="MS PGothic" panose="020B0600070205080204" pitchFamily="34" charset="-128"/>
              </a:rPr>
              <a:t>Hierarchy of grammar classes</a:t>
            </a:r>
            <a:endParaRPr lang="en-US" altLang="zh-CN" sz="4000" dirty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pic>
        <p:nvPicPr>
          <p:cNvPr id="5123" name="Picture 5" descr="03hierarchy.png">
            <a:extLst>
              <a:ext uri="{FF2B5EF4-FFF2-40B4-BE49-F238E27FC236}">
                <a16:creationId xmlns:a16="http://schemas.microsoft.com/office/drawing/2014/main" id="{5AE13288-92FF-4A00-87D9-F7A872C77F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295400"/>
            <a:ext cx="5478463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>
            <a:extLst>
              <a:ext uri="{FF2B5EF4-FFF2-40B4-BE49-F238E27FC236}">
                <a16:creationId xmlns:a16="http://schemas.microsoft.com/office/drawing/2014/main" id="{63934A56-ED19-4912-92FB-AD0C05BB27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LL(k) grammar</a:t>
            </a: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8B62CCBA-4B1E-42F2-AB71-D3850466FF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What is LL(k)?</a:t>
            </a:r>
          </a:p>
          <a:p>
            <a:pPr lvl="1" eaLnBrk="1" hangingPunct="1"/>
            <a:r>
              <a:rPr lang="en-US" altLang="en-US" sz="2400" dirty="0"/>
              <a:t>The first </a:t>
            </a:r>
            <a:r>
              <a:rPr lang="en-US" altLang="en-US" sz="2400" i="1" dirty="0"/>
              <a:t>L</a:t>
            </a:r>
            <a:r>
              <a:rPr lang="en-US" altLang="en-US" sz="2400" dirty="0"/>
              <a:t> stands for scanning the input from </a:t>
            </a:r>
            <a:r>
              <a:rPr lang="en-US" altLang="en-US" sz="2400" b="1" dirty="0"/>
              <a:t>l</a:t>
            </a:r>
            <a:r>
              <a:rPr lang="en-US" altLang="en-US" sz="2400" dirty="0"/>
              <a:t>eft to right, </a:t>
            </a:r>
          </a:p>
          <a:p>
            <a:pPr lvl="1" eaLnBrk="1" hangingPunct="1"/>
            <a:r>
              <a:rPr lang="en-US" altLang="en-US" sz="2400" dirty="0"/>
              <a:t>the second </a:t>
            </a:r>
            <a:r>
              <a:rPr lang="en-US" altLang="en-US" sz="2400" i="1" dirty="0"/>
              <a:t>L</a:t>
            </a:r>
            <a:r>
              <a:rPr lang="en-US" altLang="en-US" sz="2400" dirty="0"/>
              <a:t> stands for producing a </a:t>
            </a:r>
            <a:r>
              <a:rPr lang="en-US" altLang="en-US" sz="2400" b="1" dirty="0"/>
              <a:t>l</a:t>
            </a:r>
            <a:r>
              <a:rPr lang="en-US" altLang="en-US" sz="2400" dirty="0"/>
              <a:t>eftmost derivation, </a:t>
            </a:r>
          </a:p>
          <a:p>
            <a:pPr lvl="1" eaLnBrk="1" hangingPunct="1"/>
            <a:r>
              <a:rPr lang="en-US" altLang="en-US" sz="2400" dirty="0"/>
              <a:t>And k stands for using </a:t>
            </a:r>
            <a:r>
              <a:rPr lang="en-US" altLang="en-US" sz="2400" b="1" dirty="0"/>
              <a:t>k</a:t>
            </a:r>
            <a:r>
              <a:rPr lang="en-US" altLang="en-US" sz="2400" dirty="0"/>
              <a:t> input symbols of lookahead at each step to make parsing action decision. 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</p:txBody>
      </p:sp>
      <p:sp>
        <p:nvSpPr>
          <p:cNvPr id="7170" name="Slide Number Placeholder 5">
            <a:extLst>
              <a:ext uri="{FF2B5EF4-FFF2-40B4-BE49-F238E27FC236}">
                <a16:creationId xmlns:a16="http://schemas.microsoft.com/office/drawing/2014/main" id="{9546AE95-A872-47F3-B597-30B5FE88B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12193E93-E3EB-4C3E-8327-3172D8002680}" type="slidenum">
              <a:rPr lang="en-US" altLang="en-US" sz="12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7AA6F5D5-0F66-46AC-92A2-A27A7F7693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lang="en-US" altLang="en-US" dirty="0"/>
              <a:t>LL(k) Grammar</a:t>
            </a:r>
            <a:endParaRPr lang="en-GB" altLang="en-US" dirty="0"/>
          </a:p>
        </p:txBody>
      </p:sp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id="{EE0EAACF-7229-42E6-BCD3-D563B5E0C0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3400" y="1295400"/>
            <a:ext cx="8229600" cy="3886200"/>
          </a:xfrm>
        </p:spPr>
        <p:txBody>
          <a:bodyPr>
            <a:normAutofit fontScale="92500" lnSpcReduction="10000"/>
          </a:bodyPr>
          <a:lstStyle/>
          <a:p>
            <a:r>
              <a:rPr lang="en-GB" altLang="en-US" sz="2800"/>
              <a:t>Subset of CFG’s </a:t>
            </a:r>
          </a:p>
          <a:p>
            <a:r>
              <a:rPr lang="en-GB" altLang="en-US" sz="2800"/>
              <a:t>Permits deterministic left-to-right recognition with a look ahead of k symbols </a:t>
            </a:r>
          </a:p>
          <a:p>
            <a:r>
              <a:rPr lang="en-GB" altLang="en-US" sz="2800"/>
              <a:t>Builds the parse tree top-down </a:t>
            </a:r>
          </a:p>
          <a:p>
            <a:r>
              <a:rPr lang="en-GB" altLang="en-US" sz="2800"/>
              <a:t>If the correct production can be deduced from the partially constructed tree and the next k symbols in the unscanned string, for every possible step, then the grammar is said to be LL(k) </a:t>
            </a:r>
          </a:p>
          <a:p>
            <a:r>
              <a:rPr lang="en-GB" altLang="en-US" sz="2800"/>
              <a:t>If a parse table can be constructed for the grammar, then it is LL(k), if it can’t, it is not LL(k)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C5DB3D14-859C-4F72-B5D3-0F3EFD1B32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LL(k) Grammars</a:t>
            </a: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4A63C633-325F-4248-8089-348F4534FA7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/>
              <a:t>An LL(k) grammar has the property that a parser can be constructed to scan an input string from left to right and build a leftmost derivation by examining next k input symbols to determine the unique production for each derivation step.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If a language has an LL(k) grammar, it is called an LL(k) language.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LL(k) languages are </a:t>
            </a:r>
            <a:r>
              <a:rPr lang="en-US" altLang="en-US" sz="2800">
                <a:solidFill>
                  <a:srgbClr val="FF0000"/>
                </a:solidFill>
              </a:rPr>
              <a:t>deterministic context-free languages</a:t>
            </a:r>
            <a:r>
              <a:rPr lang="en-US" altLang="en-US" sz="2800"/>
              <a:t>, but there are deterministic context-free languages that are not LL(k)</a:t>
            </a:r>
          </a:p>
          <a:p>
            <a:pPr eaLnBrk="1" hangingPunct="1"/>
            <a:endParaRPr lang="en-US" altLang="en-US" sz="2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3">
            <a:extLst>
              <a:ext uri="{FF2B5EF4-FFF2-40B4-BE49-F238E27FC236}">
                <a16:creationId xmlns:a16="http://schemas.microsoft.com/office/drawing/2014/main" id="{AE992F75-31C0-4EFE-9135-0371FA62E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DC7B55EF-3410-4B4B-BFE9-763A02D5B33E}" type="slidenum">
              <a:rPr lang="en-US" altLang="en-US" sz="12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200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39B34FC1-7975-439F-8B8C-627AEF233BC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304800"/>
            <a:ext cx="8229600" cy="1371600"/>
          </a:xfrm>
        </p:spPr>
        <p:txBody>
          <a:bodyPr/>
          <a:lstStyle/>
          <a:p>
            <a:pPr eaLnBrk="1" hangingPunct="1">
              <a:spcBef>
                <a:spcPct val="100000"/>
              </a:spcBef>
            </a:pPr>
            <a:r>
              <a:rPr lang="en-US" altLang="en-US" sz="4000" dirty="0"/>
              <a:t>How to Build Parse Tables? </a:t>
            </a:r>
            <a:br>
              <a:rPr lang="en-US" altLang="en-US" sz="4000" dirty="0"/>
            </a:br>
            <a:r>
              <a:rPr lang="en-US" altLang="en-US" sz="4000" dirty="0"/>
              <a:t>FIRST and FOLLOW Sets</a:t>
            </a:r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BF9DCD26-C1DF-41FB-AD0C-5DF1FAB7286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59080" y="2017712"/>
            <a:ext cx="8229600" cy="38862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800" dirty="0"/>
              <a:t>For a string of grammar symbols </a:t>
            </a:r>
            <a:r>
              <a:rPr lang="en-US" altLang="en-US" sz="2800" dirty="0">
                <a:sym typeface="Symbol" panose="05050102010706020507" pitchFamily="18" charset="2"/>
              </a:rPr>
              <a:t> define FIRST() as </a:t>
            </a:r>
          </a:p>
          <a:p>
            <a:pPr eaLnBrk="1" hangingPunct="1"/>
            <a:r>
              <a:rPr lang="en-US" altLang="en-US" sz="2800" dirty="0">
                <a:sym typeface="Symbol" panose="05050102010706020507" pitchFamily="18" charset="2"/>
              </a:rPr>
              <a:t>The set of tokens that appear as the first symbol in some string that derives from  </a:t>
            </a:r>
          </a:p>
          <a:p>
            <a:pPr eaLnBrk="1" hangingPunct="1"/>
            <a:r>
              <a:rPr lang="en-US" altLang="en-US" sz="2800" dirty="0">
                <a:sym typeface="Symbol" panose="05050102010706020507" pitchFamily="18" charset="2"/>
              </a:rPr>
              <a:t>If  </a:t>
            </a:r>
            <a:r>
              <a:rPr lang="en-US" altLang="en-US" sz="2800" baseline="30000" dirty="0">
                <a:sym typeface="Symbol" panose="05050102010706020507" pitchFamily="18" charset="2"/>
              </a:rPr>
              <a:t>*</a:t>
            </a:r>
            <a:r>
              <a:rPr lang="en-US" altLang="en-US" sz="2800" i="1" dirty="0">
                <a:sym typeface="Symbol" panose="05050102010706020507" pitchFamily="18" charset="2"/>
              </a:rPr>
              <a:t>  </a:t>
            </a:r>
            <a:r>
              <a:rPr lang="en-US" altLang="en-US" sz="2800" dirty="0">
                <a:sym typeface="Symbol" panose="05050102010706020507" pitchFamily="18" charset="2"/>
              </a:rPr>
              <a:t>, then  is in FIRST() </a:t>
            </a:r>
          </a:p>
          <a:p>
            <a:pPr eaLnBrk="1" hangingPunct="1">
              <a:buFontTx/>
              <a:buNone/>
            </a:pPr>
            <a:r>
              <a:rPr lang="en-US" altLang="en-US" sz="2800" dirty="0"/>
              <a:t>For a non-terminal symbol </a:t>
            </a:r>
            <a:r>
              <a:rPr lang="en-US" altLang="en-US" sz="2800" i="1" dirty="0"/>
              <a:t>A</a:t>
            </a:r>
            <a:r>
              <a:rPr lang="en-US" altLang="en-US" sz="2800" dirty="0"/>
              <a:t>, define FOLLOW(</a:t>
            </a:r>
            <a:r>
              <a:rPr lang="en-US" altLang="en-US" sz="2800" i="1" dirty="0"/>
              <a:t>A</a:t>
            </a:r>
            <a:r>
              <a:rPr lang="en-US" altLang="en-US" sz="2800" dirty="0"/>
              <a:t>) as</a:t>
            </a:r>
          </a:p>
          <a:p>
            <a:pPr eaLnBrk="1" hangingPunct="1">
              <a:buFontTx/>
              <a:buNone/>
            </a:pPr>
            <a:r>
              <a:rPr lang="en-US" altLang="en-US" sz="2800" dirty="0"/>
              <a:t>	The set of terminal symbols that can appear immediately to the right of </a:t>
            </a:r>
            <a:r>
              <a:rPr lang="en-US" altLang="en-US" sz="2800" i="1" dirty="0"/>
              <a:t>A</a:t>
            </a:r>
            <a:r>
              <a:rPr lang="en-US" altLang="en-US" sz="2800" dirty="0"/>
              <a:t> in some sentential form</a:t>
            </a:r>
            <a:endParaRPr lang="en-US" altLang="en-US" sz="2800" dirty="0">
              <a:sym typeface="Symbol" panose="05050102010706020507" pitchFamily="18" charset="2"/>
            </a:endParaRPr>
          </a:p>
          <a:p>
            <a:pPr eaLnBrk="1" hangingPunct="1">
              <a:spcBef>
                <a:spcPct val="30000"/>
              </a:spcBef>
              <a:buFontTx/>
              <a:buNone/>
            </a:pPr>
            <a:endParaRPr lang="en-US" altLang="en-US" sz="2800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>
            <a:extLst>
              <a:ext uri="{FF2B5EF4-FFF2-40B4-BE49-F238E27FC236}">
                <a16:creationId xmlns:a16="http://schemas.microsoft.com/office/drawing/2014/main" id="{A62EEE7C-56A4-466B-B76B-55F8B1317F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FIRST Set Construction</a:t>
            </a:r>
          </a:p>
        </p:txBody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21ECA67E-5EE2-4EE3-AB35-8C4EA85F993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593851"/>
            <a:ext cx="8210550" cy="4483100"/>
          </a:xfrm>
        </p:spPr>
        <p:txBody>
          <a:bodyPr/>
          <a:lstStyle/>
          <a:p>
            <a:pPr eaLnBrk="1" hangingPunct="1">
              <a:spcBef>
                <a:spcPct val="30000"/>
              </a:spcBef>
              <a:buFontTx/>
              <a:buNone/>
            </a:pPr>
            <a:r>
              <a:rPr lang="en-US" altLang="en-US" sz="2000" dirty="0">
                <a:sym typeface="Symbol" panose="05050102010706020507" pitchFamily="18" charset="2"/>
              </a:rPr>
              <a:t>To construct FIRST(</a:t>
            </a:r>
            <a:r>
              <a:rPr lang="en-US" altLang="en-US" sz="2000" i="1" dirty="0">
                <a:sym typeface="Symbol" panose="05050102010706020507" pitchFamily="18" charset="2"/>
              </a:rPr>
              <a:t>X</a:t>
            </a:r>
            <a:r>
              <a:rPr lang="en-US" altLang="en-US" sz="2000" dirty="0">
                <a:sym typeface="Symbol" panose="05050102010706020507" pitchFamily="18" charset="2"/>
              </a:rPr>
              <a:t>) for a grammar symbol </a:t>
            </a:r>
            <a:r>
              <a:rPr lang="en-US" altLang="en-US" sz="2000" i="1" dirty="0">
                <a:sym typeface="Symbol" panose="05050102010706020507" pitchFamily="18" charset="2"/>
              </a:rPr>
              <a:t>X</a:t>
            </a:r>
            <a:r>
              <a:rPr lang="en-US" altLang="en-US" sz="2000" dirty="0">
                <a:sym typeface="Symbol" panose="05050102010706020507" pitchFamily="18" charset="2"/>
              </a:rPr>
              <a:t>, apply the following rules until no more symbols can be added to FIRST(</a:t>
            </a:r>
            <a:r>
              <a:rPr lang="en-US" altLang="en-US" sz="2000" i="1" dirty="0">
                <a:sym typeface="Symbol" panose="05050102010706020507" pitchFamily="18" charset="2"/>
              </a:rPr>
              <a:t>X</a:t>
            </a:r>
            <a:r>
              <a:rPr lang="en-US" altLang="en-US" sz="2000" dirty="0">
                <a:sym typeface="Symbol" panose="05050102010706020507" pitchFamily="18" charset="2"/>
              </a:rPr>
              <a:t>) </a:t>
            </a:r>
          </a:p>
          <a:p>
            <a:pPr eaLnBrk="1" hangingPunct="1">
              <a:spcBef>
                <a:spcPct val="30000"/>
              </a:spcBef>
            </a:pPr>
            <a:r>
              <a:rPr lang="en-US" altLang="en-US" sz="2000" dirty="0">
                <a:sym typeface="Symbol" panose="05050102010706020507" pitchFamily="18" charset="2"/>
              </a:rPr>
              <a:t>If  </a:t>
            </a:r>
            <a:r>
              <a:rPr lang="en-US" altLang="en-US" sz="2000" i="1" dirty="0">
                <a:sym typeface="Symbol" panose="05050102010706020507" pitchFamily="18" charset="2"/>
              </a:rPr>
              <a:t>X</a:t>
            </a:r>
            <a:r>
              <a:rPr lang="en-US" altLang="en-US" sz="2000" dirty="0">
                <a:sym typeface="Symbol" panose="05050102010706020507" pitchFamily="18" charset="2"/>
              </a:rPr>
              <a:t>  is a terminal FIRST(</a:t>
            </a:r>
            <a:r>
              <a:rPr lang="en-US" altLang="en-US" sz="2000" i="1" dirty="0">
                <a:sym typeface="Symbol" panose="05050102010706020507" pitchFamily="18" charset="2"/>
              </a:rPr>
              <a:t>X</a:t>
            </a:r>
            <a:r>
              <a:rPr lang="en-US" altLang="en-US" sz="2000" dirty="0">
                <a:sym typeface="Symbol" panose="05050102010706020507" pitchFamily="18" charset="2"/>
              </a:rPr>
              <a:t>) is {</a:t>
            </a:r>
            <a:r>
              <a:rPr lang="en-US" altLang="en-US" sz="2000" i="1" dirty="0">
                <a:sym typeface="Symbol" panose="05050102010706020507" pitchFamily="18" charset="2"/>
              </a:rPr>
              <a:t>X</a:t>
            </a:r>
            <a:r>
              <a:rPr lang="en-US" altLang="en-US" sz="2000" dirty="0">
                <a:sym typeface="Symbol" panose="05050102010706020507" pitchFamily="18" charset="2"/>
              </a:rPr>
              <a:t>}</a:t>
            </a:r>
          </a:p>
          <a:p>
            <a:pPr eaLnBrk="1" hangingPunct="1">
              <a:spcBef>
                <a:spcPct val="30000"/>
              </a:spcBef>
            </a:pPr>
            <a:r>
              <a:rPr lang="en-US" altLang="en-US" sz="2000" dirty="0">
                <a:sym typeface="Symbol" panose="05050102010706020507" pitchFamily="18" charset="2"/>
              </a:rPr>
              <a:t>If </a:t>
            </a:r>
            <a:r>
              <a:rPr lang="en-US" altLang="en-US" sz="2000" i="1" dirty="0">
                <a:sym typeface="Symbol" panose="05050102010706020507" pitchFamily="18" charset="2"/>
              </a:rPr>
              <a:t>X</a:t>
            </a:r>
            <a:r>
              <a:rPr lang="en-US" altLang="en-US" sz="2000" dirty="0">
                <a:sym typeface="Symbol" panose="05050102010706020507" pitchFamily="18" charset="2"/>
              </a:rPr>
              <a:t> </a:t>
            </a:r>
            <a:r>
              <a:rPr lang="en-US" altLang="en-US" dirty="0">
                <a:sym typeface="Symbol" panose="05050102010706020507" pitchFamily="18" charset="2"/>
              </a:rPr>
              <a:t></a:t>
            </a:r>
            <a:r>
              <a:rPr lang="en-US" altLang="en-US" sz="2000" dirty="0">
                <a:sym typeface="Symbol" panose="05050102010706020507" pitchFamily="18" charset="2"/>
              </a:rPr>
              <a:t>  is a production then  is in FIRST(</a:t>
            </a:r>
            <a:r>
              <a:rPr lang="en-US" altLang="en-US" sz="2000" i="1" dirty="0">
                <a:sym typeface="Symbol" panose="05050102010706020507" pitchFamily="18" charset="2"/>
              </a:rPr>
              <a:t>X</a:t>
            </a:r>
            <a:r>
              <a:rPr lang="en-US" altLang="en-US" sz="2000" dirty="0">
                <a:sym typeface="Symbol" panose="05050102010706020507" pitchFamily="18" charset="2"/>
              </a:rPr>
              <a:t>)</a:t>
            </a:r>
          </a:p>
          <a:p>
            <a:pPr eaLnBrk="1" hangingPunct="1">
              <a:spcBef>
                <a:spcPct val="30000"/>
              </a:spcBef>
            </a:pPr>
            <a:r>
              <a:rPr lang="en-US" altLang="en-US" sz="2000" dirty="0">
                <a:sym typeface="Symbol" panose="05050102010706020507" pitchFamily="18" charset="2"/>
              </a:rPr>
              <a:t>If  </a:t>
            </a:r>
            <a:r>
              <a:rPr lang="en-US" altLang="en-US" sz="2000" i="1" dirty="0">
                <a:sym typeface="Symbol" panose="05050102010706020507" pitchFamily="18" charset="2"/>
              </a:rPr>
              <a:t>X</a:t>
            </a:r>
            <a:r>
              <a:rPr lang="en-US" altLang="en-US" sz="2000" dirty="0">
                <a:sym typeface="Symbol" panose="05050102010706020507" pitchFamily="18" charset="2"/>
              </a:rPr>
              <a:t>  is a nonterminal and </a:t>
            </a:r>
            <a:r>
              <a:rPr lang="en-US" altLang="en-US" sz="2000" i="1" dirty="0">
                <a:sym typeface="Symbol" panose="05050102010706020507" pitchFamily="18" charset="2"/>
              </a:rPr>
              <a:t>X </a:t>
            </a:r>
            <a:r>
              <a:rPr lang="en-US" altLang="en-US" sz="2000" dirty="0">
                <a:sym typeface="Symbol" panose="05050102010706020507" pitchFamily="18" charset="2"/>
              </a:rPr>
              <a:t></a:t>
            </a:r>
            <a:r>
              <a:rPr lang="en-US" altLang="en-US" sz="2000" i="1" dirty="0">
                <a:sym typeface="Symbol" panose="05050102010706020507" pitchFamily="18" charset="2"/>
              </a:rPr>
              <a:t>Y</a:t>
            </a:r>
            <a:r>
              <a:rPr lang="en-US" altLang="en-US" sz="2000" i="1" baseline="-25000" dirty="0">
                <a:sym typeface="Symbol" panose="05050102010706020507" pitchFamily="18" charset="2"/>
              </a:rPr>
              <a:t>1</a:t>
            </a:r>
            <a:r>
              <a:rPr lang="en-US" altLang="en-US" sz="2000" i="1" dirty="0">
                <a:sym typeface="Symbol" panose="05050102010706020507" pitchFamily="18" charset="2"/>
              </a:rPr>
              <a:t>Y</a:t>
            </a:r>
            <a:r>
              <a:rPr lang="en-US" altLang="en-US" sz="2000" i="1" baseline="-25000" dirty="0">
                <a:sym typeface="Symbol" panose="05050102010706020507" pitchFamily="18" charset="2"/>
              </a:rPr>
              <a:t>2</a:t>
            </a:r>
            <a:r>
              <a:rPr lang="en-US" altLang="en-US" sz="2000" i="1" dirty="0">
                <a:sym typeface="Symbol" panose="05050102010706020507" pitchFamily="18" charset="2"/>
              </a:rPr>
              <a:t> ... </a:t>
            </a:r>
            <a:r>
              <a:rPr lang="en-US" altLang="en-US" sz="2000" i="1" dirty="0" err="1">
                <a:sym typeface="Symbol" panose="05050102010706020507" pitchFamily="18" charset="2"/>
              </a:rPr>
              <a:t>Y</a:t>
            </a:r>
            <a:r>
              <a:rPr lang="en-US" altLang="en-US" sz="2000" i="1" baseline="-25000" dirty="0" err="1">
                <a:sym typeface="Symbol" panose="05050102010706020507" pitchFamily="18" charset="2"/>
              </a:rPr>
              <a:t>k</a:t>
            </a:r>
            <a:r>
              <a:rPr lang="en-US" altLang="en-US" sz="2000" dirty="0">
                <a:sym typeface="Symbol" panose="05050102010706020507" pitchFamily="18" charset="2"/>
              </a:rPr>
              <a:t>  is a production then put every symbol in FIRST(</a:t>
            </a:r>
            <a:r>
              <a:rPr lang="en-US" altLang="en-US" sz="2000" i="1" dirty="0">
                <a:sym typeface="Symbol" panose="05050102010706020507" pitchFamily="18" charset="2"/>
              </a:rPr>
              <a:t>Y</a:t>
            </a:r>
            <a:r>
              <a:rPr lang="en-US" altLang="en-US" sz="2000" i="1" baseline="-25000" dirty="0">
                <a:sym typeface="Symbol" panose="05050102010706020507" pitchFamily="18" charset="2"/>
              </a:rPr>
              <a:t>1</a:t>
            </a:r>
            <a:r>
              <a:rPr lang="en-US" altLang="en-US" sz="2000" dirty="0">
                <a:sym typeface="Symbol" panose="05050102010706020507" pitchFamily="18" charset="2"/>
              </a:rPr>
              <a:t>) other than </a:t>
            </a:r>
            <a:r>
              <a:rPr lang="en-US" altLang="en-US" dirty="0">
                <a:sym typeface="Symbol" panose="05050102010706020507" pitchFamily="18" charset="2"/>
              </a:rPr>
              <a:t></a:t>
            </a:r>
            <a:r>
              <a:rPr lang="en-US" altLang="en-US" sz="2000" dirty="0">
                <a:sym typeface="Symbol" panose="05050102010706020507" pitchFamily="18" charset="2"/>
              </a:rPr>
              <a:t> to FIRST(</a:t>
            </a:r>
            <a:r>
              <a:rPr lang="en-US" altLang="en-US" sz="2000" i="1" dirty="0">
                <a:sym typeface="Symbol" panose="05050102010706020507" pitchFamily="18" charset="2"/>
              </a:rPr>
              <a:t>X</a:t>
            </a:r>
            <a:r>
              <a:rPr lang="en-US" altLang="en-US" sz="2000" dirty="0">
                <a:sym typeface="Symbol" panose="05050102010706020507" pitchFamily="18" charset="2"/>
              </a:rPr>
              <a:t>)</a:t>
            </a:r>
          </a:p>
          <a:p>
            <a:pPr eaLnBrk="1" hangingPunct="1">
              <a:spcBef>
                <a:spcPct val="30000"/>
              </a:spcBef>
            </a:pPr>
            <a:r>
              <a:rPr lang="en-US" altLang="en-US" sz="2000" dirty="0">
                <a:sym typeface="Symbol" panose="05050102010706020507" pitchFamily="18" charset="2"/>
              </a:rPr>
              <a:t>If  </a:t>
            </a:r>
            <a:r>
              <a:rPr lang="en-US" altLang="en-US" sz="2000" i="1" dirty="0">
                <a:sym typeface="Symbol" panose="05050102010706020507" pitchFamily="18" charset="2"/>
              </a:rPr>
              <a:t>X </a:t>
            </a:r>
            <a:r>
              <a:rPr lang="en-US" altLang="en-US" sz="2000" dirty="0">
                <a:sym typeface="Symbol" panose="05050102010706020507" pitchFamily="18" charset="2"/>
              </a:rPr>
              <a:t> is a nonterminal and </a:t>
            </a:r>
            <a:r>
              <a:rPr lang="en-US" altLang="en-US" sz="2000" i="1" dirty="0">
                <a:sym typeface="Symbol" panose="05050102010706020507" pitchFamily="18" charset="2"/>
              </a:rPr>
              <a:t>X</a:t>
            </a:r>
            <a:r>
              <a:rPr lang="en-US" altLang="en-US" sz="2000" dirty="0">
                <a:sym typeface="Symbol" panose="05050102010706020507" pitchFamily="18" charset="2"/>
              </a:rPr>
              <a:t> </a:t>
            </a:r>
            <a:r>
              <a:rPr lang="en-US" altLang="en-US" sz="2000" i="1" dirty="0">
                <a:sym typeface="Symbol" panose="05050102010706020507" pitchFamily="18" charset="2"/>
              </a:rPr>
              <a:t>Y</a:t>
            </a:r>
            <a:r>
              <a:rPr lang="en-US" altLang="en-US" sz="2000" i="1" baseline="-25000" dirty="0">
                <a:sym typeface="Symbol" panose="05050102010706020507" pitchFamily="18" charset="2"/>
              </a:rPr>
              <a:t>1</a:t>
            </a:r>
            <a:r>
              <a:rPr lang="en-US" altLang="en-US" sz="2000" i="1" dirty="0">
                <a:sym typeface="Symbol" panose="05050102010706020507" pitchFamily="18" charset="2"/>
              </a:rPr>
              <a:t>Y</a:t>
            </a:r>
            <a:r>
              <a:rPr lang="en-US" altLang="en-US" sz="2000" i="1" baseline="-25000" dirty="0">
                <a:sym typeface="Symbol" panose="05050102010706020507" pitchFamily="18" charset="2"/>
              </a:rPr>
              <a:t>2</a:t>
            </a:r>
            <a:r>
              <a:rPr lang="en-US" altLang="en-US" sz="2000" i="1" dirty="0">
                <a:sym typeface="Symbol" panose="05050102010706020507" pitchFamily="18" charset="2"/>
              </a:rPr>
              <a:t> ... </a:t>
            </a:r>
            <a:r>
              <a:rPr lang="en-US" altLang="en-US" sz="2000" i="1" dirty="0" err="1">
                <a:sym typeface="Symbol" panose="05050102010706020507" pitchFamily="18" charset="2"/>
              </a:rPr>
              <a:t>Y</a:t>
            </a:r>
            <a:r>
              <a:rPr lang="en-US" altLang="en-US" sz="2000" i="1" baseline="-25000" dirty="0" err="1">
                <a:sym typeface="Symbol" panose="05050102010706020507" pitchFamily="18" charset="2"/>
              </a:rPr>
              <a:t>k</a:t>
            </a:r>
            <a:r>
              <a:rPr lang="en-US" altLang="en-US" sz="2000" dirty="0">
                <a:sym typeface="Symbol" panose="05050102010706020507" pitchFamily="18" charset="2"/>
              </a:rPr>
              <a:t>  is a production, then put terminal </a:t>
            </a:r>
            <a:r>
              <a:rPr lang="en-US" altLang="en-US" sz="2000" i="1" dirty="0">
                <a:sym typeface="Symbol" panose="05050102010706020507" pitchFamily="18" charset="2"/>
              </a:rPr>
              <a:t>a</a:t>
            </a:r>
            <a:r>
              <a:rPr lang="en-US" altLang="en-US" sz="2000" dirty="0">
                <a:sym typeface="Symbol" panose="05050102010706020507" pitchFamily="18" charset="2"/>
              </a:rPr>
              <a:t> in FIRST(</a:t>
            </a:r>
            <a:r>
              <a:rPr lang="en-US" altLang="en-US" sz="2000" i="1" dirty="0">
                <a:sym typeface="Symbol" panose="05050102010706020507" pitchFamily="18" charset="2"/>
              </a:rPr>
              <a:t>X</a:t>
            </a:r>
            <a:r>
              <a:rPr lang="en-US" altLang="en-US" sz="2000" dirty="0">
                <a:sym typeface="Symbol" panose="05050102010706020507" pitchFamily="18" charset="2"/>
              </a:rPr>
              <a:t>) if </a:t>
            </a:r>
            <a:r>
              <a:rPr lang="en-US" altLang="en-US" sz="2000" i="1" dirty="0">
                <a:sym typeface="Symbol" panose="05050102010706020507" pitchFamily="18" charset="2"/>
              </a:rPr>
              <a:t>a</a:t>
            </a:r>
            <a:r>
              <a:rPr lang="en-US" altLang="en-US" sz="2000" dirty="0">
                <a:sym typeface="Symbol" panose="05050102010706020507" pitchFamily="18" charset="2"/>
              </a:rPr>
              <a:t> is in FIRST(</a:t>
            </a:r>
            <a:r>
              <a:rPr lang="en-US" altLang="en-US" sz="2000" i="1" dirty="0">
                <a:sym typeface="Symbol" panose="05050102010706020507" pitchFamily="18" charset="2"/>
              </a:rPr>
              <a:t>Y</a:t>
            </a:r>
            <a:r>
              <a:rPr lang="en-US" altLang="en-US" sz="2000" i="1" baseline="-25000" dirty="0">
                <a:sym typeface="Symbol" panose="05050102010706020507" pitchFamily="18" charset="2"/>
              </a:rPr>
              <a:t>i</a:t>
            </a:r>
            <a:r>
              <a:rPr lang="en-US" altLang="en-US" sz="2000" dirty="0">
                <a:sym typeface="Symbol" panose="05050102010706020507" pitchFamily="18" charset="2"/>
              </a:rPr>
              <a:t>) and </a:t>
            </a:r>
            <a:r>
              <a:rPr lang="en-US" altLang="en-US" dirty="0">
                <a:sym typeface="Symbol" panose="05050102010706020507" pitchFamily="18" charset="2"/>
              </a:rPr>
              <a:t></a:t>
            </a:r>
            <a:r>
              <a:rPr lang="en-US" altLang="en-US" sz="2000" dirty="0">
                <a:sym typeface="Symbol" panose="05050102010706020507" pitchFamily="18" charset="2"/>
              </a:rPr>
              <a:t> is in FIRST(</a:t>
            </a:r>
            <a:r>
              <a:rPr lang="en-US" altLang="en-US" sz="2000" i="1" dirty="0" err="1">
                <a:sym typeface="Symbol" panose="05050102010706020507" pitchFamily="18" charset="2"/>
              </a:rPr>
              <a:t>Y</a:t>
            </a:r>
            <a:r>
              <a:rPr lang="en-US" altLang="en-US" sz="2000" i="1" baseline="-25000" dirty="0" err="1">
                <a:sym typeface="Symbol" panose="05050102010706020507" pitchFamily="18" charset="2"/>
              </a:rPr>
              <a:t>j</a:t>
            </a:r>
            <a:r>
              <a:rPr lang="en-US" altLang="en-US" sz="2000" dirty="0">
                <a:sym typeface="Symbol" panose="05050102010706020507" pitchFamily="18" charset="2"/>
              </a:rPr>
              <a:t>) for all 1  j  </a:t>
            </a:r>
            <a:r>
              <a:rPr lang="en-US" altLang="en-US" sz="2000" dirty="0" err="1">
                <a:sym typeface="Symbol" panose="05050102010706020507" pitchFamily="18" charset="2"/>
              </a:rPr>
              <a:t>i</a:t>
            </a:r>
            <a:endParaRPr lang="en-US" altLang="en-US" sz="2000" dirty="0">
              <a:sym typeface="Symbol" panose="05050102010706020507" pitchFamily="18" charset="2"/>
            </a:endParaRPr>
          </a:p>
          <a:p>
            <a:pPr eaLnBrk="1" hangingPunct="1">
              <a:spcBef>
                <a:spcPct val="30000"/>
              </a:spcBef>
            </a:pPr>
            <a:r>
              <a:rPr lang="en-US" altLang="en-US" sz="2000" dirty="0">
                <a:sym typeface="Symbol" panose="05050102010706020507" pitchFamily="18" charset="2"/>
              </a:rPr>
              <a:t>If  </a:t>
            </a:r>
            <a:r>
              <a:rPr lang="en-US" altLang="en-US" sz="2000" i="1" dirty="0">
                <a:sym typeface="Symbol" panose="05050102010706020507" pitchFamily="18" charset="2"/>
              </a:rPr>
              <a:t>X </a:t>
            </a:r>
            <a:r>
              <a:rPr lang="en-US" altLang="en-US" sz="2000" dirty="0">
                <a:sym typeface="Symbol" panose="05050102010706020507" pitchFamily="18" charset="2"/>
              </a:rPr>
              <a:t> is a nonterminal and </a:t>
            </a:r>
            <a:r>
              <a:rPr lang="en-US" altLang="en-US" sz="2000" i="1" dirty="0">
                <a:sym typeface="Symbol" panose="05050102010706020507" pitchFamily="18" charset="2"/>
              </a:rPr>
              <a:t>X</a:t>
            </a:r>
            <a:r>
              <a:rPr lang="en-US" altLang="en-US" sz="2000" dirty="0">
                <a:sym typeface="Symbol" panose="05050102010706020507" pitchFamily="18" charset="2"/>
              </a:rPr>
              <a:t> </a:t>
            </a:r>
            <a:r>
              <a:rPr lang="en-US" altLang="en-US" sz="2000" i="1" dirty="0">
                <a:sym typeface="Symbol" panose="05050102010706020507" pitchFamily="18" charset="2"/>
              </a:rPr>
              <a:t>Y</a:t>
            </a:r>
            <a:r>
              <a:rPr lang="en-US" altLang="en-US" sz="2000" i="1" baseline="-25000" dirty="0">
                <a:sym typeface="Symbol" panose="05050102010706020507" pitchFamily="18" charset="2"/>
              </a:rPr>
              <a:t>1</a:t>
            </a:r>
            <a:r>
              <a:rPr lang="en-US" altLang="en-US" sz="2000" i="1" dirty="0">
                <a:sym typeface="Symbol" panose="05050102010706020507" pitchFamily="18" charset="2"/>
              </a:rPr>
              <a:t>Y</a:t>
            </a:r>
            <a:r>
              <a:rPr lang="en-US" altLang="en-US" sz="2000" i="1" baseline="-25000" dirty="0">
                <a:sym typeface="Symbol" panose="05050102010706020507" pitchFamily="18" charset="2"/>
              </a:rPr>
              <a:t>2</a:t>
            </a:r>
            <a:r>
              <a:rPr lang="en-US" altLang="en-US" sz="2000" i="1" dirty="0">
                <a:sym typeface="Symbol" panose="05050102010706020507" pitchFamily="18" charset="2"/>
              </a:rPr>
              <a:t> ... </a:t>
            </a:r>
            <a:r>
              <a:rPr lang="en-US" altLang="en-US" sz="2000" i="1" dirty="0" err="1">
                <a:sym typeface="Symbol" panose="05050102010706020507" pitchFamily="18" charset="2"/>
              </a:rPr>
              <a:t>Y</a:t>
            </a:r>
            <a:r>
              <a:rPr lang="en-US" altLang="en-US" sz="2000" i="1" baseline="-25000" dirty="0" err="1">
                <a:sym typeface="Symbol" panose="05050102010706020507" pitchFamily="18" charset="2"/>
              </a:rPr>
              <a:t>k</a:t>
            </a:r>
            <a:r>
              <a:rPr lang="en-US" altLang="en-US" sz="2000" dirty="0">
                <a:sym typeface="Symbol" panose="05050102010706020507" pitchFamily="18" charset="2"/>
              </a:rPr>
              <a:t>  is a production, then put </a:t>
            </a:r>
            <a:r>
              <a:rPr lang="en-US" altLang="en-US" dirty="0">
                <a:sym typeface="Symbol" panose="05050102010706020507" pitchFamily="18" charset="2"/>
              </a:rPr>
              <a:t></a:t>
            </a:r>
            <a:r>
              <a:rPr lang="en-US" altLang="en-US" sz="2000" dirty="0">
                <a:sym typeface="Symbol" panose="05050102010706020507" pitchFamily="18" charset="2"/>
              </a:rPr>
              <a:t> in FIRST(</a:t>
            </a:r>
            <a:r>
              <a:rPr lang="en-US" altLang="en-US" sz="2000" i="1" dirty="0">
                <a:sym typeface="Symbol" panose="05050102010706020507" pitchFamily="18" charset="2"/>
              </a:rPr>
              <a:t>X</a:t>
            </a:r>
            <a:r>
              <a:rPr lang="en-US" altLang="en-US" sz="2000" dirty="0">
                <a:sym typeface="Symbol" panose="05050102010706020507" pitchFamily="18" charset="2"/>
              </a:rPr>
              <a:t>) if </a:t>
            </a:r>
            <a:r>
              <a:rPr lang="en-US" altLang="en-US" dirty="0">
                <a:sym typeface="Symbol" panose="05050102010706020507" pitchFamily="18" charset="2"/>
              </a:rPr>
              <a:t></a:t>
            </a:r>
            <a:r>
              <a:rPr lang="en-US" altLang="en-US" sz="2000" dirty="0">
                <a:sym typeface="Symbol" panose="05050102010706020507" pitchFamily="18" charset="2"/>
              </a:rPr>
              <a:t> is in FIRST(</a:t>
            </a:r>
            <a:r>
              <a:rPr lang="en-US" altLang="en-US" sz="2000" i="1" dirty="0">
                <a:sym typeface="Symbol" panose="05050102010706020507" pitchFamily="18" charset="2"/>
              </a:rPr>
              <a:t>Y</a:t>
            </a:r>
            <a:r>
              <a:rPr lang="en-US" altLang="en-US" sz="2000" i="1" baseline="-25000" dirty="0">
                <a:sym typeface="Symbol" panose="05050102010706020507" pitchFamily="18" charset="2"/>
              </a:rPr>
              <a:t>i</a:t>
            </a:r>
            <a:r>
              <a:rPr lang="en-US" altLang="en-US" sz="2000" dirty="0">
                <a:sym typeface="Symbol" panose="05050102010706020507" pitchFamily="18" charset="2"/>
              </a:rPr>
              <a:t>) for all 1  </a:t>
            </a:r>
            <a:r>
              <a:rPr lang="en-US" altLang="en-US" sz="2000" dirty="0" err="1">
                <a:sym typeface="Symbol" panose="05050102010706020507" pitchFamily="18" charset="2"/>
              </a:rPr>
              <a:t>i</a:t>
            </a:r>
            <a:r>
              <a:rPr lang="en-US" altLang="en-US" sz="2000" dirty="0">
                <a:sym typeface="Symbol" panose="05050102010706020507" pitchFamily="18" charset="2"/>
              </a:rPr>
              <a:t>  k</a:t>
            </a:r>
          </a:p>
          <a:p>
            <a:pPr eaLnBrk="1" hangingPunct="1">
              <a:spcBef>
                <a:spcPct val="30000"/>
              </a:spcBef>
              <a:buFontTx/>
              <a:buNone/>
            </a:pPr>
            <a:endParaRPr lang="en-US" altLang="en-US" sz="2400" i="1" dirty="0">
              <a:sym typeface="Symbol" panose="05050102010706020507" pitchFamily="18" charset="2"/>
            </a:endParaRPr>
          </a:p>
          <a:p>
            <a:pPr eaLnBrk="1" hangingPunct="1"/>
            <a:endParaRPr lang="en-US" altLang="en-US" dirty="0"/>
          </a:p>
        </p:txBody>
      </p:sp>
      <p:sp>
        <p:nvSpPr>
          <p:cNvPr id="11266" name="Slide Number Placeholder 5">
            <a:extLst>
              <a:ext uri="{FF2B5EF4-FFF2-40B4-BE49-F238E27FC236}">
                <a16:creationId xmlns:a16="http://schemas.microsoft.com/office/drawing/2014/main" id="{EF361708-9720-4E70-843F-2570B4C88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810000" y="6400800"/>
            <a:ext cx="2895600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fld id="{42F98FC3-B9F8-4173-BBFE-8A1B9C104250}" type="slidenum">
              <a:rPr lang="en-US" altLang="en-US" sz="1200" smtClean="0">
                <a:cs typeface="Arial" panose="020B0604020202020204" pitchFamily="34" charset="0"/>
              </a:rPr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200"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8" name="Rectangle 2">
            <a:extLst>
              <a:ext uri="{FF2B5EF4-FFF2-40B4-BE49-F238E27FC236}">
                <a16:creationId xmlns:a16="http://schemas.microsoft.com/office/drawing/2014/main" id="{916C1407-7D28-44AE-8019-B5DD42128B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/>
              <a:t>Computing FIRST Sets for Strings of Symbols</a:t>
            </a:r>
          </a:p>
        </p:txBody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E2EF2084-711C-4A13-A35C-7FEAD0BD87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3400" y="1695052"/>
            <a:ext cx="7886700" cy="44831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dirty="0"/>
              <a:t>To construct the FIRST set for any string of grammar symbols </a:t>
            </a:r>
            <a:r>
              <a:rPr lang="en-US" altLang="en-US" i="1" dirty="0"/>
              <a:t>X</a:t>
            </a:r>
            <a:r>
              <a:rPr lang="en-US" altLang="en-US" i="1" baseline="-25000" dirty="0"/>
              <a:t>1</a:t>
            </a:r>
            <a:r>
              <a:rPr lang="en-US" altLang="en-US" i="1" dirty="0"/>
              <a:t>X</a:t>
            </a:r>
            <a:r>
              <a:rPr lang="en-US" altLang="en-US" i="1" baseline="-25000" dirty="0"/>
              <a:t>2</a:t>
            </a:r>
            <a:r>
              <a:rPr lang="en-US" altLang="en-US" dirty="0"/>
              <a:t> ... </a:t>
            </a:r>
            <a:r>
              <a:rPr lang="en-US" altLang="en-US" i="1" dirty="0" err="1"/>
              <a:t>X</a:t>
            </a:r>
            <a:r>
              <a:rPr lang="en-US" altLang="en-US" i="1" baseline="-25000" dirty="0" err="1"/>
              <a:t>k</a:t>
            </a:r>
            <a:r>
              <a:rPr lang="en-US" altLang="en-US" i="1" dirty="0"/>
              <a:t> </a:t>
            </a:r>
            <a:r>
              <a:rPr lang="en-US" altLang="en-US" dirty="0"/>
              <a:t>(given the FIRST sets for symbols </a:t>
            </a:r>
            <a:r>
              <a:rPr lang="en-US" altLang="en-US" i="1" dirty="0"/>
              <a:t>X</a:t>
            </a:r>
            <a:r>
              <a:rPr lang="en-US" altLang="en-US" i="1" baseline="-25000" dirty="0"/>
              <a:t>1 </a:t>
            </a:r>
            <a:r>
              <a:rPr lang="en-US" altLang="en-US" dirty="0"/>
              <a:t>, </a:t>
            </a:r>
            <a:r>
              <a:rPr lang="en-US" altLang="en-US" i="1" dirty="0"/>
              <a:t>X</a:t>
            </a:r>
            <a:r>
              <a:rPr lang="en-US" altLang="en-US" i="1" baseline="-25000" dirty="0"/>
              <a:t>2</a:t>
            </a:r>
            <a:r>
              <a:rPr lang="en-US" altLang="en-US" dirty="0"/>
              <a:t> , ... </a:t>
            </a:r>
            <a:r>
              <a:rPr lang="en-US" altLang="en-US" i="1" dirty="0" err="1"/>
              <a:t>X</a:t>
            </a:r>
            <a:r>
              <a:rPr lang="en-US" altLang="en-US" i="1" baseline="-25000" dirty="0" err="1"/>
              <a:t>k</a:t>
            </a:r>
            <a:r>
              <a:rPr lang="en-US" altLang="en-US" i="1" dirty="0"/>
              <a:t> </a:t>
            </a:r>
            <a:r>
              <a:rPr lang="en-US" altLang="en-US" dirty="0"/>
              <a:t>) apply the following rules. </a:t>
            </a:r>
          </a:p>
          <a:p>
            <a:pPr eaLnBrk="1" hangingPunct="1">
              <a:buFontTx/>
              <a:buNone/>
            </a:pPr>
            <a:r>
              <a:rPr lang="en-US" altLang="en-US" dirty="0"/>
              <a:t>FIRST(</a:t>
            </a:r>
            <a:r>
              <a:rPr lang="en-US" altLang="en-US" i="1" dirty="0"/>
              <a:t>X</a:t>
            </a:r>
            <a:r>
              <a:rPr lang="en-US" altLang="en-US" i="1" baseline="-25000" dirty="0"/>
              <a:t>1</a:t>
            </a:r>
            <a:r>
              <a:rPr lang="en-US" altLang="en-US" i="1" dirty="0"/>
              <a:t>X</a:t>
            </a:r>
            <a:r>
              <a:rPr lang="en-US" altLang="en-US" i="1" baseline="-25000" dirty="0"/>
              <a:t>2</a:t>
            </a:r>
            <a:r>
              <a:rPr lang="en-US" altLang="en-US" dirty="0"/>
              <a:t> ... </a:t>
            </a:r>
            <a:r>
              <a:rPr lang="en-US" altLang="en-US" i="1" dirty="0" err="1"/>
              <a:t>X</a:t>
            </a:r>
            <a:r>
              <a:rPr lang="en-US" altLang="en-US" i="1" baseline="-25000" dirty="0" err="1"/>
              <a:t>k</a:t>
            </a:r>
            <a:r>
              <a:rPr lang="en-US" altLang="en-US" i="1" dirty="0"/>
              <a:t> </a:t>
            </a:r>
            <a:r>
              <a:rPr lang="en-US" altLang="en-US" dirty="0"/>
              <a:t>) contains:</a:t>
            </a:r>
          </a:p>
          <a:p>
            <a:pPr lvl="1" eaLnBrk="1" hangingPunct="1"/>
            <a:r>
              <a:rPr lang="en-US" altLang="en-US" dirty="0"/>
              <a:t>Any symbol in FIRST(</a:t>
            </a:r>
            <a:r>
              <a:rPr lang="en-US" altLang="en-US" i="1" dirty="0"/>
              <a:t>X</a:t>
            </a:r>
            <a:r>
              <a:rPr lang="en-US" altLang="en-US" i="1" baseline="-25000" dirty="0"/>
              <a:t>1</a:t>
            </a:r>
            <a:r>
              <a:rPr lang="en-US" altLang="en-US" dirty="0"/>
              <a:t>) other than </a:t>
            </a:r>
            <a:r>
              <a:rPr lang="en-US" altLang="en-US" dirty="0">
                <a:sym typeface="Symbol" panose="05050102010706020507" pitchFamily="18" charset="2"/>
              </a:rPr>
              <a:t></a:t>
            </a:r>
          </a:p>
          <a:p>
            <a:pPr lvl="1" eaLnBrk="1" hangingPunct="1"/>
            <a:r>
              <a:rPr lang="en-US" altLang="en-US" dirty="0">
                <a:sym typeface="Symbol" panose="05050102010706020507" pitchFamily="18" charset="2"/>
              </a:rPr>
              <a:t>Any symbol in </a:t>
            </a:r>
            <a:r>
              <a:rPr lang="en-US" altLang="en-US" dirty="0"/>
              <a:t>FIRST(</a:t>
            </a:r>
            <a:r>
              <a:rPr lang="en-US" altLang="en-US" i="1" dirty="0"/>
              <a:t>X</a:t>
            </a:r>
            <a:r>
              <a:rPr lang="en-US" altLang="en-US" i="1" baseline="-25000" dirty="0"/>
              <a:t>i</a:t>
            </a:r>
            <a:r>
              <a:rPr lang="en-US" altLang="en-US" dirty="0"/>
              <a:t>) other than </a:t>
            </a:r>
            <a:r>
              <a:rPr lang="en-US" altLang="en-US" dirty="0">
                <a:sym typeface="Symbol" panose="05050102010706020507" pitchFamily="18" charset="2"/>
              </a:rPr>
              <a:t>, if  is in FIRST(</a:t>
            </a:r>
            <a:r>
              <a:rPr lang="en-US" altLang="en-US" i="1" dirty="0" err="1">
                <a:sym typeface="Symbol" panose="05050102010706020507" pitchFamily="18" charset="2"/>
              </a:rPr>
              <a:t>X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j</a:t>
            </a:r>
            <a:r>
              <a:rPr lang="en-US" altLang="en-US" dirty="0">
                <a:sym typeface="Symbol" panose="05050102010706020507" pitchFamily="18" charset="2"/>
              </a:rPr>
              <a:t>) for all   1  j  </a:t>
            </a:r>
            <a:r>
              <a:rPr lang="en-US" altLang="en-US" dirty="0" err="1">
                <a:sym typeface="Symbol" panose="05050102010706020507" pitchFamily="18" charset="2"/>
              </a:rPr>
              <a:t>i</a:t>
            </a:r>
            <a:endParaRPr lang="en-US" altLang="en-US" dirty="0">
              <a:sym typeface="Symbol" panose="05050102010706020507" pitchFamily="18" charset="2"/>
            </a:endParaRPr>
          </a:p>
          <a:p>
            <a:pPr lvl="1" eaLnBrk="1" hangingPunct="1"/>
            <a:r>
              <a:rPr lang="en-US" altLang="en-US" dirty="0">
                <a:sym typeface="Symbol" panose="05050102010706020507" pitchFamily="18" charset="2"/>
              </a:rPr>
              <a:t> , if  is in FIRST(</a:t>
            </a:r>
            <a:r>
              <a:rPr lang="en-US" altLang="en-US" i="1" dirty="0" err="1">
                <a:sym typeface="Symbol" panose="05050102010706020507" pitchFamily="18" charset="2"/>
              </a:rPr>
              <a:t>X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j</a:t>
            </a:r>
            <a:r>
              <a:rPr lang="en-US" altLang="en-US" dirty="0">
                <a:sym typeface="Symbol" panose="05050102010706020507" pitchFamily="18" charset="2"/>
              </a:rPr>
              <a:t>) for all 1  </a:t>
            </a:r>
            <a:r>
              <a:rPr lang="en-US" altLang="en-US" dirty="0" err="1">
                <a:sym typeface="Symbol" panose="05050102010706020507" pitchFamily="18" charset="2"/>
              </a:rPr>
              <a:t>i</a:t>
            </a:r>
            <a:r>
              <a:rPr lang="en-US" altLang="en-US" dirty="0">
                <a:sym typeface="Symbol" panose="05050102010706020507" pitchFamily="18" charset="2"/>
              </a:rPr>
              <a:t>  n</a:t>
            </a:r>
          </a:p>
          <a:p>
            <a:pPr lvl="1" eaLnBrk="1" hangingPunct="1"/>
            <a:endParaRPr lang="en-US" altLang="en-US" dirty="0">
              <a:sym typeface="Symbol" panose="05050102010706020507" pitchFamily="18" charset="2"/>
            </a:endParaRPr>
          </a:p>
        </p:txBody>
      </p:sp>
      <p:sp>
        <p:nvSpPr>
          <p:cNvPr id="12290" name="Slide Number Placeholder 5">
            <a:extLst>
              <a:ext uri="{FF2B5EF4-FFF2-40B4-BE49-F238E27FC236}">
                <a16:creationId xmlns:a16="http://schemas.microsoft.com/office/drawing/2014/main" id="{6A494DE9-AF34-4B77-8E1D-323150321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24500" y="6400799"/>
            <a:ext cx="2895600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178F2F6-34B9-484A-BA38-6B4E142D78BF}" type="slidenum">
              <a:rPr lang="en-US" altLang="en-US" sz="1200" smtClean="0"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200"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B7EDA45A-19AF-4153-950B-037943AC89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FIRST</a:t>
            </a:r>
            <a:r>
              <a:rPr lang="en-US" altLang="en-US" sz="2400"/>
              <a:t>k</a:t>
            </a:r>
            <a:r>
              <a:rPr lang="en-US" altLang="en-US"/>
              <a:t>(</a:t>
            </a:r>
            <a:r>
              <a:rPr lang="en-US" altLang="en-US" sz="4000">
                <a:latin typeface="Symbol" panose="05050102010706020507" pitchFamily="18" charset="2"/>
                <a:cs typeface="Times New Roman" panose="02020603050405020304" pitchFamily="18" charset="0"/>
              </a:rPr>
              <a:t>a</a:t>
            </a:r>
            <a:r>
              <a:rPr lang="en-US" altLang="en-US"/>
              <a:t>)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1FDBA838-9848-4CD1-B785-22C2164EAD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3400" y="1600200"/>
            <a:ext cx="8229600" cy="3886200"/>
          </a:xfrm>
        </p:spPr>
        <p:txBody>
          <a:bodyPr>
            <a:normAutofit lnSpcReduction="10000"/>
          </a:bodyPr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US" sz="2800" i="1" u="sng">
                <a:latin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  <a:r>
              <a:rPr lang="en-US" alt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Given a CFG, k is a natural number,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 contains both terminals and nonterminals.</a:t>
            </a: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en-US" altLang="en-US" sz="2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)consists of all terminal prefixes of length k (or less if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 derives a terminal string of lengh less than k) of terminal strings that can be derived from 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US" sz="2800" i="1" u="sng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r>
              <a:rPr lang="en-US" alt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Given grammar G= (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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, P, S), natural number k ,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V*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US" sz="2800" u="sng">
                <a:latin typeface="Times New Roman" panose="02020603050405020304" pitchFamily="18" charset="0"/>
                <a:cs typeface="Times New Roman" panose="02020603050405020304" pitchFamily="18" charset="0"/>
              </a:rPr>
              <a:t>FIRSTk(</a:t>
            </a:r>
            <a:r>
              <a:rPr lang="en-US" altLang="en-US" sz="2800" u="sng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en-US" sz="2800" u="sng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US" sz="2800" u="sng">
                <a:latin typeface="Times New Roman" panose="02020603050405020304" pitchFamily="18" charset="0"/>
                <a:cs typeface="Times New Roman" panose="02020603050405020304" pitchFamily="18" charset="0"/>
              </a:rPr>
              <a:t>{ x </a:t>
            </a:r>
            <a:r>
              <a:rPr lang="en-US" altLang="en-US" sz="2800" u="sng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en-US" sz="2800" u="sng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u="sng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</a:t>
            </a:r>
            <a:r>
              <a:rPr lang="en-US" altLang="en-US" sz="2800" u="sng">
                <a:latin typeface="Times New Roman" panose="02020603050405020304" pitchFamily="18" charset="0"/>
                <a:cs typeface="Times New Roman" panose="02020603050405020304" pitchFamily="18" charset="0"/>
              </a:rPr>
              <a:t>* | </a:t>
            </a:r>
            <a:r>
              <a:rPr lang="en-US" altLang="en-US" sz="2800" u="sng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 </a:t>
            </a:r>
            <a:r>
              <a:rPr lang="en-US" altLang="en-US" sz="2800" u="sng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</a:t>
            </a:r>
            <a:r>
              <a:rPr lang="en-US" altLang="en-US" sz="2800" u="sng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US" altLang="en-US" sz="2800" u="sng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en-US" sz="2800" u="sng">
                <a:latin typeface="Times New Roman" panose="02020603050405020304" pitchFamily="18" charset="0"/>
                <a:cs typeface="Times New Roman" panose="02020603050405020304" pitchFamily="18" charset="0"/>
              </a:rPr>
              <a:t> and |x| = k or </a:t>
            </a:r>
            <a:r>
              <a:rPr lang="en-US" altLang="en-US" sz="2800" u="sng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 </a:t>
            </a:r>
            <a:r>
              <a:rPr lang="en-US" altLang="en-US" sz="2800" u="sng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</a:t>
            </a:r>
            <a:r>
              <a:rPr lang="en-US" altLang="en-US" sz="2800" u="sng">
                <a:latin typeface="Times New Roman" panose="02020603050405020304" pitchFamily="18" charset="0"/>
                <a:cs typeface="Times New Roman" panose="02020603050405020304" pitchFamily="18" charset="0"/>
              </a:rPr>
              <a:t> x and |x| &lt; k}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US" altLang="en-US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1F306DBA-0C34-4664-8DD3-A9A524A904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cs typeface="Times New Roman" panose="02020603050405020304" pitchFamily="18" charset="0"/>
              </a:rPr>
              <a:t>FOLLOW</a:t>
            </a:r>
            <a:r>
              <a:rPr lang="en-US" altLang="en-US" baseline="-30000">
                <a:cs typeface="Times New Roman" panose="02020603050405020304" pitchFamily="18" charset="0"/>
              </a:rPr>
              <a:t>k</a:t>
            </a:r>
            <a:r>
              <a:rPr lang="en-US" altLang="en-US">
                <a:cs typeface="Times New Roman" panose="02020603050405020304" pitchFamily="18" charset="0"/>
              </a:rPr>
              <a:t>(</a:t>
            </a:r>
            <a:r>
              <a:rPr lang="en-US" altLang="en-US">
                <a:latin typeface="Symbol" panose="05050102010706020507" pitchFamily="18" charset="2"/>
                <a:cs typeface="Times New Roman" panose="02020603050405020304" pitchFamily="18" charset="0"/>
              </a:rPr>
              <a:t>a</a:t>
            </a:r>
            <a:r>
              <a:rPr lang="en-US" altLang="en-US"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E269FFD4-6874-4E8E-B131-7C0E1697C8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2133600"/>
            <a:ext cx="7772400" cy="4114800"/>
          </a:xfrm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US" i="1">
                <a:cs typeface="Times New Roman" panose="02020603050405020304" pitchFamily="18" charset="0"/>
              </a:rPr>
              <a:t>	</a:t>
            </a:r>
            <a:r>
              <a:rPr lang="en-US" alt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includes the set of terminal strings that can occur immediately to the right of </a:t>
            </a:r>
            <a:r>
              <a:rPr lang="en-US" altLang="en-US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 in any sentential form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Especially, if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is nonterminal A and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 is a sentential form then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 is in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FOLLOW</a:t>
            </a:r>
            <a:r>
              <a:rPr lang="en-US" altLang="en-US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(A).</a:t>
            </a:r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9813244E-D57C-492B-AF46-A161AD00F5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0990" y="457200"/>
            <a:ext cx="7886700" cy="1325563"/>
          </a:xfrm>
        </p:spPr>
        <p:txBody>
          <a:bodyPr/>
          <a:lstStyle/>
          <a:p>
            <a:pPr eaLnBrk="1" hangingPunct="1"/>
            <a:r>
              <a:rPr lang="en-US" altLang="en-US">
                <a:cs typeface="Times New Roman" panose="02020603050405020304" pitchFamily="18" charset="0"/>
              </a:rPr>
              <a:t>FOLLOW</a:t>
            </a:r>
            <a:r>
              <a:rPr lang="en-US" altLang="en-US" baseline="-30000">
                <a:cs typeface="Times New Roman" panose="02020603050405020304" pitchFamily="18" charset="0"/>
              </a:rPr>
              <a:t>k</a:t>
            </a:r>
            <a:r>
              <a:rPr lang="en-US" altLang="en-US">
                <a:cs typeface="Times New Roman" panose="02020603050405020304" pitchFamily="18" charset="0"/>
              </a:rPr>
              <a:t>(</a:t>
            </a:r>
            <a:r>
              <a:rPr lang="en-US" altLang="en-US">
                <a:latin typeface="Symbol" panose="05050102010706020507" pitchFamily="18" charset="2"/>
                <a:cs typeface="Times New Roman" panose="02020603050405020304" pitchFamily="18" charset="0"/>
              </a:rPr>
              <a:t>a</a:t>
            </a:r>
            <a:r>
              <a:rPr lang="en-US" altLang="en-US"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53455D11-C783-4700-B48B-886EBDD6ED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2133600"/>
            <a:ext cx="8839200" cy="4114800"/>
          </a:xfrm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US" sz="2800">
                <a:cs typeface="Times New Roman" panose="02020603050405020304" pitchFamily="18" charset="0"/>
              </a:rPr>
              <a:t>FOLLOW</a:t>
            </a:r>
            <a:r>
              <a:rPr lang="en-US" altLang="en-US" sz="2800" baseline="-30000">
                <a:cs typeface="Times New Roman" panose="02020603050405020304" pitchFamily="18" charset="0"/>
              </a:rPr>
              <a:t>k</a:t>
            </a:r>
            <a:r>
              <a:rPr lang="en-US" altLang="en-US" sz="2800">
                <a:cs typeface="Times New Roman" panose="02020603050405020304" pitchFamily="18" charset="0"/>
              </a:rPr>
              <a:t>(</a:t>
            </a:r>
            <a:r>
              <a:rPr lang="en-US" altLang="en-US" sz="2800">
                <a:latin typeface="Symbol" panose="05050102010706020507" pitchFamily="18" charset="2"/>
                <a:cs typeface="Times New Roman" panose="02020603050405020304" pitchFamily="18" charset="0"/>
              </a:rPr>
              <a:t>a</a:t>
            </a:r>
            <a:r>
              <a:rPr lang="en-US" altLang="en-US" sz="2800">
                <a:cs typeface="Times New Roman" panose="02020603050405020304" pitchFamily="18" charset="0"/>
              </a:rPr>
              <a:t>) = 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US" sz="2800">
                <a:cs typeface="Times New Roman" panose="02020603050405020304" pitchFamily="18" charset="0"/>
              </a:rPr>
              <a:t>{x </a:t>
            </a:r>
            <a:r>
              <a:rPr lang="en-US" altLang="en-US" sz="2800"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en-US" sz="2800">
                <a:cs typeface="Times New Roman" panose="02020603050405020304" pitchFamily="18" charset="0"/>
              </a:rPr>
              <a:t> </a:t>
            </a:r>
            <a:r>
              <a:rPr lang="en-US" altLang="en-US" sz="2800">
                <a:latin typeface="Symbol" panose="05050102010706020507" pitchFamily="18" charset="2"/>
                <a:cs typeface="Times New Roman" panose="02020603050405020304" pitchFamily="18" charset="0"/>
              </a:rPr>
              <a:t>S</a:t>
            </a:r>
            <a:r>
              <a:rPr lang="en-US" altLang="en-US" sz="2800">
                <a:cs typeface="Times New Roman" panose="02020603050405020304" pitchFamily="18" charset="0"/>
              </a:rPr>
              <a:t>* | S  </a:t>
            </a:r>
            <a:r>
              <a:rPr lang="en-US" altLang="en-US" sz="2800"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en-US" sz="2800">
                <a:cs typeface="Times New Roman" panose="02020603050405020304" pitchFamily="18" charset="0"/>
              </a:rPr>
              <a:t>*</a:t>
            </a:r>
            <a:r>
              <a:rPr lang="en-US" altLang="en-US" sz="2800">
                <a:latin typeface="Symbol" panose="05050102010706020507" pitchFamily="18" charset="2"/>
                <a:cs typeface="Times New Roman" panose="02020603050405020304" pitchFamily="18" charset="0"/>
              </a:rPr>
              <a:t> bad  </a:t>
            </a:r>
            <a:r>
              <a:rPr lang="en-US" altLang="en-US" sz="2800">
                <a:cs typeface="Times New Roman" panose="02020603050405020304" pitchFamily="18" charset="0"/>
              </a:rPr>
              <a:t>and  x</a:t>
            </a:r>
            <a:r>
              <a:rPr lang="en-US" altLang="en-US" sz="2800"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en-US" sz="2800">
                <a:cs typeface="Times New Roman" panose="02020603050405020304" pitchFamily="18" charset="0"/>
              </a:rPr>
              <a:t> FIRST</a:t>
            </a:r>
            <a:r>
              <a:rPr lang="en-US" altLang="en-US" sz="2800" baseline="-30000">
                <a:cs typeface="Times New Roman" panose="02020603050405020304" pitchFamily="18" charset="0"/>
              </a:rPr>
              <a:t>k</a:t>
            </a:r>
            <a:r>
              <a:rPr lang="en-US" altLang="en-US" sz="2800">
                <a:cs typeface="Times New Roman" panose="02020603050405020304" pitchFamily="18" charset="0"/>
              </a:rPr>
              <a:t>(</a:t>
            </a:r>
            <a:r>
              <a:rPr lang="en-US" altLang="en-US" sz="2800">
                <a:latin typeface="Symbol" panose="05050102010706020507" pitchFamily="18" charset="2"/>
                <a:cs typeface="Times New Roman" panose="02020603050405020304" pitchFamily="18" charset="0"/>
              </a:rPr>
              <a:t>d</a:t>
            </a:r>
            <a:r>
              <a:rPr lang="en-US" altLang="en-US" sz="2800">
                <a:cs typeface="Times New Roman" panose="02020603050405020304" pitchFamily="18" charset="0"/>
              </a:rPr>
              <a:t>)}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US" altLang="en-US">
              <a:cs typeface="Times New Roman" panose="02020603050405020304" pitchFamily="18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US">
                <a:cs typeface="Times New Roman" panose="02020603050405020304" pitchFamily="18" charset="0"/>
              </a:rPr>
              <a:t>Especially, if </a:t>
            </a:r>
            <a:r>
              <a:rPr lang="en-US" altLang="en-US">
                <a:latin typeface="Symbol" panose="05050102010706020507" pitchFamily="18" charset="2"/>
                <a:cs typeface="Times New Roman" panose="02020603050405020304" pitchFamily="18" charset="0"/>
              </a:rPr>
              <a:t>a</a:t>
            </a:r>
            <a:r>
              <a:rPr lang="en-US" altLang="en-US">
                <a:cs typeface="Times New Roman" panose="02020603050405020304" pitchFamily="18" charset="0"/>
              </a:rPr>
              <a:t> =A </a:t>
            </a:r>
            <a:r>
              <a:rPr lang="en-US" altLang="en-US"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en-US">
                <a:cs typeface="Times New Roman" panose="02020603050405020304" pitchFamily="18" charset="0"/>
              </a:rPr>
              <a:t> </a:t>
            </a:r>
            <a:r>
              <a:rPr lang="en-US" altLang="en-US">
                <a:latin typeface="Symbol" panose="05050102010706020507" pitchFamily="18" charset="2"/>
                <a:cs typeface="Times New Roman" panose="02020603050405020304" pitchFamily="18" charset="0"/>
              </a:rPr>
              <a:t>D</a:t>
            </a:r>
            <a:r>
              <a:rPr lang="en-US" altLang="en-US">
                <a:cs typeface="Times New Roman" panose="02020603050405020304" pitchFamily="18" charset="0"/>
              </a:rPr>
              <a:t>* , S  </a:t>
            </a:r>
            <a:r>
              <a:rPr lang="en-US" altLang="en-US"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en-US">
                <a:cs typeface="Times New Roman" panose="02020603050405020304" pitchFamily="18" charset="0"/>
              </a:rPr>
              <a:t>*</a:t>
            </a:r>
            <a:r>
              <a:rPr lang="en-US" altLang="en-US">
                <a:latin typeface="Symbol" panose="05050102010706020507" pitchFamily="18" charset="2"/>
                <a:cs typeface="Times New Roman" panose="02020603050405020304" pitchFamily="18" charset="0"/>
              </a:rPr>
              <a:t> b</a:t>
            </a:r>
            <a:r>
              <a:rPr lang="en-US" altLang="en-US">
                <a:cs typeface="Times New Roman" panose="02020603050405020304" pitchFamily="18" charset="0"/>
              </a:rPr>
              <a:t>A then   FOLLOW</a:t>
            </a:r>
            <a:r>
              <a:rPr lang="en-US" altLang="en-US" baseline="-30000">
                <a:cs typeface="Times New Roman" panose="02020603050405020304" pitchFamily="18" charset="0"/>
              </a:rPr>
              <a:t>1</a:t>
            </a:r>
            <a:r>
              <a:rPr lang="en-US" altLang="en-US">
                <a:cs typeface="Times New Roman" panose="02020603050405020304" pitchFamily="18" charset="0"/>
              </a:rPr>
              <a:t>(A) ={</a:t>
            </a:r>
            <a:r>
              <a:rPr lang="en-US" altLang="en-US">
                <a:latin typeface="Symbol" panose="05050102010706020507" pitchFamily="18" charset="2"/>
                <a:cs typeface="Times New Roman" panose="02020603050405020304" pitchFamily="18" charset="0"/>
              </a:rPr>
              <a:t>e</a:t>
            </a:r>
            <a:r>
              <a:rPr lang="en-US" altLang="en-US">
                <a:cs typeface="Times New Roman" panose="02020603050405020304" pitchFamily="18" charset="0"/>
              </a:rPr>
              <a:t>} or FOLLOW</a:t>
            </a:r>
            <a:r>
              <a:rPr lang="en-US" altLang="en-US" baseline="-30000">
                <a:cs typeface="Times New Roman" panose="02020603050405020304" pitchFamily="18" charset="0"/>
              </a:rPr>
              <a:t>1</a:t>
            </a:r>
            <a:r>
              <a:rPr lang="en-US" altLang="en-US">
                <a:cs typeface="Times New Roman" panose="02020603050405020304" pitchFamily="18" charset="0"/>
              </a:rPr>
              <a:t>(A) ={</a:t>
            </a:r>
            <a:r>
              <a:rPr lang="en-US" altLang="en-US">
                <a:latin typeface="Tahoma" panose="020B0604030504040204" pitchFamily="34" charset="0"/>
                <a:cs typeface="Tahoma" panose="020B0604030504040204" pitchFamily="34" charset="0"/>
              </a:rPr>
              <a:t>$</a:t>
            </a:r>
            <a:r>
              <a:rPr lang="en-US" altLang="en-US">
                <a:cs typeface="Times New Roman" panose="02020603050405020304" pitchFamily="18" charset="0"/>
              </a:rPr>
              <a:t>} (EOF)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US">
                <a:cs typeface="Times New Roman" panose="02020603050405020304" pitchFamily="18" charset="0"/>
              </a:rPr>
              <a:t>FOLLOW(A) is FOLLOW</a:t>
            </a:r>
            <a:r>
              <a:rPr lang="en-US" altLang="en-US" baseline="-25000">
                <a:cs typeface="Times New Roman" panose="02020603050405020304" pitchFamily="18" charset="0"/>
              </a:rPr>
              <a:t>1</a:t>
            </a:r>
            <a:r>
              <a:rPr lang="en-US" altLang="en-US">
                <a:cs typeface="Times New Roman" panose="02020603050405020304" pitchFamily="18" charset="0"/>
              </a:rPr>
              <a:t>(A)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2D3F0C30-CEE3-40C8-BFA6-3B0F0CA13E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LL(k) Grammars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738EB6DB-2E37-476C-BFDC-ED81AA3811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US" b="1" i="1">
                <a:cs typeface="Times New Roman" panose="02020603050405020304" pitchFamily="18" charset="0"/>
              </a:rPr>
              <a:t> </a:t>
            </a:r>
            <a:r>
              <a:rPr lang="en-US" altLang="en-US" b="1" i="1" u="sng">
                <a:cs typeface="Times New Roman" panose="02020603050405020304" pitchFamily="18" charset="0"/>
              </a:rPr>
              <a:t>Definition</a:t>
            </a:r>
            <a:r>
              <a:rPr lang="en-US" altLang="en-US">
                <a:cs typeface="Times New Roman" panose="02020603050405020304" pitchFamily="18" charset="0"/>
              </a:rPr>
              <a:t> Let G = (</a:t>
            </a:r>
            <a:r>
              <a:rPr lang="en-US" altLang="en-US">
                <a:latin typeface="Symbol" panose="05050102010706020507" pitchFamily="18" charset="2"/>
                <a:cs typeface="Times New Roman" panose="02020603050405020304" pitchFamily="18" charset="0"/>
              </a:rPr>
              <a:t>S, D</a:t>
            </a:r>
            <a:r>
              <a:rPr lang="en-US" altLang="en-US">
                <a:cs typeface="Times New Roman" panose="02020603050405020304" pitchFamily="18" charset="0"/>
              </a:rPr>
              <a:t>, P, S)  is  a CFG and k </a:t>
            </a:r>
            <a:r>
              <a:rPr lang="en-US" altLang="en-US">
                <a:cs typeface="Times New Roman" panose="02020603050405020304" pitchFamily="18" charset="0"/>
                <a:sym typeface="Symbol" panose="05050102010706020507" pitchFamily="18" charset="2"/>
              </a:rPr>
              <a:t>N. G is </a:t>
            </a:r>
            <a:r>
              <a:rPr lang="en-US" altLang="en-US">
                <a:cs typeface="Times New Roman" panose="02020603050405020304" pitchFamily="18" charset="0"/>
              </a:rPr>
              <a:t>LL(k) if for any two leftmost derivations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US">
                <a:cs typeface="Times New Roman" panose="02020603050405020304" pitchFamily="18" charset="0"/>
              </a:rPr>
              <a:t>           S  =&gt; xA</a:t>
            </a:r>
            <a:r>
              <a:rPr lang="en-US" altLang="en-US">
                <a:latin typeface="Symbol" panose="05050102010706020507" pitchFamily="18" charset="2"/>
                <a:cs typeface="Times New Roman" panose="02020603050405020304" pitchFamily="18" charset="0"/>
              </a:rPr>
              <a:t>a </a:t>
            </a:r>
            <a:r>
              <a:rPr lang="en-US" altLang="en-US">
                <a:cs typeface="Times New Roman" panose="02020603050405020304" pitchFamily="18" charset="0"/>
              </a:rPr>
              <a:t> =&gt; x</a:t>
            </a:r>
            <a:r>
              <a:rPr lang="en-US" altLang="en-US">
                <a:latin typeface="Symbol" panose="05050102010706020507" pitchFamily="18" charset="2"/>
                <a:cs typeface="Times New Roman" panose="02020603050405020304" pitchFamily="18" charset="0"/>
              </a:rPr>
              <a:t>b</a:t>
            </a:r>
            <a:r>
              <a:rPr lang="en-US" altLang="en-US" baseline="-30000">
                <a:cs typeface="Times New Roman" panose="02020603050405020304" pitchFamily="18" charset="0"/>
              </a:rPr>
              <a:t>1</a:t>
            </a:r>
            <a:r>
              <a:rPr lang="en-US" altLang="en-US">
                <a:latin typeface="Symbol" panose="05050102010706020507" pitchFamily="18" charset="2"/>
                <a:cs typeface="Times New Roman" panose="02020603050405020304" pitchFamily="18" charset="0"/>
              </a:rPr>
              <a:t>a</a:t>
            </a:r>
            <a:r>
              <a:rPr lang="en-US" altLang="en-US">
                <a:cs typeface="Times New Roman" panose="02020603050405020304" pitchFamily="18" charset="0"/>
              </a:rPr>
              <a:t> =&gt; xZ</a:t>
            </a:r>
            <a:r>
              <a:rPr lang="en-US" altLang="en-US" baseline="-30000">
                <a:cs typeface="Times New Roman" panose="02020603050405020304" pitchFamily="18" charset="0"/>
              </a:rPr>
              <a:t>1</a:t>
            </a:r>
            <a:endParaRPr lang="en-US" altLang="en-US">
              <a:cs typeface="Times New Roman" panose="02020603050405020304" pitchFamily="18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US">
                <a:cs typeface="Times New Roman" panose="02020603050405020304" pitchFamily="18" charset="0"/>
              </a:rPr>
              <a:t>           S =&gt; xA</a:t>
            </a:r>
            <a:r>
              <a:rPr lang="en-US" altLang="en-US">
                <a:latin typeface="Symbol" panose="05050102010706020507" pitchFamily="18" charset="2"/>
                <a:cs typeface="Times New Roman" panose="02020603050405020304" pitchFamily="18" charset="0"/>
              </a:rPr>
              <a:t>a</a:t>
            </a:r>
            <a:r>
              <a:rPr lang="en-US" altLang="en-US">
                <a:cs typeface="Times New Roman" panose="02020603050405020304" pitchFamily="18" charset="0"/>
              </a:rPr>
              <a:t>  =&gt; x</a:t>
            </a:r>
            <a:r>
              <a:rPr lang="en-US" altLang="en-US">
                <a:latin typeface="Symbol" panose="05050102010706020507" pitchFamily="18" charset="2"/>
                <a:cs typeface="Times New Roman" panose="02020603050405020304" pitchFamily="18" charset="0"/>
              </a:rPr>
              <a:t>b</a:t>
            </a:r>
            <a:r>
              <a:rPr lang="en-US" altLang="en-US" baseline="-30000">
                <a:cs typeface="Times New Roman" panose="02020603050405020304" pitchFamily="18" charset="0"/>
              </a:rPr>
              <a:t>2</a:t>
            </a:r>
            <a:r>
              <a:rPr lang="en-US" altLang="en-US">
                <a:latin typeface="Symbol" panose="05050102010706020507" pitchFamily="18" charset="2"/>
                <a:cs typeface="Times New Roman" panose="02020603050405020304" pitchFamily="18" charset="0"/>
              </a:rPr>
              <a:t>a</a:t>
            </a:r>
            <a:r>
              <a:rPr lang="en-US" altLang="en-US">
                <a:cs typeface="Times New Roman" panose="02020603050405020304" pitchFamily="18" charset="0"/>
              </a:rPr>
              <a:t> =&gt; xZ</a:t>
            </a:r>
            <a:r>
              <a:rPr lang="en-US" altLang="en-US" baseline="-30000">
                <a:cs typeface="Times New Roman" panose="02020603050405020304" pitchFamily="18" charset="0"/>
              </a:rPr>
              <a:t>2</a:t>
            </a:r>
            <a:endParaRPr lang="en-US" altLang="en-US">
              <a:cs typeface="Times New Roman" panose="02020603050405020304" pitchFamily="18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US">
                <a:cs typeface="Times New Roman" panose="02020603050405020304" pitchFamily="18" charset="0"/>
              </a:rPr>
              <a:t>if FIRST</a:t>
            </a:r>
            <a:r>
              <a:rPr lang="en-US" altLang="en-US" baseline="-30000">
                <a:cs typeface="Times New Roman" panose="02020603050405020304" pitchFamily="18" charset="0"/>
              </a:rPr>
              <a:t>k</a:t>
            </a:r>
            <a:r>
              <a:rPr lang="en-US" altLang="en-US">
                <a:cs typeface="Times New Roman" panose="02020603050405020304" pitchFamily="18" charset="0"/>
              </a:rPr>
              <a:t>(Z</a:t>
            </a:r>
            <a:r>
              <a:rPr lang="en-US" altLang="en-US" baseline="-30000">
                <a:cs typeface="Times New Roman" panose="02020603050405020304" pitchFamily="18" charset="0"/>
              </a:rPr>
              <a:t>1</a:t>
            </a:r>
            <a:r>
              <a:rPr lang="en-US" altLang="en-US">
                <a:cs typeface="Times New Roman" panose="02020603050405020304" pitchFamily="18" charset="0"/>
              </a:rPr>
              <a:t>) = FIRST</a:t>
            </a:r>
            <a:r>
              <a:rPr lang="en-US" altLang="en-US" baseline="-30000">
                <a:cs typeface="Times New Roman" panose="02020603050405020304" pitchFamily="18" charset="0"/>
              </a:rPr>
              <a:t>k</a:t>
            </a:r>
            <a:r>
              <a:rPr lang="en-US" altLang="en-US">
                <a:cs typeface="Times New Roman" panose="02020603050405020304" pitchFamily="18" charset="0"/>
              </a:rPr>
              <a:t>(Z</a:t>
            </a:r>
            <a:r>
              <a:rPr lang="en-US" altLang="en-US" baseline="-30000">
                <a:cs typeface="Times New Roman" panose="02020603050405020304" pitchFamily="18" charset="0"/>
              </a:rPr>
              <a:t>2</a:t>
            </a:r>
            <a:r>
              <a:rPr lang="en-US" altLang="en-US">
                <a:cs typeface="Times New Roman" panose="02020603050405020304" pitchFamily="18" charset="0"/>
              </a:rPr>
              <a:t>)  then  </a:t>
            </a:r>
            <a:r>
              <a:rPr lang="en-US" altLang="en-US">
                <a:latin typeface="Symbol" panose="05050102010706020507" pitchFamily="18" charset="2"/>
                <a:cs typeface="Times New Roman" panose="02020603050405020304" pitchFamily="18" charset="0"/>
              </a:rPr>
              <a:t>b</a:t>
            </a:r>
            <a:r>
              <a:rPr lang="en-US" altLang="en-US" baseline="-30000">
                <a:cs typeface="Times New Roman" panose="02020603050405020304" pitchFamily="18" charset="0"/>
              </a:rPr>
              <a:t>1</a:t>
            </a:r>
            <a:r>
              <a:rPr lang="en-US" altLang="en-US">
                <a:cs typeface="Times New Roman" panose="02020603050405020304" pitchFamily="18" charset="0"/>
              </a:rPr>
              <a:t> = </a:t>
            </a:r>
            <a:r>
              <a:rPr lang="en-US" altLang="en-US">
                <a:latin typeface="Symbol" panose="05050102010706020507" pitchFamily="18" charset="2"/>
                <a:cs typeface="Times New Roman" panose="02020603050405020304" pitchFamily="18" charset="0"/>
              </a:rPr>
              <a:t>b</a:t>
            </a:r>
            <a:r>
              <a:rPr lang="en-US" altLang="en-US" baseline="-30000">
                <a:cs typeface="Times New Roman" panose="02020603050405020304" pitchFamily="18" charset="0"/>
              </a:rPr>
              <a:t>2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It can be shown that </a:t>
            </a:r>
            <a:r>
              <a:rPr lang="en-US" altLang="en-US" i="1"/>
              <a:t>LL</a:t>
            </a:r>
            <a:r>
              <a:rPr lang="en-US" altLang="en-US"/>
              <a:t>(k) grammars are </a:t>
            </a:r>
            <a:r>
              <a:rPr lang="en-US" altLang="en-US">
                <a:solidFill>
                  <a:srgbClr val="FF0000"/>
                </a:solidFill>
              </a:rPr>
              <a:t>not ambiguous</a:t>
            </a:r>
            <a:r>
              <a:rPr lang="en-US" altLang="en-US"/>
              <a:t> and </a:t>
            </a:r>
            <a:r>
              <a:rPr lang="en-US" altLang="en-US">
                <a:solidFill>
                  <a:srgbClr val="FF0000"/>
                </a:solidFill>
              </a:rPr>
              <a:t>not left-recursive</a:t>
            </a:r>
            <a:r>
              <a:rPr lang="en-US" altLang="en-US"/>
              <a:t>. 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US" altLang="en-US"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912FC270-0335-4ABB-8599-57D26BB1FA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93FB6B68-C1F2-481A-8725-AA3CB77B1B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US">
                <a:cs typeface="Times New Roman" panose="02020603050405020304" pitchFamily="18" charset="0"/>
              </a:rPr>
              <a:t>Grammar G :</a:t>
            </a:r>
          </a:p>
          <a:p>
            <a:pPr lvl="4" algn="just" eaLnBrk="1" hangingPunct="1">
              <a:buFont typeface="Wingdings" panose="05000000000000000000" pitchFamily="2" charset="2"/>
              <a:buNone/>
            </a:pPr>
            <a:r>
              <a:rPr lang="en-US" altLang="en-US" sz="2800">
                <a:cs typeface="Times New Roman" panose="02020603050405020304" pitchFamily="18" charset="0"/>
              </a:rPr>
              <a:t>S </a:t>
            </a:r>
            <a:r>
              <a:rPr lang="en-US" altLang="en-US" sz="2800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en-US" sz="2800">
                <a:cs typeface="Times New Roman" panose="02020603050405020304" pitchFamily="18" charset="0"/>
              </a:rPr>
              <a:t> aSb | ab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US">
                <a:cs typeface="Times New Roman" panose="02020603050405020304" pitchFamily="18" charset="0"/>
              </a:rPr>
              <a:t>is not LL(1), but is LL(2)</a:t>
            </a:r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2">
            <a:extLst>
              <a:ext uri="{FF2B5EF4-FFF2-40B4-BE49-F238E27FC236}">
                <a16:creationId xmlns:a16="http://schemas.microsoft.com/office/drawing/2014/main" id="{F49690FB-0C5F-4852-A77B-FA37519247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762000"/>
            <a:ext cx="7772400" cy="762000"/>
          </a:xfrm>
        </p:spPr>
        <p:txBody>
          <a:bodyPr/>
          <a:lstStyle/>
          <a:p>
            <a:pPr eaLnBrk="1" hangingPunct="1"/>
            <a:r>
              <a:rPr lang="en-US" altLang="en-US"/>
              <a:t>Simple LL(1) Grammars</a:t>
            </a:r>
          </a:p>
        </p:txBody>
      </p:sp>
      <p:sp>
        <p:nvSpPr>
          <p:cNvPr id="18437" name="Rectangle 3">
            <a:extLst>
              <a:ext uri="{FF2B5EF4-FFF2-40B4-BE49-F238E27FC236}">
                <a16:creationId xmlns:a16="http://schemas.microsoft.com/office/drawing/2014/main" id="{24355C6D-87C1-4FB8-815A-5BCA75E5F2B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828800"/>
            <a:ext cx="8686800" cy="4114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/>
              <a:t>For simple LL(1) grammars all rules have the form</a:t>
            </a:r>
            <a:endParaRPr lang="en-US" altLang="en-US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en-US" altLang="en-US">
                <a:sym typeface="Symbol" panose="05050102010706020507" pitchFamily="18" charset="2"/>
              </a:rPr>
              <a:t>      A a</a:t>
            </a:r>
            <a:r>
              <a:rPr lang="en-US" altLang="en-US" baseline="-25000">
                <a:sym typeface="Symbol" panose="05050102010706020507" pitchFamily="18" charset="2"/>
              </a:rPr>
              <a:t>1</a:t>
            </a:r>
            <a:r>
              <a:rPr lang="en-US" altLang="en-US">
                <a:sym typeface="Symbol" panose="05050102010706020507" pitchFamily="18" charset="2"/>
              </a:rPr>
              <a:t></a:t>
            </a:r>
            <a:r>
              <a:rPr lang="en-US" altLang="en-US" baseline="-25000">
                <a:sym typeface="Symbol" panose="05050102010706020507" pitchFamily="18" charset="2"/>
              </a:rPr>
              <a:t>1</a:t>
            </a:r>
            <a:r>
              <a:rPr lang="en-US" altLang="en-US">
                <a:sym typeface="Symbol" panose="05050102010706020507" pitchFamily="18" charset="2"/>
              </a:rPr>
              <a:t> | a</a:t>
            </a:r>
            <a:r>
              <a:rPr lang="en-US" altLang="en-US" baseline="-25000">
                <a:sym typeface="Symbol" panose="05050102010706020507" pitchFamily="18" charset="2"/>
              </a:rPr>
              <a:t>2</a:t>
            </a:r>
            <a:r>
              <a:rPr lang="en-US" altLang="en-US">
                <a:sym typeface="Symbol" panose="05050102010706020507" pitchFamily="18" charset="2"/>
              </a:rPr>
              <a:t></a:t>
            </a:r>
            <a:r>
              <a:rPr lang="en-US" altLang="en-US" baseline="-25000">
                <a:sym typeface="Symbol" panose="05050102010706020507" pitchFamily="18" charset="2"/>
              </a:rPr>
              <a:t>2</a:t>
            </a:r>
            <a:r>
              <a:rPr lang="en-US" altLang="en-US">
                <a:sym typeface="Symbol" panose="05050102010706020507" pitchFamily="18" charset="2"/>
              </a:rPr>
              <a:t> | … | a</a:t>
            </a:r>
            <a:r>
              <a:rPr lang="en-US" altLang="en-US" baseline="-25000">
                <a:sym typeface="Symbol" panose="05050102010706020507" pitchFamily="18" charset="2"/>
              </a:rPr>
              <a:t>n</a:t>
            </a:r>
            <a:r>
              <a:rPr lang="en-US" altLang="en-US">
                <a:sym typeface="Symbol" panose="05050102010706020507" pitchFamily="18" charset="2"/>
              </a:rPr>
              <a:t></a:t>
            </a:r>
            <a:r>
              <a:rPr lang="en-US" altLang="en-US" baseline="-25000">
                <a:sym typeface="Symbol" panose="05050102010706020507" pitchFamily="18" charset="2"/>
              </a:rPr>
              <a:t>n</a:t>
            </a:r>
            <a:endParaRPr lang="en-US" altLang="en-US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en-US" altLang="en-US">
                <a:sym typeface="Symbol" panose="05050102010706020507" pitchFamily="18" charset="2"/>
              </a:rPr>
              <a:t>where</a:t>
            </a:r>
          </a:p>
          <a:p>
            <a:pPr eaLnBrk="1" hangingPunct="1"/>
            <a:r>
              <a:rPr lang="en-US" altLang="en-US">
                <a:sym typeface="Symbol" panose="05050102010706020507" pitchFamily="18" charset="2"/>
              </a:rPr>
              <a:t>a</a:t>
            </a:r>
            <a:r>
              <a:rPr lang="en-US" altLang="en-US" baseline="-25000">
                <a:sym typeface="Symbol" panose="05050102010706020507" pitchFamily="18" charset="2"/>
              </a:rPr>
              <a:t>i</a:t>
            </a:r>
            <a:r>
              <a:rPr lang="en-US" altLang="en-US">
                <a:sym typeface="Symbol" panose="05050102010706020507" pitchFamily="18" charset="2"/>
              </a:rPr>
              <a:t> is a terminal, 1  i  n</a:t>
            </a:r>
            <a:endParaRPr lang="en-US" altLang="en-US"/>
          </a:p>
          <a:p>
            <a:pPr eaLnBrk="1" hangingPunct="1"/>
            <a:r>
              <a:rPr lang="en-US" altLang="en-US">
                <a:sym typeface="Symbol" panose="05050102010706020507" pitchFamily="18" charset="2"/>
              </a:rPr>
              <a:t>a</a:t>
            </a:r>
            <a:r>
              <a:rPr lang="en-US" altLang="en-US" baseline="-25000">
                <a:sym typeface="Symbol" panose="05050102010706020507" pitchFamily="18" charset="2"/>
              </a:rPr>
              <a:t>i </a:t>
            </a:r>
            <a:r>
              <a:rPr lang="en-US" altLang="en-US">
                <a:sym typeface="Symbol" panose="05050102010706020507" pitchFamily="18" charset="2"/>
              </a:rPr>
              <a:t> a</a:t>
            </a:r>
            <a:r>
              <a:rPr lang="en-US" altLang="en-US" baseline="-25000">
                <a:sym typeface="Symbol" panose="05050102010706020507" pitchFamily="18" charset="2"/>
              </a:rPr>
              <a:t>j </a:t>
            </a:r>
            <a:r>
              <a:rPr lang="en-US" altLang="en-US">
                <a:sym typeface="Symbol" panose="05050102010706020507" pitchFamily="18" charset="2"/>
              </a:rPr>
              <a:t>for i  j and</a:t>
            </a:r>
          </a:p>
          <a:p>
            <a:pPr eaLnBrk="1" hangingPunct="1"/>
            <a:r>
              <a:rPr lang="en-US" altLang="en-US">
                <a:sym typeface="Symbol" panose="05050102010706020507" pitchFamily="18" charset="2"/>
              </a:rPr>
              <a:t></a:t>
            </a:r>
            <a:r>
              <a:rPr lang="en-US" altLang="en-US" baseline="-25000">
                <a:sym typeface="Symbol" panose="05050102010706020507" pitchFamily="18" charset="2"/>
              </a:rPr>
              <a:t>i</a:t>
            </a:r>
            <a:r>
              <a:rPr lang="en-US" altLang="en-US">
                <a:sym typeface="Symbol" panose="05050102010706020507" pitchFamily="18" charset="2"/>
              </a:rPr>
              <a:t> is a sequence of terminals and non-terminal or is empty, 1  i  n</a:t>
            </a:r>
            <a:endParaRPr lang="en-US" altLang="en-US"/>
          </a:p>
          <a:p>
            <a:pPr eaLnBrk="1" hangingPunct="1">
              <a:buFontTx/>
              <a:buNone/>
            </a:pPr>
            <a:endParaRPr lang="en-US" altLang="en-US">
              <a:sym typeface="Symbol" panose="05050102010706020507" pitchFamily="18" charset="2"/>
            </a:endParaRPr>
          </a:p>
        </p:txBody>
      </p:sp>
      <p:sp>
        <p:nvSpPr>
          <p:cNvPr id="18434" name="Date Placeholder 3">
            <a:extLst>
              <a:ext uri="{FF2B5EF4-FFF2-40B4-BE49-F238E27FC236}">
                <a16:creationId xmlns:a16="http://schemas.microsoft.com/office/drawing/2014/main" id="{A1011108-8E12-4BF7-A241-201BC8B50A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24200" y="6248400"/>
            <a:ext cx="2895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Discussion #5</a:t>
            </a:r>
          </a:p>
        </p:txBody>
      </p:sp>
      <p:sp>
        <p:nvSpPr>
          <p:cNvPr id="18435" name="Slide Number Placeholder 5">
            <a:extLst>
              <a:ext uri="{FF2B5EF4-FFF2-40B4-BE49-F238E27FC236}">
                <a16:creationId xmlns:a16="http://schemas.microsoft.com/office/drawing/2014/main" id="{B7C4AF52-747D-4235-87CE-AA8F2DDDC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86C89A72-6D31-4CA2-9E07-38112896AE42}" type="slidenum">
              <a:rPr lang="en-US" altLang="en-US" sz="12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r>
              <a:rPr lang="en-US" altLang="en-US" sz="1200"/>
              <a:t>/18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781A1313-C709-4AE7-B578-A501F74DF8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457200"/>
            <a:ext cx="8458200" cy="1371600"/>
          </a:xfrm>
        </p:spPr>
        <p:txBody>
          <a:bodyPr/>
          <a:lstStyle/>
          <a:p>
            <a:pPr eaLnBrk="1" hangingPunct="1"/>
            <a:r>
              <a:rPr lang="en-US" altLang="en-US" sz="4000"/>
              <a:t>How to recognize a LL(1) grammar?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82FC74CB-4F54-471F-9D80-270682C3852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1905000"/>
            <a:ext cx="8686800" cy="3886200"/>
          </a:xfrm>
        </p:spPr>
        <p:txBody>
          <a:bodyPr/>
          <a:lstStyle/>
          <a:p>
            <a:pPr algn="just"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en-US" altLang="en-US" sz="2800" b="1" i="1">
                <a:cs typeface="Times New Roman" panose="02020603050405020304" pitchFamily="18" charset="0"/>
              </a:rPr>
              <a:t> 	</a:t>
            </a:r>
            <a:r>
              <a:rPr lang="en-US" altLang="en-US" sz="2800" i="1" u="sng">
                <a:cs typeface="Times New Roman" panose="02020603050405020304" pitchFamily="18" charset="0"/>
              </a:rPr>
              <a:t>Theorem</a:t>
            </a:r>
            <a:r>
              <a:rPr lang="en-US" altLang="en-US" sz="2800" i="1">
                <a:cs typeface="Times New Roman" panose="02020603050405020304" pitchFamily="18" charset="0"/>
              </a:rPr>
              <a:t> </a:t>
            </a:r>
            <a:r>
              <a:rPr lang="en-US" altLang="en-US" sz="2800"/>
              <a:t>A context-free grammar </a:t>
            </a:r>
            <a:r>
              <a:rPr lang="en-US" altLang="en-US" sz="2800">
                <a:cs typeface="Times New Roman" panose="02020603050405020304" pitchFamily="18" charset="0"/>
              </a:rPr>
              <a:t>G = (</a:t>
            </a:r>
            <a:r>
              <a:rPr lang="en-US" altLang="en-US" sz="2800">
                <a:latin typeface="Symbol" panose="05050102010706020507" pitchFamily="18" charset="2"/>
                <a:cs typeface="Times New Roman" panose="02020603050405020304" pitchFamily="18" charset="0"/>
              </a:rPr>
              <a:t>S, D</a:t>
            </a:r>
            <a:r>
              <a:rPr lang="en-US" altLang="en-US" sz="2800">
                <a:cs typeface="Times New Roman" panose="02020603050405020304" pitchFamily="18" charset="0"/>
              </a:rPr>
              <a:t>, P, S)  is LL(1) </a:t>
            </a:r>
            <a:r>
              <a:rPr lang="en-US" altLang="en-US" sz="2800"/>
              <a:t>if and if only if for every nonterminal </a:t>
            </a:r>
            <a:r>
              <a:rPr lang="en-US" altLang="en-US" sz="2800" i="1"/>
              <a:t>A</a:t>
            </a:r>
            <a:r>
              <a:rPr lang="en-US" altLang="en-US" sz="2800"/>
              <a:t> and every strings of symbols </a:t>
            </a:r>
            <a:endParaRPr lang="en-US" altLang="en-US" sz="2800">
              <a:cs typeface="Times New Roman" panose="02020603050405020304" pitchFamily="18" charset="0"/>
            </a:endParaRPr>
          </a:p>
          <a:p>
            <a:pPr algn="just"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en-US" altLang="en-US" sz="2800">
                <a:cs typeface="Times New Roman" panose="02020603050405020304" pitchFamily="18" charset="0"/>
              </a:rPr>
              <a:t>		A </a:t>
            </a:r>
            <a:r>
              <a:rPr lang="en-US" altLang="en-US" sz="2800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en-US" sz="2800">
                <a:cs typeface="Times New Roman" panose="02020603050405020304" pitchFamily="18" charset="0"/>
              </a:rPr>
              <a:t> </a:t>
            </a:r>
            <a:r>
              <a:rPr lang="en-US" altLang="en-US" sz="2800">
                <a:latin typeface="Symbol" panose="05050102010706020507" pitchFamily="18" charset="2"/>
                <a:cs typeface="Times New Roman" panose="02020603050405020304" pitchFamily="18" charset="0"/>
              </a:rPr>
              <a:t>a</a:t>
            </a:r>
            <a:r>
              <a:rPr lang="en-US" altLang="en-US" sz="2800" baseline="-30000">
                <a:cs typeface="Times New Roman" panose="02020603050405020304" pitchFamily="18" charset="0"/>
              </a:rPr>
              <a:t>1</a:t>
            </a:r>
            <a:r>
              <a:rPr lang="en-US" altLang="en-US" sz="2800">
                <a:cs typeface="Times New Roman" panose="02020603050405020304" pitchFamily="18" charset="0"/>
              </a:rPr>
              <a:t> | </a:t>
            </a:r>
            <a:r>
              <a:rPr lang="en-US" altLang="en-US" sz="2800">
                <a:latin typeface="Symbol" panose="05050102010706020507" pitchFamily="18" charset="2"/>
                <a:cs typeface="Times New Roman" panose="02020603050405020304" pitchFamily="18" charset="0"/>
              </a:rPr>
              <a:t>a</a:t>
            </a:r>
            <a:r>
              <a:rPr lang="en-US" altLang="en-US" sz="2800" baseline="-30000">
                <a:cs typeface="Times New Roman" panose="02020603050405020304" pitchFamily="18" charset="0"/>
              </a:rPr>
              <a:t>2</a:t>
            </a:r>
            <a:r>
              <a:rPr lang="en-US" altLang="en-US" sz="2800">
                <a:cs typeface="Times New Roman" panose="02020603050405020304" pitchFamily="18" charset="0"/>
              </a:rPr>
              <a:t> | . . . . | </a:t>
            </a:r>
            <a:r>
              <a:rPr lang="en-US" altLang="en-US" sz="2800">
                <a:latin typeface="Symbol" panose="05050102010706020507" pitchFamily="18" charset="2"/>
                <a:cs typeface="Times New Roman" panose="02020603050405020304" pitchFamily="18" charset="0"/>
              </a:rPr>
              <a:t>a</a:t>
            </a:r>
            <a:r>
              <a:rPr lang="en-US" altLang="en-US" sz="2800" baseline="-30000">
                <a:cs typeface="Times New Roman" panose="02020603050405020304" pitchFamily="18" charset="0"/>
              </a:rPr>
              <a:t>n</a:t>
            </a:r>
            <a:r>
              <a:rPr lang="en-US" altLang="en-US" sz="2800">
                <a:cs typeface="Times New Roman" panose="02020603050405020304" pitchFamily="18" charset="0"/>
              </a:rPr>
              <a:t> , n </a:t>
            </a:r>
            <a:r>
              <a:rPr lang="en-US" altLang="en-US" sz="2800">
                <a:cs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en-US" sz="2800">
                <a:cs typeface="Times New Roman" panose="02020603050405020304" pitchFamily="18" charset="0"/>
              </a:rPr>
              <a:t>  2 we have</a:t>
            </a:r>
          </a:p>
          <a:p>
            <a:pPr lvl="1" algn="just"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en-US" altLang="en-US">
                <a:cs typeface="Times New Roman" panose="02020603050405020304" pitchFamily="18" charset="0"/>
              </a:rPr>
              <a:t>FIRST</a:t>
            </a:r>
            <a:r>
              <a:rPr lang="en-US" altLang="en-US" sz="2400" baseline="-30000"/>
              <a:t>1</a:t>
            </a:r>
            <a:r>
              <a:rPr lang="en-US" altLang="en-US" sz="2400"/>
              <a:t>(</a:t>
            </a:r>
            <a:r>
              <a:rPr lang="en-US" altLang="en-US" sz="2400">
                <a:sym typeface="Symbol" panose="05050102010706020507" pitchFamily="18" charset="2"/>
              </a:rPr>
              <a:t></a:t>
            </a:r>
            <a:r>
              <a:rPr lang="en-US" altLang="en-US" sz="2400" baseline="-30000"/>
              <a:t>i</a:t>
            </a:r>
            <a:r>
              <a:rPr lang="en-US" altLang="en-US" sz="2400"/>
              <a:t>) </a:t>
            </a:r>
            <a:r>
              <a:rPr lang="en-US" altLang="en-US" sz="2400">
                <a:sym typeface="Symbol" panose="05050102010706020507" pitchFamily="18" charset="2"/>
              </a:rPr>
              <a:t></a:t>
            </a:r>
            <a:r>
              <a:rPr lang="en-US" altLang="en-US" sz="2400"/>
              <a:t> </a:t>
            </a:r>
            <a:r>
              <a:rPr lang="en-US" altLang="en-US">
                <a:cs typeface="Times New Roman" panose="02020603050405020304" pitchFamily="18" charset="0"/>
              </a:rPr>
              <a:t>FIRST</a:t>
            </a:r>
            <a:r>
              <a:rPr lang="en-US" altLang="en-US" sz="2400" baseline="-30000">
                <a:cs typeface="Times New Roman" panose="02020603050405020304" pitchFamily="18" charset="0"/>
              </a:rPr>
              <a:t>1</a:t>
            </a:r>
            <a:r>
              <a:rPr lang="en-US" altLang="en-US" sz="2400"/>
              <a:t>(</a:t>
            </a:r>
            <a:r>
              <a:rPr lang="en-US" altLang="en-US" sz="2400">
                <a:sym typeface="Symbol" panose="05050102010706020507" pitchFamily="18" charset="2"/>
              </a:rPr>
              <a:t></a:t>
            </a:r>
            <a:r>
              <a:rPr lang="en-US" altLang="en-US" sz="2400" baseline="-30000"/>
              <a:t>j</a:t>
            </a:r>
            <a:r>
              <a:rPr lang="en-US" altLang="en-US" sz="2400"/>
              <a:t>) = </a:t>
            </a:r>
            <a:r>
              <a:rPr lang="en-US" altLang="en-US" sz="2400">
                <a:sym typeface="Symbol" panose="05050102010706020507" pitchFamily="18" charset="2"/>
              </a:rPr>
              <a:t>,  </a:t>
            </a:r>
            <a:r>
              <a:rPr lang="en-US" altLang="en-US" sz="2400"/>
              <a:t>i </a:t>
            </a:r>
            <a:r>
              <a:rPr lang="en-US" altLang="en-US" sz="2400">
                <a:sym typeface="Symbol" panose="05050102010706020507" pitchFamily="18" charset="2"/>
              </a:rPr>
              <a:t></a:t>
            </a:r>
            <a:r>
              <a:rPr lang="en-US" altLang="en-US" sz="2400"/>
              <a:t> j </a:t>
            </a:r>
          </a:p>
          <a:p>
            <a:pPr algn="just"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en-US" altLang="en-US" sz="2800"/>
              <a:t>	If </a:t>
            </a:r>
            <a:r>
              <a:rPr lang="en-US" altLang="en-US" sz="2800">
                <a:latin typeface="Symbol" panose="05050102010706020507" pitchFamily="18" charset="2"/>
              </a:rPr>
              <a:t>a</a:t>
            </a:r>
            <a:r>
              <a:rPr lang="en-US" altLang="en-US" sz="2800" baseline="-30000"/>
              <a:t>i</a:t>
            </a:r>
            <a:r>
              <a:rPr lang="en-US" altLang="en-US" sz="2800"/>
              <a:t> </a:t>
            </a:r>
            <a:r>
              <a:rPr lang="en-US" altLang="en-US" sz="2800">
                <a:sym typeface="Symbol" panose="05050102010706020507" pitchFamily="18" charset="2"/>
              </a:rPr>
              <a:t></a:t>
            </a:r>
            <a:r>
              <a:rPr lang="en-US" altLang="en-US" sz="2800"/>
              <a:t> * </a:t>
            </a:r>
            <a:r>
              <a:rPr lang="en-US" altLang="en-US" sz="2800">
                <a:latin typeface="Symbol" panose="05050102010706020507" pitchFamily="18" charset="2"/>
              </a:rPr>
              <a:t>e</a:t>
            </a:r>
            <a:r>
              <a:rPr lang="en-US" altLang="en-US" sz="2800"/>
              <a:t> then </a:t>
            </a:r>
          </a:p>
          <a:p>
            <a:pPr lvl="1" algn="just"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en-US" altLang="en-US"/>
              <a:t>FIRST</a:t>
            </a:r>
            <a:r>
              <a:rPr lang="en-US" altLang="en-US" baseline="-30000"/>
              <a:t>1</a:t>
            </a:r>
            <a:r>
              <a:rPr lang="en-US" altLang="en-US"/>
              <a:t>(</a:t>
            </a:r>
            <a:r>
              <a:rPr lang="en-US" altLang="en-US">
                <a:sym typeface="Symbol" panose="05050102010706020507" pitchFamily="18" charset="2"/>
              </a:rPr>
              <a:t></a:t>
            </a:r>
            <a:r>
              <a:rPr lang="en-US" altLang="en-US" baseline="-30000"/>
              <a:t>i</a:t>
            </a:r>
            <a:r>
              <a:rPr lang="en-US" altLang="en-US"/>
              <a:t>) </a:t>
            </a:r>
            <a:r>
              <a:rPr lang="en-US" altLang="en-US">
                <a:sym typeface="Symbol" panose="05050102010706020507" pitchFamily="18" charset="2"/>
              </a:rPr>
              <a:t></a:t>
            </a:r>
            <a:r>
              <a:rPr lang="en-US" altLang="en-US"/>
              <a:t> FOLLOW</a:t>
            </a:r>
            <a:r>
              <a:rPr lang="en-US" altLang="en-US" baseline="-30000"/>
              <a:t>1</a:t>
            </a:r>
            <a:r>
              <a:rPr lang="en-US" altLang="en-US"/>
              <a:t>(A) =</a:t>
            </a:r>
            <a:r>
              <a:rPr lang="en-US" altLang="en-US">
                <a:sym typeface="Symbol" panose="05050102010706020507" pitchFamily="18" charset="2"/>
              </a:rPr>
              <a:t></a:t>
            </a:r>
            <a:r>
              <a:rPr lang="en-US" altLang="en-US"/>
              <a:t> , i </a:t>
            </a:r>
            <a:r>
              <a:rPr lang="en-US" altLang="en-US">
                <a:sym typeface="Symbol" panose="05050102010706020507" pitchFamily="18" charset="2"/>
              </a:rPr>
              <a:t></a:t>
            </a:r>
            <a:r>
              <a:rPr lang="en-US" altLang="en-US"/>
              <a:t> j </a:t>
            </a:r>
          </a:p>
          <a:p>
            <a:pPr eaLnBrk="1" hangingPunct="1">
              <a:spcAft>
                <a:spcPct val="20000"/>
              </a:spcAft>
            </a:pPr>
            <a:endParaRPr lang="en-US" altLang="en-US" sz="2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5960" name="Group 72">
            <a:extLst>
              <a:ext uri="{FF2B5EF4-FFF2-40B4-BE49-F238E27FC236}">
                <a16:creationId xmlns:a16="http://schemas.microsoft.com/office/drawing/2014/main" id="{7D23E2A6-D3C8-4150-A6A9-A1CFE1B60B06}"/>
              </a:ext>
            </a:extLst>
          </p:cNvPr>
          <p:cNvGraphicFramePr>
            <a:graphicFrameLocks noGrp="1"/>
          </p:cNvGraphicFramePr>
          <p:nvPr>
            <p:ph type="tbl" idx="1"/>
          </p:nvPr>
        </p:nvGraphicFramePr>
        <p:xfrm>
          <a:off x="381000" y="990600"/>
          <a:ext cx="8534400" cy="5327649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0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0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A</a:t>
                      </a: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FIRST(A)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FOLLOW(A)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30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Block</a:t>
                      </a: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KW_CONST, KW_VAR, KW_TYPE, KW_FUNCTION, KW_PROCEDURE, KW_BEGIN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SB_PERIOD,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SB_SEMICOLON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607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Unsignedconst</a:t>
                      </a: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TK_IDENT, TK_NUMBER, TK_CHAR. 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607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Constant</a:t>
                      </a: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SB_PLUS,SB_MINUS,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TK_IDENT TK_NUMBER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2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607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Type</a:t>
                      </a: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TK_IDENT, TK_NUMBER, TK_CHAR, KW_ARRAY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607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Statement</a:t>
                      </a: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TK_IDENT, KW_CALL, KW_BEGIN, KW_IF, KW_WHILE, KW_FOR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KW_ELSE,SB_SEMICOLON, KW_END 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545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Expression3</a:t>
                      </a: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SB_PLUS,SB_MINUS, 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sym typeface="Symbol"/>
                        </a:rPr>
                        <a:t>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SB_COMMA,SB_SEMICOLON, KW_END, KW_TO, KW_THEN, KW_DO, SB_RPAR, SB_RSEL,</a:t>
                      </a:r>
                      <a:r>
                        <a:rPr lang="en-US" sz="1600" dirty="0">
                          <a:latin typeface="+mj-lt"/>
                          <a:cs typeface="Courier New" pitchFamily="49" charset="0"/>
                        </a:rPr>
                        <a:t> </a:t>
                      </a:r>
                      <a:r>
                        <a:rPr kumimoji="0" lang="en-U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SB_EQ, SB_NEQ, SB_LT, SB_LE, SB_GT, SB_GE,</a:t>
                      </a:r>
                    </a:p>
                    <a:p>
                      <a:r>
                        <a:rPr kumimoji="0" lang="en-U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KW_ELSE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516" name="Text Box 71">
            <a:extLst>
              <a:ext uri="{FF2B5EF4-FFF2-40B4-BE49-F238E27FC236}">
                <a16:creationId xmlns:a16="http://schemas.microsoft.com/office/drawing/2014/main" id="{28D61218-6452-4316-B439-3430ECAC1B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381000"/>
            <a:ext cx="8305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/>
              <a:t>KPL is LL(1)?– FIRST &amp; FOLLOW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Box 4">
            <a:extLst>
              <a:ext uri="{FF2B5EF4-FFF2-40B4-BE49-F238E27FC236}">
                <a16:creationId xmlns:a16="http://schemas.microsoft.com/office/drawing/2014/main" id="{101DE99E-0102-49C9-A36E-6704D28BF6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" y="838200"/>
            <a:ext cx="8915400" cy="655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/>
              <a:t>Consider the following set of production with Statement on LHS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	FIRST (RHS1)={TK_IDEN}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	FIRST (RHS2)={KW_CALL}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	FIRST (RHS3)={KW_BEGIN}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	FIRST (RHS4)={KW_IF}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	FIRST (RHS5)={KW_WHILE}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	FIRST (RHS6)={KW_FOR}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	FIRST (RHS7)={</a:t>
            </a:r>
            <a:r>
              <a:rPr lang="en-US" altLang="en-US" sz="1800" dirty="0">
                <a:sym typeface="Symbol" panose="05050102010706020507" pitchFamily="18" charset="2"/>
              </a:rPr>
              <a:t></a:t>
            </a:r>
            <a:r>
              <a:rPr lang="en-US" altLang="en-US" sz="1800" dirty="0"/>
              <a:t>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	FOLLOW(LHS)={SB_SEMICOLON, KW_END, KW_ELSE}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The set of productions of Statement satisfies LL(1) condition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GB" altLang="en-US" sz="1800" dirty="0"/>
          </a:p>
        </p:txBody>
      </p:sp>
      <p:sp>
        <p:nvSpPr>
          <p:cNvPr id="21507" name="Title 1">
            <a:extLst>
              <a:ext uri="{FF2B5EF4-FFF2-40B4-BE49-F238E27FC236}">
                <a16:creationId xmlns:a16="http://schemas.microsoft.com/office/drawing/2014/main" id="{4F8B16B3-C5E1-468E-8165-1F03B34ED6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5240"/>
            <a:ext cx="8229600" cy="990600"/>
          </a:xfrm>
        </p:spPr>
        <p:txBody>
          <a:bodyPr/>
          <a:lstStyle/>
          <a:p>
            <a:r>
              <a:rPr lang="en-US" altLang="en-US"/>
              <a:t>KPL is LL(1)?</a:t>
            </a:r>
            <a:endParaRPr lang="en-GB" altLang="en-US"/>
          </a:p>
        </p:txBody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E9915DB8-A4A8-4ED3-AE26-057312C97D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676400"/>
            <a:ext cx="4572000" cy="1951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Statement ::= AssignSt</a:t>
            </a: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Statement ::= CallSt</a:t>
            </a: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Statement ::= GroupSt</a:t>
            </a: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Statement ::= IfSt</a:t>
            </a: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Statement ::= WhileSt</a:t>
            </a: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Statement ::= ForSt</a:t>
            </a: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Statement ::= </a:t>
            </a:r>
            <a:r>
              <a:rPr lang="en-US" altLang="en-US" sz="1800" b="1">
                <a:solidFill>
                  <a:srgbClr val="000000"/>
                </a:solidFill>
                <a:latin typeface="Symbol" panose="05050102010706020507" pitchFamily="18" charset="2"/>
              </a:rPr>
              <a:t></a:t>
            </a:r>
            <a:endParaRPr lang="en-US" altLang="en-US" sz="1800" b="1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75736CF4-16DD-4B34-B047-026D0048C2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914400"/>
          </a:xfrm>
        </p:spPr>
        <p:txBody>
          <a:bodyPr/>
          <a:lstStyle/>
          <a:p>
            <a:r>
              <a:rPr lang="en-US" altLang="en-US"/>
              <a:t>KPL is LL(1)?</a:t>
            </a:r>
            <a:endParaRPr lang="en-GB" altLang="en-US"/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4BF0D95F-F09B-4335-82EE-831FD2C3D4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9713" y="1862138"/>
            <a:ext cx="5562600" cy="1131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Factor ::= UnsignedConstant</a:t>
            </a: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Factor ::= Variable</a:t>
            </a: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Factor ::= FunctionApplication</a:t>
            </a: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Factor ::= SB_LPAR Expression SB_RPAR</a:t>
            </a:r>
          </a:p>
        </p:txBody>
      </p:sp>
      <p:sp>
        <p:nvSpPr>
          <p:cNvPr id="22532" name="TextBox 4">
            <a:extLst>
              <a:ext uri="{FF2B5EF4-FFF2-40B4-BE49-F238E27FC236}">
                <a16:creationId xmlns:a16="http://schemas.microsoft.com/office/drawing/2014/main" id="{3738E045-A324-49B0-8D19-C2972D67FA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3413760"/>
            <a:ext cx="7620000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FIRST(RHS1)={TK_IDENT, TK_NUMBER, TK_CHAR}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FIRST(RHS2)={TK_IDENT}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FIRST(RHS3)={TK_IDENT}</a:t>
            </a:r>
            <a:br>
              <a:rPr lang="en-US" altLang="en-US" sz="1800" dirty="0"/>
            </a:br>
            <a:r>
              <a:rPr lang="en-US" altLang="en-US" sz="1800" dirty="0"/>
              <a:t>FIRST(RHS4)={SB_LPAR}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The set of productions of Factor does not satisfy LL(1) condition, but </a:t>
            </a:r>
            <a:r>
              <a:rPr lang="en-US" altLang="en-US" sz="1800" dirty="0" err="1"/>
              <a:t>satisties</a:t>
            </a:r>
            <a:r>
              <a:rPr lang="en-US" altLang="en-US" sz="1800" dirty="0"/>
              <a:t> LL(2) condition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C5CF9CE5-3109-48AB-9752-7805F15D46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60960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KPL is LL(2)</a:t>
            </a:r>
            <a:endParaRPr lang="en-GB" altLang="en-US"/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8703E33B-81D6-4737-8A85-590D24E14D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9550" y="1219200"/>
            <a:ext cx="5562600" cy="167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Factor ::= TK_NUMBER</a:t>
            </a: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Factor ::= TK_CHAR</a:t>
            </a: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Factor ::= TK_IDENT</a:t>
            </a: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Factor ::= TK_IDENT Arguments</a:t>
            </a: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Factor ::= TK_IDENT Indexes</a:t>
            </a: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Factor ::= SB_LPAR Expression SB_RPAR</a:t>
            </a:r>
          </a:p>
        </p:txBody>
      </p:sp>
      <p:sp>
        <p:nvSpPr>
          <p:cNvPr id="23556" name="TextBox 4">
            <a:extLst>
              <a:ext uri="{FF2B5EF4-FFF2-40B4-BE49-F238E27FC236}">
                <a16:creationId xmlns:a16="http://schemas.microsoft.com/office/drawing/2014/main" id="{94430D7A-B6A4-4431-9423-542DBE5DBD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124200"/>
            <a:ext cx="7620000" cy="258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FIRST</a:t>
            </a:r>
            <a:r>
              <a:rPr lang="en-US" altLang="en-US" sz="1800" baseline="-25000" dirty="0"/>
              <a:t>2</a:t>
            </a:r>
            <a:r>
              <a:rPr lang="en-US" altLang="en-US" sz="1800" dirty="0"/>
              <a:t>(RHS1)={TK_NUMBER}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FIRST</a:t>
            </a:r>
            <a:r>
              <a:rPr lang="en-US" altLang="en-US" sz="1800" baseline="-25000" dirty="0"/>
              <a:t>2 </a:t>
            </a:r>
            <a:r>
              <a:rPr lang="en-US" altLang="en-US" sz="1800" dirty="0"/>
              <a:t>(RHS2)={TK_CHAR}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FIRST</a:t>
            </a:r>
            <a:r>
              <a:rPr lang="en-US" altLang="en-US" sz="1800" baseline="-25000" dirty="0"/>
              <a:t>2 </a:t>
            </a:r>
            <a:r>
              <a:rPr lang="en-US" altLang="en-US" sz="1800" dirty="0"/>
              <a:t>(RHS3)={TK_IDENT}</a:t>
            </a:r>
            <a:br>
              <a:rPr lang="en-US" altLang="en-US" sz="1800" dirty="0"/>
            </a:br>
            <a:r>
              <a:rPr lang="en-US" altLang="en-US" sz="1800" dirty="0"/>
              <a:t>FIRST</a:t>
            </a:r>
            <a:r>
              <a:rPr lang="en-US" altLang="en-US" sz="1800" baseline="-25000" dirty="0"/>
              <a:t>2 </a:t>
            </a:r>
            <a:r>
              <a:rPr lang="en-US" altLang="en-US" sz="1800" dirty="0"/>
              <a:t>(RHS4)={TK_IDENT SB_LPAR}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FIRST</a:t>
            </a:r>
            <a:r>
              <a:rPr lang="en-US" altLang="en-US" sz="1800" baseline="-25000" dirty="0"/>
              <a:t>2 </a:t>
            </a:r>
            <a:r>
              <a:rPr lang="en-US" altLang="en-US" sz="1800" dirty="0"/>
              <a:t>(RHS5)={TK_IDENT SB_LSEL}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FIRST</a:t>
            </a:r>
            <a:r>
              <a:rPr lang="en-US" altLang="en-US" sz="1800" baseline="-25000" dirty="0"/>
              <a:t>2 </a:t>
            </a:r>
            <a:r>
              <a:rPr lang="en-US" altLang="en-US" sz="1800" dirty="0"/>
              <a:t>(RHS6) ={SB_LPAR TK_IDENT, SB_LPAR TK_NUMBER, SB_LPAR </a:t>
            </a:r>
            <a:r>
              <a:rPr lang="en-US" altLang="en-US" sz="1800" dirty="0" err="1"/>
              <a:t>SB_LPAR</a:t>
            </a:r>
            <a:r>
              <a:rPr lang="en-US" altLang="en-US" sz="1800" dirty="0"/>
              <a:t> , SB_LPAR TK_CHAR}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The set of productions satisfies LL(2) condition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>
            <a:extLst>
              <a:ext uri="{FF2B5EF4-FFF2-40B4-BE49-F238E27FC236}">
                <a16:creationId xmlns:a16="http://schemas.microsoft.com/office/drawing/2014/main" id="{FC186E27-2163-49E7-9D65-995426F3DE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Grammar Transformations</a:t>
            </a:r>
          </a:p>
        </p:txBody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E522030C-BA5B-4970-B530-F21BEFD52F4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94360" y="1295400"/>
            <a:ext cx="7886700" cy="44831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Left factoring: Sometimes we can “left-factor” an LL(k) grammar to obtain an equivalent LL(n) grammar where n &lt; k.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Example. The grammar S </a:t>
            </a:r>
            <a:r>
              <a:rPr lang="en-US" altLang="en-US" sz="2400" dirty="0">
                <a:cs typeface="Arial" panose="020B0604020202020204" pitchFamily="34" charset="0"/>
              </a:rPr>
              <a:t>→</a:t>
            </a:r>
            <a:r>
              <a:rPr lang="en-US" altLang="en-US" sz="2400" dirty="0"/>
              <a:t> </a:t>
            </a:r>
            <a:r>
              <a:rPr lang="en-US" altLang="en-US" sz="2400" dirty="0" err="1"/>
              <a:t>aaS</a:t>
            </a:r>
            <a:r>
              <a:rPr lang="en-US" altLang="en-US" sz="2400" dirty="0"/>
              <a:t> | ab | b is LL(2) but not LL(1). But we can factor out the common prefix </a:t>
            </a:r>
            <a:r>
              <a:rPr lang="en-US" altLang="en-US" sz="2400" i="1" dirty="0"/>
              <a:t>a</a:t>
            </a:r>
            <a:r>
              <a:rPr lang="en-US" altLang="en-US" sz="2400" dirty="0"/>
              <a:t> from productions S </a:t>
            </a:r>
            <a:r>
              <a:rPr lang="en-US" altLang="en-US" sz="2400" dirty="0">
                <a:cs typeface="Arial" panose="020B0604020202020204" pitchFamily="34" charset="0"/>
              </a:rPr>
              <a:t>→ </a:t>
            </a:r>
            <a:r>
              <a:rPr lang="en-US" altLang="en-US" sz="2400" dirty="0" err="1"/>
              <a:t>aaS</a:t>
            </a:r>
            <a:r>
              <a:rPr lang="en-US" altLang="en-US" sz="2400" dirty="0"/>
              <a:t> | ab to obtain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dirty="0"/>
              <a:t>	S </a:t>
            </a:r>
            <a:r>
              <a:rPr lang="en-US" altLang="en-US" sz="2400" dirty="0">
                <a:cs typeface="Arial" panose="020B0604020202020204" pitchFamily="34" charset="0"/>
              </a:rPr>
              <a:t>→</a:t>
            </a:r>
            <a:r>
              <a:rPr lang="en-US" altLang="en-US" sz="2400" dirty="0"/>
              <a:t> </a:t>
            </a:r>
            <a:r>
              <a:rPr lang="en-US" altLang="en-US" sz="2400" dirty="0" err="1"/>
              <a:t>aT</a:t>
            </a:r>
            <a:r>
              <a:rPr lang="en-US" altLang="en-US" sz="2400" dirty="0"/>
              <a:t>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dirty="0"/>
              <a:t>	T </a:t>
            </a:r>
            <a:r>
              <a:rPr lang="en-US" altLang="en-US" sz="2400" dirty="0">
                <a:cs typeface="Arial" panose="020B0604020202020204" pitchFamily="34" charset="0"/>
              </a:rPr>
              <a:t>→</a:t>
            </a:r>
            <a:r>
              <a:rPr lang="en-US" altLang="en-US" sz="2400" dirty="0"/>
              <a:t> </a:t>
            </a:r>
            <a:r>
              <a:rPr lang="en-US" altLang="en-US" sz="2400" dirty="0" err="1"/>
              <a:t>aS</a:t>
            </a:r>
            <a:r>
              <a:rPr lang="en-US" altLang="en-US" sz="2400" dirty="0"/>
              <a:t> | b.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dirty="0"/>
              <a:t>	This gives the new grammar: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dirty="0"/>
              <a:t>	S </a:t>
            </a:r>
            <a:r>
              <a:rPr lang="en-US" altLang="en-US" sz="2400" dirty="0">
                <a:cs typeface="Arial" panose="020B0604020202020204" pitchFamily="34" charset="0"/>
              </a:rPr>
              <a:t>→</a:t>
            </a:r>
            <a:r>
              <a:rPr lang="en-US" altLang="en-US" sz="2400" dirty="0"/>
              <a:t> </a:t>
            </a:r>
            <a:r>
              <a:rPr lang="en-US" altLang="en-US" sz="2400" dirty="0" err="1"/>
              <a:t>aT</a:t>
            </a:r>
            <a:r>
              <a:rPr lang="en-US" altLang="en-US" sz="2400" dirty="0"/>
              <a:t> | b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dirty="0"/>
              <a:t>	T </a:t>
            </a:r>
            <a:r>
              <a:rPr lang="en-US" altLang="en-US" sz="2400" dirty="0">
                <a:cs typeface="Arial" panose="020B0604020202020204" pitchFamily="34" charset="0"/>
              </a:rPr>
              <a:t>→</a:t>
            </a:r>
            <a:r>
              <a:rPr lang="en-US" altLang="en-US" sz="2400" dirty="0"/>
              <a:t> </a:t>
            </a:r>
            <a:r>
              <a:rPr lang="en-US" altLang="en-US" sz="2400" dirty="0" err="1"/>
              <a:t>aS</a:t>
            </a:r>
            <a:r>
              <a:rPr lang="en-US" altLang="en-US" sz="2400" dirty="0"/>
              <a:t> | b. </a:t>
            </a:r>
          </a:p>
        </p:txBody>
      </p:sp>
      <p:sp>
        <p:nvSpPr>
          <p:cNvPr id="24578" name="Slide Number Placeholder 5">
            <a:extLst>
              <a:ext uri="{FF2B5EF4-FFF2-40B4-BE49-F238E27FC236}">
                <a16:creationId xmlns:a16="http://schemas.microsoft.com/office/drawing/2014/main" id="{9417FAAF-DA9D-4255-AC13-B97EC175A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0C95BB1F-CC18-4DE0-939B-9DFE5B04C3F0}" type="slidenum">
              <a:rPr lang="en-US" altLang="en-US" sz="12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2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>
            <a:extLst>
              <a:ext uri="{FF2B5EF4-FFF2-40B4-BE49-F238E27FC236}">
                <a16:creationId xmlns:a16="http://schemas.microsoft.com/office/drawing/2014/main" id="{B40C29A1-E42C-4B7E-A57B-3B93BDC203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Left Factoring to obtain LL(1) grammars </a:t>
            </a:r>
          </a:p>
        </p:txBody>
      </p:sp>
      <p:sp>
        <p:nvSpPr>
          <p:cNvPr id="25602" name="Slide Number Placeholder 4">
            <a:extLst>
              <a:ext uri="{FF2B5EF4-FFF2-40B4-BE49-F238E27FC236}">
                <a16:creationId xmlns:a16="http://schemas.microsoft.com/office/drawing/2014/main" id="{418CEB5A-553E-4B18-B65D-31051648E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B0091193-FFBA-4AEB-B984-A72B9D137797}" type="slidenum">
              <a:rPr lang="en-US" altLang="en-US" sz="1400" smtClean="0">
                <a:latin typeface="Times" panose="02020603050405020304" pitchFamily="18" charset="0"/>
              </a:rPr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400">
              <a:latin typeface="Times" panose="02020603050405020304" pitchFamily="18" charset="0"/>
            </a:endParaRPr>
          </a:p>
        </p:txBody>
      </p:sp>
      <p:sp>
        <p:nvSpPr>
          <p:cNvPr id="25604" name="Text Box 3">
            <a:extLst>
              <a:ext uri="{FF2B5EF4-FFF2-40B4-BE49-F238E27FC236}">
                <a16:creationId xmlns:a16="http://schemas.microsoft.com/office/drawing/2014/main" id="{378BE913-F8F9-4FBB-9DA3-ED2CD981C4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981200"/>
            <a:ext cx="8382000" cy="83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" panose="02020603050405020304" pitchFamily="18" charset="0"/>
              </a:rPr>
              <a:t>When more than one production for nonterminal </a:t>
            </a:r>
            <a:r>
              <a:rPr lang="en-US" altLang="en-US" sz="2400" i="1">
                <a:latin typeface="Times" panose="02020603050405020304" pitchFamily="18" charset="0"/>
              </a:rPr>
              <a:t>A</a:t>
            </a:r>
            <a:r>
              <a:rPr lang="en-US" altLang="en-US" sz="2400">
                <a:latin typeface="Times" panose="02020603050405020304" pitchFamily="18" charset="0"/>
              </a:rPr>
              <a:t> starts</a:t>
            </a:r>
            <a:br>
              <a:rPr lang="en-US" altLang="en-US" sz="2400">
                <a:latin typeface="Times" panose="02020603050405020304" pitchFamily="18" charset="0"/>
              </a:rPr>
            </a:br>
            <a:r>
              <a:rPr lang="en-US" altLang="en-US" sz="2400">
                <a:latin typeface="Times" panose="02020603050405020304" pitchFamily="18" charset="0"/>
              </a:rPr>
              <a:t>with the same symbols, the FIRST sets are not disjoint</a:t>
            </a:r>
          </a:p>
        </p:txBody>
      </p:sp>
      <p:sp>
        <p:nvSpPr>
          <p:cNvPr id="25605" name="Text Box 4">
            <a:extLst>
              <a:ext uri="{FF2B5EF4-FFF2-40B4-BE49-F238E27FC236}">
                <a16:creationId xmlns:a16="http://schemas.microsoft.com/office/drawing/2014/main" id="{85C70F0F-DE8A-4143-A143-9E495AB59C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4114800"/>
            <a:ext cx="46228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" panose="02020603050405020304" pitchFamily="18" charset="0"/>
              </a:rPr>
              <a:t>Use </a:t>
            </a:r>
            <a:r>
              <a:rPr lang="en-US" altLang="en-US" sz="2400" i="1">
                <a:latin typeface="Times" panose="02020603050405020304" pitchFamily="18" charset="0"/>
              </a:rPr>
              <a:t>left factoring</a:t>
            </a:r>
            <a:r>
              <a:rPr lang="en-US" altLang="en-US" sz="2400">
                <a:latin typeface="Times" panose="02020603050405020304" pitchFamily="18" charset="0"/>
              </a:rPr>
              <a:t> to fix the problem</a:t>
            </a:r>
          </a:p>
        </p:txBody>
      </p:sp>
      <p:sp>
        <p:nvSpPr>
          <p:cNvPr id="25606" name="Text Box 5">
            <a:extLst>
              <a:ext uri="{FF2B5EF4-FFF2-40B4-BE49-F238E27FC236}">
                <a16:creationId xmlns:a16="http://schemas.microsoft.com/office/drawing/2014/main" id="{6DFC3858-06DE-42C0-A57B-07788DA4BB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3048000"/>
            <a:ext cx="4424363" cy="83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i="1">
                <a:latin typeface="Times" panose="02020603050405020304" pitchFamily="18" charset="0"/>
              </a:rPr>
              <a:t>ifstmt</a:t>
            </a:r>
            <a:r>
              <a:rPr lang="en-US" altLang="en-US" sz="2400">
                <a:latin typeface="Times" panose="02020603050405020304" pitchFamily="18" charset="0"/>
              </a:rPr>
              <a:t> </a:t>
            </a:r>
            <a:r>
              <a:rPr lang="en-US" altLang="en-US" sz="2400">
                <a:latin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en-US" sz="2400" b="1">
                <a:latin typeface="Times" panose="02020603050405020304" pitchFamily="18" charset="0"/>
                <a:sym typeface="Symbol" panose="05050102010706020507" pitchFamily="18" charset="2"/>
              </a:rPr>
              <a:t>if </a:t>
            </a:r>
            <a:r>
              <a:rPr lang="en-US" altLang="en-US" sz="2400" i="1">
                <a:latin typeface="Times" panose="02020603050405020304" pitchFamily="18" charset="0"/>
                <a:sym typeface="Symbol" panose="05050102010706020507" pitchFamily="18" charset="2"/>
              </a:rPr>
              <a:t>cond </a:t>
            </a:r>
            <a:r>
              <a:rPr lang="en-US" altLang="en-US" sz="2400" b="1">
                <a:latin typeface="Times" panose="02020603050405020304" pitchFamily="18" charset="0"/>
                <a:sym typeface="Symbol" panose="05050102010706020507" pitchFamily="18" charset="2"/>
              </a:rPr>
              <a:t>then </a:t>
            </a:r>
            <a:r>
              <a:rPr lang="en-US" altLang="en-US" sz="2400" i="1">
                <a:latin typeface="Times" panose="02020603050405020304" pitchFamily="18" charset="0"/>
                <a:sym typeface="Symbol" panose="05050102010706020507" pitchFamily="18" charset="2"/>
              </a:rPr>
              <a:t>stmt</a:t>
            </a:r>
            <a:br>
              <a:rPr lang="en-US" altLang="en-US" sz="2400" i="1">
                <a:latin typeface="Times" panose="02020603050405020304" pitchFamily="18" charset="0"/>
                <a:sym typeface="Symbol" panose="05050102010706020507" pitchFamily="18" charset="2"/>
              </a:rPr>
            </a:br>
            <a:r>
              <a:rPr lang="en-US" altLang="en-US" sz="2400">
                <a:latin typeface="Times" panose="02020603050405020304" pitchFamily="18" charset="0"/>
                <a:sym typeface="Symbol" panose="05050102010706020507" pitchFamily="18" charset="2"/>
              </a:rPr>
              <a:t>           | </a:t>
            </a:r>
            <a:r>
              <a:rPr lang="en-US" altLang="en-US" sz="2400" b="1">
                <a:latin typeface="Times" panose="02020603050405020304" pitchFamily="18" charset="0"/>
                <a:sym typeface="Symbol" panose="05050102010706020507" pitchFamily="18" charset="2"/>
              </a:rPr>
              <a:t>if </a:t>
            </a:r>
            <a:r>
              <a:rPr lang="en-US" altLang="en-US" sz="2400" i="1">
                <a:latin typeface="Times" panose="02020603050405020304" pitchFamily="18" charset="0"/>
                <a:sym typeface="Symbol" panose="05050102010706020507" pitchFamily="18" charset="2"/>
              </a:rPr>
              <a:t>cond</a:t>
            </a:r>
            <a:r>
              <a:rPr lang="en-US" altLang="en-US" sz="2400">
                <a:latin typeface="Times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b="1">
                <a:latin typeface="Times" panose="02020603050405020304" pitchFamily="18" charset="0"/>
                <a:sym typeface="Symbol" panose="05050102010706020507" pitchFamily="18" charset="2"/>
              </a:rPr>
              <a:t>then </a:t>
            </a:r>
            <a:r>
              <a:rPr lang="en-US" altLang="en-US" sz="2400" i="1">
                <a:latin typeface="Times" panose="02020603050405020304" pitchFamily="18" charset="0"/>
                <a:sym typeface="Symbol" panose="05050102010706020507" pitchFamily="18" charset="2"/>
              </a:rPr>
              <a:t>stmt </a:t>
            </a:r>
            <a:r>
              <a:rPr lang="en-US" altLang="en-US" sz="2400" b="1">
                <a:latin typeface="Times" panose="02020603050405020304" pitchFamily="18" charset="0"/>
                <a:sym typeface="Symbol" panose="05050102010706020507" pitchFamily="18" charset="2"/>
              </a:rPr>
              <a:t>else </a:t>
            </a:r>
            <a:r>
              <a:rPr lang="en-US" altLang="en-US" sz="2400" i="1">
                <a:latin typeface="Times" panose="02020603050405020304" pitchFamily="18" charset="0"/>
                <a:sym typeface="Symbol" panose="05050102010706020507" pitchFamily="18" charset="2"/>
              </a:rPr>
              <a:t>stmt</a:t>
            </a:r>
            <a:endParaRPr lang="en-US" altLang="en-US" sz="2400" b="1">
              <a:latin typeface="Times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5607" name="Text Box 6">
            <a:extLst>
              <a:ext uri="{FF2B5EF4-FFF2-40B4-BE49-F238E27FC236}">
                <a16:creationId xmlns:a16="http://schemas.microsoft.com/office/drawing/2014/main" id="{C7343A97-1A08-40F5-881A-C49E5866FF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4953000"/>
            <a:ext cx="49911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i="1">
                <a:latin typeface="Times" panose="02020603050405020304" pitchFamily="18" charset="0"/>
                <a:sym typeface="Symbol" panose="05050102010706020507" pitchFamily="18" charset="2"/>
              </a:rPr>
              <a:t>       ifstmt </a:t>
            </a:r>
            <a:r>
              <a:rPr lang="en-US" altLang="en-US" sz="2400">
                <a:latin typeface="Times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en-US" sz="2400" i="1">
                <a:latin typeface="Times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b="1">
                <a:latin typeface="Times" panose="02020603050405020304" pitchFamily="18" charset="0"/>
                <a:sym typeface="Symbol" panose="05050102010706020507" pitchFamily="18" charset="2"/>
              </a:rPr>
              <a:t>if </a:t>
            </a:r>
            <a:r>
              <a:rPr lang="en-US" altLang="en-US" sz="2400">
                <a:latin typeface="Times" panose="02020603050405020304" pitchFamily="18" charset="0"/>
                <a:sym typeface="Symbol" panose="05050102010706020507" pitchFamily="18" charset="2"/>
              </a:rPr>
              <a:t>expr </a:t>
            </a:r>
            <a:r>
              <a:rPr lang="en-US" altLang="en-US" sz="2400" b="1">
                <a:latin typeface="Times" panose="02020603050405020304" pitchFamily="18" charset="0"/>
                <a:sym typeface="Symbol" panose="05050102010706020507" pitchFamily="18" charset="2"/>
              </a:rPr>
              <a:t>then </a:t>
            </a:r>
            <a:r>
              <a:rPr lang="en-US" altLang="en-US" sz="2400" i="1">
                <a:latin typeface="Times" panose="02020603050405020304" pitchFamily="18" charset="0"/>
                <a:sym typeface="Symbol" panose="05050102010706020507" pitchFamily="18" charset="2"/>
              </a:rPr>
              <a:t>stmt elsestmt</a:t>
            </a:r>
            <a:br>
              <a:rPr lang="en-US" altLang="en-US" sz="2400" i="1">
                <a:latin typeface="Times" panose="02020603050405020304" pitchFamily="18" charset="0"/>
                <a:sym typeface="Symbol" panose="05050102010706020507" pitchFamily="18" charset="2"/>
              </a:rPr>
            </a:br>
            <a:r>
              <a:rPr lang="en-US" altLang="en-US" sz="2400" i="1">
                <a:latin typeface="Times" panose="02020603050405020304" pitchFamily="18" charset="0"/>
                <a:sym typeface="Symbol" panose="05050102010706020507" pitchFamily="18" charset="2"/>
              </a:rPr>
              <a:t>elsestmt </a:t>
            </a:r>
            <a:r>
              <a:rPr lang="en-US" altLang="en-US" sz="2400">
                <a:latin typeface="Times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en-US" sz="2400" i="1">
                <a:latin typeface="Times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b="1">
                <a:latin typeface="Times" panose="02020603050405020304" pitchFamily="18" charset="0"/>
                <a:sym typeface="Symbol" panose="05050102010706020507" pitchFamily="18" charset="2"/>
              </a:rPr>
              <a:t>else</a:t>
            </a:r>
            <a:r>
              <a:rPr lang="en-US" altLang="en-US" sz="2400" i="1">
                <a:latin typeface="Times" panose="02020603050405020304" pitchFamily="18" charset="0"/>
                <a:sym typeface="Symbol" panose="05050102010706020507" pitchFamily="18" charset="2"/>
              </a:rPr>
              <a:t> stmt</a:t>
            </a:r>
            <a:br>
              <a:rPr lang="en-US" altLang="en-US" sz="2400" i="1">
                <a:latin typeface="Times" panose="02020603050405020304" pitchFamily="18" charset="0"/>
                <a:sym typeface="Symbol" panose="05050102010706020507" pitchFamily="18" charset="2"/>
              </a:rPr>
            </a:br>
            <a:r>
              <a:rPr lang="en-US" altLang="en-US" sz="2400">
                <a:latin typeface="Times" panose="02020603050405020304" pitchFamily="18" charset="0"/>
                <a:sym typeface="Symbol" panose="05050102010706020507" pitchFamily="18" charset="2"/>
              </a:rPr>
              <a:t>                 </a:t>
            </a:r>
            <a:r>
              <a:rPr lang="en-US" altLang="en-US" sz="2400" i="1">
                <a:latin typeface="Times" panose="02020603050405020304" pitchFamily="18" charset="0"/>
                <a:sym typeface="Symbol" panose="05050102010706020507" pitchFamily="18" charset="2"/>
              </a:rPr>
              <a:t>|</a:t>
            </a:r>
            <a:r>
              <a:rPr lang="en-US" altLang="en-US" sz="2400">
                <a:latin typeface="Times" panose="02020603050405020304" pitchFamily="18" charset="0"/>
                <a:sym typeface="Symbol" panose="05050102010706020507" pitchFamily="18" charset="2"/>
              </a:rPr>
              <a:t> </a:t>
            </a:r>
            <a:endParaRPr lang="en-US" altLang="en-US" sz="2400" i="1">
              <a:latin typeface="Times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ICT-PPT-template-hoi-thao-onlin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SoICT-PPT-template-hoi-thao-online</Template>
  <TotalTime>5076</TotalTime>
  <Words>1849</Words>
  <Application>Microsoft Office PowerPoint</Application>
  <PresentationFormat>On-screen Show (4:3)</PresentationFormat>
  <Paragraphs>171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Arial</vt:lpstr>
      <vt:lpstr>Calibri</vt:lpstr>
      <vt:lpstr>Courier New</vt:lpstr>
      <vt:lpstr>Symbol</vt:lpstr>
      <vt:lpstr>Tahoma</vt:lpstr>
      <vt:lpstr>Times</vt:lpstr>
      <vt:lpstr>Times New Roman</vt:lpstr>
      <vt:lpstr>Wingdings</vt:lpstr>
      <vt:lpstr>SoICT-PPT-template-hoi-thao-online</vt:lpstr>
      <vt:lpstr>Unit 8.  LL(k) grammars</vt:lpstr>
      <vt:lpstr>Hierarchy of grammar classes</vt:lpstr>
      <vt:lpstr>LL(k) grammar</vt:lpstr>
      <vt:lpstr>LL(k) Grammar</vt:lpstr>
      <vt:lpstr>LL(k) Grammars</vt:lpstr>
      <vt:lpstr>How to Build Parse Tables?  FIRST and FOLLOW Sets</vt:lpstr>
      <vt:lpstr>FIRST Set Construction</vt:lpstr>
      <vt:lpstr>Computing FIRST Sets for Strings of Symbols</vt:lpstr>
      <vt:lpstr>FIRSTk(a)</vt:lpstr>
      <vt:lpstr>FOLLOWk(a)</vt:lpstr>
      <vt:lpstr>FOLLOWk(a)</vt:lpstr>
      <vt:lpstr>LL(k) Grammars</vt:lpstr>
      <vt:lpstr>Example</vt:lpstr>
      <vt:lpstr>Simple LL(1) Grammars</vt:lpstr>
      <vt:lpstr>How to recognize a LL(1) grammar?</vt:lpstr>
      <vt:lpstr>PowerPoint Presentation</vt:lpstr>
      <vt:lpstr>KPL is LL(1)?</vt:lpstr>
      <vt:lpstr>KPL is LL(1)?</vt:lpstr>
      <vt:lpstr>KPL is LL(2)</vt:lpstr>
      <vt:lpstr>Grammar Transformations</vt:lpstr>
      <vt:lpstr>Left Factoring to obtain LL(1) grammars </vt:lpstr>
    </vt:vector>
  </TitlesOfParts>
  <Company>Tel 0915 152 158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COMPILER COSTRUCTION</dc:title>
  <dc:creator>huongnt</dc:creator>
  <cp:lastModifiedBy>Nguyen Thi Thu Huong</cp:lastModifiedBy>
  <cp:revision>261</cp:revision>
  <dcterms:created xsi:type="dcterms:W3CDTF">2008-08-10T02:45:21Z</dcterms:created>
  <dcterms:modified xsi:type="dcterms:W3CDTF">2021-01-19T16:49:17Z</dcterms:modified>
</cp:coreProperties>
</file>