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7" r:id="rId1"/>
  </p:sldMasterIdLst>
  <p:notesMasterIdLst>
    <p:notesMasterId r:id="rId47"/>
  </p:notesMasterIdLst>
  <p:sldIdLst>
    <p:sldId id="351" r:id="rId2"/>
    <p:sldId id="349" r:id="rId3"/>
    <p:sldId id="393" r:id="rId4"/>
    <p:sldId id="394" r:id="rId5"/>
    <p:sldId id="359" r:id="rId6"/>
    <p:sldId id="352" r:id="rId7"/>
    <p:sldId id="360" r:id="rId8"/>
    <p:sldId id="353" r:id="rId9"/>
    <p:sldId id="356" r:id="rId10"/>
    <p:sldId id="355" r:id="rId11"/>
    <p:sldId id="361" r:id="rId12"/>
    <p:sldId id="357" r:id="rId13"/>
    <p:sldId id="362" r:id="rId14"/>
    <p:sldId id="363" r:id="rId15"/>
    <p:sldId id="364" r:id="rId16"/>
    <p:sldId id="365" r:id="rId17"/>
    <p:sldId id="366" r:id="rId18"/>
    <p:sldId id="367" r:id="rId19"/>
    <p:sldId id="368" r:id="rId20"/>
    <p:sldId id="369" r:id="rId21"/>
    <p:sldId id="370" r:id="rId22"/>
    <p:sldId id="371" r:id="rId23"/>
    <p:sldId id="374" r:id="rId24"/>
    <p:sldId id="375" r:id="rId25"/>
    <p:sldId id="376" r:id="rId26"/>
    <p:sldId id="377" r:id="rId27"/>
    <p:sldId id="378" r:id="rId28"/>
    <p:sldId id="379" r:id="rId29"/>
    <p:sldId id="380" r:id="rId30"/>
    <p:sldId id="381" r:id="rId31"/>
    <p:sldId id="402" r:id="rId32"/>
    <p:sldId id="399" r:id="rId33"/>
    <p:sldId id="400" r:id="rId34"/>
    <p:sldId id="396" r:id="rId35"/>
    <p:sldId id="384" r:id="rId36"/>
    <p:sldId id="398" r:id="rId37"/>
    <p:sldId id="401" r:id="rId38"/>
    <p:sldId id="411" r:id="rId39"/>
    <p:sldId id="412" r:id="rId40"/>
    <p:sldId id="413" r:id="rId41"/>
    <p:sldId id="414" r:id="rId42"/>
    <p:sldId id="415" r:id="rId43"/>
    <p:sldId id="416" r:id="rId44"/>
    <p:sldId id="417" r:id="rId45"/>
    <p:sldId id="418" r:id="rId4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37" autoAdjust="0"/>
    <p:restoredTop sz="94728" autoAdjust="0"/>
  </p:normalViewPr>
  <p:slideViewPr>
    <p:cSldViewPr>
      <p:cViewPr varScale="1">
        <p:scale>
          <a:sx n="48" d="100"/>
          <a:sy n="48" d="100"/>
        </p:scale>
        <p:origin x="699" y="41"/>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02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EEFD8B65-8E16-4FB8-8C89-68CE76930C2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33795" name="Rectangle 3">
            <a:extLst>
              <a:ext uri="{FF2B5EF4-FFF2-40B4-BE49-F238E27FC236}">
                <a16:creationId xmlns:a16="http://schemas.microsoft.com/office/drawing/2014/main" id="{2C6203CF-076B-4EE5-87B6-BDE27E55E1C1}"/>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076" name="Rectangle 4">
            <a:extLst>
              <a:ext uri="{FF2B5EF4-FFF2-40B4-BE49-F238E27FC236}">
                <a16:creationId xmlns:a16="http://schemas.microsoft.com/office/drawing/2014/main" id="{EAAC7523-62EA-470B-AAF9-01A76908ED81}"/>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7" name="Rectangle 5">
            <a:extLst>
              <a:ext uri="{FF2B5EF4-FFF2-40B4-BE49-F238E27FC236}">
                <a16:creationId xmlns:a16="http://schemas.microsoft.com/office/drawing/2014/main" id="{445E82B0-2377-4F93-B3B7-B1445071055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3798" name="Rectangle 6">
            <a:extLst>
              <a:ext uri="{FF2B5EF4-FFF2-40B4-BE49-F238E27FC236}">
                <a16:creationId xmlns:a16="http://schemas.microsoft.com/office/drawing/2014/main" id="{E426C1AF-FF47-489E-941A-F7BDBB0966B6}"/>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33799" name="Rectangle 7">
            <a:extLst>
              <a:ext uri="{FF2B5EF4-FFF2-40B4-BE49-F238E27FC236}">
                <a16:creationId xmlns:a16="http://schemas.microsoft.com/office/drawing/2014/main" id="{7A15712B-E424-4003-A97B-03CBB6328741}"/>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15015C35-F02A-4AFC-BB21-B9A9544AE6A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16EC21F2-01B4-4025-975A-4FED9D0ED6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50739A5-A72E-4176-9654-37D27242E9C7}" type="slidenum">
              <a:rPr lang="en-US" altLang="en-US"/>
              <a:pPr/>
              <a:t>5</a:t>
            </a:fld>
            <a:endParaRPr lang="en-US" altLang="en-US"/>
          </a:p>
        </p:txBody>
      </p:sp>
      <p:sp>
        <p:nvSpPr>
          <p:cNvPr id="9219" name="Rectangle 2">
            <a:extLst>
              <a:ext uri="{FF2B5EF4-FFF2-40B4-BE49-F238E27FC236}">
                <a16:creationId xmlns:a16="http://schemas.microsoft.com/office/drawing/2014/main" id="{7E223C00-25B2-4063-A7DF-C80B2EDD071D}"/>
              </a:ext>
            </a:extLst>
          </p:cNvPr>
          <p:cNvSpPr>
            <a:spLocks noRot="1" noChangeArrowheads="1" noTextEdit="1"/>
          </p:cNvSpPr>
          <p:nvPr>
            <p:ph type="sldImg"/>
          </p:nvPr>
        </p:nvSpPr>
        <p:spPr>
          <a:xfrm>
            <a:off x="1144588" y="687388"/>
            <a:ext cx="4568825" cy="3427412"/>
          </a:xfrm>
          <a:ln/>
        </p:spPr>
      </p:sp>
      <p:sp>
        <p:nvSpPr>
          <p:cNvPr id="9220" name="Rectangle 3">
            <a:extLst>
              <a:ext uri="{FF2B5EF4-FFF2-40B4-BE49-F238E27FC236}">
                <a16:creationId xmlns:a16="http://schemas.microsoft.com/office/drawing/2014/main" id="{95242BD0-9071-462E-B3BA-0614F9FF1BCF}"/>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1D33C810-15D9-48C9-BCCF-C1F9E15BF8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CF06BBF-2F59-4B9A-BCF7-9743A6E762DF}" type="slidenum">
              <a:rPr lang="en-US" altLang="en-US"/>
              <a:pPr/>
              <a:t>11</a:t>
            </a:fld>
            <a:endParaRPr lang="en-US" altLang="en-US"/>
          </a:p>
        </p:txBody>
      </p:sp>
      <p:sp>
        <p:nvSpPr>
          <p:cNvPr id="16387" name="Rectangle 2">
            <a:extLst>
              <a:ext uri="{FF2B5EF4-FFF2-40B4-BE49-F238E27FC236}">
                <a16:creationId xmlns:a16="http://schemas.microsoft.com/office/drawing/2014/main" id="{53AA81C5-0F9E-4AF3-B96C-3A6419E3AEDE}"/>
              </a:ext>
            </a:extLst>
          </p:cNvPr>
          <p:cNvSpPr>
            <a:spLocks noRot="1" noChangeArrowheads="1" noTextEdit="1"/>
          </p:cNvSpPr>
          <p:nvPr>
            <p:ph type="sldImg"/>
          </p:nvPr>
        </p:nvSpPr>
        <p:spPr>
          <a:xfrm>
            <a:off x="1144588" y="687388"/>
            <a:ext cx="4568825" cy="3427412"/>
          </a:xfrm>
          <a:ln/>
        </p:spPr>
      </p:sp>
      <p:sp>
        <p:nvSpPr>
          <p:cNvPr id="16388" name="Rectangle 3">
            <a:extLst>
              <a:ext uri="{FF2B5EF4-FFF2-40B4-BE49-F238E27FC236}">
                <a16:creationId xmlns:a16="http://schemas.microsoft.com/office/drawing/2014/main" id="{FCC3E902-1CC7-4A0D-A888-F62297E07A6F}"/>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FECC5C2A-90DE-46D5-904C-25C0860CC8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A96E71B-7DEF-4494-AF81-C453CA0CAF34}" type="slidenum">
              <a:rPr lang="en-US" altLang="en-US"/>
              <a:pPr/>
              <a:t>13</a:t>
            </a:fld>
            <a:endParaRPr lang="en-US" altLang="en-US"/>
          </a:p>
        </p:txBody>
      </p:sp>
      <p:sp>
        <p:nvSpPr>
          <p:cNvPr id="19459" name="Rectangle 2">
            <a:extLst>
              <a:ext uri="{FF2B5EF4-FFF2-40B4-BE49-F238E27FC236}">
                <a16:creationId xmlns:a16="http://schemas.microsoft.com/office/drawing/2014/main" id="{BAF2A8F9-AA81-49ED-B163-FF9A7F38A5FF}"/>
              </a:ext>
            </a:extLst>
          </p:cNvPr>
          <p:cNvSpPr>
            <a:spLocks noRot="1" noChangeArrowheads="1" noTextEdit="1"/>
          </p:cNvSpPr>
          <p:nvPr>
            <p:ph type="sldImg"/>
          </p:nvPr>
        </p:nvSpPr>
        <p:spPr>
          <a:xfrm>
            <a:off x="1144588" y="687388"/>
            <a:ext cx="4568825" cy="3427412"/>
          </a:xfrm>
          <a:ln/>
        </p:spPr>
      </p:sp>
      <p:sp>
        <p:nvSpPr>
          <p:cNvPr id="19460" name="Rectangle 3">
            <a:extLst>
              <a:ext uri="{FF2B5EF4-FFF2-40B4-BE49-F238E27FC236}">
                <a16:creationId xmlns:a16="http://schemas.microsoft.com/office/drawing/2014/main" id="{11C403D0-55B7-4F8A-AE2D-FEDD64BB9B56}"/>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524003B7-6BA8-4296-A17A-E8B0284885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3EDA6EF-507B-4708-BFF2-9A22F63E0188}" type="slidenum">
              <a:rPr lang="en-US" altLang="en-US"/>
              <a:pPr/>
              <a:t>14</a:t>
            </a:fld>
            <a:endParaRPr lang="en-US" altLang="en-US"/>
          </a:p>
        </p:txBody>
      </p:sp>
      <p:sp>
        <p:nvSpPr>
          <p:cNvPr id="21507" name="Rectangle 2">
            <a:extLst>
              <a:ext uri="{FF2B5EF4-FFF2-40B4-BE49-F238E27FC236}">
                <a16:creationId xmlns:a16="http://schemas.microsoft.com/office/drawing/2014/main" id="{ABB9E50B-74AE-4228-8F9F-E883E20B87B8}"/>
              </a:ext>
            </a:extLst>
          </p:cNvPr>
          <p:cNvSpPr>
            <a:spLocks noRot="1" noChangeArrowheads="1" noTextEdit="1"/>
          </p:cNvSpPr>
          <p:nvPr>
            <p:ph type="sldImg"/>
          </p:nvPr>
        </p:nvSpPr>
        <p:spPr>
          <a:xfrm>
            <a:off x="1144588" y="687388"/>
            <a:ext cx="4568825" cy="3427412"/>
          </a:xfrm>
          <a:ln/>
        </p:spPr>
      </p:sp>
      <p:sp>
        <p:nvSpPr>
          <p:cNvPr id="21508" name="Rectangle 3">
            <a:extLst>
              <a:ext uri="{FF2B5EF4-FFF2-40B4-BE49-F238E27FC236}">
                <a16:creationId xmlns:a16="http://schemas.microsoft.com/office/drawing/2014/main" id="{39DA2451-03D2-457C-96E3-255A58B08A1D}"/>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2E515D8F-3CDF-4E9A-861A-33B11016AF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DFCDB1C-11E9-487A-B23B-E86747543C0E}" type="slidenum">
              <a:rPr lang="en-US" altLang="en-US"/>
              <a:pPr/>
              <a:t>15</a:t>
            </a:fld>
            <a:endParaRPr lang="en-US" altLang="en-US"/>
          </a:p>
        </p:txBody>
      </p:sp>
      <p:sp>
        <p:nvSpPr>
          <p:cNvPr id="23555" name="Rectangle 2">
            <a:extLst>
              <a:ext uri="{FF2B5EF4-FFF2-40B4-BE49-F238E27FC236}">
                <a16:creationId xmlns:a16="http://schemas.microsoft.com/office/drawing/2014/main" id="{F897E82F-B2DB-40F8-93AE-1D930C493E9F}"/>
              </a:ext>
            </a:extLst>
          </p:cNvPr>
          <p:cNvSpPr>
            <a:spLocks noRot="1" noChangeArrowheads="1" noTextEdit="1"/>
          </p:cNvSpPr>
          <p:nvPr>
            <p:ph type="sldImg"/>
          </p:nvPr>
        </p:nvSpPr>
        <p:spPr>
          <a:xfrm>
            <a:off x="1144588" y="687388"/>
            <a:ext cx="4568825" cy="3427412"/>
          </a:xfrm>
          <a:ln/>
        </p:spPr>
      </p:sp>
      <p:sp>
        <p:nvSpPr>
          <p:cNvPr id="23556" name="Rectangle 3">
            <a:extLst>
              <a:ext uri="{FF2B5EF4-FFF2-40B4-BE49-F238E27FC236}">
                <a16:creationId xmlns:a16="http://schemas.microsoft.com/office/drawing/2014/main" id="{071008E0-AEEB-470A-8832-EEA933353F51}"/>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86CED789-6501-45DD-A162-70EC07D30B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9E44801-0C17-4E63-BE11-D13E4A9255E3}" type="slidenum">
              <a:rPr lang="en-US" altLang="en-US"/>
              <a:pPr/>
              <a:t>16</a:t>
            </a:fld>
            <a:endParaRPr lang="en-US" altLang="en-US"/>
          </a:p>
        </p:txBody>
      </p:sp>
      <p:sp>
        <p:nvSpPr>
          <p:cNvPr id="25603" name="Rectangle 2">
            <a:extLst>
              <a:ext uri="{FF2B5EF4-FFF2-40B4-BE49-F238E27FC236}">
                <a16:creationId xmlns:a16="http://schemas.microsoft.com/office/drawing/2014/main" id="{024FDFA6-7015-4633-B4E8-75753F371ACF}"/>
              </a:ext>
            </a:extLst>
          </p:cNvPr>
          <p:cNvSpPr>
            <a:spLocks noRot="1" noChangeArrowheads="1" noTextEdit="1"/>
          </p:cNvSpPr>
          <p:nvPr>
            <p:ph type="sldImg"/>
          </p:nvPr>
        </p:nvSpPr>
        <p:spPr>
          <a:xfrm>
            <a:off x="1144588" y="687388"/>
            <a:ext cx="4568825" cy="3427412"/>
          </a:xfrm>
          <a:ln/>
        </p:spPr>
      </p:sp>
      <p:sp>
        <p:nvSpPr>
          <p:cNvPr id="25604" name="Rectangle 3">
            <a:extLst>
              <a:ext uri="{FF2B5EF4-FFF2-40B4-BE49-F238E27FC236}">
                <a16:creationId xmlns:a16="http://schemas.microsoft.com/office/drawing/2014/main" id="{F6908B76-C763-4A27-88BA-7BF3DB30E83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CDF4ECB2-1E9C-4733-BA8E-E5086D34B3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50E3E81-CCC1-4414-9EE0-BC56C700DD6F}" type="slidenum">
              <a:rPr lang="en-US" altLang="en-US"/>
              <a:pPr/>
              <a:t>17</a:t>
            </a:fld>
            <a:endParaRPr lang="en-US" altLang="en-US"/>
          </a:p>
        </p:txBody>
      </p:sp>
      <p:sp>
        <p:nvSpPr>
          <p:cNvPr id="27651" name="Rectangle 2">
            <a:extLst>
              <a:ext uri="{FF2B5EF4-FFF2-40B4-BE49-F238E27FC236}">
                <a16:creationId xmlns:a16="http://schemas.microsoft.com/office/drawing/2014/main" id="{78AA4BE3-A3AF-492C-B7A3-F981B6506C74}"/>
              </a:ext>
            </a:extLst>
          </p:cNvPr>
          <p:cNvSpPr>
            <a:spLocks noRot="1" noChangeArrowheads="1" noTextEdit="1"/>
          </p:cNvSpPr>
          <p:nvPr>
            <p:ph type="sldImg"/>
          </p:nvPr>
        </p:nvSpPr>
        <p:spPr>
          <a:xfrm>
            <a:off x="1144588" y="687388"/>
            <a:ext cx="4568825" cy="3427412"/>
          </a:xfrm>
          <a:ln/>
        </p:spPr>
      </p:sp>
      <p:sp>
        <p:nvSpPr>
          <p:cNvPr id="27652" name="Rectangle 3">
            <a:extLst>
              <a:ext uri="{FF2B5EF4-FFF2-40B4-BE49-F238E27FC236}">
                <a16:creationId xmlns:a16="http://schemas.microsoft.com/office/drawing/2014/main" id="{BA4BBE40-A5E2-445E-88D2-CCEEACDCBFF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D9680DAB-2B18-4C72-B260-DC6412843A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1A016D4-F4B7-41A0-BD4B-6E84287E29F4}" type="slidenum">
              <a:rPr lang="en-US" altLang="en-US"/>
              <a:pPr/>
              <a:t>18</a:t>
            </a:fld>
            <a:endParaRPr lang="en-US" altLang="en-US"/>
          </a:p>
        </p:txBody>
      </p:sp>
      <p:sp>
        <p:nvSpPr>
          <p:cNvPr id="29699" name="Rectangle 2">
            <a:extLst>
              <a:ext uri="{FF2B5EF4-FFF2-40B4-BE49-F238E27FC236}">
                <a16:creationId xmlns:a16="http://schemas.microsoft.com/office/drawing/2014/main" id="{C4EC990D-5530-439F-B6BF-F386772A1774}"/>
              </a:ext>
            </a:extLst>
          </p:cNvPr>
          <p:cNvSpPr>
            <a:spLocks noRot="1" noChangeArrowheads="1" noTextEdit="1"/>
          </p:cNvSpPr>
          <p:nvPr>
            <p:ph type="sldImg"/>
          </p:nvPr>
        </p:nvSpPr>
        <p:spPr>
          <a:xfrm>
            <a:off x="1144588" y="687388"/>
            <a:ext cx="4568825" cy="3427412"/>
          </a:xfrm>
          <a:ln/>
        </p:spPr>
      </p:sp>
      <p:sp>
        <p:nvSpPr>
          <p:cNvPr id="29700" name="Rectangle 3">
            <a:extLst>
              <a:ext uri="{FF2B5EF4-FFF2-40B4-BE49-F238E27FC236}">
                <a16:creationId xmlns:a16="http://schemas.microsoft.com/office/drawing/2014/main" id="{52F62771-5408-4093-BFD7-FD260A815F2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B14CE57A-F07B-4E6D-A0B0-1B9A0E9C21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85CD1DB-A273-4E39-835B-2A99EADD8B08}" type="slidenum">
              <a:rPr lang="en-US" altLang="en-US"/>
              <a:pPr/>
              <a:t>19</a:t>
            </a:fld>
            <a:endParaRPr lang="en-US" altLang="en-US"/>
          </a:p>
        </p:txBody>
      </p:sp>
      <p:sp>
        <p:nvSpPr>
          <p:cNvPr id="31747" name="Rectangle 2">
            <a:extLst>
              <a:ext uri="{FF2B5EF4-FFF2-40B4-BE49-F238E27FC236}">
                <a16:creationId xmlns:a16="http://schemas.microsoft.com/office/drawing/2014/main" id="{2237D383-F104-45C6-B133-B64D1F651CFC}"/>
              </a:ext>
            </a:extLst>
          </p:cNvPr>
          <p:cNvSpPr>
            <a:spLocks noRot="1" noChangeArrowheads="1" noTextEdit="1"/>
          </p:cNvSpPr>
          <p:nvPr>
            <p:ph type="sldImg"/>
          </p:nvPr>
        </p:nvSpPr>
        <p:spPr>
          <a:xfrm>
            <a:off x="1144588" y="687388"/>
            <a:ext cx="4568825" cy="3427412"/>
          </a:xfrm>
          <a:ln/>
        </p:spPr>
      </p:sp>
      <p:sp>
        <p:nvSpPr>
          <p:cNvPr id="31748" name="Rectangle 3">
            <a:extLst>
              <a:ext uri="{FF2B5EF4-FFF2-40B4-BE49-F238E27FC236}">
                <a16:creationId xmlns:a16="http://schemas.microsoft.com/office/drawing/2014/main" id="{8806A253-9778-491E-8997-0D0523D5999B}"/>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30ACE855-52AC-40BC-A154-97FA71C51D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0FB603B-6444-4A66-8B58-085D2FD1DCC1}" type="slidenum">
              <a:rPr lang="en-US" altLang="en-US"/>
              <a:pPr/>
              <a:t>20</a:t>
            </a:fld>
            <a:endParaRPr lang="en-US" altLang="en-US"/>
          </a:p>
        </p:txBody>
      </p:sp>
      <p:sp>
        <p:nvSpPr>
          <p:cNvPr id="33795" name="Rectangle 2">
            <a:extLst>
              <a:ext uri="{FF2B5EF4-FFF2-40B4-BE49-F238E27FC236}">
                <a16:creationId xmlns:a16="http://schemas.microsoft.com/office/drawing/2014/main" id="{5FF71C90-6B62-4D77-9D4B-7F5829D30E0E}"/>
              </a:ext>
            </a:extLst>
          </p:cNvPr>
          <p:cNvSpPr>
            <a:spLocks noRot="1" noChangeArrowheads="1" noTextEdit="1"/>
          </p:cNvSpPr>
          <p:nvPr>
            <p:ph type="sldImg"/>
          </p:nvPr>
        </p:nvSpPr>
        <p:spPr>
          <a:xfrm>
            <a:off x="1144588" y="687388"/>
            <a:ext cx="4568825" cy="3427412"/>
          </a:xfrm>
          <a:ln/>
        </p:spPr>
      </p:sp>
      <p:sp>
        <p:nvSpPr>
          <p:cNvPr id="33796" name="Rectangle 3">
            <a:extLst>
              <a:ext uri="{FF2B5EF4-FFF2-40B4-BE49-F238E27FC236}">
                <a16:creationId xmlns:a16="http://schemas.microsoft.com/office/drawing/2014/main" id="{3BC270BD-1476-4442-9F0B-4278F09D658D}"/>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AA842925-5E0A-4F14-9B03-30A1D3921F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D2F0B48-F590-41FB-9EB3-E86C3991223E}" type="slidenum">
              <a:rPr lang="en-US" altLang="en-US"/>
              <a:pPr/>
              <a:t>21</a:t>
            </a:fld>
            <a:endParaRPr lang="en-US" altLang="en-US"/>
          </a:p>
        </p:txBody>
      </p:sp>
      <p:sp>
        <p:nvSpPr>
          <p:cNvPr id="35843" name="Rectangle 2">
            <a:extLst>
              <a:ext uri="{FF2B5EF4-FFF2-40B4-BE49-F238E27FC236}">
                <a16:creationId xmlns:a16="http://schemas.microsoft.com/office/drawing/2014/main" id="{AD1A27B3-880A-4E89-A0BE-E4863E4E015C}"/>
              </a:ext>
            </a:extLst>
          </p:cNvPr>
          <p:cNvSpPr>
            <a:spLocks noRot="1" noChangeArrowheads="1" noTextEdit="1"/>
          </p:cNvSpPr>
          <p:nvPr>
            <p:ph type="sldImg"/>
          </p:nvPr>
        </p:nvSpPr>
        <p:spPr>
          <a:xfrm>
            <a:off x="1144588" y="687388"/>
            <a:ext cx="4568825" cy="3427412"/>
          </a:xfrm>
          <a:ln/>
        </p:spPr>
      </p:sp>
      <p:sp>
        <p:nvSpPr>
          <p:cNvPr id="35844" name="Rectangle 3">
            <a:extLst>
              <a:ext uri="{FF2B5EF4-FFF2-40B4-BE49-F238E27FC236}">
                <a16:creationId xmlns:a16="http://schemas.microsoft.com/office/drawing/2014/main" id="{B8C47CDE-C29E-4702-BD0C-7F675580384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F8C224EB-7B1E-4E05-8FF7-62D7550245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A1EC56B-24A3-4C65-9A62-2959AF14EFC6}" type="slidenum">
              <a:rPr lang="en-US" altLang="en-US"/>
              <a:pPr/>
              <a:t>22</a:t>
            </a:fld>
            <a:endParaRPr lang="en-US" altLang="en-US"/>
          </a:p>
        </p:txBody>
      </p:sp>
      <p:sp>
        <p:nvSpPr>
          <p:cNvPr id="37891" name="Rectangle 2">
            <a:extLst>
              <a:ext uri="{FF2B5EF4-FFF2-40B4-BE49-F238E27FC236}">
                <a16:creationId xmlns:a16="http://schemas.microsoft.com/office/drawing/2014/main" id="{578980C8-4B1D-4379-9B1F-A6542F03DFF2}"/>
              </a:ext>
            </a:extLst>
          </p:cNvPr>
          <p:cNvSpPr>
            <a:spLocks noRot="1" noChangeArrowheads="1" noTextEdit="1"/>
          </p:cNvSpPr>
          <p:nvPr>
            <p:ph type="sldImg"/>
          </p:nvPr>
        </p:nvSpPr>
        <p:spPr>
          <a:xfrm>
            <a:off x="1144588" y="687388"/>
            <a:ext cx="4568825" cy="3427412"/>
          </a:xfrm>
          <a:ln/>
        </p:spPr>
      </p:sp>
      <p:sp>
        <p:nvSpPr>
          <p:cNvPr id="37892" name="Rectangle 3">
            <a:extLst>
              <a:ext uri="{FF2B5EF4-FFF2-40B4-BE49-F238E27FC236}">
                <a16:creationId xmlns:a16="http://schemas.microsoft.com/office/drawing/2014/main" id="{8AC73649-D454-4CBD-A5D4-8F4659A7666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BD1649BC-6832-44EC-88F4-09EC225709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0190CBC-E072-48EC-857A-E217589B532C}" type="slidenum">
              <a:rPr lang="en-US" altLang="en-US"/>
              <a:pPr/>
              <a:t>23</a:t>
            </a:fld>
            <a:endParaRPr lang="en-US" altLang="en-US"/>
          </a:p>
        </p:txBody>
      </p:sp>
      <p:sp>
        <p:nvSpPr>
          <p:cNvPr id="39939" name="Rectangle 2">
            <a:extLst>
              <a:ext uri="{FF2B5EF4-FFF2-40B4-BE49-F238E27FC236}">
                <a16:creationId xmlns:a16="http://schemas.microsoft.com/office/drawing/2014/main" id="{FA974F5C-0F88-4A08-BF1D-CB3B5B09E5A8}"/>
              </a:ext>
            </a:extLst>
          </p:cNvPr>
          <p:cNvSpPr>
            <a:spLocks noRot="1" noChangeArrowheads="1" noTextEdit="1"/>
          </p:cNvSpPr>
          <p:nvPr>
            <p:ph type="sldImg"/>
          </p:nvPr>
        </p:nvSpPr>
        <p:spPr>
          <a:xfrm>
            <a:off x="1144588" y="687388"/>
            <a:ext cx="4568825" cy="3427412"/>
          </a:xfrm>
          <a:ln/>
        </p:spPr>
      </p:sp>
      <p:sp>
        <p:nvSpPr>
          <p:cNvPr id="39940" name="Rectangle 3">
            <a:extLst>
              <a:ext uri="{FF2B5EF4-FFF2-40B4-BE49-F238E27FC236}">
                <a16:creationId xmlns:a16="http://schemas.microsoft.com/office/drawing/2014/main" id="{A4FB74A2-D12C-4882-B805-C0307F607FC3}"/>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BFAAC5A1-B972-4147-8610-42B8A32FEE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796363B-878F-4C05-AF98-DA9662CE3AAD}" type="slidenum">
              <a:rPr lang="en-US" altLang="en-US"/>
              <a:pPr/>
              <a:t>24</a:t>
            </a:fld>
            <a:endParaRPr lang="en-US" altLang="en-US"/>
          </a:p>
        </p:txBody>
      </p:sp>
      <p:sp>
        <p:nvSpPr>
          <p:cNvPr id="41987" name="Rectangle 2">
            <a:extLst>
              <a:ext uri="{FF2B5EF4-FFF2-40B4-BE49-F238E27FC236}">
                <a16:creationId xmlns:a16="http://schemas.microsoft.com/office/drawing/2014/main" id="{B7D59C5D-948F-489B-A424-4724BEBA9B78}"/>
              </a:ext>
            </a:extLst>
          </p:cNvPr>
          <p:cNvSpPr>
            <a:spLocks noRot="1" noChangeArrowheads="1" noTextEdit="1"/>
          </p:cNvSpPr>
          <p:nvPr>
            <p:ph type="sldImg"/>
          </p:nvPr>
        </p:nvSpPr>
        <p:spPr>
          <a:xfrm>
            <a:off x="1144588" y="687388"/>
            <a:ext cx="4568825" cy="3427412"/>
          </a:xfrm>
          <a:ln/>
        </p:spPr>
      </p:sp>
      <p:sp>
        <p:nvSpPr>
          <p:cNvPr id="41988" name="Rectangle 3">
            <a:extLst>
              <a:ext uri="{FF2B5EF4-FFF2-40B4-BE49-F238E27FC236}">
                <a16:creationId xmlns:a16="http://schemas.microsoft.com/office/drawing/2014/main" id="{BD94E9DD-72FF-4FB2-92EC-865CA669D9D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B875B2E4-F3BA-4385-B5DD-07402DEA15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13A3905-5A48-4639-B803-8FDA1AAC0D01}" type="slidenum">
              <a:rPr lang="en-US" altLang="en-US"/>
              <a:pPr/>
              <a:t>25</a:t>
            </a:fld>
            <a:endParaRPr lang="en-US" altLang="en-US"/>
          </a:p>
        </p:txBody>
      </p:sp>
      <p:sp>
        <p:nvSpPr>
          <p:cNvPr id="44035" name="Rectangle 2">
            <a:extLst>
              <a:ext uri="{FF2B5EF4-FFF2-40B4-BE49-F238E27FC236}">
                <a16:creationId xmlns:a16="http://schemas.microsoft.com/office/drawing/2014/main" id="{8642B19D-DDDB-4664-B56E-F692B70F166B}"/>
              </a:ext>
            </a:extLst>
          </p:cNvPr>
          <p:cNvSpPr>
            <a:spLocks noRot="1" noChangeArrowheads="1" noTextEdit="1"/>
          </p:cNvSpPr>
          <p:nvPr>
            <p:ph type="sldImg"/>
          </p:nvPr>
        </p:nvSpPr>
        <p:spPr>
          <a:xfrm>
            <a:off x="1144588" y="687388"/>
            <a:ext cx="4568825" cy="3427412"/>
          </a:xfrm>
          <a:ln/>
        </p:spPr>
      </p:sp>
      <p:sp>
        <p:nvSpPr>
          <p:cNvPr id="44036" name="Rectangle 3">
            <a:extLst>
              <a:ext uri="{FF2B5EF4-FFF2-40B4-BE49-F238E27FC236}">
                <a16:creationId xmlns:a16="http://schemas.microsoft.com/office/drawing/2014/main" id="{154C9C5D-6D7C-41CB-873F-587C5ABDC046}"/>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81EC59B0-D151-48A6-BFE5-3BD9B27F0F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29238DD-ED5F-4554-9B40-3825E7DA83A1}" type="slidenum">
              <a:rPr lang="en-US" altLang="en-US"/>
              <a:pPr/>
              <a:t>26</a:t>
            </a:fld>
            <a:endParaRPr lang="en-US" altLang="en-US"/>
          </a:p>
        </p:txBody>
      </p:sp>
      <p:sp>
        <p:nvSpPr>
          <p:cNvPr id="46083" name="Rectangle 2">
            <a:extLst>
              <a:ext uri="{FF2B5EF4-FFF2-40B4-BE49-F238E27FC236}">
                <a16:creationId xmlns:a16="http://schemas.microsoft.com/office/drawing/2014/main" id="{A13EF3AD-E27A-4B21-BC05-5597898A06AD}"/>
              </a:ext>
            </a:extLst>
          </p:cNvPr>
          <p:cNvSpPr>
            <a:spLocks noRot="1" noChangeArrowheads="1" noTextEdit="1"/>
          </p:cNvSpPr>
          <p:nvPr>
            <p:ph type="sldImg"/>
          </p:nvPr>
        </p:nvSpPr>
        <p:spPr>
          <a:xfrm>
            <a:off x="1144588" y="687388"/>
            <a:ext cx="4568825" cy="3427412"/>
          </a:xfrm>
          <a:ln/>
        </p:spPr>
      </p:sp>
      <p:sp>
        <p:nvSpPr>
          <p:cNvPr id="46084" name="Rectangle 3">
            <a:extLst>
              <a:ext uri="{FF2B5EF4-FFF2-40B4-BE49-F238E27FC236}">
                <a16:creationId xmlns:a16="http://schemas.microsoft.com/office/drawing/2014/main" id="{502917BF-BF9C-4532-8E36-A5A0F60602E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EB14C7CB-83D4-483A-B58D-CCCCA900F2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3CBA84B-90C7-40DD-9CD5-89F64D124429}" type="slidenum">
              <a:rPr lang="en-US" altLang="en-US"/>
              <a:pPr/>
              <a:t>27</a:t>
            </a:fld>
            <a:endParaRPr lang="en-US" altLang="en-US"/>
          </a:p>
        </p:txBody>
      </p:sp>
      <p:sp>
        <p:nvSpPr>
          <p:cNvPr id="48131" name="Rectangle 2">
            <a:extLst>
              <a:ext uri="{FF2B5EF4-FFF2-40B4-BE49-F238E27FC236}">
                <a16:creationId xmlns:a16="http://schemas.microsoft.com/office/drawing/2014/main" id="{5C114753-D562-42D9-8285-DB1323DCE2E8}"/>
              </a:ext>
            </a:extLst>
          </p:cNvPr>
          <p:cNvSpPr>
            <a:spLocks noRot="1" noChangeArrowheads="1" noTextEdit="1"/>
          </p:cNvSpPr>
          <p:nvPr>
            <p:ph type="sldImg"/>
          </p:nvPr>
        </p:nvSpPr>
        <p:spPr>
          <a:xfrm>
            <a:off x="1144588" y="687388"/>
            <a:ext cx="4568825" cy="3427412"/>
          </a:xfrm>
          <a:ln/>
        </p:spPr>
      </p:sp>
      <p:sp>
        <p:nvSpPr>
          <p:cNvPr id="48132" name="Rectangle 3">
            <a:extLst>
              <a:ext uri="{FF2B5EF4-FFF2-40B4-BE49-F238E27FC236}">
                <a16:creationId xmlns:a16="http://schemas.microsoft.com/office/drawing/2014/main" id="{5D6FE607-BFDE-428E-ABE6-B4A88C306E6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604AFA8D-38AF-410A-91BC-E459C40D32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8D2369F-B95D-40ED-9996-885348592CBC}" type="slidenum">
              <a:rPr lang="en-US" altLang="en-US"/>
              <a:pPr/>
              <a:t>28</a:t>
            </a:fld>
            <a:endParaRPr lang="en-US" altLang="en-US"/>
          </a:p>
        </p:txBody>
      </p:sp>
      <p:sp>
        <p:nvSpPr>
          <p:cNvPr id="50179" name="Rectangle 2">
            <a:extLst>
              <a:ext uri="{FF2B5EF4-FFF2-40B4-BE49-F238E27FC236}">
                <a16:creationId xmlns:a16="http://schemas.microsoft.com/office/drawing/2014/main" id="{C20819B5-24E8-4A61-9A2E-EEF3295EDCEC}"/>
              </a:ext>
            </a:extLst>
          </p:cNvPr>
          <p:cNvSpPr>
            <a:spLocks noRot="1" noChangeArrowheads="1" noTextEdit="1"/>
          </p:cNvSpPr>
          <p:nvPr>
            <p:ph type="sldImg"/>
          </p:nvPr>
        </p:nvSpPr>
        <p:spPr>
          <a:xfrm>
            <a:off x="1144588" y="687388"/>
            <a:ext cx="4568825" cy="3427412"/>
          </a:xfrm>
          <a:ln/>
        </p:spPr>
      </p:sp>
      <p:sp>
        <p:nvSpPr>
          <p:cNvPr id="50180" name="Rectangle 3">
            <a:extLst>
              <a:ext uri="{FF2B5EF4-FFF2-40B4-BE49-F238E27FC236}">
                <a16:creationId xmlns:a16="http://schemas.microsoft.com/office/drawing/2014/main" id="{CE3E4E95-F682-4F1E-8D02-F4869497AFB5}"/>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8840E633-CE20-4DF6-9AAC-77930F62C2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0A626C-A032-4E7F-B89C-EF517628CB8C}" type="slidenum">
              <a:rPr lang="en-US" altLang="en-US"/>
              <a:pPr/>
              <a:t>29</a:t>
            </a:fld>
            <a:endParaRPr lang="en-US" altLang="en-US"/>
          </a:p>
        </p:txBody>
      </p:sp>
      <p:sp>
        <p:nvSpPr>
          <p:cNvPr id="52227" name="Rectangle 2">
            <a:extLst>
              <a:ext uri="{FF2B5EF4-FFF2-40B4-BE49-F238E27FC236}">
                <a16:creationId xmlns:a16="http://schemas.microsoft.com/office/drawing/2014/main" id="{58DEF349-BB23-4E68-8F97-357966908AB4}"/>
              </a:ext>
            </a:extLst>
          </p:cNvPr>
          <p:cNvSpPr>
            <a:spLocks noRot="1" noChangeArrowheads="1" noTextEdit="1"/>
          </p:cNvSpPr>
          <p:nvPr>
            <p:ph type="sldImg"/>
          </p:nvPr>
        </p:nvSpPr>
        <p:spPr>
          <a:xfrm>
            <a:off x="1144588" y="687388"/>
            <a:ext cx="4568825" cy="3427412"/>
          </a:xfrm>
          <a:ln/>
        </p:spPr>
      </p:sp>
      <p:sp>
        <p:nvSpPr>
          <p:cNvPr id="52228" name="Rectangle 3">
            <a:extLst>
              <a:ext uri="{FF2B5EF4-FFF2-40B4-BE49-F238E27FC236}">
                <a16:creationId xmlns:a16="http://schemas.microsoft.com/office/drawing/2014/main" id="{68523119-BE71-4CE5-BA19-A65BA38DA676}"/>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DE783EA7-8DA4-46D2-9487-045A2988E1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E38F740-FB83-4E55-84E3-7885B1AAC375}" type="slidenum">
              <a:rPr lang="en-US" altLang="en-US"/>
              <a:pPr/>
              <a:t>30</a:t>
            </a:fld>
            <a:endParaRPr lang="en-US" altLang="en-US"/>
          </a:p>
        </p:txBody>
      </p:sp>
      <p:sp>
        <p:nvSpPr>
          <p:cNvPr id="54275" name="Rectangle 2">
            <a:extLst>
              <a:ext uri="{FF2B5EF4-FFF2-40B4-BE49-F238E27FC236}">
                <a16:creationId xmlns:a16="http://schemas.microsoft.com/office/drawing/2014/main" id="{A85D0C74-9F50-450D-8983-E48376FEEAF4}"/>
              </a:ext>
            </a:extLst>
          </p:cNvPr>
          <p:cNvSpPr>
            <a:spLocks noRot="1" noChangeArrowheads="1" noTextEdit="1"/>
          </p:cNvSpPr>
          <p:nvPr>
            <p:ph type="sldImg"/>
          </p:nvPr>
        </p:nvSpPr>
        <p:spPr>
          <a:xfrm>
            <a:off x="1144588" y="687388"/>
            <a:ext cx="4568825" cy="3427412"/>
          </a:xfrm>
          <a:ln/>
        </p:spPr>
      </p:sp>
      <p:sp>
        <p:nvSpPr>
          <p:cNvPr id="54276" name="Rectangle 3">
            <a:extLst>
              <a:ext uri="{FF2B5EF4-FFF2-40B4-BE49-F238E27FC236}">
                <a16:creationId xmlns:a16="http://schemas.microsoft.com/office/drawing/2014/main" id="{EA5CCEA8-F3EB-4E0D-8916-7D3FDCAEDB01}"/>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DA7F9A5F-2359-4C7B-86DE-5E47FCF1AE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B046544-6830-44F2-9775-1F1C3414C027}" type="slidenum">
              <a:rPr lang="en-US" altLang="en-US"/>
              <a:pPr/>
              <a:t>32</a:t>
            </a:fld>
            <a:endParaRPr lang="en-US" altLang="en-US"/>
          </a:p>
        </p:txBody>
      </p:sp>
      <p:sp>
        <p:nvSpPr>
          <p:cNvPr id="57347" name="Rectangle 2">
            <a:extLst>
              <a:ext uri="{FF2B5EF4-FFF2-40B4-BE49-F238E27FC236}">
                <a16:creationId xmlns:a16="http://schemas.microsoft.com/office/drawing/2014/main" id="{68AF9DED-6EC5-4517-BD55-651635871389}"/>
              </a:ext>
            </a:extLst>
          </p:cNvPr>
          <p:cNvSpPr>
            <a:spLocks noRot="1" noChangeArrowheads="1" noTextEdit="1"/>
          </p:cNvSpPr>
          <p:nvPr>
            <p:ph type="sldImg"/>
          </p:nvPr>
        </p:nvSpPr>
        <p:spPr>
          <a:xfrm>
            <a:off x="1144588" y="687388"/>
            <a:ext cx="4568825" cy="3427412"/>
          </a:xfrm>
          <a:ln/>
        </p:spPr>
      </p:sp>
      <p:sp>
        <p:nvSpPr>
          <p:cNvPr id="57348" name="Rectangle 3">
            <a:extLst>
              <a:ext uri="{FF2B5EF4-FFF2-40B4-BE49-F238E27FC236}">
                <a16:creationId xmlns:a16="http://schemas.microsoft.com/office/drawing/2014/main" id="{EDDC22AE-D835-471B-9FD7-B4B5D8308FA7}"/>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3BC0C1C0-8B1B-4BA6-AD61-E70D53AEA8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DBA55F8-6C06-41BF-8229-AE500A7745EA}" type="slidenum">
              <a:rPr lang="en-US" altLang="en-US"/>
              <a:pPr/>
              <a:t>33</a:t>
            </a:fld>
            <a:endParaRPr lang="en-US" altLang="en-US"/>
          </a:p>
        </p:txBody>
      </p:sp>
      <p:sp>
        <p:nvSpPr>
          <p:cNvPr id="59395" name="Rectangle 2">
            <a:extLst>
              <a:ext uri="{FF2B5EF4-FFF2-40B4-BE49-F238E27FC236}">
                <a16:creationId xmlns:a16="http://schemas.microsoft.com/office/drawing/2014/main" id="{44702E10-232A-4191-B0CA-0974F40952A2}"/>
              </a:ext>
            </a:extLst>
          </p:cNvPr>
          <p:cNvSpPr>
            <a:spLocks noRot="1" noChangeArrowheads="1" noTextEdit="1"/>
          </p:cNvSpPr>
          <p:nvPr>
            <p:ph type="sldImg"/>
          </p:nvPr>
        </p:nvSpPr>
        <p:spPr>
          <a:xfrm>
            <a:off x="1144588" y="687388"/>
            <a:ext cx="4568825" cy="3427412"/>
          </a:xfrm>
          <a:ln/>
        </p:spPr>
      </p:sp>
      <p:sp>
        <p:nvSpPr>
          <p:cNvPr id="59396" name="Rectangle 3">
            <a:extLst>
              <a:ext uri="{FF2B5EF4-FFF2-40B4-BE49-F238E27FC236}">
                <a16:creationId xmlns:a16="http://schemas.microsoft.com/office/drawing/2014/main" id="{1954C5A6-4A42-4CB7-9CAD-D3D1DB9B97EF}"/>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FB97D0BF-F44A-4A2F-9BED-41170186F1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F1D128E-C937-40D8-AE14-5632C73BB105}" type="slidenum">
              <a:rPr lang="en-US" altLang="en-US"/>
              <a:pPr/>
              <a:t>35</a:t>
            </a:fld>
            <a:endParaRPr lang="en-US" altLang="en-US"/>
          </a:p>
        </p:txBody>
      </p:sp>
      <p:sp>
        <p:nvSpPr>
          <p:cNvPr id="62467" name="Rectangle 2">
            <a:extLst>
              <a:ext uri="{FF2B5EF4-FFF2-40B4-BE49-F238E27FC236}">
                <a16:creationId xmlns:a16="http://schemas.microsoft.com/office/drawing/2014/main" id="{2E655554-DB45-4684-9B8C-D204F0552C8D}"/>
              </a:ext>
            </a:extLst>
          </p:cNvPr>
          <p:cNvSpPr>
            <a:spLocks noRot="1" noChangeArrowheads="1" noTextEdit="1"/>
          </p:cNvSpPr>
          <p:nvPr>
            <p:ph type="sldImg"/>
          </p:nvPr>
        </p:nvSpPr>
        <p:spPr>
          <a:xfrm>
            <a:off x="1144588" y="687388"/>
            <a:ext cx="4568825" cy="3427412"/>
          </a:xfrm>
          <a:ln/>
        </p:spPr>
      </p:sp>
      <p:sp>
        <p:nvSpPr>
          <p:cNvPr id="62468" name="Rectangle 3">
            <a:extLst>
              <a:ext uri="{FF2B5EF4-FFF2-40B4-BE49-F238E27FC236}">
                <a16:creationId xmlns:a16="http://schemas.microsoft.com/office/drawing/2014/main" id="{116DB7F3-802A-45B5-8672-DAD3B0122897}"/>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5015C35-F02A-4AFC-BB21-B9A9544AE6AA}" type="slidenum">
              <a:rPr lang="en-US" altLang="en-US" smtClean="0"/>
              <a:pPr>
                <a:defRPr/>
              </a:pPr>
              <a:t>42</a:t>
            </a:fld>
            <a:endParaRPr lang="en-US" altLang="en-US"/>
          </a:p>
        </p:txBody>
      </p:sp>
    </p:spTree>
    <p:extLst>
      <p:ext uri="{BB962C8B-B14F-4D97-AF65-F5344CB8AC3E}">
        <p14:creationId xmlns:p14="http://schemas.microsoft.com/office/powerpoint/2010/main" val="12919468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solidFill>
                  <a:schemeClr val="bg1"/>
                </a:solidFill>
                <a:latin typeface="Times New Roman" panose="02020603050405020304" pitchFamily="18" charset="0"/>
                <a:cs typeface="Times New Roman" panose="02020603050405020304" pitchFamily="18" charset="0"/>
              </a:defRPr>
            </a:lvl1pPr>
          </a:lstStyle>
          <a:p>
            <a:r>
              <a:rPr lang="en-US" altLang="zh-CN"/>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bg1">
                    <a:lumMod val="95000"/>
                  </a:schemeClr>
                </a:solidFill>
                <a:latin typeface="Times New Roman" panose="02020603050405020304" pitchFamily="18" charset="0"/>
                <a:cs typeface="Times New Roman" panose="02020603050405020304" pitchFamily="18" charset="0"/>
              </a:defRPr>
            </a:lvl1pPr>
          </a:lstStyle>
          <a:p>
            <a:pPr>
              <a:defRPr/>
            </a:pPr>
            <a:endParaRPr lang="en-US"/>
          </a:p>
        </p:txBody>
      </p:sp>
      <p:sp>
        <p:nvSpPr>
          <p:cNvPr id="5" name="Footer Placeholder 4"/>
          <p:cNvSpPr>
            <a:spLocks noGrp="1"/>
          </p:cNvSpPr>
          <p:nvPr>
            <p:ph type="ftr" sz="quarter" idx="11"/>
          </p:nvPr>
        </p:nvSpPr>
        <p:spPr/>
        <p:txBody>
          <a:bodyPr/>
          <a:lstStyle>
            <a:lvl1pPr>
              <a:defRPr>
                <a:solidFill>
                  <a:schemeClr val="bg1">
                    <a:lumMod val="95000"/>
                  </a:schemeClr>
                </a:solidFill>
                <a:latin typeface="Times New Roman" panose="02020603050405020304" pitchFamily="18" charset="0"/>
                <a:cs typeface="Times New Roman" panose="02020603050405020304" pitchFamily="18" charset="0"/>
              </a:defRPr>
            </a:lvl1pPr>
          </a:lstStyle>
          <a:p>
            <a:pPr>
              <a:defRPr/>
            </a:pPr>
            <a:endParaRPr lang="en-US"/>
          </a:p>
        </p:txBody>
      </p:sp>
      <p:sp>
        <p:nvSpPr>
          <p:cNvPr id="6" name="Slide Number Placeholder 5"/>
          <p:cNvSpPr>
            <a:spLocks noGrp="1"/>
          </p:cNvSpPr>
          <p:nvPr>
            <p:ph type="sldNum" sz="quarter" idx="12"/>
          </p:nvPr>
        </p:nvSpPr>
        <p:spPr/>
        <p:txBody>
          <a:bodyPr/>
          <a:lstStyle>
            <a:lvl1pPr>
              <a:defRPr>
                <a:solidFill>
                  <a:schemeClr val="bg1">
                    <a:lumMod val="95000"/>
                  </a:schemeClr>
                </a:solidFill>
                <a:latin typeface="Times New Roman" panose="02020603050405020304" pitchFamily="18" charset="0"/>
                <a:cs typeface="Times New Roman" panose="02020603050405020304" pitchFamily="18" charset="0"/>
              </a:defRPr>
            </a:lvl1pPr>
          </a:lstStyle>
          <a:p>
            <a:pPr>
              <a:defRPr/>
            </a:pPr>
            <a:fld id="{4D088502-0443-48E1-8C5B-789C13AB8C7E}" type="slidenum">
              <a:rPr lang="en-US" altLang="en-US" smtClean="0"/>
              <a:pPr>
                <a:defRPr/>
              </a:pPr>
              <a:t>‹#›</a:t>
            </a:fld>
            <a:endParaRPr lang="en-US" altLang="en-US"/>
          </a:p>
        </p:txBody>
      </p:sp>
    </p:spTree>
    <p:extLst>
      <p:ext uri="{BB962C8B-B14F-4D97-AF65-F5344CB8AC3E}">
        <p14:creationId xmlns:p14="http://schemas.microsoft.com/office/powerpoint/2010/main" val="3447637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146842"/>
            <a:ext cx="7886700" cy="1325563"/>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628650" y="1593851"/>
            <a:ext cx="7886700" cy="44831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a:xfrm>
            <a:off x="6457950" y="6141245"/>
            <a:ext cx="2057400" cy="365125"/>
          </a:xfrm>
        </p:spPr>
        <p:txBody>
          <a:bodyPr/>
          <a:lstStyle>
            <a:lvl1pPr algn="r">
              <a:defRPr/>
            </a:lvl1pPr>
          </a:lstStyle>
          <a:p>
            <a:pPr>
              <a:defRPr/>
            </a:pPr>
            <a:endParaRPr lang="en-US"/>
          </a:p>
        </p:txBody>
      </p:sp>
      <p:sp>
        <p:nvSpPr>
          <p:cNvPr id="6" name="Slide Number Placeholder 5"/>
          <p:cNvSpPr>
            <a:spLocks noGrp="1"/>
          </p:cNvSpPr>
          <p:nvPr>
            <p:ph type="sldNum" sz="quarter" idx="12"/>
          </p:nvPr>
        </p:nvSpPr>
        <p:spPr>
          <a:xfrm>
            <a:off x="7372350" y="6413501"/>
            <a:ext cx="1143000" cy="365125"/>
          </a:xfrm>
        </p:spPr>
        <p:txBody>
          <a:bodyPr/>
          <a:lstStyle/>
          <a:p>
            <a:pPr>
              <a:defRPr/>
            </a:pPr>
            <a:fld id="{CFC3CAE2-209B-4B91-935A-1C00CA4F0B76}" type="slidenum">
              <a:rPr lang="en-US" altLang="en-US" smtClean="0"/>
              <a:pPr>
                <a:defRPr/>
              </a:pPr>
              <a:t>‹#›</a:t>
            </a:fld>
            <a:endParaRPr lang="en-US" altLang="en-US"/>
          </a:p>
        </p:txBody>
      </p:sp>
    </p:spTree>
    <p:extLst>
      <p:ext uri="{BB962C8B-B14F-4D97-AF65-F5344CB8AC3E}">
        <p14:creationId xmlns:p14="http://schemas.microsoft.com/office/powerpoint/2010/main" val="1707942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23966"/>
            <a:ext cx="7886700" cy="2852737"/>
          </a:xfrm>
        </p:spPr>
        <p:txBody>
          <a:bodyPr anchor="b"/>
          <a:lstStyle>
            <a:lvl1pPr>
              <a:defRPr sz="6000"/>
            </a:lvl1pPr>
          </a:lstStyle>
          <a:p>
            <a:r>
              <a:rPr lang="en-US" altLang="zh-CN"/>
              <a:t>Click to edit Master title style</a:t>
            </a:r>
            <a:endParaRPr lang="en-US" dirty="0"/>
          </a:p>
        </p:txBody>
      </p:sp>
      <p:sp>
        <p:nvSpPr>
          <p:cNvPr id="3" name="Text Placeholder 2"/>
          <p:cNvSpPr>
            <a:spLocks noGrp="1"/>
          </p:cNvSpPr>
          <p:nvPr>
            <p:ph type="body" idx="1"/>
          </p:nvPr>
        </p:nvSpPr>
        <p:spPr>
          <a:xfrm>
            <a:off x="623888" y="43227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3E90663-200D-457C-B762-790633D6CC7F}" type="slidenum">
              <a:rPr lang="en-US" altLang="en-US" smtClean="0"/>
              <a:pPr>
                <a:defRPr/>
              </a:pPr>
              <a:t>‹#›</a:t>
            </a:fld>
            <a:endParaRPr lang="en-US" altLang="en-US"/>
          </a:p>
        </p:txBody>
      </p:sp>
    </p:spTree>
    <p:extLst>
      <p:ext uri="{BB962C8B-B14F-4D97-AF65-F5344CB8AC3E}">
        <p14:creationId xmlns:p14="http://schemas.microsoft.com/office/powerpoint/2010/main" val="2690439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628650" y="162877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629150" y="162877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D92DDC7B-486B-4329-A13D-9E46ACC80843}" type="slidenum">
              <a:rPr lang="en-US" altLang="en-US" smtClean="0"/>
              <a:pPr>
                <a:defRPr/>
              </a:pPr>
              <a:t>‹#›</a:t>
            </a:fld>
            <a:endParaRPr lang="en-US" altLang="en-US"/>
          </a:p>
        </p:txBody>
      </p:sp>
    </p:spTree>
    <p:extLst>
      <p:ext uri="{BB962C8B-B14F-4D97-AF65-F5344CB8AC3E}">
        <p14:creationId xmlns:p14="http://schemas.microsoft.com/office/powerpoint/2010/main" val="4037887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EBA741EE-D015-4AF8-8069-7457B6C8E2E5}" type="slidenum">
              <a:rPr lang="en-US" altLang="en-US" smtClean="0"/>
              <a:pPr>
                <a:defRPr/>
              </a:pPr>
              <a:t>‹#›</a:t>
            </a:fld>
            <a:endParaRPr lang="en-US" altLang="en-US"/>
          </a:p>
        </p:txBody>
      </p:sp>
    </p:spTree>
    <p:extLst>
      <p:ext uri="{BB962C8B-B14F-4D97-AF65-F5344CB8AC3E}">
        <p14:creationId xmlns:p14="http://schemas.microsoft.com/office/powerpoint/2010/main" val="1621602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ECBACE77-4AA6-447E-B4D1-F493BFBBDB18}" type="slidenum">
              <a:rPr lang="en-US" altLang="en-US" smtClean="0"/>
              <a:pPr>
                <a:defRPr/>
              </a:pPr>
              <a:t>‹#›</a:t>
            </a:fld>
            <a:endParaRPr lang="en-US" altLang="en-US"/>
          </a:p>
        </p:txBody>
      </p:sp>
    </p:spTree>
    <p:extLst>
      <p:ext uri="{BB962C8B-B14F-4D97-AF65-F5344CB8AC3E}">
        <p14:creationId xmlns:p14="http://schemas.microsoft.com/office/powerpoint/2010/main" val="1767975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2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5900" y="1781176"/>
            <a:ext cx="2711450" cy="4244974"/>
          </a:xfrm>
        </p:spPr>
        <p:txBody>
          <a:bodyPr/>
          <a:lstStyle>
            <a:lvl1pPr>
              <a:defRPr>
                <a:solidFill>
                  <a:schemeClr val="bg1">
                    <a:lumMod val="95000"/>
                  </a:schemeClr>
                </a:solidFill>
              </a:defRPr>
            </a:lvl1p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B4A2F712-6253-4315-B0DE-3E7F0320A009}" type="slidenum">
              <a:rPr lang="en-US" altLang="en-US" smtClean="0"/>
              <a:pPr>
                <a:defRPr/>
              </a:pPr>
              <a:t>‹#›</a:t>
            </a:fld>
            <a:endParaRPr lang="en-US" altLang="en-US"/>
          </a:p>
        </p:txBody>
      </p:sp>
    </p:spTree>
    <p:extLst>
      <p:ext uri="{BB962C8B-B14F-4D97-AF65-F5344CB8AC3E}">
        <p14:creationId xmlns:p14="http://schemas.microsoft.com/office/powerpoint/2010/main" val="488553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solidFill>
                  <a:schemeClr val="bg1"/>
                </a:solidFill>
              </a:defRPr>
            </a:lvl1p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B4A2F712-6253-4315-B0DE-3E7F0320A009}" type="slidenum">
              <a:rPr lang="en-US" altLang="en-US" smtClean="0"/>
              <a:pPr>
                <a:defRPr/>
              </a:pPr>
              <a:t>‹#›</a:t>
            </a:fld>
            <a:endParaRPr lang="en-US" altLang="en-US"/>
          </a:p>
        </p:txBody>
      </p:sp>
    </p:spTree>
    <p:extLst>
      <p:ext uri="{BB962C8B-B14F-4D97-AF65-F5344CB8AC3E}">
        <p14:creationId xmlns:p14="http://schemas.microsoft.com/office/powerpoint/2010/main" val="2408572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8CF7706-125D-45CA-9937-85A62E2AA5C9}" type="slidenum">
              <a:rPr lang="en-US" altLang="en-US" smtClean="0"/>
              <a:pPr>
                <a:defRPr/>
              </a:pPr>
              <a:t>‹#›</a:t>
            </a:fld>
            <a:endParaRPr lang="en-US" altLang="en-US"/>
          </a:p>
        </p:txBody>
      </p:sp>
    </p:spTree>
    <p:extLst>
      <p:ext uri="{BB962C8B-B14F-4D97-AF65-F5344CB8AC3E}">
        <p14:creationId xmlns:p14="http://schemas.microsoft.com/office/powerpoint/2010/main" val="1406461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B4A2F712-6253-4315-B0DE-3E7F0320A009}" type="slidenum">
              <a:rPr lang="en-US" altLang="en-US" smtClean="0"/>
              <a:pPr>
                <a:defRPr/>
              </a:pPr>
              <a:t>‹#›</a:t>
            </a:fld>
            <a:endParaRPr lang="en-US" altLang="en-US"/>
          </a:p>
        </p:txBody>
      </p:sp>
    </p:spTree>
    <p:extLst>
      <p:ext uri="{BB962C8B-B14F-4D97-AF65-F5344CB8AC3E}">
        <p14:creationId xmlns:p14="http://schemas.microsoft.com/office/powerpoint/2010/main" val="3642751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B4A2F712-6253-4315-B0DE-3E7F0320A009}" type="slidenum">
              <a:rPr lang="en-US" altLang="en-US" smtClean="0"/>
              <a:pPr>
                <a:defRPr/>
              </a:pPr>
              <a:t>‹#›</a:t>
            </a:fld>
            <a:endParaRPr lang="en-US" altLang="en-US"/>
          </a:p>
        </p:txBody>
      </p:sp>
    </p:spTree>
    <p:extLst>
      <p:ext uri="{BB962C8B-B14F-4D97-AF65-F5344CB8AC3E}">
        <p14:creationId xmlns:p14="http://schemas.microsoft.com/office/powerpoint/2010/main" val="8468406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3" name="Content Placeholder 2"/>
          <p:cNvSpPr>
            <a:spLocks noGrp="1"/>
          </p:cNvSpPr>
          <p:nvPr>
            <p:ph idx="1"/>
          </p:nvPr>
        </p:nvSpPr>
        <p:spPr>
          <a:xfrm>
            <a:off x="3887391" y="457200"/>
            <a:ext cx="4629150" cy="54038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B63DE6FB-58D3-4554-8AD7-C8A6EDA62550}" type="slidenum">
              <a:rPr lang="en-US" altLang="en-US" smtClean="0"/>
              <a:pPr>
                <a:defRPr/>
              </a:pPr>
              <a:t>‹#›</a:t>
            </a:fld>
            <a:endParaRPr lang="en-US" altLang="en-US"/>
          </a:p>
        </p:txBody>
      </p:sp>
    </p:spTree>
    <p:extLst>
      <p:ext uri="{BB962C8B-B14F-4D97-AF65-F5344CB8AC3E}">
        <p14:creationId xmlns:p14="http://schemas.microsoft.com/office/powerpoint/2010/main" val="26344029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887391" y="457200"/>
            <a:ext cx="4629150" cy="540385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92168CE0-C190-4F05-8C89-6F09EAA3136F}" type="slidenum">
              <a:rPr lang="en-US" altLang="en-US" smtClean="0"/>
              <a:pPr>
                <a:defRPr/>
              </a:pPr>
              <a:t>‹#›</a:t>
            </a:fld>
            <a:endParaRPr lang="en-US" altLang="en-US"/>
          </a:p>
        </p:txBody>
      </p:sp>
    </p:spTree>
    <p:extLst>
      <p:ext uri="{BB962C8B-B14F-4D97-AF65-F5344CB8AC3E}">
        <p14:creationId xmlns:p14="http://schemas.microsoft.com/office/powerpoint/2010/main" val="29396703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4165E0E-2F20-4D6F-AFCC-E5BD51A22C76}" type="slidenum">
              <a:rPr lang="en-US" altLang="en-US" smtClean="0"/>
              <a:pPr>
                <a:defRPr/>
              </a:pPr>
              <a:t>‹#›</a:t>
            </a:fld>
            <a:endParaRPr lang="en-US" altLang="en-US"/>
          </a:p>
        </p:txBody>
      </p:sp>
    </p:spTree>
    <p:extLst>
      <p:ext uri="{BB962C8B-B14F-4D97-AF65-F5344CB8AC3E}">
        <p14:creationId xmlns:p14="http://schemas.microsoft.com/office/powerpoint/2010/main" val="27746556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DD91F59-E262-4802-A6CE-52074AB415BE}" type="slidenum">
              <a:rPr lang="en-US" altLang="en-US" smtClean="0"/>
              <a:pPr>
                <a:defRPr/>
              </a:pPr>
              <a:t>‹#›</a:t>
            </a:fld>
            <a:endParaRPr lang="en-US" altLang="en-US"/>
          </a:p>
        </p:txBody>
      </p:sp>
    </p:spTree>
    <p:extLst>
      <p:ext uri="{BB962C8B-B14F-4D97-AF65-F5344CB8AC3E}">
        <p14:creationId xmlns:p14="http://schemas.microsoft.com/office/powerpoint/2010/main" val="1797210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55576"/>
            <a:ext cx="7886700" cy="1325563"/>
          </a:xfrm>
          <a:prstGeom prst="rect">
            <a:avLst/>
          </a:prstGeom>
        </p:spPr>
        <p:txBody>
          <a:bodyPr vert="horz" lIns="91440" tIns="45720" rIns="91440" bIns="45720" rtlCol="0" anchor="ctr">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628650" y="1625600"/>
            <a:ext cx="7886700" cy="4460876"/>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7397750" y="6121400"/>
            <a:ext cx="1117600" cy="276227"/>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pPr>
              <a:defRPr/>
            </a:pPr>
            <a:endParaRPr lang="en-US"/>
          </a:p>
        </p:txBody>
      </p:sp>
      <p:sp>
        <p:nvSpPr>
          <p:cNvPr id="5" name="Footer Placeholder 4"/>
          <p:cNvSpPr>
            <a:spLocks noGrp="1"/>
          </p:cNvSpPr>
          <p:nvPr>
            <p:ph type="ftr" sz="quarter" idx="3"/>
          </p:nvPr>
        </p:nvSpPr>
        <p:spPr>
          <a:xfrm>
            <a:off x="4387850" y="6432550"/>
            <a:ext cx="3009900" cy="365125"/>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pPr>
              <a:defRPr/>
            </a:pPr>
            <a:endParaRPr lang="en-US"/>
          </a:p>
        </p:txBody>
      </p:sp>
      <p:sp>
        <p:nvSpPr>
          <p:cNvPr id="6" name="Slide Number Placeholder 5"/>
          <p:cNvSpPr>
            <a:spLocks noGrp="1"/>
          </p:cNvSpPr>
          <p:nvPr>
            <p:ph type="sldNum" sz="quarter" idx="4"/>
          </p:nvPr>
        </p:nvSpPr>
        <p:spPr>
          <a:xfrm>
            <a:off x="7397750" y="6432551"/>
            <a:ext cx="1117600" cy="365125"/>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pPr>
              <a:defRPr/>
            </a:pPr>
            <a:fld id="{B4A2F712-6253-4315-B0DE-3E7F0320A009}" type="slidenum">
              <a:rPr lang="en-US" altLang="en-US" smtClean="0"/>
              <a:pPr>
                <a:defRPr/>
              </a:pPr>
              <a:t>‹#›</a:t>
            </a:fld>
            <a:endParaRPr lang="en-US" altLang="en-US"/>
          </a:p>
        </p:txBody>
      </p:sp>
    </p:spTree>
    <p:extLst>
      <p:ext uri="{BB962C8B-B14F-4D97-AF65-F5344CB8AC3E}">
        <p14:creationId xmlns:p14="http://schemas.microsoft.com/office/powerpoint/2010/main" val="3173718104"/>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40" r:id="rId3"/>
    <p:sldLayoutId id="2147483841" r:id="rId4"/>
    <p:sldLayoutId id="2147483842" r:id="rId5"/>
    <p:sldLayoutId id="2147483843" r:id="rId6"/>
    <p:sldLayoutId id="2147483844" r:id="rId7"/>
    <p:sldLayoutId id="2147483845" r:id="rId8"/>
    <p:sldLayoutId id="2147483846" r:id="rId9"/>
    <p:sldLayoutId id="2147483847" r:id="rId10"/>
    <p:sldLayoutId id="2147483848" r:id="rId11"/>
    <p:sldLayoutId id="2147483849" r:id="rId12"/>
    <p:sldLayoutId id="2147483850" r:id="rId13"/>
    <p:sldLayoutId id="2147483851" r:id="rId14"/>
    <p:sldLayoutId id="2147483852" r:id="rId15"/>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D369E41-5D84-43A0-9801-B2B266795FD6}"/>
              </a:ext>
            </a:extLst>
          </p:cNvPr>
          <p:cNvSpPr>
            <a:spLocks noGrp="1" noChangeArrowheads="1"/>
          </p:cNvSpPr>
          <p:nvPr>
            <p:ph type="ctrTitle"/>
          </p:nvPr>
        </p:nvSpPr>
        <p:spPr/>
        <p:txBody>
          <a:bodyPr/>
          <a:lstStyle/>
          <a:p>
            <a:pPr eaLnBrk="1" hangingPunct="1"/>
            <a:r>
              <a:rPr lang="en-US" altLang="en-US" sz="4600"/>
              <a:t>Unit 11 </a:t>
            </a:r>
            <a:br>
              <a:rPr lang="en-US" altLang="en-US" sz="4600"/>
            </a:br>
            <a:r>
              <a:rPr lang="en-US" altLang="en-US" sz="4600"/>
              <a:t>Intermediate Code Generation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BAEE982-36DE-49F9-8C62-0B8CF5E7B239}"/>
              </a:ext>
            </a:extLst>
          </p:cNvPr>
          <p:cNvSpPr>
            <a:spLocks noGrp="1" noChangeArrowheads="1"/>
          </p:cNvSpPr>
          <p:nvPr>
            <p:ph type="title"/>
          </p:nvPr>
        </p:nvSpPr>
        <p:spPr/>
        <p:txBody>
          <a:bodyPr/>
          <a:lstStyle/>
          <a:p>
            <a:pPr eaLnBrk="1" hangingPunct="1"/>
            <a:r>
              <a:rPr lang="en-US" altLang="en-US"/>
              <a:t>Summary</a:t>
            </a:r>
          </a:p>
        </p:txBody>
      </p:sp>
      <p:sp>
        <p:nvSpPr>
          <p:cNvPr id="5123" name="Rectangle 3">
            <a:extLst>
              <a:ext uri="{FF2B5EF4-FFF2-40B4-BE49-F238E27FC236}">
                <a16:creationId xmlns:a16="http://schemas.microsoft.com/office/drawing/2014/main" id="{6615BCAE-242B-4773-BEA1-253F820E7E5D}"/>
              </a:ext>
            </a:extLst>
          </p:cNvPr>
          <p:cNvSpPr>
            <a:spLocks noGrp="1" noChangeArrowheads="1"/>
          </p:cNvSpPr>
          <p:nvPr>
            <p:ph idx="1"/>
          </p:nvPr>
        </p:nvSpPr>
        <p:spPr>
          <a:xfrm>
            <a:off x="457200" y="1981200"/>
            <a:ext cx="8229600" cy="4343400"/>
          </a:xfrm>
        </p:spPr>
        <p:txBody>
          <a:bodyPr/>
          <a:lstStyle/>
          <a:p>
            <a:pPr eaLnBrk="1" hangingPunct="1"/>
            <a:r>
              <a:rPr lang="en-US" altLang="en-US" b="1"/>
              <a:t>Three-Address Code</a:t>
            </a:r>
          </a:p>
          <a:p>
            <a:pPr eaLnBrk="1" hangingPunct="1"/>
            <a:r>
              <a:rPr lang="en-US" altLang="en-US" b="1"/>
              <a:t>Code for Assignments</a:t>
            </a:r>
          </a:p>
          <a:p>
            <a:pPr eaLnBrk="1" hangingPunct="1"/>
            <a:r>
              <a:rPr lang="en-US" altLang="en-US" b="1"/>
              <a:t>Code for Boolean Expressions </a:t>
            </a:r>
          </a:p>
          <a:p>
            <a:pPr eaLnBrk="1" hangingPunct="1"/>
            <a:r>
              <a:rPr lang="en-US" altLang="en-US" b="1"/>
              <a:t>Code for Flow-of-Control Statements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E53FC89-AC6D-4C6E-863A-626289F7549C}"/>
              </a:ext>
            </a:extLst>
          </p:cNvPr>
          <p:cNvSpPr>
            <a:spLocks noGrp="1" noChangeArrowheads="1"/>
          </p:cNvSpPr>
          <p:nvPr>
            <p:ph type="title"/>
          </p:nvPr>
        </p:nvSpPr>
        <p:spPr/>
        <p:txBody>
          <a:bodyPr/>
          <a:lstStyle/>
          <a:p>
            <a:pPr eaLnBrk="1" hangingPunct="1"/>
            <a:r>
              <a:rPr lang="en-US" altLang="en-US"/>
              <a:t>Introduction</a:t>
            </a:r>
          </a:p>
        </p:txBody>
      </p:sp>
      <p:sp>
        <p:nvSpPr>
          <p:cNvPr id="6147" name="Rectangle 3">
            <a:extLst>
              <a:ext uri="{FF2B5EF4-FFF2-40B4-BE49-F238E27FC236}">
                <a16:creationId xmlns:a16="http://schemas.microsoft.com/office/drawing/2014/main" id="{6A79F4E1-E196-4D7B-8A8C-20C778AADE42}"/>
              </a:ext>
            </a:extLst>
          </p:cNvPr>
          <p:cNvSpPr>
            <a:spLocks noGrp="1" noChangeArrowheads="1"/>
          </p:cNvSpPr>
          <p:nvPr>
            <p:ph idx="1"/>
          </p:nvPr>
        </p:nvSpPr>
        <p:spPr/>
        <p:txBody>
          <a:bodyPr/>
          <a:lstStyle/>
          <a:p>
            <a:pPr eaLnBrk="1" hangingPunct="1"/>
            <a:r>
              <a:rPr lang="en-US" altLang="en-US"/>
              <a:t>A source program can be translated into intermediate  code by intermediate code generator</a:t>
            </a:r>
          </a:p>
          <a:p>
            <a:pPr eaLnBrk="1" hangingPunct="1"/>
            <a:r>
              <a:rPr lang="en-US" altLang="en-US"/>
              <a:t>Intermediate code is machine-independent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83BFBAA-F6D7-4173-901C-C491527FE971}"/>
              </a:ext>
            </a:extLst>
          </p:cNvPr>
          <p:cNvSpPr>
            <a:spLocks noGrp="1" noChangeArrowheads="1"/>
          </p:cNvSpPr>
          <p:nvPr>
            <p:ph type="title"/>
          </p:nvPr>
        </p:nvSpPr>
        <p:spPr/>
        <p:txBody>
          <a:bodyPr/>
          <a:lstStyle/>
          <a:p>
            <a:pPr eaLnBrk="1" hangingPunct="1"/>
            <a:r>
              <a:rPr lang="en-US" altLang="en-US"/>
              <a:t>Benefits of Intermediate Code</a:t>
            </a:r>
          </a:p>
        </p:txBody>
      </p:sp>
      <p:sp>
        <p:nvSpPr>
          <p:cNvPr id="7171" name="Rectangle 3">
            <a:extLst>
              <a:ext uri="{FF2B5EF4-FFF2-40B4-BE49-F238E27FC236}">
                <a16:creationId xmlns:a16="http://schemas.microsoft.com/office/drawing/2014/main" id="{FA61D05A-0A06-4176-8167-052F1391BABE}"/>
              </a:ext>
            </a:extLst>
          </p:cNvPr>
          <p:cNvSpPr>
            <a:spLocks noGrp="1" noChangeArrowheads="1"/>
          </p:cNvSpPr>
          <p:nvPr>
            <p:ph idx="1"/>
          </p:nvPr>
        </p:nvSpPr>
        <p:spPr/>
        <p:txBody>
          <a:bodyPr/>
          <a:lstStyle/>
          <a:p>
            <a:pPr eaLnBrk="1" hangingPunct="1"/>
            <a:r>
              <a:rPr lang="en-US" altLang="en-US"/>
              <a:t>Retargetting is facilitated</a:t>
            </a:r>
          </a:p>
          <a:p>
            <a:pPr eaLnBrk="1" hangingPunct="1"/>
            <a:endParaRPr lang="en-US" altLang="en-US"/>
          </a:p>
          <a:p>
            <a:pPr eaLnBrk="1" hangingPunct="1"/>
            <a:r>
              <a:rPr lang="en-US" altLang="en-US"/>
              <a:t>A machine-independent code optimizer can be applied to intermediate representation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06A2376A-36B3-4CAB-A16A-A951823883A8}"/>
              </a:ext>
            </a:extLst>
          </p:cNvPr>
          <p:cNvSpPr>
            <a:spLocks noGrp="1" noChangeArrowheads="1"/>
          </p:cNvSpPr>
          <p:nvPr>
            <p:ph type="title"/>
          </p:nvPr>
        </p:nvSpPr>
        <p:spPr/>
        <p:txBody>
          <a:bodyPr/>
          <a:lstStyle/>
          <a:p>
            <a:pPr eaLnBrk="1" hangingPunct="1"/>
            <a:r>
              <a:rPr lang="en-US" altLang="en-US"/>
              <a:t>Intermediate Code </a:t>
            </a:r>
          </a:p>
        </p:txBody>
      </p:sp>
      <p:sp>
        <p:nvSpPr>
          <p:cNvPr id="7171" name="Rectangle 3">
            <a:extLst>
              <a:ext uri="{FF2B5EF4-FFF2-40B4-BE49-F238E27FC236}">
                <a16:creationId xmlns:a16="http://schemas.microsoft.com/office/drawing/2014/main" id="{141B54C3-9941-4655-BC4E-743CE14FC4BC}"/>
              </a:ext>
            </a:extLst>
          </p:cNvPr>
          <p:cNvSpPr>
            <a:spLocks noChangeArrowheads="1"/>
          </p:cNvSpPr>
          <p:nvPr/>
        </p:nvSpPr>
        <p:spPr bwMode="auto">
          <a:xfrm>
            <a:off x="533400" y="1524000"/>
            <a:ext cx="7924800" cy="5334000"/>
          </a:xfrm>
          <a:prstGeom prst="rect">
            <a:avLst/>
          </a:prstGeom>
          <a:noFill/>
          <a:ln>
            <a:noFill/>
          </a:ln>
        </p:spPr>
        <p:txBody>
          <a:bodyPr/>
          <a:lstStyle/>
          <a:p>
            <a:pPr marL="342900" indent="-342900" eaLnBrk="1" hangingPunct="1">
              <a:lnSpc>
                <a:spcPct val="79000"/>
              </a:lnSpc>
              <a:spcBef>
                <a:spcPct val="10000"/>
              </a:spcBef>
              <a:buClr>
                <a:srgbClr val="FF3300"/>
              </a:buClr>
              <a:buSzPct val="75000"/>
              <a:buFont typeface="Wingdings" pitchFamily="2" charset="2"/>
              <a:buChar char="v"/>
              <a:defRPr/>
            </a:pPr>
            <a:endParaRPr lang="en-US" sz="2400" dirty="0">
              <a:latin typeface="Times New Roman" pitchFamily="18" charset="0"/>
            </a:endParaRPr>
          </a:p>
          <a:p>
            <a:pPr marL="342900" indent="-342900">
              <a:buFontTx/>
              <a:buBlip>
                <a:blip r:embed="rId3"/>
              </a:buBlip>
              <a:defRPr/>
            </a:pPr>
            <a:r>
              <a:rPr lang="en-US" sz="2800" dirty="0">
                <a:latin typeface="Arial" charset="0"/>
              </a:rPr>
              <a:t>To be done by an Intermediate Code Generator.</a:t>
            </a:r>
          </a:p>
          <a:p>
            <a:pPr marL="342900" indent="-342900">
              <a:buFontTx/>
              <a:buBlip>
                <a:blip r:embed="rId3"/>
              </a:buBlip>
              <a:defRPr/>
            </a:pPr>
            <a:endParaRPr lang="en-US" sz="2800" dirty="0">
              <a:latin typeface="Arial" charset="0"/>
            </a:endParaRPr>
          </a:p>
          <a:p>
            <a:pPr marL="342900" indent="-342900">
              <a:buFontTx/>
              <a:buBlip>
                <a:blip r:embed="rId3"/>
              </a:buBlip>
              <a:defRPr/>
            </a:pPr>
            <a:r>
              <a:rPr lang="en-US" sz="2800" dirty="0">
                <a:latin typeface="Arial" charset="0"/>
              </a:rPr>
              <a:t> Intermediate representation is decided by compiler designer</a:t>
            </a:r>
          </a:p>
          <a:p>
            <a:pPr>
              <a:defRPr/>
            </a:pPr>
            <a:endParaRPr lang="en-US" sz="2800" dirty="0">
              <a:latin typeface="Arial" charset="0"/>
            </a:endParaRPr>
          </a:p>
          <a:p>
            <a:pPr marL="342900" indent="-342900">
              <a:buFontTx/>
              <a:buBlip>
                <a:blip r:embed="rId3"/>
              </a:buBlip>
              <a:defRPr/>
            </a:pPr>
            <a:r>
              <a:rPr lang="en-US" sz="2800" dirty="0">
                <a:latin typeface="Arial" charset="0"/>
              </a:rPr>
              <a:t>Typical intermediate representations are:</a:t>
            </a:r>
            <a:endParaRPr lang="en-US" sz="2800" dirty="0">
              <a:latin typeface="Times New Roman" pitchFamily="18" charset="0"/>
            </a:endParaRPr>
          </a:p>
          <a:p>
            <a:pPr marL="742950" lvl="1" indent="-285750" eaLnBrk="1" hangingPunct="1">
              <a:lnSpc>
                <a:spcPct val="70000"/>
              </a:lnSpc>
              <a:spcBef>
                <a:spcPct val="20000"/>
              </a:spcBef>
              <a:buSzPct val="69000"/>
              <a:buFont typeface="Wingdings" pitchFamily="2" charset="2"/>
              <a:buChar char="q"/>
              <a:defRPr/>
            </a:pPr>
            <a:r>
              <a:rPr lang="en-US" sz="2400" dirty="0">
                <a:latin typeface="Times New Roman" pitchFamily="18" charset="0"/>
              </a:rPr>
              <a:t>Syntax Tree </a:t>
            </a:r>
          </a:p>
          <a:p>
            <a:pPr marL="742950" lvl="1" indent="-285750" eaLnBrk="1" hangingPunct="1">
              <a:lnSpc>
                <a:spcPct val="70000"/>
              </a:lnSpc>
              <a:spcBef>
                <a:spcPct val="20000"/>
              </a:spcBef>
              <a:buSzPct val="69000"/>
              <a:buFont typeface="Wingdings" pitchFamily="2" charset="2"/>
              <a:buChar char="q"/>
              <a:defRPr/>
            </a:pPr>
            <a:r>
              <a:rPr lang="en-US" sz="2400" dirty="0">
                <a:latin typeface="Times New Roman" pitchFamily="18" charset="0"/>
              </a:rPr>
              <a:t>Postfix Notation</a:t>
            </a:r>
          </a:p>
          <a:p>
            <a:pPr marL="742950" lvl="1" indent="-285750" eaLnBrk="1" hangingPunct="1">
              <a:lnSpc>
                <a:spcPct val="70000"/>
              </a:lnSpc>
              <a:spcBef>
                <a:spcPct val="20000"/>
              </a:spcBef>
              <a:buSzPct val="69000"/>
              <a:buFont typeface="Wingdings" pitchFamily="2" charset="2"/>
              <a:buChar char="q"/>
              <a:defRPr/>
            </a:pPr>
            <a:r>
              <a:rPr lang="en-US" sz="2400" dirty="0">
                <a:latin typeface="Times New Roman" pitchFamily="18" charset="0"/>
              </a:rPr>
              <a:t>Three Address Code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1330632-43E6-420D-8126-804A1716B7CB}"/>
              </a:ext>
            </a:extLst>
          </p:cNvPr>
          <p:cNvSpPr>
            <a:spLocks noGrp="1" noChangeArrowheads="1"/>
          </p:cNvSpPr>
          <p:nvPr>
            <p:ph type="title"/>
          </p:nvPr>
        </p:nvSpPr>
        <p:spPr>
          <a:xfrm>
            <a:off x="457200" y="457200"/>
            <a:ext cx="8229600" cy="1066800"/>
          </a:xfrm>
        </p:spPr>
        <p:txBody>
          <a:bodyPr/>
          <a:lstStyle/>
          <a:p>
            <a:pPr eaLnBrk="1" hangingPunct="1"/>
            <a:r>
              <a:rPr lang="en-US" altLang="en-US"/>
              <a:t>Intermediate Code </a:t>
            </a:r>
          </a:p>
        </p:txBody>
      </p:sp>
      <p:sp>
        <p:nvSpPr>
          <p:cNvPr id="10243" name="Rectangle 3">
            <a:extLst>
              <a:ext uri="{FF2B5EF4-FFF2-40B4-BE49-F238E27FC236}">
                <a16:creationId xmlns:a16="http://schemas.microsoft.com/office/drawing/2014/main" id="{E93ADC74-1164-43BA-96EC-9E57130F4153}"/>
              </a:ext>
            </a:extLst>
          </p:cNvPr>
          <p:cNvSpPr>
            <a:spLocks noGrp="1" noChangeArrowheads="1"/>
          </p:cNvSpPr>
          <p:nvPr>
            <p:ph idx="1"/>
          </p:nvPr>
        </p:nvSpPr>
        <p:spPr>
          <a:xfrm>
            <a:off x="533400" y="1676400"/>
            <a:ext cx="8229600" cy="4876800"/>
          </a:xfrm>
        </p:spPr>
        <p:txBody>
          <a:bodyPr/>
          <a:lstStyle/>
          <a:p>
            <a:pPr eaLnBrk="1" hangingPunct="1">
              <a:lnSpc>
                <a:spcPct val="80000"/>
              </a:lnSpc>
            </a:pPr>
            <a:r>
              <a:rPr lang="en-US" altLang="en-US" sz="2400"/>
              <a:t>As </a:t>
            </a:r>
            <a:r>
              <a:rPr lang="en-US" altLang="en-US" sz="2400" b="1"/>
              <a:t>intermediate</a:t>
            </a:r>
            <a:r>
              <a:rPr lang="en-US" altLang="en-US" sz="2400"/>
              <a:t> </a:t>
            </a:r>
            <a:r>
              <a:rPr lang="en-US" altLang="en-US" sz="2400" b="1"/>
              <a:t>code</a:t>
            </a:r>
            <a:r>
              <a:rPr lang="en-US" altLang="en-US" sz="2400"/>
              <a:t> we consider the </a:t>
            </a:r>
            <a:r>
              <a:rPr lang="en-US" altLang="en-US" sz="2400" i="1"/>
              <a:t>three-address </a:t>
            </a:r>
            <a:r>
              <a:rPr lang="en-US" altLang="en-US" sz="2400" b="1" i="1"/>
              <a:t>code</a:t>
            </a:r>
            <a:r>
              <a:rPr lang="en-US" altLang="en-US" sz="2400"/>
              <a:t>, similar to assembly: sequence of instructions with at most </a:t>
            </a:r>
            <a:r>
              <a:rPr lang="en-US" altLang="en-US" sz="2400" i="1"/>
              <a:t>three </a:t>
            </a:r>
            <a:r>
              <a:rPr lang="en-US" altLang="en-US" sz="2400"/>
              <a:t>operands such that:</a:t>
            </a:r>
          </a:p>
          <a:p>
            <a:pPr lvl="1" eaLnBrk="1" hangingPunct="1">
              <a:lnSpc>
                <a:spcPct val="80000"/>
              </a:lnSpc>
              <a:buFont typeface="Wingdings" panose="05000000000000000000" pitchFamily="2" charset="2"/>
              <a:buNone/>
            </a:pPr>
            <a:r>
              <a:rPr lang="en-US" altLang="en-US" sz="2000"/>
              <a:t>1. There is at most one operator, in addition to the assignment (we make explicit the operators precedence).</a:t>
            </a:r>
          </a:p>
          <a:p>
            <a:pPr lvl="1" eaLnBrk="1" hangingPunct="1">
              <a:lnSpc>
                <a:spcPct val="80000"/>
              </a:lnSpc>
              <a:buFont typeface="Wingdings" panose="05000000000000000000" pitchFamily="2" charset="2"/>
              <a:buNone/>
            </a:pPr>
            <a:r>
              <a:rPr lang="en-US" altLang="en-US" sz="2000"/>
              <a:t>2. The general form is: x := y </a:t>
            </a:r>
            <a:r>
              <a:rPr lang="en-US" altLang="en-US" sz="2000" i="1"/>
              <a:t>op </a:t>
            </a:r>
            <a:r>
              <a:rPr lang="en-US" altLang="en-US" sz="2000"/>
              <a:t>z</a:t>
            </a:r>
          </a:p>
          <a:p>
            <a:pPr eaLnBrk="1" hangingPunct="1">
              <a:lnSpc>
                <a:spcPct val="80000"/>
              </a:lnSpc>
            </a:pPr>
            <a:r>
              <a:rPr lang="en-US" altLang="en-US" sz="2400"/>
              <a:t> x,y,z are called </a:t>
            </a:r>
            <a:r>
              <a:rPr lang="en-US" altLang="en-US" sz="2400" b="1"/>
              <a:t>addresses</a:t>
            </a:r>
            <a:r>
              <a:rPr lang="en-US" altLang="en-US" sz="2400"/>
              <a:t>, i.e. either identifiers, constants or </a:t>
            </a:r>
            <a:r>
              <a:rPr lang="en-US" altLang="en-US" sz="2400" b="1"/>
              <a:t>compiler</a:t>
            </a:r>
            <a:r>
              <a:rPr lang="en-US" altLang="en-US" sz="2400"/>
              <a:t>-generated temporary names.</a:t>
            </a:r>
            <a:endParaRPr lang="en-US" altLang="en-US" sz="2400" b="1"/>
          </a:p>
          <a:p>
            <a:pPr lvl="1" eaLnBrk="1" hangingPunct="1">
              <a:lnSpc>
                <a:spcPct val="80000"/>
              </a:lnSpc>
            </a:pPr>
            <a:r>
              <a:rPr lang="en-US" altLang="en-US" sz="2000"/>
              <a:t>Temporary names must be generated to compute </a:t>
            </a:r>
            <a:r>
              <a:rPr lang="en-US" altLang="en-US" sz="2000" b="1"/>
              <a:t>intermediate</a:t>
            </a:r>
            <a:r>
              <a:rPr lang="en-US" altLang="en-US" sz="2000"/>
              <a:t> operations.</a:t>
            </a:r>
            <a:endParaRPr lang="en-US" altLang="ja-JP" sz="2000" b="1">
              <a:ea typeface="MS PGothic" panose="020B0600070205080204" pitchFamily="34" charset="-128"/>
            </a:endParaRPr>
          </a:p>
          <a:p>
            <a:pPr lvl="1" eaLnBrk="1" hangingPunct="1">
              <a:lnSpc>
                <a:spcPct val="80000"/>
              </a:lnSpc>
            </a:pPr>
            <a:r>
              <a:rPr lang="en-US" altLang="ja-JP" sz="2000">
                <a:ea typeface="MS PGothic" panose="020B0600070205080204" pitchFamily="34" charset="-128"/>
              </a:rPr>
              <a:t>Addresses are implemented as pointers to their symbol-table entries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4714C736-D966-4696-80BC-3DDF707BCC3F}"/>
              </a:ext>
            </a:extLst>
          </p:cNvPr>
          <p:cNvSpPr>
            <a:spLocks noGrp="1" noChangeArrowheads="1"/>
          </p:cNvSpPr>
          <p:nvPr>
            <p:ph type="title"/>
          </p:nvPr>
        </p:nvSpPr>
        <p:spPr/>
        <p:txBody>
          <a:bodyPr/>
          <a:lstStyle/>
          <a:p>
            <a:pPr eaLnBrk="1" hangingPunct="1"/>
            <a:r>
              <a:rPr lang="en-US" altLang="en-US" sz="3600"/>
              <a:t>Three Address Code of t: =x + y * z</a:t>
            </a:r>
          </a:p>
        </p:txBody>
      </p:sp>
      <p:sp>
        <p:nvSpPr>
          <p:cNvPr id="11267" name="Rectangle 3">
            <a:extLst>
              <a:ext uri="{FF2B5EF4-FFF2-40B4-BE49-F238E27FC236}">
                <a16:creationId xmlns:a16="http://schemas.microsoft.com/office/drawing/2014/main" id="{F9F1E54D-1CA0-40AE-B631-4C5F03FC1F0E}"/>
              </a:ext>
            </a:extLst>
          </p:cNvPr>
          <p:cNvSpPr>
            <a:spLocks noGrp="1" noChangeArrowheads="1"/>
          </p:cNvSpPr>
          <p:nvPr>
            <p:ph idx="1"/>
          </p:nvPr>
        </p:nvSpPr>
        <p:spPr/>
        <p:txBody>
          <a:bodyPr/>
          <a:lstStyle/>
          <a:p>
            <a:pPr eaLnBrk="1" hangingPunct="1"/>
            <a:r>
              <a:rPr lang="en-US" altLang="en-US"/>
              <a:t>t</a:t>
            </a:r>
            <a:r>
              <a:rPr lang="en-US" altLang="en-US" baseline="-25000"/>
              <a:t>1 </a:t>
            </a:r>
            <a:r>
              <a:rPr lang="en-US" altLang="en-US"/>
              <a:t>:= y*z</a:t>
            </a:r>
          </a:p>
          <a:p>
            <a:pPr eaLnBrk="1" hangingPunct="1"/>
            <a:r>
              <a:rPr lang="en-US" altLang="en-US"/>
              <a:t>t</a:t>
            </a:r>
            <a:r>
              <a:rPr lang="en-US" altLang="en-US" baseline="-25000"/>
              <a:t> </a:t>
            </a:r>
            <a:r>
              <a:rPr lang="en-US" altLang="en-US"/>
              <a:t>:= x+t</a:t>
            </a:r>
            <a:r>
              <a:rPr lang="en-US" altLang="en-US" baseline="-25000"/>
              <a:t>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2CCB91F0-0101-4C0C-81AD-FE98C332D9C0}"/>
              </a:ext>
            </a:extLst>
          </p:cNvPr>
          <p:cNvSpPr>
            <a:spLocks noGrp="1" noChangeArrowheads="1"/>
          </p:cNvSpPr>
          <p:nvPr>
            <p:ph type="title"/>
          </p:nvPr>
        </p:nvSpPr>
        <p:spPr>
          <a:xfrm>
            <a:off x="457200" y="457200"/>
            <a:ext cx="8458200" cy="762000"/>
          </a:xfrm>
        </p:spPr>
        <p:txBody>
          <a:bodyPr/>
          <a:lstStyle/>
          <a:p>
            <a:pPr eaLnBrk="1" hangingPunct="1"/>
            <a:r>
              <a:rPr lang="en-US" altLang="en-US" sz="4000"/>
              <a:t>Types of Three-Address Statements</a:t>
            </a:r>
          </a:p>
        </p:txBody>
      </p:sp>
      <p:sp>
        <p:nvSpPr>
          <p:cNvPr id="12291" name="Rectangle 3">
            <a:extLst>
              <a:ext uri="{FF2B5EF4-FFF2-40B4-BE49-F238E27FC236}">
                <a16:creationId xmlns:a16="http://schemas.microsoft.com/office/drawing/2014/main" id="{66D82EDD-45B2-4680-951A-3A297F5E8C53}"/>
              </a:ext>
            </a:extLst>
          </p:cNvPr>
          <p:cNvSpPr>
            <a:spLocks noGrp="1" noChangeArrowheads="1"/>
          </p:cNvSpPr>
          <p:nvPr>
            <p:ph idx="1"/>
          </p:nvPr>
        </p:nvSpPr>
        <p:spPr/>
        <p:txBody>
          <a:bodyPr/>
          <a:lstStyle/>
          <a:p>
            <a:pPr eaLnBrk="1" hangingPunct="1">
              <a:lnSpc>
                <a:spcPct val="90000"/>
              </a:lnSpc>
            </a:pPr>
            <a:r>
              <a:rPr lang="en-US" altLang="en-US" sz="2800"/>
              <a:t>Three-Address statements are akin to assembly </a:t>
            </a:r>
            <a:r>
              <a:rPr lang="en-US" altLang="en-US" sz="2800" b="1"/>
              <a:t>code</a:t>
            </a:r>
            <a:r>
              <a:rPr lang="en-US" altLang="en-US" sz="2800"/>
              <a:t>: Statements can have </a:t>
            </a:r>
            <a:r>
              <a:rPr lang="en-US" altLang="en-US" sz="2800" i="1"/>
              <a:t>labels</a:t>
            </a:r>
            <a:endParaRPr lang="en-US" altLang="en-US" sz="2800"/>
          </a:p>
          <a:p>
            <a:pPr eaLnBrk="1" hangingPunct="1">
              <a:lnSpc>
                <a:spcPct val="90000"/>
              </a:lnSpc>
            </a:pPr>
            <a:r>
              <a:rPr lang="en-US" altLang="en-US" sz="2800"/>
              <a:t>There are statements for flow-of-control.</a:t>
            </a:r>
          </a:p>
          <a:p>
            <a:pPr lvl="1" eaLnBrk="1" hangingPunct="1">
              <a:lnSpc>
                <a:spcPct val="90000"/>
              </a:lnSpc>
              <a:buFont typeface="Wingdings" panose="05000000000000000000" pitchFamily="2" charset="2"/>
              <a:buNone/>
            </a:pPr>
            <a:r>
              <a:rPr lang="en-US" altLang="en-US" sz="2400"/>
              <a:t>1. </a:t>
            </a:r>
            <a:r>
              <a:rPr lang="en-US" altLang="en-US" sz="2400" i="1"/>
              <a:t>Assignment Statements</a:t>
            </a:r>
            <a:r>
              <a:rPr lang="en-US" altLang="en-US" sz="2400"/>
              <a:t>: x := y </a:t>
            </a:r>
            <a:r>
              <a:rPr lang="en-US" altLang="en-US" sz="2400" i="1"/>
              <a:t>op </a:t>
            </a:r>
            <a:r>
              <a:rPr lang="en-US" altLang="en-US" sz="2400"/>
              <a:t>z.</a:t>
            </a:r>
          </a:p>
          <a:p>
            <a:pPr lvl="1" eaLnBrk="1" hangingPunct="1">
              <a:lnSpc>
                <a:spcPct val="90000"/>
              </a:lnSpc>
              <a:buFont typeface="Wingdings" panose="05000000000000000000" pitchFamily="2" charset="2"/>
              <a:buNone/>
            </a:pPr>
            <a:r>
              <a:rPr lang="en-US" altLang="en-US" sz="2400"/>
              <a:t>2. </a:t>
            </a:r>
            <a:r>
              <a:rPr lang="en-US" altLang="en-US" sz="2400" i="1"/>
              <a:t>Unary Assignment Statements</a:t>
            </a:r>
            <a:r>
              <a:rPr lang="en-US" altLang="en-US" sz="2400"/>
              <a:t>: x := </a:t>
            </a:r>
            <a:r>
              <a:rPr lang="en-US" altLang="en-US" sz="2400" i="1"/>
              <a:t>op </a:t>
            </a:r>
            <a:r>
              <a:rPr lang="en-US" altLang="en-US" sz="2400"/>
              <a:t>y.</a:t>
            </a:r>
          </a:p>
          <a:p>
            <a:pPr lvl="1" eaLnBrk="1" hangingPunct="1">
              <a:lnSpc>
                <a:spcPct val="90000"/>
              </a:lnSpc>
              <a:buFont typeface="Wingdings" panose="05000000000000000000" pitchFamily="2" charset="2"/>
              <a:buNone/>
            </a:pPr>
            <a:r>
              <a:rPr lang="en-US" altLang="en-US" sz="2400"/>
              <a:t>3. </a:t>
            </a:r>
            <a:r>
              <a:rPr lang="en-US" altLang="en-US" sz="2400" i="1"/>
              <a:t>Copy Statements</a:t>
            </a:r>
            <a:r>
              <a:rPr lang="en-US" altLang="en-US" sz="2400"/>
              <a:t>: x := y.</a:t>
            </a:r>
          </a:p>
          <a:p>
            <a:pPr lvl="1" eaLnBrk="1" hangingPunct="1">
              <a:lnSpc>
                <a:spcPct val="90000"/>
              </a:lnSpc>
              <a:buFont typeface="Wingdings" panose="05000000000000000000" pitchFamily="2" charset="2"/>
              <a:buNone/>
            </a:pPr>
            <a:r>
              <a:rPr lang="en-US" altLang="en-US" sz="2400"/>
              <a:t>4. </a:t>
            </a:r>
            <a:r>
              <a:rPr lang="en-US" altLang="en-US" sz="2400" i="1"/>
              <a:t>Unconditional Jump</a:t>
            </a:r>
            <a:r>
              <a:rPr lang="en-US" altLang="en-US" sz="2400"/>
              <a:t>: goto L, with L a label of a statement.</a:t>
            </a:r>
          </a:p>
          <a:p>
            <a:pPr lvl="1" eaLnBrk="1" hangingPunct="1">
              <a:lnSpc>
                <a:spcPct val="90000"/>
              </a:lnSpc>
              <a:buFont typeface="Wingdings" panose="05000000000000000000" pitchFamily="2" charset="2"/>
              <a:buNone/>
            </a:pPr>
            <a:r>
              <a:rPr lang="en-US" altLang="en-US" sz="2400"/>
              <a:t>5. </a:t>
            </a:r>
            <a:r>
              <a:rPr lang="en-US" altLang="en-US" sz="2400" i="1"/>
              <a:t>Conditional Jump</a:t>
            </a:r>
            <a:r>
              <a:rPr lang="en-US" altLang="en-US" sz="2400"/>
              <a:t>: if x </a:t>
            </a:r>
            <a:r>
              <a:rPr lang="en-US" altLang="en-US" sz="2400" i="1"/>
              <a:t>relop </a:t>
            </a:r>
            <a:r>
              <a:rPr lang="en-US" altLang="en-US" sz="2400"/>
              <a:t>y goto 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5">
            <a:extLst>
              <a:ext uri="{FF2B5EF4-FFF2-40B4-BE49-F238E27FC236}">
                <a16:creationId xmlns:a16="http://schemas.microsoft.com/office/drawing/2014/main" id="{7DDDCF8A-BA04-418E-B653-E499D8DDAB55}"/>
              </a:ext>
            </a:extLst>
          </p:cNvPr>
          <p:cNvSpPr>
            <a:spLocks noGrp="1" noChangeArrowheads="1"/>
          </p:cNvSpPr>
          <p:nvPr>
            <p:ph type="title"/>
          </p:nvPr>
        </p:nvSpPr>
        <p:spPr>
          <a:xfrm>
            <a:off x="457200" y="457200"/>
            <a:ext cx="8686800" cy="838200"/>
          </a:xfrm>
          <a:noFill/>
        </p:spPr>
        <p:txBody>
          <a:bodyPr/>
          <a:lstStyle/>
          <a:p>
            <a:pPr eaLnBrk="1" hangingPunct="1"/>
            <a:r>
              <a:rPr lang="en-US" altLang="en-US" sz="4000"/>
              <a:t>Types of Three-Address Statements</a:t>
            </a:r>
          </a:p>
        </p:txBody>
      </p:sp>
      <p:sp>
        <p:nvSpPr>
          <p:cNvPr id="13314" name="Rectangle 3">
            <a:extLst>
              <a:ext uri="{FF2B5EF4-FFF2-40B4-BE49-F238E27FC236}">
                <a16:creationId xmlns:a16="http://schemas.microsoft.com/office/drawing/2014/main" id="{B4667E5B-51E4-4EE0-8C13-B0AE05E258F0}"/>
              </a:ext>
            </a:extLst>
          </p:cNvPr>
          <p:cNvSpPr>
            <a:spLocks noGrp="1" noChangeArrowheads="1"/>
          </p:cNvSpPr>
          <p:nvPr>
            <p:ph idx="1"/>
          </p:nvPr>
        </p:nvSpPr>
        <p:spPr>
          <a:xfrm>
            <a:off x="457200" y="1371600"/>
            <a:ext cx="8229600" cy="4648200"/>
          </a:xfrm>
        </p:spPr>
        <p:txBody>
          <a:bodyPr/>
          <a:lstStyle/>
          <a:p>
            <a:pPr marL="533400" indent="-533400" eaLnBrk="1" hangingPunct="1"/>
            <a:r>
              <a:rPr lang="en-US" altLang="en-US" sz="2800" i="1"/>
              <a:t>Procedure Call</a:t>
            </a:r>
            <a:r>
              <a:rPr lang="en-US" altLang="en-US" sz="2800"/>
              <a:t>: param x, and call p,n for calling a procedure, p, with </a:t>
            </a:r>
            <a:r>
              <a:rPr lang="en-US" altLang="ja-JP" sz="2800">
                <a:ea typeface="MS PGothic" panose="020B0600070205080204" pitchFamily="34" charset="-128"/>
              </a:rPr>
              <a:t>n parameters. return y is the returned value of the procedure: </a:t>
            </a:r>
            <a:endParaRPr lang="en-US" altLang="en-US" sz="2800"/>
          </a:p>
          <a:p>
            <a:pPr marL="1295400" lvl="2" indent="-381000" eaLnBrk="1" hangingPunct="1">
              <a:buSzTx/>
              <a:buFont typeface="Wingdings" panose="05000000000000000000" pitchFamily="2" charset="2"/>
              <a:buNone/>
            </a:pPr>
            <a:r>
              <a:rPr lang="en-US" altLang="en-US" sz="2000"/>
              <a:t>param x</a:t>
            </a:r>
            <a:r>
              <a:rPr lang="en-US" altLang="en-US" sz="2000" baseline="-25000"/>
              <a:t>1</a:t>
            </a:r>
          </a:p>
          <a:p>
            <a:pPr marL="1295400" lvl="2" indent="-381000" eaLnBrk="1" hangingPunct="1">
              <a:buSzTx/>
              <a:buFont typeface="Wingdings" panose="05000000000000000000" pitchFamily="2" charset="2"/>
              <a:buNone/>
            </a:pPr>
            <a:r>
              <a:rPr lang="en-US" altLang="en-US" sz="2000"/>
              <a:t>param x</a:t>
            </a:r>
            <a:r>
              <a:rPr lang="en-US" altLang="en-US" sz="2000" baseline="-25000"/>
              <a:t>2</a:t>
            </a:r>
          </a:p>
          <a:p>
            <a:pPr marL="1295400" lvl="2" indent="-381000" eaLnBrk="1" hangingPunct="1">
              <a:buSzTx/>
              <a:buFont typeface="Wingdings" panose="05000000000000000000" pitchFamily="2" charset="2"/>
              <a:buNone/>
            </a:pPr>
            <a:r>
              <a:rPr lang="en-US" altLang="en-US" sz="2000"/>
              <a:t>. . .</a:t>
            </a:r>
          </a:p>
          <a:p>
            <a:pPr marL="1295400" lvl="2" indent="-381000" eaLnBrk="1" hangingPunct="1">
              <a:buSzTx/>
              <a:buFont typeface="Wingdings" panose="05000000000000000000" pitchFamily="2" charset="2"/>
              <a:buNone/>
            </a:pPr>
            <a:r>
              <a:rPr lang="en-US" altLang="en-US" sz="2000"/>
              <a:t>param x</a:t>
            </a:r>
            <a:r>
              <a:rPr lang="en-US" altLang="en-US" sz="2000" baseline="-25000"/>
              <a:t>n</a:t>
            </a:r>
          </a:p>
          <a:p>
            <a:pPr marL="1295400" lvl="2" indent="-381000" eaLnBrk="1" hangingPunct="1">
              <a:buSzTx/>
              <a:buFont typeface="Wingdings" panose="05000000000000000000" pitchFamily="2" charset="2"/>
              <a:buNone/>
            </a:pPr>
            <a:r>
              <a:rPr lang="en-US" altLang="en-US" sz="2000"/>
              <a:t>Call p,n</a:t>
            </a:r>
          </a:p>
          <a:p>
            <a:pPr marL="533400" indent="-533400" eaLnBrk="1" hangingPunct="1"/>
            <a:r>
              <a:rPr lang="en-US" altLang="en-US" sz="2800" i="1"/>
              <a:t>Indexed assignments</a:t>
            </a:r>
            <a:r>
              <a:rPr lang="en-US" altLang="en-US" sz="2800"/>
              <a:t>: x := y[i] or x[i] := y. Note: x[i] denotes the value in the location i memory units beyond location 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B1A0A513-ACD1-4518-85DA-7BEE3B64727D}"/>
              </a:ext>
            </a:extLst>
          </p:cNvPr>
          <p:cNvSpPr>
            <a:spLocks noGrp="1" noChangeArrowheads="1"/>
          </p:cNvSpPr>
          <p:nvPr>
            <p:ph type="title"/>
          </p:nvPr>
        </p:nvSpPr>
        <p:spPr/>
        <p:txBody>
          <a:bodyPr/>
          <a:lstStyle/>
          <a:p>
            <a:pPr eaLnBrk="1" hangingPunct="1"/>
            <a:r>
              <a:rPr lang="en-US" altLang="en-US" sz="4000"/>
              <a:t>Syntax Directed Definition into Three Address Code</a:t>
            </a:r>
          </a:p>
        </p:txBody>
      </p:sp>
      <p:sp>
        <p:nvSpPr>
          <p:cNvPr id="14339" name="Rectangle 3">
            <a:extLst>
              <a:ext uri="{FF2B5EF4-FFF2-40B4-BE49-F238E27FC236}">
                <a16:creationId xmlns:a16="http://schemas.microsoft.com/office/drawing/2014/main" id="{3CD4E5C8-F941-4C1B-BA35-614EFC36A22E}"/>
              </a:ext>
            </a:extLst>
          </p:cNvPr>
          <p:cNvSpPr>
            <a:spLocks noGrp="1" noChangeArrowheads="1"/>
          </p:cNvSpPr>
          <p:nvPr>
            <p:ph idx="1"/>
          </p:nvPr>
        </p:nvSpPr>
        <p:spPr>
          <a:xfrm>
            <a:off x="457200" y="1981200"/>
            <a:ext cx="8229600" cy="4343400"/>
          </a:xfrm>
        </p:spPr>
        <p:txBody>
          <a:bodyPr/>
          <a:lstStyle/>
          <a:p>
            <a:pPr eaLnBrk="1" hangingPunct="1">
              <a:lnSpc>
                <a:spcPct val="80000"/>
              </a:lnSpc>
            </a:pPr>
            <a:r>
              <a:rPr lang="en-US" altLang="en-US" sz="2200"/>
              <a:t>The synthesized S.code represents the three address code  </a:t>
            </a:r>
          </a:p>
          <a:p>
            <a:pPr eaLnBrk="1" hangingPunct="1">
              <a:lnSpc>
                <a:spcPct val="80000"/>
              </a:lnSpc>
            </a:pPr>
            <a:r>
              <a:rPr lang="en-US" altLang="en-US" sz="2200"/>
              <a:t>Template names are generated for intermediate calculations</a:t>
            </a:r>
          </a:p>
          <a:p>
            <a:pPr eaLnBrk="1" hangingPunct="1">
              <a:lnSpc>
                <a:spcPct val="80000"/>
              </a:lnSpc>
            </a:pPr>
            <a:r>
              <a:rPr lang="en-US" altLang="en-US" sz="2200"/>
              <a:t>The nonterminal E has two attributes</a:t>
            </a:r>
          </a:p>
          <a:p>
            <a:pPr eaLnBrk="1" hangingPunct="1">
              <a:lnSpc>
                <a:spcPct val="80000"/>
              </a:lnSpc>
            </a:pPr>
            <a:r>
              <a:rPr lang="en-US" altLang="en-US" sz="2200"/>
              <a:t>E.place the name that will hold the value of E</a:t>
            </a:r>
          </a:p>
          <a:p>
            <a:pPr eaLnBrk="1" hangingPunct="1">
              <a:lnSpc>
                <a:spcPct val="80000"/>
              </a:lnSpc>
            </a:pPr>
            <a:r>
              <a:rPr lang="en-US" altLang="en-US" sz="2200"/>
              <a:t>E.code the sequence of three-address statements evaluating E</a:t>
            </a:r>
          </a:p>
          <a:p>
            <a:pPr eaLnBrk="1" hangingPunct="1">
              <a:lnSpc>
                <a:spcPct val="80000"/>
              </a:lnSpc>
            </a:pPr>
            <a:r>
              <a:rPr lang="en-US" altLang="en-US" sz="2200"/>
              <a:t>The function newtemp returns a sequence of distinct names t1, t2,. . </a:t>
            </a:r>
          </a:p>
          <a:p>
            <a:pPr eaLnBrk="1" hangingPunct="1">
              <a:lnSpc>
                <a:spcPct val="80000"/>
              </a:lnSpc>
            </a:pPr>
            <a:r>
              <a:rPr lang="en-US" altLang="en-US" sz="2200"/>
              <a:t>The function </a:t>
            </a:r>
            <a:r>
              <a:rPr lang="en-US" altLang="en-US" sz="2200" i="1"/>
              <a:t>gen </a:t>
            </a:r>
            <a:r>
              <a:rPr lang="en-US" altLang="en-US" sz="2200"/>
              <a:t>generates three-address </a:t>
            </a:r>
            <a:r>
              <a:rPr lang="en-US" altLang="en-US" sz="2200" b="1"/>
              <a:t>code</a:t>
            </a:r>
            <a:r>
              <a:rPr lang="en-US" altLang="en-US" sz="2200"/>
              <a:t> such that:</a:t>
            </a:r>
          </a:p>
          <a:p>
            <a:pPr lvl="1" eaLnBrk="1" hangingPunct="1">
              <a:lnSpc>
                <a:spcPct val="80000"/>
              </a:lnSpc>
              <a:buFont typeface="Wingdings" panose="05000000000000000000" pitchFamily="2" charset="2"/>
              <a:buNone/>
            </a:pPr>
            <a:r>
              <a:rPr lang="en-US" altLang="en-US" sz="2200"/>
              <a:t>1. Everything quoted is taken literally;</a:t>
            </a:r>
          </a:p>
          <a:p>
            <a:pPr lvl="1" eaLnBrk="1" hangingPunct="1">
              <a:lnSpc>
                <a:spcPct val="80000"/>
              </a:lnSpc>
              <a:buFont typeface="Wingdings" panose="05000000000000000000" pitchFamily="2" charset="2"/>
              <a:buNone/>
            </a:pPr>
            <a:r>
              <a:rPr lang="en-US" altLang="en-US" sz="2200"/>
              <a:t>2. The rest is evaluated.</a:t>
            </a:r>
          </a:p>
          <a:p>
            <a:pPr eaLnBrk="1" hangingPunct="1">
              <a:lnSpc>
                <a:spcPct val="80000"/>
              </a:lnSpc>
            </a:pPr>
            <a:r>
              <a:rPr lang="en-US" altLang="en-US" sz="2200"/>
              <a:t>In practice, </a:t>
            </a:r>
            <a:r>
              <a:rPr lang="en-US" altLang="en-US" sz="2200" b="1"/>
              <a:t>code</a:t>
            </a:r>
            <a:r>
              <a:rPr lang="en-US" altLang="en-US" sz="2200"/>
              <a:t> can be sent to </a:t>
            </a:r>
            <a:r>
              <a:rPr lang="en-US" altLang="en-US" sz="2200">
                <a:solidFill>
                  <a:srgbClr val="FF0000"/>
                </a:solidFill>
              </a:rPr>
              <a:t>an output file </a:t>
            </a:r>
            <a:r>
              <a:rPr lang="en-US" altLang="en-US" sz="2200"/>
              <a:t>instead of being assigned to the </a:t>
            </a:r>
            <a:r>
              <a:rPr lang="en-US" altLang="en-US" sz="2200" b="1" i="1"/>
              <a:t>code</a:t>
            </a:r>
            <a:r>
              <a:rPr lang="en-US" altLang="en-US" sz="2200" i="1"/>
              <a:t> </a:t>
            </a:r>
            <a:r>
              <a:rPr lang="en-US" altLang="en-US" sz="2200"/>
              <a:t>attribute.</a:t>
            </a:r>
          </a:p>
          <a:p>
            <a:pPr eaLnBrk="1" hangingPunct="1">
              <a:lnSpc>
                <a:spcPct val="80000"/>
              </a:lnSpc>
            </a:pPr>
            <a:endParaRPr lang="en-US" altLang="en-US" sz="2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59CA6B9D-1574-4149-A04D-5B8592663DD4}"/>
              </a:ext>
            </a:extLst>
          </p:cNvPr>
          <p:cNvSpPr>
            <a:spLocks noGrp="1" noChangeArrowheads="1"/>
          </p:cNvSpPr>
          <p:nvPr>
            <p:ph type="title"/>
          </p:nvPr>
        </p:nvSpPr>
        <p:spPr>
          <a:xfrm>
            <a:off x="0" y="152400"/>
            <a:ext cx="9296400" cy="1219200"/>
          </a:xfrm>
        </p:spPr>
        <p:txBody>
          <a:bodyPr>
            <a:normAutofit/>
          </a:bodyPr>
          <a:lstStyle/>
          <a:p>
            <a:pPr eaLnBrk="1" hangingPunct="1"/>
            <a:r>
              <a:rPr lang="en-US" altLang="en-US" sz="3200" dirty="0"/>
              <a:t>SDD to Produce Three Address Code for Assignments</a:t>
            </a:r>
          </a:p>
        </p:txBody>
      </p:sp>
      <p:sp>
        <p:nvSpPr>
          <p:cNvPr id="15363" name="Rectangle 3">
            <a:extLst>
              <a:ext uri="{FF2B5EF4-FFF2-40B4-BE49-F238E27FC236}">
                <a16:creationId xmlns:a16="http://schemas.microsoft.com/office/drawing/2014/main" id="{243BD7B7-BFC9-4D65-80ED-65BC854EC20D}"/>
              </a:ext>
            </a:extLst>
          </p:cNvPr>
          <p:cNvSpPr>
            <a:spLocks noGrp="1" noChangeArrowheads="1"/>
          </p:cNvSpPr>
          <p:nvPr>
            <p:ph idx="1"/>
          </p:nvPr>
        </p:nvSpPr>
        <p:spPr>
          <a:xfrm>
            <a:off x="533400" y="1375410"/>
            <a:ext cx="8077200" cy="5029200"/>
          </a:xfrm>
        </p:spPr>
        <p:txBody>
          <a:bodyPr/>
          <a:lstStyle/>
          <a:p>
            <a:pPr eaLnBrk="1" hangingPunct="1">
              <a:lnSpc>
                <a:spcPct val="69000"/>
              </a:lnSpc>
              <a:buFont typeface="Wingdings" panose="05000000000000000000" pitchFamily="2" charset="2"/>
              <a:buNone/>
            </a:pPr>
            <a:r>
              <a:rPr lang="en-US" altLang="en-US" sz="2800" u="sng" dirty="0"/>
              <a:t>Productions  </a:t>
            </a:r>
            <a:r>
              <a:rPr lang="en-US" altLang="en-US" sz="2800" dirty="0"/>
              <a:t>	</a:t>
            </a:r>
            <a:r>
              <a:rPr lang="en-US" altLang="en-US" sz="2800" u="sng" dirty="0"/>
              <a:t>Semantic Rules</a:t>
            </a:r>
          </a:p>
          <a:p>
            <a:pPr eaLnBrk="1" hangingPunct="1">
              <a:lnSpc>
                <a:spcPct val="69000"/>
              </a:lnSpc>
              <a:buFont typeface="Wingdings" panose="05000000000000000000" pitchFamily="2" charset="2"/>
              <a:buNone/>
            </a:pPr>
            <a:r>
              <a:rPr lang="en-US" altLang="en-US" sz="2400" dirty="0">
                <a:sym typeface="Symbol" panose="05050102010706020507" pitchFamily="18" charset="2"/>
              </a:rPr>
              <a:t>S  </a:t>
            </a:r>
            <a:r>
              <a:rPr lang="en-US" altLang="en-US" sz="2400" dirty="0">
                <a:solidFill>
                  <a:schemeClr val="accent2"/>
                </a:solidFill>
                <a:sym typeface="Symbol" panose="05050102010706020507" pitchFamily="18" charset="2"/>
              </a:rPr>
              <a:t>id := </a:t>
            </a:r>
            <a:r>
              <a:rPr lang="en-US" altLang="en-US" sz="2400" dirty="0">
                <a:sym typeface="Symbol" panose="05050102010706020507" pitchFamily="18" charset="2"/>
              </a:rPr>
              <a:t>E	{</a:t>
            </a:r>
            <a:r>
              <a:rPr lang="en-US" altLang="en-US" sz="2400" dirty="0" err="1">
                <a:sym typeface="Symbol" panose="05050102010706020507" pitchFamily="18" charset="2"/>
              </a:rPr>
              <a:t>S</a:t>
            </a:r>
            <a:r>
              <a:rPr lang="en-US" altLang="en-US" sz="2400" i="1" dirty="0" err="1">
                <a:sym typeface="Symbol" panose="05050102010706020507" pitchFamily="18" charset="2"/>
              </a:rPr>
              <a:t>.code</a:t>
            </a:r>
            <a:r>
              <a:rPr lang="en-US" altLang="en-US" sz="2400" i="1" dirty="0">
                <a:sym typeface="Symbol" panose="05050102010706020507" pitchFamily="18" charset="2"/>
              </a:rPr>
              <a:t> = </a:t>
            </a:r>
            <a:r>
              <a:rPr lang="en-US" altLang="en-US" sz="2400" dirty="0" err="1">
                <a:sym typeface="Symbol" panose="05050102010706020507" pitchFamily="18" charset="2"/>
              </a:rPr>
              <a:t>E.</a:t>
            </a:r>
            <a:r>
              <a:rPr lang="en-US" altLang="en-US" sz="2400" i="1" dirty="0" err="1">
                <a:sym typeface="Symbol" panose="05050102010706020507" pitchFamily="18" charset="2"/>
              </a:rPr>
              <a:t>code</a:t>
            </a:r>
            <a:r>
              <a:rPr lang="en-US" altLang="en-US" sz="2400" dirty="0">
                <a:sym typeface="Symbol" panose="05050102010706020507" pitchFamily="18" charset="2"/>
              </a:rPr>
              <a:t>||</a:t>
            </a:r>
            <a:r>
              <a:rPr lang="en-US" altLang="en-US" sz="2400" i="1" dirty="0">
                <a:sym typeface="Symbol" panose="05050102010706020507" pitchFamily="18" charset="2"/>
              </a:rPr>
              <a:t>gen</a:t>
            </a:r>
            <a:r>
              <a:rPr lang="en-US" altLang="en-US" sz="2400" dirty="0">
                <a:sym typeface="Symbol" panose="05050102010706020507" pitchFamily="18" charset="2"/>
              </a:rPr>
              <a:t>(</a:t>
            </a:r>
            <a:r>
              <a:rPr lang="en-US" altLang="en-US" sz="2400" dirty="0" err="1">
                <a:sym typeface="Symbol" panose="05050102010706020507" pitchFamily="18" charset="2"/>
              </a:rPr>
              <a:t>id</a:t>
            </a:r>
            <a:r>
              <a:rPr lang="en-US" altLang="en-US" sz="2400" i="1" dirty="0" err="1">
                <a:sym typeface="Symbol" panose="05050102010706020507" pitchFamily="18" charset="2"/>
              </a:rPr>
              <a:t>.place</a:t>
            </a:r>
            <a:r>
              <a:rPr lang="en-US" altLang="en-US" sz="2400" dirty="0">
                <a:sym typeface="Symbol" panose="05050102010706020507" pitchFamily="18" charset="2"/>
              </a:rPr>
              <a:t> ‘:=’</a:t>
            </a:r>
            <a:r>
              <a:rPr lang="en-US" altLang="en-US" sz="2400" i="1" dirty="0">
                <a:sym typeface="Symbol" panose="05050102010706020507" pitchFamily="18" charset="2"/>
              </a:rPr>
              <a:t> </a:t>
            </a:r>
            <a:r>
              <a:rPr lang="en-US" altLang="en-US" sz="2400" dirty="0" err="1">
                <a:sym typeface="Symbol" panose="05050102010706020507" pitchFamily="18" charset="2"/>
              </a:rPr>
              <a:t>E.</a:t>
            </a:r>
            <a:r>
              <a:rPr lang="en-US" altLang="en-US" sz="2400" i="1" dirty="0" err="1">
                <a:sym typeface="Symbol" panose="05050102010706020507" pitchFamily="18" charset="2"/>
              </a:rPr>
              <a:t>place</a:t>
            </a:r>
            <a:r>
              <a:rPr lang="en-US" altLang="en-US" sz="2400" dirty="0">
                <a:sym typeface="Symbol" panose="05050102010706020507" pitchFamily="18" charset="2"/>
              </a:rPr>
              <a:t>)}</a:t>
            </a:r>
            <a:endParaRPr lang="en-US" altLang="en-US" sz="2400" i="1" dirty="0">
              <a:sym typeface="Symbol" panose="05050102010706020507" pitchFamily="18" charset="2"/>
            </a:endParaRPr>
          </a:p>
          <a:p>
            <a:pPr eaLnBrk="1" hangingPunct="1">
              <a:lnSpc>
                <a:spcPct val="69000"/>
              </a:lnSpc>
              <a:buFont typeface="Wingdings" panose="05000000000000000000" pitchFamily="2" charset="2"/>
              <a:buNone/>
            </a:pPr>
            <a:r>
              <a:rPr lang="en-US" altLang="en-US" sz="2400" dirty="0">
                <a:sym typeface="Symbol" panose="05050102010706020507" pitchFamily="18" charset="2"/>
              </a:rPr>
              <a:t>E  E</a:t>
            </a:r>
            <a:r>
              <a:rPr lang="en-US" altLang="en-US" sz="2400" baseline="-25000" dirty="0">
                <a:sym typeface="Symbol" panose="05050102010706020507" pitchFamily="18" charset="2"/>
              </a:rPr>
              <a:t>1</a:t>
            </a:r>
            <a:r>
              <a:rPr lang="en-US" altLang="en-US" sz="2400" dirty="0">
                <a:sym typeface="Symbol" panose="05050102010706020507" pitchFamily="18" charset="2"/>
              </a:rPr>
              <a:t> </a:t>
            </a:r>
            <a:r>
              <a:rPr lang="en-US" altLang="en-US" sz="2400" dirty="0">
                <a:solidFill>
                  <a:schemeClr val="accent2"/>
                </a:solidFill>
                <a:sym typeface="Symbol" panose="05050102010706020507" pitchFamily="18" charset="2"/>
              </a:rPr>
              <a:t>+ </a:t>
            </a:r>
            <a:r>
              <a:rPr lang="en-US" altLang="en-US" sz="2400" dirty="0">
                <a:sym typeface="Symbol" panose="05050102010706020507" pitchFamily="18" charset="2"/>
              </a:rPr>
              <a:t>E</a:t>
            </a:r>
            <a:r>
              <a:rPr lang="en-US" altLang="en-US" sz="2400" baseline="-25000" dirty="0">
                <a:sym typeface="Symbol" panose="05050102010706020507" pitchFamily="18" charset="2"/>
              </a:rPr>
              <a:t>2</a:t>
            </a:r>
            <a:r>
              <a:rPr lang="en-US" altLang="en-US" sz="2400" dirty="0">
                <a:solidFill>
                  <a:schemeClr val="accent2"/>
                </a:solidFill>
                <a:sym typeface="Symbol" panose="05050102010706020507" pitchFamily="18" charset="2"/>
              </a:rPr>
              <a:t> 	</a:t>
            </a:r>
            <a:r>
              <a:rPr lang="en-US" altLang="en-US" sz="2400" dirty="0">
                <a:sym typeface="Symbol" panose="05050102010706020507" pitchFamily="18" charset="2"/>
              </a:rPr>
              <a:t>{</a:t>
            </a:r>
            <a:r>
              <a:rPr lang="en-US" altLang="en-US" sz="2400" dirty="0" err="1">
                <a:sym typeface="Symbol" panose="05050102010706020507" pitchFamily="18" charset="2"/>
              </a:rPr>
              <a:t>E.</a:t>
            </a:r>
            <a:r>
              <a:rPr lang="en-US" altLang="en-US" sz="2400" i="1" dirty="0" err="1">
                <a:sym typeface="Symbol" panose="05050102010706020507" pitchFamily="18" charset="2"/>
              </a:rPr>
              <a:t>place</a:t>
            </a:r>
            <a:r>
              <a:rPr lang="en-US" altLang="en-US" sz="2400" dirty="0">
                <a:sym typeface="Symbol" panose="05050102010706020507" pitchFamily="18" charset="2"/>
              </a:rPr>
              <a:t>= </a:t>
            </a:r>
            <a:r>
              <a:rPr lang="en-US" altLang="en-US" sz="2400" i="1" dirty="0" err="1">
                <a:sym typeface="Symbol" panose="05050102010706020507" pitchFamily="18" charset="2"/>
              </a:rPr>
              <a:t>newtemp</a:t>
            </a:r>
            <a:r>
              <a:rPr lang="en-US" altLang="en-US" sz="2400" i="1" dirty="0">
                <a:sym typeface="Symbol" panose="05050102010706020507" pitchFamily="18" charset="2"/>
              </a:rPr>
              <a:t> </a:t>
            </a:r>
            <a:r>
              <a:rPr lang="en-US" altLang="en-US" sz="2400" dirty="0">
                <a:sym typeface="Symbol" panose="05050102010706020507" pitchFamily="18" charset="2"/>
              </a:rPr>
              <a:t>;</a:t>
            </a:r>
          </a:p>
          <a:p>
            <a:pPr eaLnBrk="1" hangingPunct="1">
              <a:lnSpc>
                <a:spcPct val="69000"/>
              </a:lnSpc>
              <a:buFont typeface="Wingdings" panose="05000000000000000000" pitchFamily="2" charset="2"/>
              <a:buNone/>
            </a:pPr>
            <a:r>
              <a:rPr lang="en-US" altLang="en-US" sz="2400" dirty="0">
                <a:sym typeface="Symbol" panose="05050102010706020507" pitchFamily="18" charset="2"/>
              </a:rPr>
              <a:t>			 </a:t>
            </a:r>
            <a:r>
              <a:rPr lang="en-US" altLang="en-US" sz="2400" dirty="0" err="1">
                <a:sym typeface="Symbol" panose="05050102010706020507" pitchFamily="18" charset="2"/>
              </a:rPr>
              <a:t>E</a:t>
            </a:r>
            <a:r>
              <a:rPr lang="en-US" altLang="en-US" sz="2400" i="1" dirty="0" err="1">
                <a:sym typeface="Symbol" panose="05050102010706020507" pitchFamily="18" charset="2"/>
              </a:rPr>
              <a:t>.code</a:t>
            </a:r>
            <a:r>
              <a:rPr lang="en-US" altLang="en-US" sz="2400" dirty="0">
                <a:sym typeface="Symbol" panose="05050102010706020507" pitchFamily="18" charset="2"/>
              </a:rPr>
              <a:t> = E</a:t>
            </a:r>
            <a:r>
              <a:rPr lang="en-US" altLang="en-US" sz="2400" baseline="-25000" dirty="0">
                <a:sym typeface="Symbol" panose="05050102010706020507" pitchFamily="18" charset="2"/>
              </a:rPr>
              <a:t>1</a:t>
            </a:r>
            <a:r>
              <a:rPr lang="en-US" altLang="en-US" sz="2400" dirty="0">
                <a:sym typeface="Symbol" panose="05050102010706020507" pitchFamily="18" charset="2"/>
              </a:rPr>
              <a:t>.</a:t>
            </a:r>
            <a:r>
              <a:rPr lang="en-US" altLang="en-US" sz="2400" i="1" dirty="0">
                <a:sym typeface="Symbol" panose="05050102010706020507" pitchFamily="18" charset="2"/>
              </a:rPr>
              <a:t>code </a:t>
            </a:r>
            <a:r>
              <a:rPr lang="en-US" altLang="en-US" sz="2400" dirty="0">
                <a:sym typeface="Symbol" panose="05050102010706020507" pitchFamily="18" charset="2"/>
              </a:rPr>
              <a:t>|| E</a:t>
            </a:r>
            <a:r>
              <a:rPr lang="en-US" altLang="en-US" sz="2400" baseline="-25000" dirty="0">
                <a:sym typeface="Symbol" panose="05050102010706020507" pitchFamily="18" charset="2"/>
              </a:rPr>
              <a:t>2</a:t>
            </a:r>
            <a:r>
              <a:rPr lang="en-US" altLang="en-US" sz="2400" dirty="0">
                <a:sym typeface="Symbol" panose="05050102010706020507" pitchFamily="18" charset="2"/>
              </a:rPr>
              <a:t>.</a:t>
            </a:r>
            <a:r>
              <a:rPr lang="en-US" altLang="en-US" sz="2400" i="1" dirty="0">
                <a:sym typeface="Symbol" panose="05050102010706020507" pitchFamily="18" charset="2"/>
              </a:rPr>
              <a:t>code </a:t>
            </a:r>
            <a:r>
              <a:rPr lang="en-US" altLang="en-US" sz="2400" dirty="0">
                <a:sym typeface="Symbol" panose="05050102010706020507" pitchFamily="18" charset="2"/>
              </a:rPr>
              <a:t>|| </a:t>
            </a:r>
          </a:p>
          <a:p>
            <a:pPr eaLnBrk="1" hangingPunct="1">
              <a:lnSpc>
                <a:spcPct val="69000"/>
              </a:lnSpc>
              <a:buFont typeface="Wingdings" panose="05000000000000000000" pitchFamily="2" charset="2"/>
              <a:buNone/>
            </a:pPr>
            <a:r>
              <a:rPr lang="en-US" altLang="en-US" sz="2400" dirty="0">
                <a:sym typeface="Symbol" panose="05050102010706020507" pitchFamily="18" charset="2"/>
              </a:rPr>
              <a:t>				|| </a:t>
            </a:r>
            <a:r>
              <a:rPr lang="en-US" altLang="en-US" sz="2400" i="1" dirty="0">
                <a:sym typeface="Symbol" panose="05050102010706020507" pitchFamily="18" charset="2"/>
              </a:rPr>
              <a:t>gen</a:t>
            </a:r>
            <a:r>
              <a:rPr lang="en-US" altLang="en-US" sz="2400" dirty="0">
                <a:sym typeface="Symbol" panose="05050102010706020507" pitchFamily="18" charset="2"/>
              </a:rPr>
              <a:t>(</a:t>
            </a:r>
            <a:r>
              <a:rPr lang="en-US" altLang="en-US" sz="2400" dirty="0" err="1">
                <a:sym typeface="Symbol" panose="05050102010706020507" pitchFamily="18" charset="2"/>
              </a:rPr>
              <a:t>E.</a:t>
            </a:r>
            <a:r>
              <a:rPr lang="en-US" altLang="en-US" sz="2400" i="1" dirty="0" err="1">
                <a:sym typeface="Symbol" panose="05050102010706020507" pitchFamily="18" charset="2"/>
              </a:rPr>
              <a:t>place</a:t>
            </a:r>
            <a:r>
              <a:rPr lang="en-US" altLang="en-US" sz="2400" dirty="0">
                <a:sym typeface="Symbol" panose="05050102010706020507" pitchFamily="18" charset="2"/>
              </a:rPr>
              <a:t>‘:=’E</a:t>
            </a:r>
            <a:r>
              <a:rPr lang="en-US" altLang="en-US" sz="2400" baseline="-25000" dirty="0">
                <a:sym typeface="Symbol" panose="05050102010706020507" pitchFamily="18" charset="2"/>
              </a:rPr>
              <a:t>1</a:t>
            </a:r>
            <a:r>
              <a:rPr lang="en-US" altLang="en-US" sz="2400" dirty="0">
                <a:sym typeface="Symbol" panose="05050102010706020507" pitchFamily="18" charset="2"/>
              </a:rPr>
              <a:t>.</a:t>
            </a:r>
            <a:r>
              <a:rPr lang="en-US" altLang="en-US" sz="2400" i="1" dirty="0">
                <a:sym typeface="Symbol" panose="05050102010706020507" pitchFamily="18" charset="2"/>
              </a:rPr>
              <a:t>place</a:t>
            </a:r>
            <a:r>
              <a:rPr lang="en-US" altLang="en-US" sz="2400" dirty="0">
                <a:sym typeface="Symbol" panose="05050102010706020507" pitchFamily="18" charset="2"/>
              </a:rPr>
              <a:t>‘+’E</a:t>
            </a:r>
            <a:r>
              <a:rPr lang="en-US" altLang="en-US" sz="2400" baseline="-25000" dirty="0">
                <a:sym typeface="Symbol" panose="05050102010706020507" pitchFamily="18" charset="2"/>
              </a:rPr>
              <a:t>2</a:t>
            </a:r>
            <a:r>
              <a:rPr lang="en-US" altLang="en-US" sz="2400" dirty="0">
                <a:sym typeface="Symbol" panose="05050102010706020507" pitchFamily="18" charset="2"/>
              </a:rPr>
              <a:t>.</a:t>
            </a:r>
            <a:r>
              <a:rPr lang="en-US" altLang="en-US" sz="2400" i="1" dirty="0">
                <a:sym typeface="Symbol" panose="05050102010706020507" pitchFamily="18" charset="2"/>
              </a:rPr>
              <a:t>place</a:t>
            </a:r>
            <a:r>
              <a:rPr lang="en-US" altLang="en-US" sz="2400" dirty="0">
                <a:sym typeface="Symbol" panose="05050102010706020507" pitchFamily="18" charset="2"/>
              </a:rPr>
              <a:t>) }</a:t>
            </a:r>
          </a:p>
          <a:p>
            <a:pPr eaLnBrk="1" hangingPunct="1">
              <a:lnSpc>
                <a:spcPct val="69000"/>
              </a:lnSpc>
              <a:buFont typeface="Wingdings" panose="05000000000000000000" pitchFamily="2" charset="2"/>
              <a:buNone/>
            </a:pPr>
            <a:r>
              <a:rPr lang="en-US" altLang="en-US" sz="2400" dirty="0">
                <a:sym typeface="Symbol" panose="05050102010706020507" pitchFamily="18" charset="2"/>
              </a:rPr>
              <a:t>E  E</a:t>
            </a:r>
            <a:r>
              <a:rPr lang="en-US" altLang="en-US" sz="2400" baseline="-25000" dirty="0">
                <a:sym typeface="Symbol" panose="05050102010706020507" pitchFamily="18" charset="2"/>
              </a:rPr>
              <a:t>1</a:t>
            </a:r>
            <a:r>
              <a:rPr lang="en-US" altLang="en-US" sz="2400" dirty="0">
                <a:sym typeface="Symbol" panose="05050102010706020507" pitchFamily="18" charset="2"/>
              </a:rPr>
              <a:t> </a:t>
            </a:r>
            <a:r>
              <a:rPr lang="en-US" altLang="en-US" sz="2400" dirty="0">
                <a:solidFill>
                  <a:schemeClr val="accent2"/>
                </a:solidFill>
                <a:sym typeface="Symbol" panose="05050102010706020507" pitchFamily="18" charset="2"/>
              </a:rPr>
              <a:t>* </a:t>
            </a:r>
            <a:r>
              <a:rPr lang="en-US" altLang="en-US" sz="2400" dirty="0">
                <a:sym typeface="Symbol" panose="05050102010706020507" pitchFamily="18" charset="2"/>
              </a:rPr>
              <a:t>E</a:t>
            </a:r>
            <a:r>
              <a:rPr lang="en-US" altLang="en-US" sz="2400" baseline="-25000" dirty="0">
                <a:sym typeface="Symbol" panose="05050102010706020507" pitchFamily="18" charset="2"/>
              </a:rPr>
              <a:t>2</a:t>
            </a:r>
            <a:r>
              <a:rPr lang="en-US" altLang="en-US" sz="2400" dirty="0">
                <a:solidFill>
                  <a:schemeClr val="accent2"/>
                </a:solidFill>
                <a:sym typeface="Symbol" panose="05050102010706020507" pitchFamily="18" charset="2"/>
              </a:rPr>
              <a:t> 	</a:t>
            </a:r>
            <a:r>
              <a:rPr lang="en-US" altLang="en-US" sz="2400" dirty="0">
                <a:sym typeface="Symbol" panose="05050102010706020507" pitchFamily="18" charset="2"/>
              </a:rPr>
              <a:t>{</a:t>
            </a:r>
            <a:r>
              <a:rPr lang="en-US" altLang="en-US" sz="2400" dirty="0" err="1">
                <a:sym typeface="Symbol" panose="05050102010706020507" pitchFamily="18" charset="2"/>
              </a:rPr>
              <a:t>E.</a:t>
            </a:r>
            <a:r>
              <a:rPr lang="en-US" altLang="en-US" sz="2400" i="1" dirty="0" err="1">
                <a:sym typeface="Symbol" panose="05050102010706020507" pitchFamily="18" charset="2"/>
              </a:rPr>
              <a:t>place</a:t>
            </a:r>
            <a:r>
              <a:rPr lang="en-US" altLang="en-US" sz="2400" dirty="0">
                <a:sym typeface="Symbol" panose="05050102010706020507" pitchFamily="18" charset="2"/>
              </a:rPr>
              <a:t>= </a:t>
            </a:r>
            <a:r>
              <a:rPr lang="en-US" altLang="en-US" sz="2400" i="1" dirty="0" err="1">
                <a:sym typeface="Symbol" panose="05050102010706020507" pitchFamily="18" charset="2"/>
              </a:rPr>
              <a:t>newtemp</a:t>
            </a:r>
            <a:r>
              <a:rPr lang="en-US" altLang="en-US" sz="2400" i="1" dirty="0">
                <a:sym typeface="Symbol" panose="05050102010706020507" pitchFamily="18" charset="2"/>
              </a:rPr>
              <a:t> </a:t>
            </a:r>
            <a:r>
              <a:rPr lang="en-US" altLang="en-US" sz="2400" dirty="0">
                <a:sym typeface="Symbol" panose="05050102010706020507" pitchFamily="18" charset="2"/>
              </a:rPr>
              <a:t>;</a:t>
            </a:r>
          </a:p>
          <a:p>
            <a:pPr eaLnBrk="1" hangingPunct="1">
              <a:lnSpc>
                <a:spcPct val="69000"/>
              </a:lnSpc>
              <a:buFont typeface="Wingdings" panose="05000000000000000000" pitchFamily="2" charset="2"/>
              <a:buNone/>
            </a:pPr>
            <a:r>
              <a:rPr lang="en-US" altLang="en-US" sz="2400" dirty="0">
                <a:sym typeface="Symbol" panose="05050102010706020507" pitchFamily="18" charset="2"/>
              </a:rPr>
              <a:t>			 </a:t>
            </a:r>
            <a:r>
              <a:rPr lang="en-US" altLang="en-US" sz="2400" dirty="0" err="1">
                <a:sym typeface="Symbol" panose="05050102010706020507" pitchFamily="18" charset="2"/>
              </a:rPr>
              <a:t>E</a:t>
            </a:r>
            <a:r>
              <a:rPr lang="en-US" altLang="en-US" sz="2400" i="1" dirty="0" err="1">
                <a:sym typeface="Symbol" panose="05050102010706020507" pitchFamily="18" charset="2"/>
              </a:rPr>
              <a:t>.code</a:t>
            </a:r>
            <a:r>
              <a:rPr lang="en-US" altLang="en-US" sz="2400" dirty="0">
                <a:sym typeface="Symbol" panose="05050102010706020507" pitchFamily="18" charset="2"/>
              </a:rPr>
              <a:t> = E</a:t>
            </a:r>
            <a:r>
              <a:rPr lang="en-US" altLang="en-US" sz="2400" baseline="-25000" dirty="0">
                <a:sym typeface="Symbol" panose="05050102010706020507" pitchFamily="18" charset="2"/>
              </a:rPr>
              <a:t>1</a:t>
            </a:r>
            <a:r>
              <a:rPr lang="en-US" altLang="en-US" sz="2400" dirty="0">
                <a:sym typeface="Symbol" panose="05050102010706020507" pitchFamily="18" charset="2"/>
              </a:rPr>
              <a:t>.</a:t>
            </a:r>
            <a:r>
              <a:rPr lang="en-US" altLang="en-US" sz="2400" i="1" dirty="0">
                <a:sym typeface="Symbol" panose="05050102010706020507" pitchFamily="18" charset="2"/>
              </a:rPr>
              <a:t>code </a:t>
            </a:r>
            <a:r>
              <a:rPr lang="en-US" altLang="en-US" sz="2400" dirty="0">
                <a:sym typeface="Symbol" panose="05050102010706020507" pitchFamily="18" charset="2"/>
              </a:rPr>
              <a:t>|| E</a:t>
            </a:r>
            <a:r>
              <a:rPr lang="en-US" altLang="en-US" sz="2400" baseline="-25000" dirty="0">
                <a:sym typeface="Symbol" panose="05050102010706020507" pitchFamily="18" charset="2"/>
              </a:rPr>
              <a:t>2</a:t>
            </a:r>
            <a:r>
              <a:rPr lang="en-US" altLang="en-US" sz="2400" dirty="0">
                <a:sym typeface="Symbol" panose="05050102010706020507" pitchFamily="18" charset="2"/>
              </a:rPr>
              <a:t>.</a:t>
            </a:r>
            <a:r>
              <a:rPr lang="en-US" altLang="en-US" sz="2400" i="1" dirty="0">
                <a:sym typeface="Symbol" panose="05050102010706020507" pitchFamily="18" charset="2"/>
              </a:rPr>
              <a:t>code </a:t>
            </a:r>
            <a:r>
              <a:rPr lang="en-US" altLang="en-US" sz="2400" dirty="0">
                <a:sym typeface="Symbol" panose="05050102010706020507" pitchFamily="18" charset="2"/>
              </a:rPr>
              <a:t>|| </a:t>
            </a:r>
          </a:p>
          <a:p>
            <a:pPr eaLnBrk="1" hangingPunct="1">
              <a:lnSpc>
                <a:spcPct val="69000"/>
              </a:lnSpc>
              <a:buFont typeface="Wingdings" panose="05000000000000000000" pitchFamily="2" charset="2"/>
              <a:buNone/>
            </a:pPr>
            <a:r>
              <a:rPr lang="en-US" altLang="en-US" sz="2400" dirty="0">
                <a:sym typeface="Symbol" panose="05050102010706020507" pitchFamily="18" charset="2"/>
              </a:rPr>
              <a:t>				|| </a:t>
            </a:r>
            <a:r>
              <a:rPr lang="en-US" altLang="en-US" sz="2400" i="1" dirty="0">
                <a:sym typeface="Symbol" panose="05050102010706020507" pitchFamily="18" charset="2"/>
              </a:rPr>
              <a:t>gen</a:t>
            </a:r>
            <a:r>
              <a:rPr lang="en-US" altLang="en-US" sz="2400" dirty="0">
                <a:sym typeface="Symbol" panose="05050102010706020507" pitchFamily="18" charset="2"/>
              </a:rPr>
              <a:t>(</a:t>
            </a:r>
            <a:r>
              <a:rPr lang="en-US" altLang="en-US" sz="2400" dirty="0" err="1">
                <a:sym typeface="Symbol" panose="05050102010706020507" pitchFamily="18" charset="2"/>
              </a:rPr>
              <a:t>E.</a:t>
            </a:r>
            <a:r>
              <a:rPr lang="en-US" altLang="en-US" sz="2400" i="1" dirty="0" err="1">
                <a:sym typeface="Symbol" panose="05050102010706020507" pitchFamily="18" charset="2"/>
              </a:rPr>
              <a:t>place</a:t>
            </a:r>
            <a:r>
              <a:rPr lang="en-US" altLang="en-US" sz="2400" dirty="0">
                <a:sym typeface="Symbol" panose="05050102010706020507" pitchFamily="18" charset="2"/>
              </a:rPr>
              <a:t>‘:=’E</a:t>
            </a:r>
            <a:r>
              <a:rPr lang="en-US" altLang="en-US" sz="2400" baseline="-25000" dirty="0">
                <a:sym typeface="Symbol" panose="05050102010706020507" pitchFamily="18" charset="2"/>
              </a:rPr>
              <a:t>1</a:t>
            </a:r>
            <a:r>
              <a:rPr lang="en-US" altLang="en-US" sz="2400" dirty="0">
                <a:sym typeface="Symbol" panose="05050102010706020507" pitchFamily="18" charset="2"/>
              </a:rPr>
              <a:t>.</a:t>
            </a:r>
            <a:r>
              <a:rPr lang="en-US" altLang="en-US" sz="2400" i="1" dirty="0">
                <a:sym typeface="Symbol" panose="05050102010706020507" pitchFamily="18" charset="2"/>
              </a:rPr>
              <a:t>place</a:t>
            </a:r>
            <a:r>
              <a:rPr lang="en-US" altLang="en-US" sz="2400" dirty="0">
                <a:sym typeface="Symbol" panose="05050102010706020507" pitchFamily="18" charset="2"/>
              </a:rPr>
              <a:t>‘*’E</a:t>
            </a:r>
            <a:r>
              <a:rPr lang="en-US" altLang="en-US" sz="2400" baseline="-25000" dirty="0">
                <a:sym typeface="Symbol" panose="05050102010706020507" pitchFamily="18" charset="2"/>
              </a:rPr>
              <a:t>2</a:t>
            </a:r>
            <a:r>
              <a:rPr lang="en-US" altLang="en-US" sz="2400" dirty="0">
                <a:sym typeface="Symbol" panose="05050102010706020507" pitchFamily="18" charset="2"/>
              </a:rPr>
              <a:t>.</a:t>
            </a:r>
            <a:r>
              <a:rPr lang="en-US" altLang="en-US" sz="2400" i="1" dirty="0">
                <a:sym typeface="Symbol" panose="05050102010706020507" pitchFamily="18" charset="2"/>
              </a:rPr>
              <a:t>place</a:t>
            </a:r>
            <a:r>
              <a:rPr lang="en-US" altLang="en-US" sz="2400" dirty="0">
                <a:sym typeface="Symbol" panose="05050102010706020507" pitchFamily="18" charset="2"/>
              </a:rPr>
              <a:t>) }</a:t>
            </a:r>
          </a:p>
          <a:p>
            <a:pPr eaLnBrk="1" hangingPunct="1">
              <a:lnSpc>
                <a:spcPct val="69000"/>
              </a:lnSpc>
              <a:buFont typeface="Wingdings" panose="05000000000000000000" pitchFamily="2" charset="2"/>
              <a:buNone/>
            </a:pPr>
            <a:r>
              <a:rPr lang="en-US" altLang="en-US" sz="2400" dirty="0">
                <a:sym typeface="Symbol" panose="05050102010706020507" pitchFamily="18" charset="2"/>
              </a:rPr>
              <a:t>E  </a:t>
            </a:r>
            <a:r>
              <a:rPr lang="en-US" altLang="en-US" sz="2400" dirty="0">
                <a:solidFill>
                  <a:schemeClr val="accent2"/>
                </a:solidFill>
                <a:sym typeface="Symbol" panose="05050102010706020507" pitchFamily="18" charset="2"/>
              </a:rPr>
              <a:t>- </a:t>
            </a:r>
            <a:r>
              <a:rPr lang="en-US" altLang="en-US" sz="2400" dirty="0">
                <a:sym typeface="Symbol" panose="05050102010706020507" pitchFamily="18" charset="2"/>
              </a:rPr>
              <a:t>E</a:t>
            </a:r>
            <a:r>
              <a:rPr lang="en-US" altLang="en-US" sz="2400" baseline="-25000" dirty="0">
                <a:sym typeface="Symbol" panose="05050102010706020507" pitchFamily="18" charset="2"/>
              </a:rPr>
              <a:t>1</a:t>
            </a:r>
            <a:r>
              <a:rPr lang="en-US" altLang="en-US" sz="2400" dirty="0">
                <a:solidFill>
                  <a:schemeClr val="accent2"/>
                </a:solidFill>
                <a:sym typeface="Symbol" panose="05050102010706020507" pitchFamily="18" charset="2"/>
              </a:rPr>
              <a:t> 		</a:t>
            </a:r>
            <a:r>
              <a:rPr lang="en-US" altLang="en-US" sz="2400" dirty="0">
                <a:sym typeface="Symbol" panose="05050102010706020507" pitchFamily="18" charset="2"/>
              </a:rPr>
              <a:t>{</a:t>
            </a:r>
            <a:r>
              <a:rPr lang="en-US" altLang="en-US" sz="2400" dirty="0" err="1">
                <a:sym typeface="Symbol" panose="05050102010706020507" pitchFamily="18" charset="2"/>
              </a:rPr>
              <a:t>E.</a:t>
            </a:r>
            <a:r>
              <a:rPr lang="en-US" altLang="en-US" sz="2400" i="1" dirty="0" err="1">
                <a:sym typeface="Symbol" panose="05050102010706020507" pitchFamily="18" charset="2"/>
              </a:rPr>
              <a:t>place</a:t>
            </a:r>
            <a:r>
              <a:rPr lang="en-US" altLang="en-US" sz="2400" dirty="0">
                <a:sym typeface="Symbol" panose="05050102010706020507" pitchFamily="18" charset="2"/>
              </a:rPr>
              <a:t>= </a:t>
            </a:r>
            <a:r>
              <a:rPr lang="en-US" altLang="en-US" sz="2400" i="1" dirty="0" err="1">
                <a:sym typeface="Symbol" panose="05050102010706020507" pitchFamily="18" charset="2"/>
              </a:rPr>
              <a:t>newtemp</a:t>
            </a:r>
            <a:r>
              <a:rPr lang="en-US" altLang="en-US" sz="2400" i="1" dirty="0">
                <a:sym typeface="Symbol" panose="05050102010706020507" pitchFamily="18" charset="2"/>
              </a:rPr>
              <a:t> </a:t>
            </a:r>
            <a:r>
              <a:rPr lang="en-US" altLang="en-US" sz="2400" dirty="0">
                <a:sym typeface="Symbol" panose="05050102010706020507" pitchFamily="18" charset="2"/>
              </a:rPr>
              <a:t>;</a:t>
            </a:r>
          </a:p>
          <a:p>
            <a:pPr eaLnBrk="1" hangingPunct="1">
              <a:lnSpc>
                <a:spcPct val="69000"/>
              </a:lnSpc>
              <a:buFont typeface="Wingdings" panose="05000000000000000000" pitchFamily="2" charset="2"/>
              <a:buNone/>
            </a:pPr>
            <a:r>
              <a:rPr lang="en-US" altLang="en-US" sz="2400" dirty="0">
                <a:sym typeface="Symbol" panose="05050102010706020507" pitchFamily="18" charset="2"/>
              </a:rPr>
              <a:t>			 </a:t>
            </a:r>
            <a:r>
              <a:rPr lang="en-US" altLang="en-US" sz="2400" dirty="0" err="1">
                <a:sym typeface="Symbol" panose="05050102010706020507" pitchFamily="18" charset="2"/>
              </a:rPr>
              <a:t>E</a:t>
            </a:r>
            <a:r>
              <a:rPr lang="en-US" altLang="en-US" sz="2400" i="1" dirty="0" err="1">
                <a:sym typeface="Symbol" panose="05050102010706020507" pitchFamily="18" charset="2"/>
              </a:rPr>
              <a:t>.code</a:t>
            </a:r>
            <a:r>
              <a:rPr lang="en-US" altLang="en-US" sz="2400" dirty="0">
                <a:sym typeface="Symbol" panose="05050102010706020507" pitchFamily="18" charset="2"/>
              </a:rPr>
              <a:t> = E</a:t>
            </a:r>
            <a:r>
              <a:rPr lang="en-US" altLang="en-US" sz="2400" baseline="-25000" dirty="0">
                <a:sym typeface="Symbol" panose="05050102010706020507" pitchFamily="18" charset="2"/>
              </a:rPr>
              <a:t>1</a:t>
            </a:r>
            <a:r>
              <a:rPr lang="en-US" altLang="en-US" sz="2400" dirty="0">
                <a:sym typeface="Symbol" panose="05050102010706020507" pitchFamily="18" charset="2"/>
              </a:rPr>
              <a:t>.</a:t>
            </a:r>
            <a:r>
              <a:rPr lang="en-US" altLang="en-US" sz="2400" i="1" dirty="0">
                <a:sym typeface="Symbol" panose="05050102010706020507" pitchFamily="18" charset="2"/>
              </a:rPr>
              <a:t>code ||</a:t>
            </a:r>
            <a:endParaRPr lang="en-US" altLang="en-US" sz="2400" dirty="0">
              <a:sym typeface="Symbol" panose="05050102010706020507" pitchFamily="18" charset="2"/>
            </a:endParaRPr>
          </a:p>
          <a:p>
            <a:pPr eaLnBrk="1" hangingPunct="1">
              <a:lnSpc>
                <a:spcPct val="69000"/>
              </a:lnSpc>
              <a:buFont typeface="Wingdings" panose="05000000000000000000" pitchFamily="2" charset="2"/>
              <a:buNone/>
            </a:pPr>
            <a:r>
              <a:rPr lang="en-US" altLang="en-US" sz="2400" dirty="0">
                <a:sym typeface="Symbol" panose="05050102010706020507" pitchFamily="18" charset="2"/>
              </a:rPr>
              <a:t>				|| </a:t>
            </a:r>
            <a:r>
              <a:rPr lang="en-US" altLang="en-US" sz="2400" i="1" dirty="0">
                <a:sym typeface="Symbol" panose="05050102010706020507" pitchFamily="18" charset="2"/>
              </a:rPr>
              <a:t>gen</a:t>
            </a:r>
            <a:r>
              <a:rPr lang="en-US" altLang="en-US" sz="2400" dirty="0">
                <a:sym typeface="Symbol" panose="05050102010706020507" pitchFamily="18" charset="2"/>
              </a:rPr>
              <a:t>(</a:t>
            </a:r>
            <a:r>
              <a:rPr lang="en-US" altLang="en-US" sz="2400" dirty="0" err="1">
                <a:sym typeface="Symbol" panose="05050102010706020507" pitchFamily="18" charset="2"/>
              </a:rPr>
              <a:t>E.</a:t>
            </a:r>
            <a:r>
              <a:rPr lang="en-US" altLang="en-US" sz="2400" i="1" dirty="0" err="1">
                <a:sym typeface="Symbol" panose="05050102010706020507" pitchFamily="18" charset="2"/>
              </a:rPr>
              <a:t>place</a:t>
            </a:r>
            <a:r>
              <a:rPr lang="en-US" altLang="en-US" sz="2400" i="1" dirty="0">
                <a:sym typeface="Symbol" panose="05050102010706020507" pitchFamily="18" charset="2"/>
              </a:rPr>
              <a:t> </a:t>
            </a:r>
            <a:r>
              <a:rPr lang="en-US" altLang="en-US" sz="2400" dirty="0">
                <a:sym typeface="Symbol" panose="05050102010706020507" pitchFamily="18" charset="2"/>
              </a:rPr>
              <a:t>‘:=’ ‘</a:t>
            </a:r>
            <a:r>
              <a:rPr lang="en-US" altLang="en-US" sz="2400" dirty="0" err="1">
                <a:sym typeface="Symbol" panose="05050102010706020507" pitchFamily="18" charset="2"/>
              </a:rPr>
              <a:t>uminus</a:t>
            </a:r>
            <a:r>
              <a:rPr lang="en-US" altLang="en-US" sz="2400" dirty="0">
                <a:sym typeface="Symbol" panose="05050102010706020507" pitchFamily="18" charset="2"/>
              </a:rPr>
              <a:t>’ E</a:t>
            </a:r>
            <a:r>
              <a:rPr lang="en-US" altLang="en-US" sz="2400" baseline="-25000" dirty="0">
                <a:sym typeface="Symbol" panose="05050102010706020507" pitchFamily="18" charset="2"/>
              </a:rPr>
              <a:t>1</a:t>
            </a:r>
            <a:r>
              <a:rPr lang="en-US" altLang="en-US" sz="2400" dirty="0">
                <a:sym typeface="Symbol" panose="05050102010706020507" pitchFamily="18" charset="2"/>
              </a:rPr>
              <a:t>.</a:t>
            </a:r>
            <a:r>
              <a:rPr lang="en-US" altLang="en-US" sz="2400" i="1" dirty="0">
                <a:sym typeface="Symbol" panose="05050102010706020507" pitchFamily="18" charset="2"/>
              </a:rPr>
              <a:t>place</a:t>
            </a:r>
            <a:r>
              <a:rPr lang="en-US" altLang="en-US" sz="2400" dirty="0">
                <a:sym typeface="Symbol" panose="05050102010706020507" pitchFamily="18" charset="2"/>
              </a:rPr>
              <a:t>) }</a:t>
            </a:r>
          </a:p>
          <a:p>
            <a:pPr eaLnBrk="1" hangingPunct="1">
              <a:lnSpc>
                <a:spcPct val="69000"/>
              </a:lnSpc>
              <a:buFont typeface="Wingdings" panose="05000000000000000000" pitchFamily="2" charset="2"/>
              <a:buNone/>
            </a:pPr>
            <a:r>
              <a:rPr lang="en-US" altLang="en-US" sz="2400" dirty="0">
                <a:sym typeface="Symbol" panose="05050102010706020507" pitchFamily="18" charset="2"/>
              </a:rPr>
              <a:t>E  </a:t>
            </a:r>
            <a:r>
              <a:rPr lang="en-US" altLang="en-US" sz="2400" dirty="0">
                <a:solidFill>
                  <a:schemeClr val="accent2"/>
                </a:solidFill>
                <a:sym typeface="Symbol" panose="05050102010706020507" pitchFamily="18" charset="2"/>
              </a:rPr>
              <a:t>( </a:t>
            </a:r>
            <a:r>
              <a:rPr lang="en-US" altLang="en-US" sz="2400" dirty="0">
                <a:sym typeface="Symbol" panose="05050102010706020507" pitchFamily="18" charset="2"/>
              </a:rPr>
              <a:t>E</a:t>
            </a:r>
            <a:r>
              <a:rPr lang="en-US" altLang="en-US" sz="2400" baseline="-25000" dirty="0">
                <a:sym typeface="Symbol" panose="05050102010706020507" pitchFamily="18" charset="2"/>
              </a:rPr>
              <a:t>1</a:t>
            </a:r>
            <a:r>
              <a:rPr lang="en-US" altLang="en-US" sz="2400" dirty="0">
                <a:solidFill>
                  <a:schemeClr val="accent2"/>
                </a:solidFill>
                <a:sym typeface="Symbol" panose="05050102010706020507" pitchFamily="18" charset="2"/>
              </a:rPr>
              <a:t> ) 	</a:t>
            </a:r>
            <a:r>
              <a:rPr lang="en-US" altLang="en-US" sz="2400" dirty="0">
                <a:sym typeface="Symbol" panose="05050102010706020507" pitchFamily="18" charset="2"/>
              </a:rPr>
              <a:t>{</a:t>
            </a:r>
            <a:r>
              <a:rPr lang="en-US" altLang="en-US" sz="2400" dirty="0" err="1">
                <a:sym typeface="Symbol" panose="05050102010706020507" pitchFamily="18" charset="2"/>
              </a:rPr>
              <a:t>E.</a:t>
            </a:r>
            <a:r>
              <a:rPr lang="en-US" altLang="en-US" sz="2400" i="1" dirty="0" err="1">
                <a:sym typeface="Symbol" panose="05050102010706020507" pitchFamily="18" charset="2"/>
              </a:rPr>
              <a:t>place</a:t>
            </a:r>
            <a:r>
              <a:rPr lang="en-US" altLang="en-US" sz="2400" dirty="0">
                <a:sym typeface="Symbol" panose="05050102010706020507" pitchFamily="18" charset="2"/>
              </a:rPr>
              <a:t>= E</a:t>
            </a:r>
            <a:r>
              <a:rPr lang="en-US" altLang="en-US" sz="2400" baseline="-25000" dirty="0">
                <a:sym typeface="Symbol" panose="05050102010706020507" pitchFamily="18" charset="2"/>
              </a:rPr>
              <a:t>1</a:t>
            </a:r>
            <a:r>
              <a:rPr lang="en-US" altLang="en-US" sz="2400" dirty="0">
                <a:sym typeface="Symbol" panose="05050102010706020507" pitchFamily="18" charset="2"/>
              </a:rPr>
              <a:t>.</a:t>
            </a:r>
            <a:r>
              <a:rPr lang="en-US" altLang="en-US" sz="2400" i="1" dirty="0">
                <a:sym typeface="Symbol" panose="05050102010706020507" pitchFamily="18" charset="2"/>
              </a:rPr>
              <a:t>place</a:t>
            </a:r>
            <a:r>
              <a:rPr lang="en-US" altLang="en-US" sz="2400" dirty="0">
                <a:sym typeface="Symbol" panose="05050102010706020507" pitchFamily="18" charset="2"/>
              </a:rPr>
              <a:t> ; </a:t>
            </a:r>
            <a:r>
              <a:rPr lang="en-US" altLang="en-US" sz="2400" dirty="0" err="1">
                <a:sym typeface="Symbol" panose="05050102010706020507" pitchFamily="18" charset="2"/>
              </a:rPr>
              <a:t>E.</a:t>
            </a:r>
            <a:r>
              <a:rPr lang="en-US" altLang="en-US" sz="2400" i="1" dirty="0" err="1">
                <a:sym typeface="Symbol" panose="05050102010706020507" pitchFamily="18" charset="2"/>
              </a:rPr>
              <a:t>code</a:t>
            </a:r>
            <a:r>
              <a:rPr lang="en-US" altLang="en-US" sz="2400" i="1" dirty="0">
                <a:sym typeface="Symbol" panose="05050102010706020507" pitchFamily="18" charset="2"/>
              </a:rPr>
              <a:t> = </a:t>
            </a:r>
            <a:r>
              <a:rPr lang="en-US" altLang="en-US" sz="2400" dirty="0">
                <a:sym typeface="Symbol" panose="05050102010706020507" pitchFamily="18" charset="2"/>
              </a:rPr>
              <a:t>E</a:t>
            </a:r>
            <a:r>
              <a:rPr lang="en-US" altLang="en-US" sz="2400" baseline="-25000" dirty="0">
                <a:sym typeface="Symbol" panose="05050102010706020507" pitchFamily="18" charset="2"/>
              </a:rPr>
              <a:t>1</a:t>
            </a:r>
            <a:r>
              <a:rPr lang="en-US" altLang="en-US" sz="2400" dirty="0">
                <a:sym typeface="Symbol" panose="05050102010706020507" pitchFamily="18" charset="2"/>
              </a:rPr>
              <a:t>.</a:t>
            </a:r>
            <a:r>
              <a:rPr lang="en-US" altLang="en-US" sz="2400" i="1" dirty="0">
                <a:sym typeface="Symbol" panose="05050102010706020507" pitchFamily="18" charset="2"/>
              </a:rPr>
              <a:t>code</a:t>
            </a:r>
            <a:r>
              <a:rPr lang="en-US" altLang="en-US" sz="2400" dirty="0">
                <a:sym typeface="Symbol" panose="05050102010706020507" pitchFamily="18" charset="2"/>
              </a:rPr>
              <a:t>}</a:t>
            </a:r>
          </a:p>
          <a:p>
            <a:pPr eaLnBrk="1" hangingPunct="1">
              <a:lnSpc>
                <a:spcPct val="69000"/>
              </a:lnSpc>
              <a:buFont typeface="Wingdings" panose="05000000000000000000" pitchFamily="2" charset="2"/>
              <a:buNone/>
            </a:pPr>
            <a:r>
              <a:rPr lang="en-US" altLang="en-US" sz="2400" dirty="0">
                <a:sym typeface="Symbol" panose="05050102010706020507" pitchFamily="18" charset="2"/>
              </a:rPr>
              <a:t>E  </a:t>
            </a:r>
            <a:r>
              <a:rPr lang="en-US" altLang="en-US" sz="2400" dirty="0">
                <a:solidFill>
                  <a:schemeClr val="accent2"/>
                </a:solidFill>
                <a:sym typeface="Symbol" panose="05050102010706020507" pitchFamily="18" charset="2"/>
              </a:rPr>
              <a:t>id 		</a:t>
            </a:r>
            <a:r>
              <a:rPr lang="en-US" altLang="en-US" sz="2400" dirty="0">
                <a:sym typeface="Symbol" panose="05050102010706020507" pitchFamily="18" charset="2"/>
              </a:rPr>
              <a:t>{</a:t>
            </a:r>
            <a:r>
              <a:rPr lang="en-US" altLang="en-US" sz="2400" dirty="0" err="1">
                <a:sym typeface="Symbol" panose="05050102010706020507" pitchFamily="18" charset="2"/>
              </a:rPr>
              <a:t>E.</a:t>
            </a:r>
            <a:r>
              <a:rPr lang="en-US" altLang="en-US" sz="2400" i="1" dirty="0" err="1">
                <a:sym typeface="Symbol" panose="05050102010706020507" pitchFamily="18" charset="2"/>
              </a:rPr>
              <a:t>place</a:t>
            </a:r>
            <a:r>
              <a:rPr lang="en-US" altLang="en-US" sz="2400" i="1" dirty="0">
                <a:sym typeface="Symbol" panose="05050102010706020507" pitchFamily="18" charset="2"/>
              </a:rPr>
              <a:t> </a:t>
            </a:r>
            <a:r>
              <a:rPr lang="en-US" altLang="en-US" sz="2400" dirty="0">
                <a:sym typeface="Symbol" panose="05050102010706020507" pitchFamily="18" charset="2"/>
              </a:rPr>
              <a:t>= </a:t>
            </a:r>
            <a:r>
              <a:rPr lang="en-US" altLang="en-US" sz="2400" dirty="0" err="1">
                <a:sym typeface="Symbol" panose="05050102010706020507" pitchFamily="18" charset="2"/>
              </a:rPr>
              <a:t>id</a:t>
            </a:r>
            <a:r>
              <a:rPr lang="en-US" altLang="en-US" sz="2400" i="1" dirty="0" err="1">
                <a:sym typeface="Symbol" panose="05050102010706020507" pitchFamily="18" charset="2"/>
              </a:rPr>
              <a:t>.place</a:t>
            </a:r>
            <a:r>
              <a:rPr lang="en-US" altLang="en-US" sz="2400" dirty="0">
                <a:sym typeface="Symbol" panose="05050102010706020507" pitchFamily="18" charset="2"/>
              </a:rPr>
              <a:t> ; </a:t>
            </a:r>
            <a:r>
              <a:rPr lang="en-US" altLang="en-US" sz="2400" dirty="0" err="1">
                <a:sym typeface="Symbol" panose="05050102010706020507" pitchFamily="18" charset="2"/>
              </a:rPr>
              <a:t>E.</a:t>
            </a:r>
            <a:r>
              <a:rPr lang="en-US" altLang="en-US" sz="2400" i="1" dirty="0" err="1">
                <a:sym typeface="Symbol" panose="05050102010706020507" pitchFamily="18" charset="2"/>
              </a:rPr>
              <a:t>code</a:t>
            </a:r>
            <a:r>
              <a:rPr lang="en-US" altLang="en-US" sz="2400" dirty="0">
                <a:sym typeface="Symbol" panose="05050102010706020507" pitchFamily="18" charset="2"/>
              </a:rPr>
              <a:t> = ‘’</a:t>
            </a:r>
            <a:r>
              <a:rPr lang="en-US" altLang="en-US" sz="2400" i="1" dirty="0">
                <a:sym typeface="Symbol" panose="05050102010706020507" pitchFamily="18" charset="2"/>
              </a:rPr>
              <a:t> </a:t>
            </a:r>
            <a:r>
              <a:rPr lang="en-US" altLang="en-US" sz="2400" dirty="0">
                <a:sym typeface="Symbol" panose="05050102010706020507" pitchFamily="18" charset="2"/>
              </a:rPr>
              <a:t>}</a:t>
            </a:r>
          </a:p>
          <a:p>
            <a:pPr eaLnBrk="1" hangingPunct="1">
              <a:lnSpc>
                <a:spcPct val="69000"/>
              </a:lnSpc>
              <a:buFont typeface="Wingdings" panose="05000000000000000000" pitchFamily="2" charset="2"/>
              <a:buNone/>
            </a:pPr>
            <a:endParaRPr lang="en-US" altLang="en-US" sz="2400" dirty="0">
              <a:sym typeface="Symbol" panose="05050102010706020507" pitchFamily="18" charset="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55CD4911-4A8B-4C8F-8DB4-4F6D67BAF902}"/>
              </a:ext>
            </a:extLst>
          </p:cNvPr>
          <p:cNvSpPr>
            <a:spLocks noGrp="1" noChangeArrowheads="1"/>
          </p:cNvSpPr>
          <p:nvPr>
            <p:ph type="title"/>
          </p:nvPr>
        </p:nvSpPr>
        <p:spPr/>
        <p:txBody>
          <a:bodyPr/>
          <a:lstStyle/>
          <a:p>
            <a:pPr eaLnBrk="1" hangingPunct="1"/>
            <a:r>
              <a:rPr lang="en-US" altLang="en-US" sz="3600"/>
              <a:t>Three Address Code of  a := b * -c + d</a:t>
            </a:r>
          </a:p>
        </p:txBody>
      </p:sp>
      <p:pic>
        <p:nvPicPr>
          <p:cNvPr id="17411" name="Picture 4">
            <a:extLst>
              <a:ext uri="{FF2B5EF4-FFF2-40B4-BE49-F238E27FC236}">
                <a16:creationId xmlns:a16="http://schemas.microsoft.com/office/drawing/2014/main" id="{543B8008-C295-42B2-B63D-7BB29A19D6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514600"/>
            <a:ext cx="6096000" cy="351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6013766-16CB-4598-A965-00C006D4B325}"/>
              </a:ext>
            </a:extLst>
          </p:cNvPr>
          <p:cNvSpPr>
            <a:spLocks noGrp="1" noChangeArrowheads="1"/>
          </p:cNvSpPr>
          <p:nvPr>
            <p:ph type="title"/>
          </p:nvPr>
        </p:nvSpPr>
        <p:spPr>
          <a:xfrm>
            <a:off x="228600" y="457200"/>
            <a:ext cx="8763000" cy="685800"/>
          </a:xfrm>
        </p:spPr>
        <p:txBody>
          <a:bodyPr/>
          <a:lstStyle/>
          <a:p>
            <a:pPr eaLnBrk="1" hangingPunct="1"/>
            <a:r>
              <a:rPr lang="en-US" altLang="en-US" sz="3200"/>
              <a:t>Implementation of Three Address Statements</a:t>
            </a:r>
          </a:p>
        </p:txBody>
      </p:sp>
      <p:sp>
        <p:nvSpPr>
          <p:cNvPr id="18435" name="Rectangle 3">
            <a:extLst>
              <a:ext uri="{FF2B5EF4-FFF2-40B4-BE49-F238E27FC236}">
                <a16:creationId xmlns:a16="http://schemas.microsoft.com/office/drawing/2014/main" id="{4E188540-33FE-4157-9DF7-AD3C4977DF9F}"/>
              </a:ext>
            </a:extLst>
          </p:cNvPr>
          <p:cNvSpPr>
            <a:spLocks noGrp="1" noChangeArrowheads="1"/>
          </p:cNvSpPr>
          <p:nvPr>
            <p:ph idx="1"/>
          </p:nvPr>
        </p:nvSpPr>
        <p:spPr>
          <a:xfrm>
            <a:off x="228600" y="1371600"/>
            <a:ext cx="3048000" cy="2286000"/>
          </a:xfrm>
        </p:spPr>
        <p:txBody>
          <a:bodyPr>
            <a:normAutofit fontScale="62500" lnSpcReduction="20000"/>
          </a:bodyPr>
          <a:lstStyle/>
          <a:p>
            <a:pPr eaLnBrk="1" hangingPunct="1">
              <a:buFont typeface="Wingdings" panose="05000000000000000000" pitchFamily="2" charset="2"/>
              <a:buNone/>
            </a:pPr>
            <a:r>
              <a:rPr lang="en-US" altLang="en-US" sz="2800" b="1"/>
              <a:t>Quadruples</a:t>
            </a:r>
          </a:p>
          <a:p>
            <a:pPr eaLnBrk="1" hangingPunct="1">
              <a:buFont typeface="Wingdings" panose="05000000000000000000" pitchFamily="2" charset="2"/>
              <a:buNone/>
            </a:pPr>
            <a:r>
              <a:rPr lang="en-US" altLang="en-US" sz="2800">
                <a:latin typeface="Verdana" panose="020B0604030504040204" pitchFamily="34" charset="0"/>
              </a:rPr>
              <a:t>t</a:t>
            </a:r>
            <a:r>
              <a:rPr lang="en-US" altLang="en-US" sz="2800" baseline="-25000">
                <a:latin typeface="Verdana" panose="020B0604030504040204" pitchFamily="34" charset="0"/>
              </a:rPr>
              <a:t>1</a:t>
            </a:r>
            <a:r>
              <a:rPr lang="en-US" altLang="en-US" sz="2800">
                <a:latin typeface="Verdana" panose="020B0604030504040204" pitchFamily="34" charset="0"/>
              </a:rPr>
              <a:t>:=- c</a:t>
            </a:r>
          </a:p>
          <a:p>
            <a:pPr eaLnBrk="1" hangingPunct="1">
              <a:buFont typeface="Wingdings" panose="05000000000000000000" pitchFamily="2" charset="2"/>
              <a:buNone/>
            </a:pPr>
            <a:r>
              <a:rPr lang="en-US" altLang="en-US" sz="2800">
                <a:latin typeface="Verdana" panose="020B0604030504040204" pitchFamily="34" charset="0"/>
              </a:rPr>
              <a:t>t</a:t>
            </a:r>
            <a:r>
              <a:rPr lang="en-US" altLang="en-US" sz="2800" baseline="-25000">
                <a:latin typeface="Verdana" panose="020B0604030504040204" pitchFamily="34" charset="0"/>
              </a:rPr>
              <a:t>2</a:t>
            </a:r>
            <a:r>
              <a:rPr lang="en-US" altLang="en-US" sz="2800">
                <a:latin typeface="Verdana" panose="020B0604030504040204" pitchFamily="34" charset="0"/>
              </a:rPr>
              <a:t>:=b * t</a:t>
            </a:r>
            <a:r>
              <a:rPr lang="en-US" altLang="en-US" sz="2800" baseline="-25000">
                <a:latin typeface="Verdana" panose="020B0604030504040204" pitchFamily="34" charset="0"/>
              </a:rPr>
              <a:t>1</a:t>
            </a:r>
          </a:p>
          <a:p>
            <a:pPr eaLnBrk="1" hangingPunct="1">
              <a:buFont typeface="Wingdings" panose="05000000000000000000" pitchFamily="2" charset="2"/>
              <a:buNone/>
            </a:pPr>
            <a:r>
              <a:rPr lang="en-US" altLang="en-US" sz="2800">
                <a:latin typeface="Verdana" panose="020B0604030504040204" pitchFamily="34" charset="0"/>
              </a:rPr>
              <a:t>t</a:t>
            </a:r>
            <a:r>
              <a:rPr lang="en-US" altLang="en-US" sz="2800" baseline="-25000">
                <a:latin typeface="Verdana" panose="020B0604030504040204" pitchFamily="34" charset="0"/>
              </a:rPr>
              <a:t>3</a:t>
            </a:r>
            <a:r>
              <a:rPr lang="en-US" altLang="en-US" sz="2800">
                <a:latin typeface="Verdana" panose="020B0604030504040204" pitchFamily="34" charset="0"/>
              </a:rPr>
              <a:t>:=- c</a:t>
            </a:r>
          </a:p>
          <a:p>
            <a:pPr eaLnBrk="1" hangingPunct="1">
              <a:buFont typeface="Wingdings" panose="05000000000000000000" pitchFamily="2" charset="2"/>
              <a:buNone/>
            </a:pPr>
            <a:r>
              <a:rPr lang="en-US" altLang="en-US" sz="2800">
                <a:latin typeface="Verdana" panose="020B0604030504040204" pitchFamily="34" charset="0"/>
              </a:rPr>
              <a:t>t</a:t>
            </a:r>
            <a:r>
              <a:rPr lang="en-US" altLang="en-US" sz="2800" baseline="-25000">
                <a:latin typeface="Verdana" panose="020B0604030504040204" pitchFamily="34" charset="0"/>
              </a:rPr>
              <a:t>4</a:t>
            </a:r>
            <a:r>
              <a:rPr lang="en-US" altLang="en-US" sz="2800">
                <a:latin typeface="Verdana" panose="020B0604030504040204" pitchFamily="34" charset="0"/>
              </a:rPr>
              <a:t>:=b * t</a:t>
            </a:r>
            <a:r>
              <a:rPr lang="en-US" altLang="en-US" sz="2800" baseline="-25000">
                <a:latin typeface="Verdana" panose="020B0604030504040204" pitchFamily="34" charset="0"/>
              </a:rPr>
              <a:t>3</a:t>
            </a:r>
            <a:endParaRPr lang="en-US" altLang="en-US" sz="2800">
              <a:latin typeface="Verdana" panose="020B0604030504040204" pitchFamily="34" charset="0"/>
            </a:endParaRPr>
          </a:p>
          <a:p>
            <a:pPr eaLnBrk="1" hangingPunct="1">
              <a:buFont typeface="Wingdings" panose="05000000000000000000" pitchFamily="2" charset="2"/>
              <a:buNone/>
            </a:pPr>
            <a:r>
              <a:rPr lang="en-US" altLang="en-US" sz="2800">
                <a:latin typeface="Verdana" panose="020B0604030504040204" pitchFamily="34" charset="0"/>
              </a:rPr>
              <a:t>t</a:t>
            </a:r>
            <a:r>
              <a:rPr lang="en-US" altLang="en-US" sz="2800" baseline="-25000">
                <a:latin typeface="Verdana" panose="020B0604030504040204" pitchFamily="34" charset="0"/>
              </a:rPr>
              <a:t>5</a:t>
            </a:r>
            <a:r>
              <a:rPr lang="en-US" altLang="en-US" sz="2800">
                <a:latin typeface="Verdana" panose="020B0604030504040204" pitchFamily="34" charset="0"/>
              </a:rPr>
              <a:t>:=t</a:t>
            </a:r>
            <a:r>
              <a:rPr lang="en-US" altLang="en-US" sz="2800" baseline="-25000">
                <a:latin typeface="Verdana" panose="020B0604030504040204" pitchFamily="34" charset="0"/>
              </a:rPr>
              <a:t>2</a:t>
            </a:r>
            <a:r>
              <a:rPr lang="en-US" altLang="en-US" sz="2800">
                <a:latin typeface="Verdana" panose="020B0604030504040204" pitchFamily="34" charset="0"/>
              </a:rPr>
              <a:t> + t</a:t>
            </a:r>
            <a:r>
              <a:rPr lang="en-US" altLang="en-US" sz="2800" baseline="-25000">
                <a:latin typeface="Verdana" panose="020B0604030504040204" pitchFamily="34" charset="0"/>
              </a:rPr>
              <a:t>4</a:t>
            </a:r>
            <a:endParaRPr lang="en-US" altLang="en-US" sz="2800">
              <a:latin typeface="Verdana" panose="020B0604030504040204" pitchFamily="34" charset="0"/>
            </a:endParaRPr>
          </a:p>
          <a:p>
            <a:pPr eaLnBrk="1" hangingPunct="1">
              <a:buFont typeface="Wingdings" panose="05000000000000000000" pitchFamily="2" charset="2"/>
              <a:buNone/>
            </a:pPr>
            <a:r>
              <a:rPr lang="en-US" altLang="en-US" sz="2800">
                <a:latin typeface="Verdana" panose="020B0604030504040204" pitchFamily="34" charset="0"/>
              </a:rPr>
              <a:t>a:=t</a:t>
            </a:r>
            <a:r>
              <a:rPr lang="en-US" altLang="en-US" sz="2800" baseline="-25000">
                <a:latin typeface="Verdana" panose="020B0604030504040204" pitchFamily="34" charset="0"/>
              </a:rPr>
              <a:t>5</a:t>
            </a:r>
            <a:endParaRPr lang="en-US" altLang="en-US" sz="2800"/>
          </a:p>
          <a:p>
            <a:pPr eaLnBrk="1" hangingPunct="1">
              <a:buFont typeface="Wingdings" panose="05000000000000000000" pitchFamily="2" charset="2"/>
              <a:buNone/>
            </a:pPr>
            <a:endParaRPr lang="en-US" altLang="en-US" sz="2800"/>
          </a:p>
        </p:txBody>
      </p:sp>
      <p:graphicFrame>
        <p:nvGraphicFramePr>
          <p:cNvPr id="248887" name="Group 55">
            <a:extLst>
              <a:ext uri="{FF2B5EF4-FFF2-40B4-BE49-F238E27FC236}">
                <a16:creationId xmlns:a16="http://schemas.microsoft.com/office/drawing/2014/main" id="{E7567483-FBAF-4BCB-8B6F-E7D6D2CC99E3}"/>
              </a:ext>
            </a:extLst>
          </p:cNvPr>
          <p:cNvGraphicFramePr>
            <a:graphicFrameLocks noGrp="1"/>
          </p:cNvGraphicFramePr>
          <p:nvPr/>
        </p:nvGraphicFramePr>
        <p:xfrm>
          <a:off x="3200400" y="1295400"/>
          <a:ext cx="5638800" cy="4446588"/>
        </p:xfrm>
        <a:graphic>
          <a:graphicData uri="http://schemas.openxmlformats.org/drawingml/2006/table">
            <a:tbl>
              <a:tblPr/>
              <a:tblGrid>
                <a:gridCol w="1127125">
                  <a:extLst>
                    <a:ext uri="{9D8B030D-6E8A-4147-A177-3AD203B41FA5}">
                      <a16:colId xmlns:a16="http://schemas.microsoft.com/office/drawing/2014/main" val="20000"/>
                    </a:ext>
                  </a:extLst>
                </a:gridCol>
                <a:gridCol w="1128713">
                  <a:extLst>
                    <a:ext uri="{9D8B030D-6E8A-4147-A177-3AD203B41FA5}">
                      <a16:colId xmlns:a16="http://schemas.microsoft.com/office/drawing/2014/main" val="20001"/>
                    </a:ext>
                  </a:extLst>
                </a:gridCol>
                <a:gridCol w="1127125">
                  <a:extLst>
                    <a:ext uri="{9D8B030D-6E8A-4147-A177-3AD203B41FA5}">
                      <a16:colId xmlns:a16="http://schemas.microsoft.com/office/drawing/2014/main" val="20002"/>
                    </a:ext>
                  </a:extLst>
                </a:gridCol>
                <a:gridCol w="1128712">
                  <a:extLst>
                    <a:ext uri="{9D8B030D-6E8A-4147-A177-3AD203B41FA5}">
                      <a16:colId xmlns:a16="http://schemas.microsoft.com/office/drawing/2014/main" val="20003"/>
                    </a:ext>
                  </a:extLst>
                </a:gridCol>
                <a:gridCol w="1127125">
                  <a:extLst>
                    <a:ext uri="{9D8B030D-6E8A-4147-A177-3AD203B41FA5}">
                      <a16:colId xmlns:a16="http://schemas.microsoft.com/office/drawing/2014/main" val="20004"/>
                    </a:ext>
                  </a:extLst>
                </a:gridCol>
              </a:tblGrid>
              <a:tr h="569921">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endParaRPr kumimoji="0" lang="en-US" sz="2800" b="0" i="0" u="none" strike="noStrike" cap="none" normalizeH="0" baseline="0">
                        <a:ln>
                          <a:noFill/>
                        </a:ln>
                        <a:solidFill>
                          <a:schemeClr val="tx1"/>
                        </a:solidFill>
                        <a:effectLst/>
                        <a:latin typeface="Arial" charset="0"/>
                      </a:endParaRPr>
                    </a:p>
                  </a:txBody>
                  <a:tcPr marT="45721" marB="45721"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1" u="none" strike="noStrike" cap="none" normalizeH="0" baseline="0">
                          <a:ln>
                            <a:noFill/>
                          </a:ln>
                          <a:solidFill>
                            <a:schemeClr val="tx1"/>
                          </a:solidFill>
                          <a:effectLst/>
                          <a:latin typeface="Arial" charset="0"/>
                        </a:rPr>
                        <a:t>op</a:t>
                      </a: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1" u="none" strike="noStrike" cap="none" normalizeH="0" baseline="0">
                          <a:ln>
                            <a:noFill/>
                          </a:ln>
                          <a:solidFill>
                            <a:schemeClr val="tx1"/>
                          </a:solidFill>
                          <a:effectLst/>
                          <a:latin typeface="Arial" charset="0"/>
                        </a:rPr>
                        <a:t>arg1</a:t>
                      </a: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1" u="none" strike="noStrike" cap="none" normalizeH="0" baseline="0">
                          <a:ln>
                            <a:noFill/>
                          </a:ln>
                          <a:solidFill>
                            <a:schemeClr val="tx1"/>
                          </a:solidFill>
                          <a:effectLst/>
                          <a:latin typeface="Arial" charset="0"/>
                        </a:rPr>
                        <a:t>arg2</a:t>
                      </a: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1" u="none" strike="noStrike" cap="none" normalizeH="0" baseline="0">
                          <a:ln>
                            <a:noFill/>
                          </a:ln>
                          <a:solidFill>
                            <a:schemeClr val="tx1"/>
                          </a:solidFill>
                          <a:effectLst/>
                          <a:latin typeface="Arial" charset="0"/>
                        </a:rPr>
                        <a:t>result</a:t>
                      </a:r>
                    </a:p>
                  </a:txBody>
                  <a:tcPr marT="45721" marB="45721"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0"/>
                  </a:ext>
                </a:extLst>
              </a:tr>
              <a:tr h="56833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(0)</a:t>
                      </a:r>
                    </a:p>
                  </a:txBody>
                  <a:tcPr marT="45721" marB="45721"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uminus</a:t>
                      </a: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c</a:t>
                      </a: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endParaRPr kumimoji="0" lang="en-US" sz="28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t</a:t>
                      </a:r>
                      <a:r>
                        <a:rPr kumimoji="0" lang="en-US" sz="2800" b="0" i="0" u="none" strike="noStrike" cap="none" normalizeH="0" baseline="-25000">
                          <a:ln>
                            <a:noFill/>
                          </a:ln>
                          <a:solidFill>
                            <a:schemeClr val="tx1"/>
                          </a:solidFill>
                          <a:effectLst/>
                          <a:latin typeface="Arial" charset="0"/>
                        </a:rPr>
                        <a:t>1</a:t>
                      </a:r>
                      <a:endParaRPr kumimoji="0" lang="en-US" sz="28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1"/>
                  </a:ext>
                </a:extLst>
              </a:tr>
              <a:tr h="569921">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(1)</a:t>
                      </a:r>
                    </a:p>
                  </a:txBody>
                  <a:tcPr marT="45721" marB="45721"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a:t>
                      </a: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b</a:t>
                      </a: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t</a:t>
                      </a:r>
                      <a:r>
                        <a:rPr kumimoji="0" lang="en-US" sz="2800" b="0" i="0" u="none" strike="noStrike" cap="none" normalizeH="0" baseline="-25000">
                          <a:ln>
                            <a:noFill/>
                          </a:ln>
                          <a:solidFill>
                            <a:schemeClr val="tx1"/>
                          </a:solidFill>
                          <a:effectLst/>
                          <a:latin typeface="Arial" charset="0"/>
                        </a:rPr>
                        <a:t>1</a:t>
                      </a: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t</a:t>
                      </a:r>
                      <a:r>
                        <a:rPr kumimoji="0" lang="en-US" sz="2800" b="0" i="0" u="none" strike="noStrike" cap="none" normalizeH="0" baseline="-25000">
                          <a:ln>
                            <a:noFill/>
                          </a:ln>
                          <a:solidFill>
                            <a:schemeClr val="tx1"/>
                          </a:solidFill>
                          <a:effectLst/>
                          <a:latin typeface="Arial" charset="0"/>
                        </a:rPr>
                        <a:t>2</a:t>
                      </a:r>
                      <a:endParaRPr kumimoji="0" lang="en-US" sz="28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2"/>
                  </a:ext>
                </a:extLst>
              </a:tr>
              <a:tr h="103023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(2)</a:t>
                      </a:r>
                    </a:p>
                  </a:txBody>
                  <a:tcPr marT="45721" marB="45721"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uminus</a:t>
                      </a: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c</a:t>
                      </a: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endParaRPr kumimoji="0" lang="en-US" sz="28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t</a:t>
                      </a:r>
                      <a:r>
                        <a:rPr kumimoji="0" lang="en-US" sz="2800" b="0" i="0" u="none" strike="noStrike" cap="none" normalizeH="0" baseline="-25000">
                          <a:ln>
                            <a:noFill/>
                          </a:ln>
                          <a:solidFill>
                            <a:schemeClr val="tx1"/>
                          </a:solidFill>
                          <a:effectLst/>
                          <a:latin typeface="Arial" charset="0"/>
                        </a:rPr>
                        <a:t>3</a:t>
                      </a:r>
                      <a:endParaRPr kumimoji="0" lang="en-US" sz="28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endParaRPr kumimoji="0" lang="en-US" sz="28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3"/>
                  </a:ext>
                </a:extLst>
              </a:tr>
              <a:tr h="569921">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(3)</a:t>
                      </a:r>
                    </a:p>
                  </a:txBody>
                  <a:tcPr marT="45721" marB="45721"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a:t>
                      </a: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b</a:t>
                      </a: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t</a:t>
                      </a:r>
                      <a:r>
                        <a:rPr kumimoji="0" lang="en-US" sz="2800" b="0" i="0" u="none" strike="noStrike" cap="none" normalizeH="0" baseline="-25000">
                          <a:ln>
                            <a:noFill/>
                          </a:ln>
                          <a:solidFill>
                            <a:schemeClr val="tx1"/>
                          </a:solidFill>
                          <a:effectLst/>
                          <a:latin typeface="Arial" charset="0"/>
                        </a:rPr>
                        <a:t>3</a:t>
                      </a:r>
                      <a:endParaRPr kumimoji="0" lang="en-US" sz="28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t</a:t>
                      </a:r>
                      <a:r>
                        <a:rPr kumimoji="0" lang="en-US" sz="2800" b="0" i="0" u="none" strike="noStrike" cap="none" normalizeH="0" baseline="-25000">
                          <a:ln>
                            <a:noFill/>
                          </a:ln>
                          <a:solidFill>
                            <a:schemeClr val="tx1"/>
                          </a:solidFill>
                          <a:effectLst/>
                          <a:latin typeface="Arial" charset="0"/>
                        </a:rPr>
                        <a:t>4</a:t>
                      </a:r>
                      <a:endParaRPr kumimoji="0" lang="en-US" sz="28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4"/>
                  </a:ext>
                </a:extLst>
              </a:tr>
              <a:tr h="56833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(4)</a:t>
                      </a:r>
                    </a:p>
                  </a:txBody>
                  <a:tcPr marT="45721" marB="45721"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a:t>
                      </a: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t</a:t>
                      </a:r>
                      <a:r>
                        <a:rPr kumimoji="0" lang="en-US" sz="2800" b="0" i="0" u="none" strike="noStrike" cap="none" normalizeH="0" baseline="-25000">
                          <a:ln>
                            <a:noFill/>
                          </a:ln>
                          <a:solidFill>
                            <a:schemeClr val="tx1"/>
                          </a:solidFill>
                          <a:effectLst/>
                          <a:latin typeface="Arial" charset="0"/>
                        </a:rPr>
                        <a:t>2</a:t>
                      </a:r>
                      <a:endParaRPr kumimoji="0" lang="en-US" sz="28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t</a:t>
                      </a:r>
                      <a:r>
                        <a:rPr kumimoji="0" lang="en-US" sz="2800" b="0" i="0" u="none" strike="noStrike" cap="none" normalizeH="0" baseline="-25000">
                          <a:ln>
                            <a:noFill/>
                          </a:ln>
                          <a:solidFill>
                            <a:schemeClr val="tx1"/>
                          </a:solidFill>
                          <a:effectLst/>
                          <a:latin typeface="Arial" charset="0"/>
                        </a:rPr>
                        <a:t>4</a:t>
                      </a:r>
                      <a:endParaRPr kumimoji="0" lang="en-US" sz="28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t</a:t>
                      </a:r>
                      <a:r>
                        <a:rPr kumimoji="0" lang="en-US" sz="2800" b="0" i="0" u="none" strike="noStrike" cap="none" normalizeH="0" baseline="-25000">
                          <a:ln>
                            <a:noFill/>
                          </a:ln>
                          <a:solidFill>
                            <a:schemeClr val="tx1"/>
                          </a:solidFill>
                          <a:effectLst/>
                          <a:latin typeface="Arial" charset="0"/>
                        </a:rPr>
                        <a:t>5</a:t>
                      </a:r>
                      <a:endParaRPr kumimoji="0" lang="en-US" sz="28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5"/>
                  </a:ext>
                </a:extLst>
              </a:tr>
              <a:tr h="569921">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(5)</a:t>
                      </a:r>
                    </a:p>
                  </a:txBody>
                  <a:tcPr marT="45721" marB="45721"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a:t>
                      </a: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t</a:t>
                      </a:r>
                      <a:r>
                        <a:rPr kumimoji="0" lang="en-US" sz="2800" b="0" i="0" u="none" strike="noStrike" cap="none" normalizeH="0" baseline="-25000">
                          <a:ln>
                            <a:noFill/>
                          </a:ln>
                          <a:solidFill>
                            <a:schemeClr val="tx1"/>
                          </a:solidFill>
                          <a:effectLst/>
                          <a:latin typeface="Arial" charset="0"/>
                        </a:rPr>
                        <a:t>5</a:t>
                      </a:r>
                      <a:endParaRPr kumimoji="0" lang="en-US" sz="28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endParaRPr kumimoji="0" lang="en-US" sz="2800" b="0" i="0" u="none" strike="noStrike" cap="none" normalizeH="0" baseline="0">
                        <a:ln>
                          <a:noFill/>
                        </a:ln>
                        <a:solidFill>
                          <a:schemeClr val="tx1"/>
                        </a:solidFill>
                        <a:effectLst/>
                        <a:latin typeface="Arial" charset="0"/>
                      </a:endParaRPr>
                    </a:p>
                  </a:txBody>
                  <a:tcPr marT="45721" marB="45721"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a</a:t>
                      </a:r>
                    </a:p>
                  </a:txBody>
                  <a:tcPr marT="45721" marB="45721"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8486" name="Text Box 54">
            <a:extLst>
              <a:ext uri="{FF2B5EF4-FFF2-40B4-BE49-F238E27FC236}">
                <a16:creationId xmlns:a16="http://schemas.microsoft.com/office/drawing/2014/main" id="{EAC1F2E5-DE2D-4D1D-A5FC-82E9370713DB}"/>
              </a:ext>
            </a:extLst>
          </p:cNvPr>
          <p:cNvSpPr txBox="1">
            <a:spLocks noChangeArrowheads="1"/>
          </p:cNvSpPr>
          <p:nvPr/>
        </p:nvSpPr>
        <p:spPr bwMode="auto">
          <a:xfrm>
            <a:off x="381000" y="5911850"/>
            <a:ext cx="8305800" cy="946150"/>
          </a:xfrm>
          <a:prstGeom prst="rect">
            <a:avLst/>
          </a:prstGeom>
          <a:solidFill>
            <a:srgbClr val="DDDDDD"/>
          </a:solidFill>
          <a:ln>
            <a:noFill/>
          </a:ln>
          <a:extLst>
            <a:ext uri="{91240B29-F687-4F45-9708-019B960494DF}">
              <a14:hiddenLine xmlns:a14="http://schemas.microsoft.com/office/drawing/2010/main" w="25400">
                <a:solidFill>
                  <a:srgbClr val="000000"/>
                </a:solidFill>
                <a:miter lim="800000"/>
                <a:headEnd type="none" w="sm" len="sm"/>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2800" b="1">
                <a:solidFill>
                  <a:srgbClr val="A50021"/>
                </a:solidFill>
                <a:latin typeface="Times New Roman" panose="02020603050405020304" pitchFamily="18" charset="0"/>
              </a:rPr>
              <a:t>Template names must be inserted into the symbol table when they are generated.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6" name="Rectangle 51">
            <a:extLst>
              <a:ext uri="{FF2B5EF4-FFF2-40B4-BE49-F238E27FC236}">
                <a16:creationId xmlns:a16="http://schemas.microsoft.com/office/drawing/2014/main" id="{50B4204B-9F1B-4922-A4F7-A7EA23154A58}"/>
              </a:ext>
            </a:extLst>
          </p:cNvPr>
          <p:cNvSpPr>
            <a:spLocks noGrp="1" noChangeArrowheads="1"/>
          </p:cNvSpPr>
          <p:nvPr>
            <p:ph type="title"/>
          </p:nvPr>
        </p:nvSpPr>
        <p:spPr>
          <a:xfrm>
            <a:off x="228600" y="457200"/>
            <a:ext cx="8763000" cy="685800"/>
          </a:xfrm>
          <a:noFill/>
        </p:spPr>
        <p:txBody>
          <a:bodyPr/>
          <a:lstStyle/>
          <a:p>
            <a:pPr eaLnBrk="1" hangingPunct="1"/>
            <a:r>
              <a:rPr lang="en-US" altLang="en-US" sz="3200"/>
              <a:t>Implementation of Three Address Statements</a:t>
            </a:r>
          </a:p>
        </p:txBody>
      </p:sp>
      <p:sp>
        <p:nvSpPr>
          <p:cNvPr id="20482" name="Rectangle 3">
            <a:extLst>
              <a:ext uri="{FF2B5EF4-FFF2-40B4-BE49-F238E27FC236}">
                <a16:creationId xmlns:a16="http://schemas.microsoft.com/office/drawing/2014/main" id="{3ABBB691-7921-44BA-860D-6C534285AA09}"/>
              </a:ext>
            </a:extLst>
          </p:cNvPr>
          <p:cNvSpPr>
            <a:spLocks noGrp="1" noChangeArrowheads="1"/>
          </p:cNvSpPr>
          <p:nvPr>
            <p:ph idx="1"/>
          </p:nvPr>
        </p:nvSpPr>
        <p:spPr>
          <a:xfrm>
            <a:off x="381000" y="1371600"/>
            <a:ext cx="8229600" cy="3886200"/>
          </a:xfrm>
        </p:spPr>
        <p:txBody>
          <a:bodyPr/>
          <a:lstStyle/>
          <a:p>
            <a:pPr eaLnBrk="1" hangingPunct="1"/>
            <a:r>
              <a:rPr lang="en-US" altLang="en-US"/>
              <a:t>Triples</a:t>
            </a:r>
          </a:p>
          <a:p>
            <a:pPr eaLnBrk="1" hangingPunct="1">
              <a:buFont typeface="Wingdings" panose="05000000000000000000" pitchFamily="2" charset="2"/>
              <a:buNone/>
            </a:pPr>
            <a:r>
              <a:rPr lang="en-US" altLang="en-US">
                <a:latin typeface="Verdana" panose="020B0604030504040204" pitchFamily="34" charset="0"/>
              </a:rPr>
              <a:t>t</a:t>
            </a:r>
            <a:r>
              <a:rPr lang="en-US" altLang="en-US" baseline="-25000">
                <a:latin typeface="Verdana" panose="020B0604030504040204" pitchFamily="34" charset="0"/>
              </a:rPr>
              <a:t>1</a:t>
            </a:r>
            <a:r>
              <a:rPr lang="en-US" altLang="en-US">
                <a:latin typeface="Verdana" panose="020B0604030504040204" pitchFamily="34" charset="0"/>
              </a:rPr>
              <a:t>:=- c</a:t>
            </a:r>
          </a:p>
          <a:p>
            <a:pPr eaLnBrk="1" hangingPunct="1">
              <a:buFont typeface="Wingdings" panose="05000000000000000000" pitchFamily="2" charset="2"/>
              <a:buNone/>
            </a:pPr>
            <a:r>
              <a:rPr lang="en-US" altLang="en-US">
                <a:latin typeface="Verdana" panose="020B0604030504040204" pitchFamily="34" charset="0"/>
              </a:rPr>
              <a:t>t</a:t>
            </a:r>
            <a:r>
              <a:rPr lang="en-US" altLang="en-US" baseline="-25000">
                <a:latin typeface="Verdana" panose="020B0604030504040204" pitchFamily="34" charset="0"/>
              </a:rPr>
              <a:t>2</a:t>
            </a:r>
            <a:r>
              <a:rPr lang="en-US" altLang="en-US">
                <a:latin typeface="Verdana" panose="020B0604030504040204" pitchFamily="34" charset="0"/>
              </a:rPr>
              <a:t>:=b * t</a:t>
            </a:r>
            <a:r>
              <a:rPr lang="en-US" altLang="en-US" baseline="-25000">
                <a:latin typeface="Verdana" panose="020B0604030504040204" pitchFamily="34" charset="0"/>
              </a:rPr>
              <a:t>1</a:t>
            </a:r>
          </a:p>
          <a:p>
            <a:pPr eaLnBrk="1" hangingPunct="1">
              <a:buFont typeface="Wingdings" panose="05000000000000000000" pitchFamily="2" charset="2"/>
              <a:buNone/>
            </a:pPr>
            <a:r>
              <a:rPr lang="en-US" altLang="en-US">
                <a:latin typeface="Verdana" panose="020B0604030504040204" pitchFamily="34" charset="0"/>
              </a:rPr>
              <a:t>t</a:t>
            </a:r>
            <a:r>
              <a:rPr lang="en-US" altLang="en-US" baseline="-25000">
                <a:latin typeface="Verdana" panose="020B0604030504040204" pitchFamily="34" charset="0"/>
              </a:rPr>
              <a:t>3</a:t>
            </a:r>
            <a:r>
              <a:rPr lang="en-US" altLang="en-US">
                <a:latin typeface="Verdana" panose="020B0604030504040204" pitchFamily="34" charset="0"/>
              </a:rPr>
              <a:t>:=- c</a:t>
            </a:r>
          </a:p>
          <a:p>
            <a:pPr eaLnBrk="1" hangingPunct="1">
              <a:buFont typeface="Wingdings" panose="05000000000000000000" pitchFamily="2" charset="2"/>
              <a:buNone/>
            </a:pPr>
            <a:r>
              <a:rPr lang="en-US" altLang="en-US">
                <a:latin typeface="Verdana" panose="020B0604030504040204" pitchFamily="34" charset="0"/>
              </a:rPr>
              <a:t>t</a:t>
            </a:r>
            <a:r>
              <a:rPr lang="en-US" altLang="en-US" baseline="-25000">
                <a:latin typeface="Verdana" panose="020B0604030504040204" pitchFamily="34" charset="0"/>
              </a:rPr>
              <a:t>4</a:t>
            </a:r>
            <a:r>
              <a:rPr lang="en-US" altLang="en-US">
                <a:latin typeface="Verdana" panose="020B0604030504040204" pitchFamily="34" charset="0"/>
              </a:rPr>
              <a:t>:=b * t</a:t>
            </a:r>
            <a:r>
              <a:rPr lang="en-US" altLang="en-US" baseline="-25000">
                <a:latin typeface="Verdana" panose="020B0604030504040204" pitchFamily="34" charset="0"/>
              </a:rPr>
              <a:t>3</a:t>
            </a:r>
            <a:endParaRPr lang="en-US" altLang="en-US">
              <a:latin typeface="Verdana" panose="020B0604030504040204" pitchFamily="34" charset="0"/>
            </a:endParaRPr>
          </a:p>
          <a:p>
            <a:pPr eaLnBrk="1" hangingPunct="1">
              <a:buFont typeface="Wingdings" panose="05000000000000000000" pitchFamily="2" charset="2"/>
              <a:buNone/>
            </a:pPr>
            <a:r>
              <a:rPr lang="en-US" altLang="en-US">
                <a:latin typeface="Verdana" panose="020B0604030504040204" pitchFamily="34" charset="0"/>
              </a:rPr>
              <a:t>t</a:t>
            </a:r>
            <a:r>
              <a:rPr lang="en-US" altLang="en-US" baseline="-25000">
                <a:latin typeface="Verdana" panose="020B0604030504040204" pitchFamily="34" charset="0"/>
              </a:rPr>
              <a:t>5</a:t>
            </a:r>
            <a:r>
              <a:rPr lang="en-US" altLang="en-US">
                <a:latin typeface="Verdana" panose="020B0604030504040204" pitchFamily="34" charset="0"/>
              </a:rPr>
              <a:t>:=t</a:t>
            </a:r>
            <a:r>
              <a:rPr lang="en-US" altLang="en-US" baseline="-25000">
                <a:latin typeface="Verdana" panose="020B0604030504040204" pitchFamily="34" charset="0"/>
              </a:rPr>
              <a:t>2</a:t>
            </a:r>
            <a:r>
              <a:rPr lang="en-US" altLang="en-US">
                <a:latin typeface="Verdana" panose="020B0604030504040204" pitchFamily="34" charset="0"/>
              </a:rPr>
              <a:t> + t</a:t>
            </a:r>
            <a:r>
              <a:rPr lang="en-US" altLang="en-US" baseline="-25000">
                <a:latin typeface="Verdana" panose="020B0604030504040204" pitchFamily="34" charset="0"/>
              </a:rPr>
              <a:t>4</a:t>
            </a:r>
            <a:endParaRPr lang="en-US" altLang="en-US">
              <a:latin typeface="Verdana" panose="020B0604030504040204" pitchFamily="34" charset="0"/>
            </a:endParaRPr>
          </a:p>
          <a:p>
            <a:pPr eaLnBrk="1" hangingPunct="1">
              <a:buFont typeface="Wingdings" panose="05000000000000000000" pitchFamily="2" charset="2"/>
              <a:buNone/>
            </a:pPr>
            <a:r>
              <a:rPr lang="en-US" altLang="en-US">
                <a:latin typeface="Verdana" panose="020B0604030504040204" pitchFamily="34" charset="0"/>
              </a:rPr>
              <a:t>a:=t</a:t>
            </a:r>
            <a:r>
              <a:rPr lang="en-US" altLang="en-US" baseline="-25000">
                <a:latin typeface="Verdana" panose="020B0604030504040204" pitchFamily="34" charset="0"/>
              </a:rPr>
              <a:t>5</a:t>
            </a:r>
            <a:endParaRPr lang="en-US" altLang="en-US"/>
          </a:p>
          <a:p>
            <a:pPr eaLnBrk="1" hangingPunct="1">
              <a:buFont typeface="Wingdings" panose="05000000000000000000" pitchFamily="2" charset="2"/>
              <a:buNone/>
            </a:pPr>
            <a:endParaRPr lang="en-US" altLang="en-US"/>
          </a:p>
        </p:txBody>
      </p:sp>
      <p:graphicFrame>
        <p:nvGraphicFramePr>
          <p:cNvPr id="250929" name="Group 49">
            <a:extLst>
              <a:ext uri="{FF2B5EF4-FFF2-40B4-BE49-F238E27FC236}">
                <a16:creationId xmlns:a16="http://schemas.microsoft.com/office/drawing/2014/main" id="{ECE42644-D039-4860-906C-714C335032E6}"/>
              </a:ext>
            </a:extLst>
          </p:cNvPr>
          <p:cNvGraphicFramePr>
            <a:graphicFrameLocks noGrp="1"/>
          </p:cNvGraphicFramePr>
          <p:nvPr/>
        </p:nvGraphicFramePr>
        <p:xfrm>
          <a:off x="3810000" y="1219200"/>
          <a:ext cx="4511675" cy="3987802"/>
        </p:xfrm>
        <a:graphic>
          <a:graphicData uri="http://schemas.openxmlformats.org/drawingml/2006/table">
            <a:tbl>
              <a:tblPr/>
              <a:tblGrid>
                <a:gridCol w="1127125">
                  <a:extLst>
                    <a:ext uri="{9D8B030D-6E8A-4147-A177-3AD203B41FA5}">
                      <a16:colId xmlns:a16="http://schemas.microsoft.com/office/drawing/2014/main" val="20000"/>
                    </a:ext>
                  </a:extLst>
                </a:gridCol>
                <a:gridCol w="1128713">
                  <a:extLst>
                    <a:ext uri="{9D8B030D-6E8A-4147-A177-3AD203B41FA5}">
                      <a16:colId xmlns:a16="http://schemas.microsoft.com/office/drawing/2014/main" val="20001"/>
                    </a:ext>
                  </a:extLst>
                </a:gridCol>
                <a:gridCol w="1127125">
                  <a:extLst>
                    <a:ext uri="{9D8B030D-6E8A-4147-A177-3AD203B41FA5}">
                      <a16:colId xmlns:a16="http://schemas.microsoft.com/office/drawing/2014/main" val="20002"/>
                    </a:ext>
                  </a:extLst>
                </a:gridCol>
                <a:gridCol w="1128712">
                  <a:extLst>
                    <a:ext uri="{9D8B030D-6E8A-4147-A177-3AD203B41FA5}">
                      <a16:colId xmlns:a16="http://schemas.microsoft.com/office/drawing/2014/main" val="20003"/>
                    </a:ext>
                  </a:extLst>
                </a:gridCol>
              </a:tblGrid>
              <a:tr h="5699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1" u="none" strike="noStrike" cap="none" normalizeH="0" baseline="0">
                          <a:ln>
                            <a:noFill/>
                          </a:ln>
                          <a:solidFill>
                            <a:schemeClr val="tx1"/>
                          </a:solidFill>
                          <a:effectLst/>
                          <a:latin typeface="Arial" charset="0"/>
                        </a:rPr>
                        <a:t>op</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1" u="none" strike="noStrike" cap="none" normalizeH="0" baseline="0">
                          <a:ln>
                            <a:noFill/>
                          </a:ln>
                          <a:solidFill>
                            <a:schemeClr val="tx1"/>
                          </a:solidFill>
                          <a:effectLst/>
                          <a:latin typeface="Arial" charset="0"/>
                        </a:rPr>
                        <a:t>arg1</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1" u="none" strike="noStrike" cap="none" normalizeH="0" baseline="0">
                          <a:ln>
                            <a:noFill/>
                          </a:ln>
                          <a:solidFill>
                            <a:schemeClr val="tx1"/>
                          </a:solidFill>
                          <a:effectLst/>
                          <a:latin typeface="Arial" charset="0"/>
                        </a:rPr>
                        <a:t>arg2</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0"/>
                  </a:ext>
                </a:extLst>
              </a:tr>
              <a:tr h="5683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(0)</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uminus</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c</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1"/>
                  </a:ext>
                </a:extLst>
              </a:tr>
              <a:tr h="5699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(1)</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b</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(0)</a:t>
                      </a:r>
                      <a:endParaRPr kumimoji="0" lang="en-US" sz="2800" b="0" i="0" u="none" strike="noStrike" cap="none" normalizeH="0" baseline="-2500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2"/>
                  </a:ext>
                </a:extLst>
              </a:tr>
              <a:tr h="5715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(2)</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uminus</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c</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3"/>
                  </a:ext>
                </a:extLst>
              </a:tr>
              <a:tr h="5699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(3)</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b</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(2)</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4"/>
                  </a:ext>
                </a:extLst>
              </a:tr>
              <a:tr h="5683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(4)</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(3)</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5"/>
                  </a:ext>
                </a:extLst>
              </a:tr>
              <a:tr h="5699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(5)</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assign</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a</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(4)</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0525" name="Text Box 46">
            <a:extLst>
              <a:ext uri="{FF2B5EF4-FFF2-40B4-BE49-F238E27FC236}">
                <a16:creationId xmlns:a16="http://schemas.microsoft.com/office/drawing/2014/main" id="{5157CD6A-1F94-482C-B284-CEDF33E69D61}"/>
              </a:ext>
            </a:extLst>
          </p:cNvPr>
          <p:cNvSpPr txBox="1">
            <a:spLocks noChangeArrowheads="1"/>
          </p:cNvSpPr>
          <p:nvPr/>
        </p:nvSpPr>
        <p:spPr bwMode="auto">
          <a:xfrm>
            <a:off x="381000" y="5562600"/>
            <a:ext cx="8305800" cy="457200"/>
          </a:xfrm>
          <a:prstGeom prst="rect">
            <a:avLst/>
          </a:prstGeom>
          <a:solidFill>
            <a:srgbClr val="DDDDDD"/>
          </a:solidFill>
          <a:ln>
            <a:noFill/>
          </a:ln>
          <a:extLst>
            <a:ext uri="{91240B29-F687-4F45-9708-019B960494DF}">
              <a14:hiddenLine xmlns:a14="http://schemas.microsoft.com/office/drawing/2010/main" w="25400">
                <a:solidFill>
                  <a:srgbClr val="000000"/>
                </a:solidFill>
                <a:miter lim="800000"/>
                <a:headEnd type="none" w="sm" len="sm"/>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2400" b="1">
                <a:solidFill>
                  <a:srgbClr val="A50021"/>
                </a:solidFill>
                <a:latin typeface="Times New Roman" panose="02020603050405020304" pitchFamily="18" charset="0"/>
              </a:rPr>
              <a:t>Template names are not inserted into symbol tables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573B2406-3527-4440-8CFA-322E93B18456}"/>
              </a:ext>
            </a:extLst>
          </p:cNvPr>
          <p:cNvSpPr>
            <a:spLocks noGrp="1" noChangeArrowheads="1"/>
          </p:cNvSpPr>
          <p:nvPr>
            <p:ph type="title"/>
          </p:nvPr>
        </p:nvSpPr>
        <p:spPr>
          <a:xfrm>
            <a:off x="457200" y="457200"/>
            <a:ext cx="8229600" cy="762000"/>
          </a:xfrm>
        </p:spPr>
        <p:txBody>
          <a:bodyPr/>
          <a:lstStyle/>
          <a:p>
            <a:pPr eaLnBrk="1" hangingPunct="1"/>
            <a:r>
              <a:rPr lang="en-US" altLang="en-US" sz="3200"/>
              <a:t>More Triple Representations</a:t>
            </a:r>
          </a:p>
        </p:txBody>
      </p:sp>
      <p:sp>
        <p:nvSpPr>
          <p:cNvPr id="22531" name="Rectangle 3">
            <a:extLst>
              <a:ext uri="{FF2B5EF4-FFF2-40B4-BE49-F238E27FC236}">
                <a16:creationId xmlns:a16="http://schemas.microsoft.com/office/drawing/2014/main" id="{7A4D02BF-E8EB-435B-808B-5CEE133559D7}"/>
              </a:ext>
            </a:extLst>
          </p:cNvPr>
          <p:cNvSpPr>
            <a:spLocks noGrp="1" noChangeArrowheads="1"/>
          </p:cNvSpPr>
          <p:nvPr>
            <p:ph idx="1"/>
          </p:nvPr>
        </p:nvSpPr>
        <p:spPr>
          <a:xfrm>
            <a:off x="457200" y="1295400"/>
            <a:ext cx="8229600" cy="1066800"/>
          </a:xfrm>
        </p:spPr>
        <p:txBody>
          <a:bodyPr>
            <a:normAutofit lnSpcReduction="10000"/>
          </a:bodyPr>
          <a:lstStyle/>
          <a:p>
            <a:pPr eaLnBrk="1" hangingPunct="1">
              <a:lnSpc>
                <a:spcPct val="80000"/>
              </a:lnSpc>
            </a:pPr>
            <a:r>
              <a:rPr lang="en-US" altLang="en-US" sz="2400"/>
              <a:t>Example </a:t>
            </a:r>
            <a:br>
              <a:rPr lang="en-US" altLang="en-US" sz="2400"/>
            </a:br>
            <a:r>
              <a:rPr lang="en-US" altLang="en-US" sz="2400">
                <a:latin typeface="Verdana" panose="020B0604030504040204" pitchFamily="34" charset="0"/>
              </a:rPr>
              <a:t>x[i]:=y			x:=y[i]	</a:t>
            </a:r>
          </a:p>
          <a:p>
            <a:pPr eaLnBrk="1" hangingPunct="1">
              <a:lnSpc>
                <a:spcPct val="80000"/>
              </a:lnSpc>
            </a:pPr>
            <a:r>
              <a:rPr lang="en-US" altLang="en-US" sz="2400">
                <a:latin typeface="Verdana" panose="020B0604030504040204" pitchFamily="34" charset="0"/>
              </a:rPr>
              <a:t>Use  triple structures</a:t>
            </a:r>
          </a:p>
          <a:p>
            <a:pPr eaLnBrk="1" hangingPunct="1">
              <a:lnSpc>
                <a:spcPct val="80000"/>
              </a:lnSpc>
              <a:buFont typeface="Wingdings" panose="05000000000000000000" pitchFamily="2" charset="2"/>
              <a:buNone/>
            </a:pPr>
            <a:endParaRPr lang="en-US" altLang="en-US" sz="2400">
              <a:latin typeface="Verdana" panose="020B0604030504040204" pitchFamily="34" charset="0"/>
            </a:endParaRPr>
          </a:p>
        </p:txBody>
      </p:sp>
      <p:graphicFrame>
        <p:nvGraphicFramePr>
          <p:cNvPr id="252932" name="Group 4">
            <a:extLst>
              <a:ext uri="{FF2B5EF4-FFF2-40B4-BE49-F238E27FC236}">
                <a16:creationId xmlns:a16="http://schemas.microsoft.com/office/drawing/2014/main" id="{20B8438D-A816-4A4F-BEF2-3939C75B1000}"/>
              </a:ext>
            </a:extLst>
          </p:cNvPr>
          <p:cNvGraphicFramePr>
            <a:graphicFrameLocks noGrp="1"/>
          </p:cNvGraphicFramePr>
          <p:nvPr/>
        </p:nvGraphicFramePr>
        <p:xfrm>
          <a:off x="2438400" y="2565400"/>
          <a:ext cx="4511675" cy="1708151"/>
        </p:xfrm>
        <a:graphic>
          <a:graphicData uri="http://schemas.openxmlformats.org/drawingml/2006/table">
            <a:tbl>
              <a:tblPr/>
              <a:tblGrid>
                <a:gridCol w="1127125">
                  <a:extLst>
                    <a:ext uri="{9D8B030D-6E8A-4147-A177-3AD203B41FA5}">
                      <a16:colId xmlns:a16="http://schemas.microsoft.com/office/drawing/2014/main" val="20000"/>
                    </a:ext>
                  </a:extLst>
                </a:gridCol>
                <a:gridCol w="1128713">
                  <a:extLst>
                    <a:ext uri="{9D8B030D-6E8A-4147-A177-3AD203B41FA5}">
                      <a16:colId xmlns:a16="http://schemas.microsoft.com/office/drawing/2014/main" val="20001"/>
                    </a:ext>
                  </a:extLst>
                </a:gridCol>
                <a:gridCol w="1127125">
                  <a:extLst>
                    <a:ext uri="{9D8B030D-6E8A-4147-A177-3AD203B41FA5}">
                      <a16:colId xmlns:a16="http://schemas.microsoft.com/office/drawing/2014/main" val="20002"/>
                    </a:ext>
                  </a:extLst>
                </a:gridCol>
                <a:gridCol w="1128712">
                  <a:extLst>
                    <a:ext uri="{9D8B030D-6E8A-4147-A177-3AD203B41FA5}">
                      <a16:colId xmlns:a16="http://schemas.microsoft.com/office/drawing/2014/main" val="20003"/>
                    </a:ext>
                  </a:extLst>
                </a:gridCol>
              </a:tblGrid>
              <a:tr h="5699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1" u="none" strike="noStrike" cap="none" normalizeH="0" baseline="0">
                          <a:ln>
                            <a:noFill/>
                          </a:ln>
                          <a:solidFill>
                            <a:schemeClr val="tx1"/>
                          </a:solidFill>
                          <a:effectLst/>
                          <a:latin typeface="Arial" charset="0"/>
                        </a:rPr>
                        <a:t>op</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1" u="none" strike="noStrike" cap="none" normalizeH="0" baseline="0">
                          <a:ln>
                            <a:noFill/>
                          </a:ln>
                          <a:solidFill>
                            <a:schemeClr val="tx1"/>
                          </a:solidFill>
                          <a:effectLst/>
                          <a:latin typeface="Arial" charset="0"/>
                        </a:rPr>
                        <a:t>arg1</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1" u="none" strike="noStrike" cap="none" normalizeH="0" baseline="0">
                          <a:ln>
                            <a:noFill/>
                          </a:ln>
                          <a:solidFill>
                            <a:schemeClr val="tx1"/>
                          </a:solidFill>
                          <a:effectLst/>
                          <a:latin typeface="Arial" charset="0"/>
                        </a:rPr>
                        <a:t>arg2</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0"/>
                  </a:ext>
                </a:extLst>
              </a:tr>
              <a:tr h="5683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(0)</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 ] </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x</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i</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1"/>
                  </a:ext>
                </a:extLst>
              </a:tr>
              <a:tr h="5699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(1)</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y</a:t>
                      </a:r>
                      <a:endParaRPr kumimoji="0" lang="en-US" sz="2800" b="0" i="0" u="none" strike="noStrike" cap="none" normalizeH="0" baseline="-2500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52954" name="Group 26">
            <a:extLst>
              <a:ext uri="{FF2B5EF4-FFF2-40B4-BE49-F238E27FC236}">
                <a16:creationId xmlns:a16="http://schemas.microsoft.com/office/drawing/2014/main" id="{C0D4A69E-6C9C-4CB2-B282-91E78393D0DE}"/>
              </a:ext>
            </a:extLst>
          </p:cNvPr>
          <p:cNvGraphicFramePr>
            <a:graphicFrameLocks noGrp="1"/>
          </p:cNvGraphicFramePr>
          <p:nvPr/>
        </p:nvGraphicFramePr>
        <p:xfrm>
          <a:off x="2422525" y="4648200"/>
          <a:ext cx="4511675" cy="1708151"/>
        </p:xfrm>
        <a:graphic>
          <a:graphicData uri="http://schemas.openxmlformats.org/drawingml/2006/table">
            <a:tbl>
              <a:tblPr/>
              <a:tblGrid>
                <a:gridCol w="1127125">
                  <a:extLst>
                    <a:ext uri="{9D8B030D-6E8A-4147-A177-3AD203B41FA5}">
                      <a16:colId xmlns:a16="http://schemas.microsoft.com/office/drawing/2014/main" val="20000"/>
                    </a:ext>
                  </a:extLst>
                </a:gridCol>
                <a:gridCol w="1128713">
                  <a:extLst>
                    <a:ext uri="{9D8B030D-6E8A-4147-A177-3AD203B41FA5}">
                      <a16:colId xmlns:a16="http://schemas.microsoft.com/office/drawing/2014/main" val="20001"/>
                    </a:ext>
                  </a:extLst>
                </a:gridCol>
                <a:gridCol w="1127125">
                  <a:extLst>
                    <a:ext uri="{9D8B030D-6E8A-4147-A177-3AD203B41FA5}">
                      <a16:colId xmlns:a16="http://schemas.microsoft.com/office/drawing/2014/main" val="20002"/>
                    </a:ext>
                  </a:extLst>
                </a:gridCol>
                <a:gridCol w="1128712">
                  <a:extLst>
                    <a:ext uri="{9D8B030D-6E8A-4147-A177-3AD203B41FA5}">
                      <a16:colId xmlns:a16="http://schemas.microsoft.com/office/drawing/2014/main" val="20003"/>
                    </a:ext>
                  </a:extLst>
                </a:gridCol>
              </a:tblGrid>
              <a:tr h="5699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1" u="none" strike="noStrike" cap="none" normalizeH="0" baseline="0">
                          <a:ln>
                            <a:noFill/>
                          </a:ln>
                          <a:solidFill>
                            <a:schemeClr val="tx1"/>
                          </a:solidFill>
                          <a:effectLst/>
                          <a:latin typeface="Arial" charset="0"/>
                        </a:rPr>
                        <a:t>op</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1" u="none" strike="noStrike" cap="none" normalizeH="0" baseline="0">
                          <a:ln>
                            <a:noFill/>
                          </a:ln>
                          <a:solidFill>
                            <a:schemeClr val="tx1"/>
                          </a:solidFill>
                          <a:effectLst/>
                          <a:latin typeface="Arial" charset="0"/>
                        </a:rPr>
                        <a:t>arg1</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1" u="none" strike="noStrike" cap="none" normalizeH="0" baseline="0">
                          <a:ln>
                            <a:noFill/>
                          </a:ln>
                          <a:solidFill>
                            <a:schemeClr val="tx1"/>
                          </a:solidFill>
                          <a:effectLst/>
                          <a:latin typeface="Arial" charset="0"/>
                        </a:rPr>
                        <a:t>arg2</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0"/>
                  </a:ext>
                </a:extLst>
              </a:tr>
              <a:tr h="5683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(0)</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 ]</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y</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i</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1"/>
                  </a:ext>
                </a:extLst>
              </a:tr>
              <a:tr h="5699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(1)</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x</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47" name="Rectangle 78">
            <a:extLst>
              <a:ext uri="{FF2B5EF4-FFF2-40B4-BE49-F238E27FC236}">
                <a16:creationId xmlns:a16="http://schemas.microsoft.com/office/drawing/2014/main" id="{43D679D9-DD08-4360-BD61-E0EF7CC132B3}"/>
              </a:ext>
            </a:extLst>
          </p:cNvPr>
          <p:cNvSpPr>
            <a:spLocks noGrp="1" noChangeArrowheads="1"/>
          </p:cNvSpPr>
          <p:nvPr>
            <p:ph type="title"/>
          </p:nvPr>
        </p:nvSpPr>
        <p:spPr>
          <a:xfrm>
            <a:off x="228600" y="457200"/>
            <a:ext cx="8763000" cy="685800"/>
          </a:xfrm>
          <a:noFill/>
        </p:spPr>
        <p:txBody>
          <a:bodyPr/>
          <a:lstStyle/>
          <a:p>
            <a:pPr eaLnBrk="1" hangingPunct="1"/>
            <a:r>
              <a:rPr lang="en-US" altLang="en-US" sz="3200"/>
              <a:t>Implementation of Three Address Statements</a:t>
            </a:r>
          </a:p>
        </p:txBody>
      </p:sp>
      <p:sp>
        <p:nvSpPr>
          <p:cNvPr id="24578" name="Rectangle 3">
            <a:extLst>
              <a:ext uri="{FF2B5EF4-FFF2-40B4-BE49-F238E27FC236}">
                <a16:creationId xmlns:a16="http://schemas.microsoft.com/office/drawing/2014/main" id="{1BA63758-8451-48ED-AD15-811F3E9D9834}"/>
              </a:ext>
            </a:extLst>
          </p:cNvPr>
          <p:cNvSpPr>
            <a:spLocks noGrp="1" noChangeArrowheads="1"/>
          </p:cNvSpPr>
          <p:nvPr>
            <p:ph idx="1"/>
          </p:nvPr>
        </p:nvSpPr>
        <p:spPr>
          <a:xfrm>
            <a:off x="609600" y="1245870"/>
            <a:ext cx="8229600" cy="762000"/>
          </a:xfrm>
        </p:spPr>
        <p:txBody>
          <a:bodyPr>
            <a:normAutofit fontScale="92500"/>
          </a:bodyPr>
          <a:lstStyle/>
          <a:p>
            <a:pPr eaLnBrk="1" hangingPunct="1"/>
            <a:r>
              <a:rPr lang="en-US" altLang="en-US" dirty="0"/>
              <a:t>Indirect triples is considered a listing of pointers to triples.</a:t>
            </a:r>
          </a:p>
        </p:txBody>
      </p:sp>
      <p:graphicFrame>
        <p:nvGraphicFramePr>
          <p:cNvPr id="255052" name="Group 76">
            <a:extLst>
              <a:ext uri="{FF2B5EF4-FFF2-40B4-BE49-F238E27FC236}">
                <a16:creationId xmlns:a16="http://schemas.microsoft.com/office/drawing/2014/main" id="{8E99C3AE-8C90-4DE1-A03C-B2754F959F1C}"/>
              </a:ext>
            </a:extLst>
          </p:cNvPr>
          <p:cNvGraphicFramePr>
            <a:graphicFrameLocks noGrp="1"/>
          </p:cNvGraphicFramePr>
          <p:nvPr>
            <p:extLst>
              <p:ext uri="{D42A27DB-BD31-4B8C-83A1-F6EECF244321}">
                <p14:modId xmlns:p14="http://schemas.microsoft.com/office/powerpoint/2010/main" val="3749413696"/>
              </p:ext>
            </p:extLst>
          </p:nvPr>
        </p:nvGraphicFramePr>
        <p:xfrm>
          <a:off x="3581400" y="2133600"/>
          <a:ext cx="4511675" cy="3987802"/>
        </p:xfrm>
        <a:graphic>
          <a:graphicData uri="http://schemas.openxmlformats.org/drawingml/2006/table">
            <a:tbl>
              <a:tblPr/>
              <a:tblGrid>
                <a:gridCol w="1127125">
                  <a:extLst>
                    <a:ext uri="{9D8B030D-6E8A-4147-A177-3AD203B41FA5}">
                      <a16:colId xmlns:a16="http://schemas.microsoft.com/office/drawing/2014/main" val="20000"/>
                    </a:ext>
                  </a:extLst>
                </a:gridCol>
                <a:gridCol w="1128713">
                  <a:extLst>
                    <a:ext uri="{9D8B030D-6E8A-4147-A177-3AD203B41FA5}">
                      <a16:colId xmlns:a16="http://schemas.microsoft.com/office/drawing/2014/main" val="20001"/>
                    </a:ext>
                  </a:extLst>
                </a:gridCol>
                <a:gridCol w="1127125">
                  <a:extLst>
                    <a:ext uri="{9D8B030D-6E8A-4147-A177-3AD203B41FA5}">
                      <a16:colId xmlns:a16="http://schemas.microsoft.com/office/drawing/2014/main" val="20002"/>
                    </a:ext>
                  </a:extLst>
                </a:gridCol>
                <a:gridCol w="1128712">
                  <a:extLst>
                    <a:ext uri="{9D8B030D-6E8A-4147-A177-3AD203B41FA5}">
                      <a16:colId xmlns:a16="http://schemas.microsoft.com/office/drawing/2014/main" val="20003"/>
                    </a:ext>
                  </a:extLst>
                </a:gridCol>
              </a:tblGrid>
              <a:tr h="5699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1" u="none" strike="noStrike" cap="none" normalizeH="0" baseline="0">
                          <a:ln>
                            <a:noFill/>
                          </a:ln>
                          <a:solidFill>
                            <a:schemeClr val="tx1"/>
                          </a:solidFill>
                          <a:effectLst/>
                          <a:latin typeface="Arial" charset="0"/>
                        </a:rPr>
                        <a:t>op</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1" u="none" strike="noStrike" cap="none" normalizeH="0" baseline="0">
                          <a:ln>
                            <a:noFill/>
                          </a:ln>
                          <a:solidFill>
                            <a:schemeClr val="tx1"/>
                          </a:solidFill>
                          <a:effectLst/>
                          <a:latin typeface="Arial" charset="0"/>
                        </a:rPr>
                        <a:t>arg1</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1" u="none" strike="noStrike" cap="none" normalizeH="0" baseline="0">
                          <a:ln>
                            <a:noFill/>
                          </a:ln>
                          <a:solidFill>
                            <a:schemeClr val="tx1"/>
                          </a:solidFill>
                          <a:effectLst/>
                          <a:latin typeface="Arial" charset="0"/>
                        </a:rPr>
                        <a:t>arg2</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0"/>
                  </a:ext>
                </a:extLst>
              </a:tr>
              <a:tr h="5683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(14)</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uminus</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c</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1"/>
                  </a:ext>
                </a:extLst>
              </a:tr>
              <a:tr h="5699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(15)</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b</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(14)</a:t>
                      </a:r>
                      <a:endParaRPr kumimoji="0" lang="en-US" sz="2000" b="0" i="0" u="none" strike="noStrike" cap="none" normalizeH="0" baseline="-2500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2"/>
                  </a:ext>
                </a:extLst>
              </a:tr>
              <a:tr h="5715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(16)</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uminus</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c</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endParaRPr kumimoji="0" lang="en-US" sz="20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3"/>
                  </a:ext>
                </a:extLst>
              </a:tr>
              <a:tr h="5699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(17)</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b</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(16)</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4"/>
                  </a:ext>
                </a:extLst>
              </a:tr>
              <a:tr h="5683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(18)</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(15)</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(17)</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5"/>
                  </a:ext>
                </a:extLst>
              </a:tr>
              <a:tr h="5699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(19)</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assign</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a</a:t>
                      </a:r>
                    </a:p>
                  </a:txBody>
                  <a:tcPr horzOverflow="overflow">
                    <a:lnL w="12700"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000" b="0" i="0" u="none" strike="noStrike" cap="none" normalizeH="0" baseline="0">
                          <a:ln>
                            <a:noFill/>
                          </a:ln>
                          <a:solidFill>
                            <a:schemeClr val="tx1"/>
                          </a:solidFill>
                          <a:effectLst/>
                          <a:latin typeface="Arial" charset="0"/>
                        </a:rPr>
                        <a:t>(18)</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255022" name="Group 46">
            <a:extLst>
              <a:ext uri="{FF2B5EF4-FFF2-40B4-BE49-F238E27FC236}">
                <a16:creationId xmlns:a16="http://schemas.microsoft.com/office/drawing/2014/main" id="{AD4DB9CE-4FF4-4C71-BE07-3EFF8381ACE5}"/>
              </a:ext>
            </a:extLst>
          </p:cNvPr>
          <p:cNvGraphicFramePr>
            <a:graphicFrameLocks noGrp="1"/>
          </p:cNvGraphicFramePr>
          <p:nvPr>
            <p:extLst>
              <p:ext uri="{D42A27DB-BD31-4B8C-83A1-F6EECF244321}">
                <p14:modId xmlns:p14="http://schemas.microsoft.com/office/powerpoint/2010/main" val="1397246645"/>
              </p:ext>
            </p:extLst>
          </p:nvPr>
        </p:nvGraphicFramePr>
        <p:xfrm>
          <a:off x="1295400" y="2133600"/>
          <a:ext cx="2255838" cy="3987802"/>
        </p:xfrm>
        <a:graphic>
          <a:graphicData uri="http://schemas.openxmlformats.org/drawingml/2006/table">
            <a:tbl>
              <a:tblPr/>
              <a:tblGrid>
                <a:gridCol w="1127125">
                  <a:extLst>
                    <a:ext uri="{9D8B030D-6E8A-4147-A177-3AD203B41FA5}">
                      <a16:colId xmlns:a16="http://schemas.microsoft.com/office/drawing/2014/main" val="20000"/>
                    </a:ext>
                  </a:extLst>
                </a:gridCol>
                <a:gridCol w="1128713">
                  <a:extLst>
                    <a:ext uri="{9D8B030D-6E8A-4147-A177-3AD203B41FA5}">
                      <a16:colId xmlns:a16="http://schemas.microsoft.com/office/drawing/2014/main" val="20001"/>
                    </a:ext>
                  </a:extLst>
                </a:gridCol>
              </a:tblGrid>
              <a:tr h="5699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1" u="none" strike="noStrike" cap="none" normalizeH="0" baseline="0">
                          <a:ln>
                            <a:noFill/>
                          </a:ln>
                          <a:solidFill>
                            <a:schemeClr val="tx1"/>
                          </a:solidFill>
                          <a:effectLst/>
                          <a:latin typeface="Arial" charset="0"/>
                        </a:rPr>
                        <a:t>op</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28575"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0"/>
                  </a:ext>
                </a:extLst>
              </a:tr>
              <a:tr h="5683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(0)</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(14)</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1"/>
                  </a:ext>
                </a:extLst>
              </a:tr>
              <a:tr h="5699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(1)</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dirty="0">
                          <a:ln>
                            <a:noFill/>
                          </a:ln>
                          <a:solidFill>
                            <a:schemeClr val="tx1"/>
                          </a:solidFill>
                          <a:effectLst/>
                          <a:latin typeface="Arial" charset="0"/>
                        </a:rPr>
                        <a:t>(15)</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2"/>
                  </a:ext>
                </a:extLst>
              </a:tr>
              <a:tr h="5715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(2)</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(16)</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3"/>
                  </a:ext>
                </a:extLst>
              </a:tr>
              <a:tr h="5699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(3)</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(17)</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4"/>
                  </a:ext>
                </a:extLst>
              </a:tr>
              <a:tr h="5683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(4)</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(18)</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12700"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5"/>
                  </a:ext>
                </a:extLst>
              </a:tr>
              <a:tr h="5699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a:ln>
                            <a:noFill/>
                          </a:ln>
                          <a:solidFill>
                            <a:schemeClr val="tx1"/>
                          </a:solidFill>
                          <a:effectLst/>
                          <a:latin typeface="Arial" charset="0"/>
                        </a:rPr>
                        <a:t>(5)</a:t>
                      </a:r>
                    </a:p>
                  </a:txBody>
                  <a:tcPr horzOverflow="overflow">
                    <a:lnL w="28575" cap="flat" cmpd="sng" algn="ctr">
                      <a:solidFill>
                        <a:schemeClr val="tx1"/>
                      </a:solidFill>
                      <a:prstDash val="solid"/>
                      <a:round/>
                      <a:headEnd type="none" w="sm" len="sm"/>
                      <a:tailEnd type="none" w="med" len="med"/>
                    </a:lnL>
                    <a:lnR w="12700"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tab pos="1025525" algn="l"/>
                        </a:tabLst>
                      </a:pPr>
                      <a:r>
                        <a:rPr kumimoji="0" lang="en-US" sz="2800" b="0" i="0" u="none" strike="noStrike" cap="none" normalizeH="0" baseline="0" dirty="0">
                          <a:ln>
                            <a:noFill/>
                          </a:ln>
                          <a:solidFill>
                            <a:schemeClr val="tx1"/>
                          </a:solidFill>
                          <a:effectLst/>
                          <a:latin typeface="Arial" charset="0"/>
                        </a:rPr>
                        <a:t>(19)</a:t>
                      </a:r>
                    </a:p>
                  </a:txBody>
                  <a:tcPr horzOverflow="overflow">
                    <a:lnL w="12700" cap="flat" cmpd="sng" algn="ctr">
                      <a:solidFill>
                        <a:schemeClr val="tx1"/>
                      </a:solidFill>
                      <a:prstDash val="solid"/>
                      <a:round/>
                      <a:headEnd type="none" w="sm" len="sm"/>
                      <a:tailEnd type="none" w="med" len="med"/>
                    </a:lnL>
                    <a:lnR w="28575" cap="flat" cmpd="sng" algn="ctr">
                      <a:solidFill>
                        <a:schemeClr val="tx1"/>
                      </a:solidFill>
                      <a:prstDash val="solid"/>
                      <a:round/>
                      <a:headEnd type="none" w="sm" len="sm"/>
                      <a:tailEnd type="none" w="med" len="med"/>
                    </a:lnR>
                    <a:lnT w="12700" cap="flat" cmpd="sng" algn="ctr">
                      <a:solidFill>
                        <a:schemeClr val="tx1"/>
                      </a:solidFill>
                      <a:prstDash val="solid"/>
                      <a:round/>
                      <a:headEnd type="none" w="sm" len="sm"/>
                      <a:tailEnd type="none" w="med" len="med"/>
                    </a:lnT>
                    <a:lnB w="28575" cap="flat" cmpd="sng" algn="ctr">
                      <a:solidFill>
                        <a:schemeClr val="tx1"/>
                      </a:solidFill>
                      <a:prstDash val="solid"/>
                      <a:round/>
                      <a:headEnd type="none" w="sm" len="sm"/>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9B43B0A4-EB0C-4595-B79F-DDD620C02FBD}"/>
              </a:ext>
            </a:extLst>
          </p:cNvPr>
          <p:cNvSpPr>
            <a:spLocks noGrp="1" noChangeArrowheads="1"/>
          </p:cNvSpPr>
          <p:nvPr>
            <p:ph type="title"/>
          </p:nvPr>
        </p:nvSpPr>
        <p:spPr>
          <a:xfrm>
            <a:off x="457200" y="152400"/>
            <a:ext cx="8229600" cy="685800"/>
          </a:xfrm>
        </p:spPr>
        <p:txBody>
          <a:bodyPr/>
          <a:lstStyle/>
          <a:p>
            <a:pPr eaLnBrk="1" hangingPunct="1"/>
            <a:r>
              <a:rPr lang="en-US" altLang="en-US" sz="4000" dirty="0"/>
              <a:t>Intermediate Code for Declarations</a:t>
            </a:r>
          </a:p>
        </p:txBody>
      </p:sp>
      <p:sp>
        <p:nvSpPr>
          <p:cNvPr id="26627" name="Rectangle 3">
            <a:extLst>
              <a:ext uri="{FF2B5EF4-FFF2-40B4-BE49-F238E27FC236}">
                <a16:creationId xmlns:a16="http://schemas.microsoft.com/office/drawing/2014/main" id="{CEB1F174-8AAA-4BE8-B53A-B912EE7B7EEA}"/>
              </a:ext>
            </a:extLst>
          </p:cNvPr>
          <p:cNvSpPr>
            <a:spLocks noGrp="1" noChangeArrowheads="1"/>
          </p:cNvSpPr>
          <p:nvPr>
            <p:ph idx="1"/>
          </p:nvPr>
        </p:nvSpPr>
        <p:spPr>
          <a:xfrm>
            <a:off x="228600" y="838200"/>
            <a:ext cx="8763000" cy="5867400"/>
          </a:xfrm>
        </p:spPr>
        <p:txBody>
          <a:bodyPr/>
          <a:lstStyle/>
          <a:p>
            <a:pPr eaLnBrk="1" hangingPunct="1">
              <a:buFont typeface="Wingdings" panose="05000000000000000000" pitchFamily="2" charset="2"/>
              <a:buNone/>
            </a:pPr>
            <a:r>
              <a:rPr lang="en-US" altLang="en-US" sz="2000" b="1" i="1" dirty="0"/>
              <a:t>offset </a:t>
            </a:r>
            <a:r>
              <a:rPr lang="en-US" altLang="en-US" sz="2000" dirty="0"/>
              <a:t>is a global variable can keep track of the next available relative address</a:t>
            </a:r>
            <a:r>
              <a:rPr lang="en-US" altLang="en-US" sz="2000" b="1" i="1" dirty="0"/>
              <a:t>. </a:t>
            </a:r>
          </a:p>
          <a:p>
            <a:pPr eaLnBrk="1" hangingPunct="1">
              <a:buFont typeface="Wingdings" panose="05000000000000000000" pitchFamily="2" charset="2"/>
              <a:buNone/>
            </a:pPr>
            <a:r>
              <a:rPr lang="en-US" altLang="en-US" sz="2000" dirty="0"/>
              <a:t>Attribute </a:t>
            </a:r>
            <a:r>
              <a:rPr lang="en-US" altLang="en-US" sz="2000" b="1" i="1" dirty="0"/>
              <a:t>Type</a:t>
            </a:r>
            <a:r>
              <a:rPr lang="en-US" altLang="en-US" sz="2000" dirty="0"/>
              <a:t> represent a type expression constructed from basic types, </a:t>
            </a:r>
          </a:p>
          <a:p>
            <a:pPr eaLnBrk="1" hangingPunct="1">
              <a:buFont typeface="Wingdings" panose="05000000000000000000" pitchFamily="2" charset="2"/>
              <a:buNone/>
            </a:pPr>
            <a:r>
              <a:rPr lang="en-US" altLang="en-US" sz="2000" dirty="0"/>
              <a:t>attribute </a:t>
            </a:r>
            <a:r>
              <a:rPr lang="en-US" altLang="en-US" sz="2000" b="1" i="1" dirty="0"/>
              <a:t>Width</a:t>
            </a:r>
            <a:r>
              <a:rPr lang="en-US" altLang="en-US" sz="2000" dirty="0"/>
              <a:t> indicate number of memory units taken by object of that type</a:t>
            </a:r>
          </a:p>
          <a:p>
            <a:pPr eaLnBrk="1" hangingPunct="1">
              <a:buFont typeface="Wingdings" panose="05000000000000000000" pitchFamily="2" charset="2"/>
              <a:buNone/>
            </a:pPr>
            <a:r>
              <a:rPr lang="en-US" altLang="en-US" sz="2000" b="1" u="sng" dirty="0"/>
              <a:t>Productions	                            Semantic Rules   </a:t>
            </a:r>
          </a:p>
          <a:p>
            <a:pPr eaLnBrk="1" hangingPunct="1">
              <a:buFont typeface="Wingdings" panose="05000000000000000000" pitchFamily="2" charset="2"/>
              <a:buNone/>
            </a:pPr>
            <a:r>
              <a:rPr lang="en-US" altLang="en-US" sz="2000" b="1" dirty="0"/>
              <a:t>P </a:t>
            </a:r>
            <a:r>
              <a:rPr lang="en-US" altLang="en-US" sz="2000" b="1" dirty="0">
                <a:sym typeface="Symbol" panose="05050102010706020507" pitchFamily="18" charset="2"/>
              </a:rPr>
              <a:t> M D 		{ }</a:t>
            </a:r>
          </a:p>
          <a:p>
            <a:pPr eaLnBrk="1" hangingPunct="1">
              <a:buFont typeface="Wingdings" panose="05000000000000000000" pitchFamily="2" charset="2"/>
              <a:buNone/>
            </a:pPr>
            <a:r>
              <a:rPr lang="en-US" altLang="en-US" sz="2000" b="1" dirty="0">
                <a:sym typeface="Symbol" panose="05050102010706020507" pitchFamily="18" charset="2"/>
              </a:rPr>
              <a:t>M  			{</a:t>
            </a:r>
            <a:r>
              <a:rPr lang="en-US" altLang="en-US" sz="2000" b="1" i="1" dirty="0">
                <a:sym typeface="Symbol" panose="05050102010706020507" pitchFamily="18" charset="2"/>
              </a:rPr>
              <a:t>offset</a:t>
            </a:r>
            <a:r>
              <a:rPr lang="en-US" altLang="en-US" sz="2000" b="1" dirty="0">
                <a:sym typeface="Symbol" panose="05050102010706020507" pitchFamily="18" charset="2"/>
              </a:rPr>
              <a:t>:=0 }</a:t>
            </a:r>
          </a:p>
          <a:p>
            <a:pPr eaLnBrk="1" hangingPunct="1">
              <a:buFont typeface="Wingdings" panose="05000000000000000000" pitchFamily="2" charset="2"/>
              <a:buNone/>
            </a:pPr>
            <a:r>
              <a:rPr lang="en-US" altLang="en-US" sz="2000" b="1" dirty="0">
                <a:sym typeface="Symbol" panose="05050102010706020507" pitchFamily="18" charset="2"/>
              </a:rPr>
              <a:t>D  D; D</a:t>
            </a:r>
          </a:p>
          <a:p>
            <a:pPr eaLnBrk="1" hangingPunct="1">
              <a:buFont typeface="Wingdings" panose="05000000000000000000" pitchFamily="2" charset="2"/>
              <a:buNone/>
            </a:pPr>
            <a:r>
              <a:rPr lang="en-US" altLang="en-US" sz="2000" b="1" dirty="0">
                <a:sym typeface="Symbol" panose="05050102010706020507" pitchFamily="18" charset="2"/>
              </a:rPr>
              <a:t>D  </a:t>
            </a:r>
            <a:r>
              <a:rPr lang="en-US" altLang="en-US" sz="2000" b="1" dirty="0">
                <a:solidFill>
                  <a:schemeClr val="accent2"/>
                </a:solidFill>
                <a:sym typeface="Symbol" panose="05050102010706020507" pitchFamily="18" charset="2"/>
              </a:rPr>
              <a:t>id : </a:t>
            </a:r>
            <a:r>
              <a:rPr lang="en-US" altLang="en-US" sz="2000" b="1" dirty="0">
                <a:sym typeface="Symbol" panose="05050102010706020507" pitchFamily="18" charset="2"/>
              </a:rPr>
              <a:t>T		{ </a:t>
            </a:r>
            <a:r>
              <a:rPr lang="en-US" altLang="en-US" sz="2000" b="1" i="1" dirty="0">
                <a:sym typeface="Symbol" panose="05050102010706020507" pitchFamily="18" charset="2"/>
              </a:rPr>
              <a:t>enter</a:t>
            </a:r>
            <a:r>
              <a:rPr lang="en-US" altLang="en-US" sz="2000" b="1" dirty="0">
                <a:sym typeface="Symbol" panose="05050102010706020507" pitchFamily="18" charset="2"/>
              </a:rPr>
              <a:t>(</a:t>
            </a:r>
            <a:r>
              <a:rPr lang="en-US" altLang="en-US" sz="2000" b="1" dirty="0">
                <a:solidFill>
                  <a:schemeClr val="accent2"/>
                </a:solidFill>
                <a:sym typeface="Symbol" panose="05050102010706020507" pitchFamily="18" charset="2"/>
              </a:rPr>
              <a:t>id</a:t>
            </a:r>
            <a:r>
              <a:rPr lang="en-US" altLang="en-US" sz="2000" b="1" i="1" dirty="0">
                <a:sym typeface="Symbol" panose="05050102010706020507" pitchFamily="18" charset="2"/>
              </a:rPr>
              <a:t>.name, </a:t>
            </a:r>
            <a:r>
              <a:rPr lang="en-US" altLang="en-US" sz="2000" b="1" dirty="0" err="1">
                <a:sym typeface="Symbol" panose="05050102010706020507" pitchFamily="18" charset="2"/>
              </a:rPr>
              <a:t>T.</a:t>
            </a:r>
            <a:r>
              <a:rPr lang="en-US" altLang="en-US" sz="2000" b="1" i="1" dirty="0" err="1">
                <a:sym typeface="Symbol" panose="05050102010706020507" pitchFamily="18" charset="2"/>
              </a:rPr>
              <a:t>type</a:t>
            </a:r>
            <a:r>
              <a:rPr lang="en-US" altLang="en-US" sz="2000" b="1" dirty="0">
                <a:sym typeface="Symbol" panose="05050102010706020507" pitchFamily="18" charset="2"/>
              </a:rPr>
              <a:t>, </a:t>
            </a:r>
            <a:r>
              <a:rPr lang="en-US" altLang="en-US" sz="2000" b="1" i="1" dirty="0">
                <a:sym typeface="Symbol" panose="05050102010706020507" pitchFamily="18" charset="2"/>
              </a:rPr>
              <a:t>offset</a:t>
            </a:r>
            <a:r>
              <a:rPr lang="en-US" altLang="en-US" sz="2000" b="1" dirty="0">
                <a:sym typeface="Symbol" panose="05050102010706020507" pitchFamily="18" charset="2"/>
              </a:rPr>
              <a:t>)</a:t>
            </a:r>
          </a:p>
          <a:p>
            <a:pPr eaLnBrk="1" hangingPunct="1">
              <a:buFont typeface="Wingdings" panose="05000000000000000000" pitchFamily="2" charset="2"/>
              <a:buNone/>
            </a:pPr>
            <a:r>
              <a:rPr lang="en-US" altLang="en-US" sz="2000" b="1" dirty="0">
                <a:sym typeface="Symbol" panose="05050102010706020507" pitchFamily="18" charset="2"/>
              </a:rPr>
              <a:t>				  </a:t>
            </a:r>
            <a:r>
              <a:rPr lang="en-US" altLang="en-US" sz="2000" b="1" i="1" dirty="0">
                <a:sym typeface="Symbol" panose="05050102010706020507" pitchFamily="18" charset="2"/>
              </a:rPr>
              <a:t>offset</a:t>
            </a:r>
            <a:r>
              <a:rPr lang="en-US" altLang="en-US" sz="2000" b="1" dirty="0">
                <a:sym typeface="Symbol" panose="05050102010706020507" pitchFamily="18" charset="2"/>
              </a:rPr>
              <a:t>:=</a:t>
            </a:r>
            <a:r>
              <a:rPr lang="en-US" altLang="en-US" sz="2000" b="1" i="1" dirty="0">
                <a:sym typeface="Symbol" panose="05050102010706020507" pitchFamily="18" charset="2"/>
              </a:rPr>
              <a:t>offset + </a:t>
            </a:r>
            <a:r>
              <a:rPr lang="en-US" altLang="en-US" sz="2000" b="1" dirty="0" err="1">
                <a:sym typeface="Symbol" panose="05050102010706020507" pitchFamily="18" charset="2"/>
              </a:rPr>
              <a:t>T</a:t>
            </a:r>
            <a:r>
              <a:rPr lang="en-US" altLang="en-US" sz="2000" b="1" i="1" dirty="0" err="1">
                <a:sym typeface="Symbol" panose="05050102010706020507" pitchFamily="18" charset="2"/>
              </a:rPr>
              <a:t>.width</a:t>
            </a:r>
            <a:r>
              <a:rPr lang="en-US" altLang="en-US" sz="2000" b="1" dirty="0">
                <a:sym typeface="Symbol" panose="05050102010706020507" pitchFamily="18" charset="2"/>
              </a:rPr>
              <a:t> }</a:t>
            </a:r>
            <a:endParaRPr lang="en-US" altLang="en-US" sz="2000" b="1" i="1" dirty="0">
              <a:sym typeface="Symbol" panose="05050102010706020507" pitchFamily="18" charset="2"/>
            </a:endParaRPr>
          </a:p>
          <a:p>
            <a:pPr eaLnBrk="1" hangingPunct="1">
              <a:buFont typeface="Wingdings" panose="05000000000000000000" pitchFamily="2" charset="2"/>
              <a:buNone/>
            </a:pPr>
            <a:r>
              <a:rPr lang="en-US" altLang="en-US" sz="2000" b="1" dirty="0">
                <a:sym typeface="Symbol" panose="05050102010706020507" pitchFamily="18" charset="2"/>
              </a:rPr>
              <a:t>T  </a:t>
            </a:r>
            <a:r>
              <a:rPr lang="en-US" altLang="en-US" sz="2000" b="1" dirty="0">
                <a:solidFill>
                  <a:schemeClr val="accent2"/>
                </a:solidFill>
                <a:sym typeface="Symbol" panose="05050102010706020507" pitchFamily="18" charset="2"/>
              </a:rPr>
              <a:t>integer</a:t>
            </a:r>
            <a:r>
              <a:rPr lang="en-US" altLang="en-US" sz="2000" b="1" dirty="0">
                <a:sym typeface="Symbol" panose="05050102010706020507" pitchFamily="18" charset="2"/>
              </a:rPr>
              <a:t> </a:t>
            </a:r>
            <a:r>
              <a:rPr lang="en-US" altLang="en-US" sz="2000" b="1" dirty="0">
                <a:solidFill>
                  <a:schemeClr val="accent2"/>
                </a:solidFill>
                <a:sym typeface="Symbol" panose="05050102010706020507" pitchFamily="18" charset="2"/>
              </a:rPr>
              <a:t>		</a:t>
            </a:r>
            <a:r>
              <a:rPr lang="en-US" altLang="en-US" sz="2000" b="1" dirty="0">
                <a:sym typeface="Symbol" panose="05050102010706020507" pitchFamily="18" charset="2"/>
              </a:rPr>
              <a:t>{</a:t>
            </a:r>
            <a:r>
              <a:rPr lang="en-US" altLang="en-US" sz="2000" b="1" dirty="0" err="1">
                <a:sym typeface="Symbol" panose="05050102010706020507" pitchFamily="18" charset="2"/>
              </a:rPr>
              <a:t>T.</a:t>
            </a:r>
            <a:r>
              <a:rPr lang="en-US" altLang="en-US" sz="2000" b="1" i="1" dirty="0" err="1">
                <a:sym typeface="Symbol" panose="05050102010706020507" pitchFamily="18" charset="2"/>
              </a:rPr>
              <a:t>type</a:t>
            </a:r>
            <a:r>
              <a:rPr lang="en-US" altLang="en-US" sz="2000" b="1" dirty="0">
                <a:sym typeface="Symbol" panose="05050102010706020507" pitchFamily="18" charset="2"/>
              </a:rPr>
              <a:t> = </a:t>
            </a:r>
            <a:r>
              <a:rPr lang="en-US" altLang="en-US" sz="2000" b="1" i="1" dirty="0">
                <a:sym typeface="Symbol" panose="05050102010706020507" pitchFamily="18" charset="2"/>
              </a:rPr>
              <a:t>integer</a:t>
            </a:r>
            <a:r>
              <a:rPr lang="en-US" altLang="en-US" sz="2000" b="1" dirty="0">
                <a:sym typeface="Symbol" panose="05050102010706020507" pitchFamily="18" charset="2"/>
              </a:rPr>
              <a:t>; </a:t>
            </a:r>
            <a:r>
              <a:rPr lang="en-US" altLang="en-US" sz="2000" b="1" dirty="0" err="1">
                <a:sym typeface="Symbol" panose="05050102010706020507" pitchFamily="18" charset="2"/>
              </a:rPr>
              <a:t>T.</a:t>
            </a:r>
            <a:r>
              <a:rPr lang="en-US" altLang="en-US" sz="2000" b="1" i="1" dirty="0" err="1">
                <a:sym typeface="Symbol" panose="05050102010706020507" pitchFamily="18" charset="2"/>
              </a:rPr>
              <a:t>width</a:t>
            </a:r>
            <a:r>
              <a:rPr lang="en-US" altLang="en-US" sz="2000" b="1" i="1" dirty="0">
                <a:sym typeface="Symbol" panose="05050102010706020507" pitchFamily="18" charset="2"/>
              </a:rPr>
              <a:t> = </a:t>
            </a:r>
            <a:r>
              <a:rPr lang="en-US" altLang="en-US" sz="2000" b="1" dirty="0">
                <a:sym typeface="Symbol" panose="05050102010706020507" pitchFamily="18" charset="2"/>
              </a:rPr>
              <a:t>4 }</a:t>
            </a:r>
            <a:endParaRPr lang="en-US" altLang="en-US" sz="2000" b="1" dirty="0">
              <a:solidFill>
                <a:schemeClr val="accent2"/>
              </a:solidFill>
              <a:sym typeface="Symbol" panose="05050102010706020507" pitchFamily="18" charset="2"/>
            </a:endParaRPr>
          </a:p>
          <a:p>
            <a:pPr eaLnBrk="1" hangingPunct="1">
              <a:buFont typeface="Wingdings" panose="05000000000000000000" pitchFamily="2" charset="2"/>
              <a:buNone/>
            </a:pPr>
            <a:r>
              <a:rPr lang="en-US" altLang="en-US" sz="2000" b="1" dirty="0">
                <a:sym typeface="Symbol" panose="05050102010706020507" pitchFamily="18" charset="2"/>
              </a:rPr>
              <a:t>T  </a:t>
            </a:r>
            <a:r>
              <a:rPr lang="en-US" altLang="en-US" sz="2000" b="1" dirty="0">
                <a:solidFill>
                  <a:schemeClr val="accent2"/>
                </a:solidFill>
                <a:sym typeface="Symbol" panose="05050102010706020507" pitchFamily="18" charset="2"/>
              </a:rPr>
              <a:t>real			</a:t>
            </a:r>
            <a:r>
              <a:rPr lang="en-US" altLang="en-US" sz="2000" b="1" dirty="0">
                <a:sym typeface="Symbol" panose="05050102010706020507" pitchFamily="18" charset="2"/>
              </a:rPr>
              <a:t>{</a:t>
            </a:r>
            <a:r>
              <a:rPr lang="en-US" altLang="en-US" sz="2000" b="1" dirty="0" err="1">
                <a:sym typeface="Symbol" panose="05050102010706020507" pitchFamily="18" charset="2"/>
              </a:rPr>
              <a:t>T.</a:t>
            </a:r>
            <a:r>
              <a:rPr lang="en-US" altLang="en-US" sz="2000" b="1" i="1" dirty="0" err="1">
                <a:sym typeface="Symbol" panose="05050102010706020507" pitchFamily="18" charset="2"/>
              </a:rPr>
              <a:t>type</a:t>
            </a:r>
            <a:r>
              <a:rPr lang="en-US" altLang="en-US" sz="2000" b="1" dirty="0">
                <a:sym typeface="Symbol" panose="05050102010706020507" pitchFamily="18" charset="2"/>
              </a:rPr>
              <a:t> =</a:t>
            </a:r>
            <a:r>
              <a:rPr lang="en-US" altLang="en-US" sz="2000" b="1" i="1" dirty="0">
                <a:sym typeface="Symbol" panose="05050102010706020507" pitchFamily="18" charset="2"/>
              </a:rPr>
              <a:t>real</a:t>
            </a:r>
            <a:r>
              <a:rPr lang="en-US" altLang="en-US" sz="2000" b="1" dirty="0">
                <a:sym typeface="Symbol" panose="05050102010706020507" pitchFamily="18" charset="2"/>
              </a:rPr>
              <a:t>;  </a:t>
            </a:r>
            <a:r>
              <a:rPr lang="en-US" altLang="en-US" sz="2000" b="1" dirty="0" err="1">
                <a:sym typeface="Symbol" panose="05050102010706020507" pitchFamily="18" charset="2"/>
              </a:rPr>
              <a:t>T.</a:t>
            </a:r>
            <a:r>
              <a:rPr lang="en-US" altLang="en-US" sz="2000" b="1" i="1" dirty="0" err="1">
                <a:sym typeface="Symbol" panose="05050102010706020507" pitchFamily="18" charset="2"/>
              </a:rPr>
              <a:t>width</a:t>
            </a:r>
            <a:r>
              <a:rPr lang="en-US" altLang="en-US" sz="2000" b="1" i="1" dirty="0">
                <a:sym typeface="Symbol" panose="05050102010706020507" pitchFamily="18" charset="2"/>
              </a:rPr>
              <a:t> = 8</a:t>
            </a:r>
            <a:r>
              <a:rPr lang="en-US" altLang="en-US" sz="2000" b="1" dirty="0">
                <a:sym typeface="Symbol" panose="05050102010706020507" pitchFamily="18" charset="2"/>
              </a:rPr>
              <a:t> }</a:t>
            </a:r>
            <a:endParaRPr lang="en-US" altLang="en-US" sz="2000" b="1" dirty="0">
              <a:solidFill>
                <a:schemeClr val="accent2"/>
              </a:solidFill>
              <a:sym typeface="Symbol" panose="05050102010706020507" pitchFamily="18" charset="2"/>
            </a:endParaRPr>
          </a:p>
          <a:p>
            <a:pPr eaLnBrk="1" hangingPunct="1">
              <a:buFont typeface="Wingdings" panose="05000000000000000000" pitchFamily="2" charset="2"/>
              <a:buNone/>
            </a:pPr>
            <a:r>
              <a:rPr lang="en-US" altLang="en-US" sz="2000" b="1" dirty="0">
                <a:sym typeface="Symbol" panose="05050102010706020507" pitchFamily="18" charset="2"/>
              </a:rPr>
              <a:t>T  </a:t>
            </a:r>
            <a:r>
              <a:rPr lang="en-US" altLang="en-US" sz="2000" b="1" dirty="0">
                <a:solidFill>
                  <a:schemeClr val="accent2"/>
                </a:solidFill>
                <a:sym typeface="Symbol" panose="05050102010706020507" pitchFamily="18" charset="2"/>
              </a:rPr>
              <a:t>array [ num ] of </a:t>
            </a:r>
            <a:r>
              <a:rPr lang="en-US" altLang="en-US" sz="2000" b="1" dirty="0">
                <a:sym typeface="Symbol" panose="05050102010706020507" pitchFamily="18" charset="2"/>
              </a:rPr>
              <a:t>T</a:t>
            </a:r>
            <a:r>
              <a:rPr lang="en-US" altLang="en-US" sz="2000" b="1" baseline="-25000" dirty="0">
                <a:sym typeface="Symbol" panose="05050102010706020507" pitchFamily="18" charset="2"/>
              </a:rPr>
              <a:t>1</a:t>
            </a:r>
            <a:endParaRPr lang="en-US" altLang="en-US" sz="2000" b="1" dirty="0">
              <a:sym typeface="Symbol" panose="05050102010706020507" pitchFamily="18" charset="2"/>
            </a:endParaRPr>
          </a:p>
          <a:p>
            <a:pPr eaLnBrk="1" hangingPunct="1">
              <a:buFont typeface="Wingdings" panose="05000000000000000000" pitchFamily="2" charset="2"/>
              <a:buNone/>
            </a:pPr>
            <a:r>
              <a:rPr lang="en-US" altLang="en-US" sz="2000" b="1" dirty="0">
                <a:sym typeface="Symbol" panose="05050102010706020507" pitchFamily="18" charset="2"/>
              </a:rPr>
              <a:t>				{</a:t>
            </a:r>
            <a:r>
              <a:rPr lang="en-US" altLang="en-US" sz="2000" b="1" dirty="0" err="1">
                <a:sym typeface="Symbol" panose="05050102010706020507" pitchFamily="18" charset="2"/>
              </a:rPr>
              <a:t>T.</a:t>
            </a:r>
            <a:r>
              <a:rPr lang="en-US" altLang="en-US" sz="2000" b="1" i="1" dirty="0" err="1">
                <a:sym typeface="Symbol" panose="05050102010706020507" pitchFamily="18" charset="2"/>
              </a:rPr>
              <a:t>type</a:t>
            </a:r>
            <a:r>
              <a:rPr lang="en-US" altLang="en-US" sz="2000" b="1" dirty="0">
                <a:sym typeface="Symbol" panose="05050102010706020507" pitchFamily="18" charset="2"/>
              </a:rPr>
              <a:t>=</a:t>
            </a:r>
            <a:r>
              <a:rPr lang="en-US" altLang="en-US" sz="2000" b="1" i="1" dirty="0">
                <a:sym typeface="Symbol" panose="05050102010706020507" pitchFamily="18" charset="2"/>
              </a:rPr>
              <a:t>array</a:t>
            </a:r>
            <a:r>
              <a:rPr lang="en-US" altLang="en-US" sz="2000" b="1" dirty="0">
                <a:sym typeface="Symbol" panose="05050102010706020507" pitchFamily="18" charset="2"/>
              </a:rPr>
              <a:t>(1..</a:t>
            </a:r>
            <a:r>
              <a:rPr lang="en-US" altLang="en-US" sz="2000" b="1" dirty="0">
                <a:solidFill>
                  <a:schemeClr val="accent2"/>
                </a:solidFill>
                <a:sym typeface="Symbol" panose="05050102010706020507" pitchFamily="18" charset="2"/>
              </a:rPr>
              <a:t>num</a:t>
            </a:r>
            <a:r>
              <a:rPr lang="en-US" altLang="en-US" sz="2000" b="1" dirty="0">
                <a:sym typeface="Symbol" panose="05050102010706020507" pitchFamily="18" charset="2"/>
              </a:rPr>
              <a:t>.</a:t>
            </a:r>
            <a:r>
              <a:rPr lang="en-US" altLang="en-US" sz="2000" b="1" i="1" dirty="0">
                <a:sym typeface="Symbol" panose="05050102010706020507" pitchFamily="18" charset="2"/>
              </a:rPr>
              <a:t>val</a:t>
            </a:r>
            <a:r>
              <a:rPr lang="en-US" altLang="en-US" sz="2000" b="1" dirty="0">
                <a:sym typeface="Symbol" panose="05050102010706020507" pitchFamily="18" charset="2"/>
              </a:rPr>
              <a:t>,T</a:t>
            </a:r>
            <a:r>
              <a:rPr lang="en-US" altLang="en-US" sz="2000" b="1" baseline="-25000" dirty="0">
                <a:sym typeface="Symbol" panose="05050102010706020507" pitchFamily="18" charset="2"/>
              </a:rPr>
              <a:t>1</a:t>
            </a:r>
            <a:r>
              <a:rPr lang="en-US" altLang="en-US" sz="2000" b="1" dirty="0">
                <a:sym typeface="Symbol" panose="05050102010706020507" pitchFamily="18" charset="2"/>
              </a:rPr>
              <a:t>.</a:t>
            </a:r>
            <a:r>
              <a:rPr lang="en-US" altLang="en-US" sz="2000" b="1" i="1" dirty="0">
                <a:sym typeface="Symbol" panose="05050102010706020507" pitchFamily="18" charset="2"/>
              </a:rPr>
              <a:t>type</a:t>
            </a:r>
            <a:r>
              <a:rPr lang="en-US" altLang="en-US" sz="2000" b="1" dirty="0">
                <a:sym typeface="Symbol" panose="05050102010706020507" pitchFamily="18" charset="2"/>
              </a:rPr>
              <a:t>)</a:t>
            </a:r>
            <a:br>
              <a:rPr lang="en-US" altLang="en-US" sz="2000" b="1" dirty="0">
                <a:sym typeface="Symbol" panose="05050102010706020507" pitchFamily="18" charset="2"/>
              </a:rPr>
            </a:br>
            <a:r>
              <a:rPr lang="en-US" altLang="en-US" sz="2000" b="1" dirty="0">
                <a:sym typeface="Symbol" panose="05050102010706020507" pitchFamily="18" charset="2"/>
              </a:rPr>
              <a:t>			  </a:t>
            </a:r>
            <a:r>
              <a:rPr lang="en-US" altLang="en-US" sz="2000" b="1" dirty="0" err="1">
                <a:sym typeface="Symbol" panose="05050102010706020507" pitchFamily="18" charset="2"/>
              </a:rPr>
              <a:t>T.</a:t>
            </a:r>
            <a:r>
              <a:rPr lang="en-US" altLang="en-US" sz="2000" b="1" i="1" dirty="0" err="1">
                <a:sym typeface="Symbol" panose="05050102010706020507" pitchFamily="18" charset="2"/>
              </a:rPr>
              <a:t>width</a:t>
            </a:r>
            <a:r>
              <a:rPr lang="en-US" altLang="en-US" sz="2000" b="1" i="1" dirty="0">
                <a:sym typeface="Symbol" panose="05050102010706020507" pitchFamily="18" charset="2"/>
              </a:rPr>
              <a:t> </a:t>
            </a:r>
            <a:r>
              <a:rPr lang="en-US" altLang="en-US" sz="2000" b="1" dirty="0">
                <a:sym typeface="Symbol" panose="05050102010706020507" pitchFamily="18" charset="2"/>
              </a:rPr>
              <a:t>= </a:t>
            </a:r>
            <a:r>
              <a:rPr lang="en-US" altLang="en-US" sz="2000" b="1" dirty="0" err="1">
                <a:solidFill>
                  <a:schemeClr val="accent2"/>
                </a:solidFill>
                <a:sym typeface="Symbol" panose="05050102010706020507" pitchFamily="18" charset="2"/>
              </a:rPr>
              <a:t>num</a:t>
            </a:r>
            <a:r>
              <a:rPr lang="en-US" altLang="en-US" sz="2000" b="1" dirty="0" err="1">
                <a:sym typeface="Symbol" panose="05050102010706020507" pitchFamily="18" charset="2"/>
              </a:rPr>
              <a:t>.val</a:t>
            </a:r>
            <a:r>
              <a:rPr lang="en-US" altLang="en-US" sz="2000" b="1" dirty="0">
                <a:sym typeface="Symbol" panose="05050102010706020507" pitchFamily="18" charset="2"/>
              </a:rPr>
              <a:t> * T</a:t>
            </a:r>
            <a:r>
              <a:rPr lang="en-US" altLang="en-US" sz="2000" b="1" baseline="-25000" dirty="0">
                <a:sym typeface="Symbol" panose="05050102010706020507" pitchFamily="18" charset="2"/>
              </a:rPr>
              <a:t>1</a:t>
            </a:r>
            <a:r>
              <a:rPr lang="en-US" altLang="en-US" sz="2000" b="1" dirty="0">
                <a:sym typeface="Symbol" panose="05050102010706020507" pitchFamily="18" charset="2"/>
              </a:rPr>
              <a:t>.</a:t>
            </a:r>
            <a:r>
              <a:rPr lang="en-US" altLang="en-US" sz="2000" b="1" i="1" dirty="0">
                <a:sym typeface="Symbol" panose="05050102010706020507" pitchFamily="18" charset="2"/>
              </a:rPr>
              <a:t>width</a:t>
            </a:r>
            <a:r>
              <a:rPr lang="en-US" altLang="en-US" sz="2000" b="1" dirty="0">
                <a:sym typeface="Symbol" panose="05050102010706020507" pitchFamily="18" charset="2"/>
              </a:rPr>
              <a:t>}</a:t>
            </a:r>
            <a:endParaRPr lang="en-US" altLang="en-US" sz="2000" b="1" dirty="0">
              <a:solidFill>
                <a:schemeClr val="accent2"/>
              </a:solidFill>
              <a:sym typeface="Symbol" panose="05050102010706020507" pitchFamily="18" charset="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BBE84ECE-7D90-4DA5-8B47-D30120F5074D}"/>
              </a:ext>
            </a:extLst>
          </p:cNvPr>
          <p:cNvSpPr>
            <a:spLocks noGrp="1" noChangeArrowheads="1"/>
          </p:cNvSpPr>
          <p:nvPr>
            <p:ph type="title"/>
          </p:nvPr>
        </p:nvSpPr>
        <p:spPr>
          <a:xfrm>
            <a:off x="457200" y="457200"/>
            <a:ext cx="8229600" cy="685800"/>
          </a:xfrm>
        </p:spPr>
        <p:txBody>
          <a:bodyPr/>
          <a:lstStyle/>
          <a:p>
            <a:pPr eaLnBrk="1" hangingPunct="1"/>
            <a:r>
              <a:rPr lang="en-US" altLang="en-US" sz="4000"/>
              <a:t>Keeping track of scope information</a:t>
            </a:r>
          </a:p>
        </p:txBody>
      </p:sp>
      <p:sp>
        <p:nvSpPr>
          <p:cNvPr id="28675" name="Rectangle 3">
            <a:extLst>
              <a:ext uri="{FF2B5EF4-FFF2-40B4-BE49-F238E27FC236}">
                <a16:creationId xmlns:a16="http://schemas.microsoft.com/office/drawing/2014/main" id="{D8E7B719-7031-41D2-9B3A-981E30789CCE}"/>
              </a:ext>
            </a:extLst>
          </p:cNvPr>
          <p:cNvSpPr>
            <a:spLocks noGrp="1" noChangeArrowheads="1"/>
          </p:cNvSpPr>
          <p:nvPr>
            <p:ph idx="1"/>
          </p:nvPr>
        </p:nvSpPr>
        <p:spPr>
          <a:xfrm>
            <a:off x="381000" y="1219200"/>
            <a:ext cx="8229600" cy="3886200"/>
          </a:xfrm>
        </p:spPr>
        <p:txBody>
          <a:bodyPr/>
          <a:lstStyle/>
          <a:p>
            <a:pPr eaLnBrk="1" hangingPunct="1"/>
            <a:r>
              <a:rPr lang="en-US" altLang="en-US" sz="2400"/>
              <a:t>In a language with nested procedure, when a nested procedure is seen, processing of declarations in the enclosing procedure is temporarily suspended</a:t>
            </a:r>
          </a:p>
          <a:p>
            <a:pPr eaLnBrk="1" hangingPunct="1"/>
            <a:r>
              <a:rPr lang="en-US" altLang="en-US" sz="2400"/>
              <a:t>Grammar for this type of declaration:</a:t>
            </a:r>
          </a:p>
          <a:p>
            <a:pPr eaLnBrk="1" hangingPunct="1">
              <a:buFont typeface="Wingdings" panose="05000000000000000000" pitchFamily="2" charset="2"/>
              <a:buNone/>
            </a:pPr>
            <a:r>
              <a:rPr lang="en-US" altLang="en-US" sz="2400" b="1"/>
              <a:t>          P </a:t>
            </a:r>
            <a:r>
              <a:rPr lang="en-US" altLang="en-US" sz="2400" b="1">
                <a:sym typeface="Symbol" panose="05050102010706020507" pitchFamily="18" charset="2"/>
              </a:rPr>
              <a:t> D</a:t>
            </a:r>
          </a:p>
          <a:p>
            <a:pPr eaLnBrk="1" hangingPunct="1">
              <a:buFont typeface="Wingdings" panose="05000000000000000000" pitchFamily="2" charset="2"/>
              <a:buNone/>
            </a:pPr>
            <a:r>
              <a:rPr lang="en-US" altLang="en-US" sz="2400" b="1">
                <a:sym typeface="Symbol" panose="05050102010706020507" pitchFamily="18" charset="2"/>
              </a:rPr>
              <a:t>          D  D; D | id : T | </a:t>
            </a:r>
            <a:r>
              <a:rPr lang="en-US" altLang="en-US" sz="2400" b="1">
                <a:solidFill>
                  <a:srgbClr val="FF0000"/>
                </a:solidFill>
                <a:sym typeface="Symbol" panose="05050102010706020507" pitchFamily="18" charset="2"/>
              </a:rPr>
              <a:t>proc id </a:t>
            </a:r>
            <a:r>
              <a:rPr lang="en-US" altLang="en-US" sz="2400" b="1">
                <a:solidFill>
                  <a:schemeClr val="accent2"/>
                </a:solidFill>
                <a:sym typeface="Symbol" panose="05050102010706020507" pitchFamily="18" charset="2"/>
              </a:rPr>
              <a:t>; </a:t>
            </a:r>
            <a:r>
              <a:rPr lang="en-US" altLang="en-US" sz="2400" b="1">
                <a:sym typeface="Symbol" panose="05050102010706020507" pitchFamily="18" charset="2"/>
              </a:rPr>
              <a:t>D </a:t>
            </a:r>
            <a:r>
              <a:rPr lang="en-US" altLang="en-US" sz="2400" b="1">
                <a:solidFill>
                  <a:schemeClr val="accent2"/>
                </a:solidFill>
                <a:sym typeface="Symbol" panose="05050102010706020507" pitchFamily="18" charset="2"/>
              </a:rPr>
              <a:t>;</a:t>
            </a:r>
            <a:r>
              <a:rPr lang="en-US" altLang="en-US" sz="2400" b="1">
                <a:sym typeface="Symbol" panose="05050102010706020507" pitchFamily="18" charset="2"/>
              </a:rPr>
              <a:t> S</a:t>
            </a:r>
          </a:p>
          <a:p>
            <a:pPr eaLnBrk="1" hangingPunct="1">
              <a:buFont typeface="Wingdings" panose="05000000000000000000" pitchFamily="2" charset="2"/>
              <a:buNone/>
            </a:pPr>
            <a:r>
              <a:rPr lang="en-US" altLang="en-US" sz="2400">
                <a:sym typeface="Symbol" panose="05050102010706020507" pitchFamily="18" charset="2"/>
              </a:rPr>
              <a:t>	should be added more semantic rules</a:t>
            </a:r>
          </a:p>
          <a:p>
            <a:pPr eaLnBrk="1" hangingPunct="1"/>
            <a:r>
              <a:rPr lang="en-US" altLang="en-US" sz="2400"/>
              <a:t>A new table is created when a procedure declqration D</a:t>
            </a:r>
            <a:r>
              <a:rPr lang="en-US" altLang="en-US" sz="2400" b="1">
                <a:sym typeface="Symbol" panose="05050102010706020507" pitchFamily="18" charset="2"/>
              </a:rPr>
              <a:t> </a:t>
            </a:r>
            <a:r>
              <a:rPr lang="en-US" altLang="en-US" sz="2400">
                <a:sym typeface="Symbol" panose="05050102010706020507" pitchFamily="18" charset="2"/>
              </a:rPr>
              <a:t>proc id D1; is seen</a:t>
            </a:r>
            <a:endParaRPr lang="en-US" altLang="en-US" sz="2400"/>
          </a:p>
          <a:p>
            <a:pPr eaLnBrk="1" hangingPunct="1"/>
            <a:endParaRPr lang="en-US" altLang="en-US"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222170C7-660B-4BB3-876A-401F2101E215}"/>
              </a:ext>
            </a:extLst>
          </p:cNvPr>
          <p:cNvSpPr>
            <a:spLocks noGrp="1" noChangeArrowheads="1"/>
          </p:cNvSpPr>
          <p:nvPr>
            <p:ph type="title"/>
          </p:nvPr>
        </p:nvSpPr>
        <p:spPr>
          <a:xfrm>
            <a:off x="457200" y="0"/>
            <a:ext cx="8229600" cy="1066800"/>
          </a:xfrm>
        </p:spPr>
        <p:txBody>
          <a:bodyPr>
            <a:normAutofit/>
          </a:bodyPr>
          <a:lstStyle/>
          <a:p>
            <a:pPr eaLnBrk="1" hangingPunct="1"/>
            <a:r>
              <a:rPr lang="en-US" altLang="en-US" sz="4000" dirty="0"/>
              <a:t>Nested procedures for quick sorting</a:t>
            </a:r>
          </a:p>
        </p:txBody>
      </p:sp>
      <p:sp>
        <p:nvSpPr>
          <p:cNvPr id="30723" name="Rectangle 3">
            <a:extLst>
              <a:ext uri="{FF2B5EF4-FFF2-40B4-BE49-F238E27FC236}">
                <a16:creationId xmlns:a16="http://schemas.microsoft.com/office/drawing/2014/main" id="{D51620D0-3F18-4F9B-8746-8FE4D4157BDA}"/>
              </a:ext>
            </a:extLst>
          </p:cNvPr>
          <p:cNvSpPr>
            <a:spLocks noGrp="1" noChangeArrowheads="1"/>
          </p:cNvSpPr>
          <p:nvPr>
            <p:ph idx="1"/>
          </p:nvPr>
        </p:nvSpPr>
        <p:spPr>
          <a:xfrm>
            <a:off x="533400" y="990600"/>
            <a:ext cx="8077200" cy="5486400"/>
          </a:xfrm>
        </p:spPr>
        <p:txBody>
          <a:bodyPr>
            <a:normAutofit fontScale="92500" lnSpcReduction="10000"/>
          </a:bodyPr>
          <a:lstStyle/>
          <a:p>
            <a:pPr marL="381000" indent="-381000" eaLnBrk="1" hangingPunct="1">
              <a:buFont typeface="Wingdings" panose="05000000000000000000" pitchFamily="2" charset="2"/>
              <a:buNone/>
            </a:pPr>
            <a:r>
              <a:rPr lang="en-US" altLang="en-US" sz="2000" b="1" dirty="0">
                <a:latin typeface="Courier New" panose="02070309020205020404" pitchFamily="49" charset="0"/>
                <a:cs typeface="Courier New" panose="02070309020205020404" pitchFamily="49" charset="0"/>
              </a:rPr>
              <a:t>Program sort;</a:t>
            </a:r>
          </a:p>
          <a:p>
            <a:pPr marL="381000" indent="-381000" eaLnBrk="1" hangingPunct="1">
              <a:buFont typeface="Wingdings" panose="05000000000000000000" pitchFamily="2" charset="2"/>
              <a:buAutoNum type="arabicParenR"/>
            </a:pPr>
            <a:r>
              <a:rPr lang="en-US" altLang="en-US" sz="2000" b="1" i="1" dirty="0">
                <a:latin typeface="Courier New" panose="02070309020205020404" pitchFamily="49" charset="0"/>
                <a:cs typeface="Courier New" panose="02070309020205020404" pitchFamily="49" charset="0"/>
              </a:rPr>
              <a:t>Var  a: array[0..10] of integer;</a:t>
            </a:r>
          </a:p>
          <a:p>
            <a:pPr marL="381000" indent="-381000" eaLnBrk="1" hangingPunct="1">
              <a:buFont typeface="Wingdings" panose="05000000000000000000" pitchFamily="2" charset="2"/>
              <a:buAutoNum type="arabicParenR"/>
            </a:pPr>
            <a:r>
              <a:rPr lang="en-US" altLang="en-US" sz="2000" b="1" i="1" dirty="0">
                <a:latin typeface="Courier New" panose="02070309020205020404" pitchFamily="49" charset="0"/>
                <a:cs typeface="Courier New" panose="02070309020205020404" pitchFamily="49" charset="0"/>
              </a:rPr>
              <a:t>        x: integer;</a:t>
            </a:r>
          </a:p>
          <a:p>
            <a:pPr marL="381000" indent="-381000" eaLnBrk="1" hangingPunct="1">
              <a:buFont typeface="Wingdings" panose="05000000000000000000" pitchFamily="2" charset="2"/>
              <a:buAutoNum type="arabicParenR"/>
            </a:pPr>
            <a:r>
              <a:rPr lang="en-US" altLang="en-US" sz="2000" b="1" dirty="0">
                <a:latin typeface="Courier New" panose="02070309020205020404" pitchFamily="49" charset="0"/>
                <a:cs typeface="Courier New" panose="02070309020205020404" pitchFamily="49" charset="0"/>
              </a:rPr>
              <a:t>      Procedure </a:t>
            </a:r>
            <a:r>
              <a:rPr lang="en-US" altLang="en-US" sz="2000" b="1" dirty="0" err="1">
                <a:latin typeface="Courier New" panose="02070309020205020404" pitchFamily="49" charset="0"/>
                <a:cs typeface="Courier New" panose="02070309020205020404" pitchFamily="49" charset="0"/>
              </a:rPr>
              <a:t>readarray</a:t>
            </a:r>
            <a:r>
              <a:rPr lang="en-US" altLang="en-US" sz="2000" b="1" dirty="0">
                <a:latin typeface="Courier New" panose="02070309020205020404" pitchFamily="49" charset="0"/>
                <a:cs typeface="Courier New" panose="02070309020205020404" pitchFamily="49" charset="0"/>
              </a:rPr>
              <a:t>;</a:t>
            </a:r>
          </a:p>
          <a:p>
            <a:pPr marL="381000" indent="-381000" eaLnBrk="1" hangingPunct="1">
              <a:buFont typeface="Wingdings" panose="05000000000000000000" pitchFamily="2" charset="2"/>
              <a:buAutoNum type="arabicParenR"/>
            </a:pPr>
            <a:r>
              <a:rPr lang="en-US" altLang="en-US" sz="2000" b="1" dirty="0">
                <a:latin typeface="Courier New" panose="02070309020205020404" pitchFamily="49" charset="0"/>
                <a:cs typeface="Courier New" panose="02070309020205020404" pitchFamily="49" charset="0"/>
              </a:rPr>
              <a:t>         </a:t>
            </a:r>
            <a:r>
              <a:rPr lang="en-US" altLang="en-US" sz="2000" b="1" i="1" dirty="0">
                <a:latin typeface="Courier New" panose="02070309020205020404" pitchFamily="49" charset="0"/>
                <a:cs typeface="Courier New" panose="02070309020205020404" pitchFamily="49" charset="0"/>
              </a:rPr>
              <a:t>Var i: integer;</a:t>
            </a:r>
          </a:p>
          <a:p>
            <a:pPr marL="381000" indent="-381000" eaLnBrk="1" hangingPunct="1">
              <a:buFont typeface="Wingdings" panose="05000000000000000000" pitchFamily="2" charset="2"/>
              <a:buAutoNum type="arabicParenR"/>
            </a:pPr>
            <a:r>
              <a:rPr lang="en-US" altLang="en-US" sz="2000" b="1" i="1" dirty="0">
                <a:latin typeface="Courier New" panose="02070309020205020404" pitchFamily="49" charset="0"/>
                <a:cs typeface="Courier New" panose="02070309020205020404" pitchFamily="49" charset="0"/>
              </a:rPr>
              <a:t>         Begin …a… end {</a:t>
            </a:r>
            <a:r>
              <a:rPr lang="en-US" altLang="en-US" sz="2000" b="1" i="1" dirty="0" err="1">
                <a:latin typeface="Courier New" panose="02070309020205020404" pitchFamily="49" charset="0"/>
                <a:cs typeface="Courier New" panose="02070309020205020404" pitchFamily="49" charset="0"/>
              </a:rPr>
              <a:t>readarray</a:t>
            </a:r>
            <a:r>
              <a:rPr lang="en-US" altLang="en-US" sz="2000" b="1" i="1" dirty="0">
                <a:latin typeface="Courier New" panose="02070309020205020404" pitchFamily="49" charset="0"/>
                <a:cs typeface="Courier New" panose="02070309020205020404" pitchFamily="49" charset="0"/>
              </a:rPr>
              <a:t>};</a:t>
            </a:r>
          </a:p>
          <a:p>
            <a:pPr marL="381000" indent="-381000" eaLnBrk="1" hangingPunct="1">
              <a:buFont typeface="Wingdings" panose="05000000000000000000" pitchFamily="2" charset="2"/>
              <a:buAutoNum type="arabicParenR"/>
            </a:pPr>
            <a:r>
              <a:rPr lang="en-US" altLang="en-US" sz="2000" b="1" dirty="0">
                <a:latin typeface="Courier New" panose="02070309020205020404" pitchFamily="49" charset="0"/>
                <a:cs typeface="Courier New" panose="02070309020205020404" pitchFamily="49" charset="0"/>
              </a:rPr>
              <a:t>     Procedure exchange(</a:t>
            </a:r>
            <a:r>
              <a:rPr lang="en-US" altLang="en-US" sz="2000" b="1" dirty="0" err="1">
                <a:latin typeface="Courier New" panose="02070309020205020404" pitchFamily="49" charset="0"/>
                <a:cs typeface="Courier New" panose="02070309020205020404" pitchFamily="49" charset="0"/>
              </a:rPr>
              <a:t>i</a:t>
            </a:r>
            <a:r>
              <a:rPr lang="en-US" altLang="en-US" sz="2000" b="1" dirty="0">
                <a:latin typeface="Courier New" panose="02070309020205020404" pitchFamily="49" charset="0"/>
                <a:cs typeface="Courier New" panose="02070309020205020404" pitchFamily="49" charset="0"/>
              </a:rPr>
              <a:t>, j: integer);</a:t>
            </a:r>
          </a:p>
          <a:p>
            <a:pPr marL="381000" indent="-381000" eaLnBrk="1" hangingPunct="1">
              <a:buFont typeface="Wingdings" panose="05000000000000000000" pitchFamily="2" charset="2"/>
              <a:buAutoNum type="arabicParenR"/>
            </a:pPr>
            <a:r>
              <a:rPr lang="en-US" altLang="en-US" sz="2000" b="1" dirty="0">
                <a:latin typeface="Courier New" panose="02070309020205020404" pitchFamily="49" charset="0"/>
                <a:cs typeface="Courier New" panose="02070309020205020404" pitchFamily="49" charset="0"/>
              </a:rPr>
              <a:t>         </a:t>
            </a:r>
            <a:r>
              <a:rPr lang="en-US" altLang="en-US" sz="2000" b="1" i="1" dirty="0">
                <a:latin typeface="Courier New" panose="02070309020205020404" pitchFamily="49" charset="0"/>
                <a:cs typeface="Courier New" panose="02070309020205020404" pitchFamily="49" charset="0"/>
              </a:rPr>
              <a:t>Begin {exchange} end;</a:t>
            </a:r>
          </a:p>
          <a:p>
            <a:pPr marL="381000" indent="-381000" eaLnBrk="1" hangingPunct="1">
              <a:buFont typeface="Wingdings" panose="05000000000000000000" pitchFamily="2" charset="2"/>
              <a:buAutoNum type="arabicParenR"/>
            </a:pPr>
            <a:r>
              <a:rPr lang="en-US" altLang="en-US" sz="2000" b="1" dirty="0">
                <a:latin typeface="Courier New" panose="02070309020205020404" pitchFamily="49" charset="0"/>
                <a:cs typeface="Courier New" panose="02070309020205020404" pitchFamily="49" charset="0"/>
              </a:rPr>
              <a:t>     Procedure quicksort(m, n: integer);</a:t>
            </a:r>
          </a:p>
          <a:p>
            <a:pPr marL="381000" indent="-381000" eaLnBrk="1" hangingPunct="1">
              <a:buFont typeface="Wingdings" panose="05000000000000000000" pitchFamily="2" charset="2"/>
              <a:buAutoNum type="arabicParenR"/>
            </a:pPr>
            <a:r>
              <a:rPr lang="en-US" altLang="en-US" sz="2000" b="1" dirty="0">
                <a:latin typeface="Courier New" panose="02070309020205020404" pitchFamily="49" charset="0"/>
                <a:cs typeface="Courier New" panose="02070309020205020404" pitchFamily="49" charset="0"/>
              </a:rPr>
              <a:t>         </a:t>
            </a:r>
            <a:r>
              <a:rPr lang="en-US" altLang="en-US" sz="2000" b="1" i="1" dirty="0">
                <a:latin typeface="Courier New" panose="02070309020205020404" pitchFamily="49" charset="0"/>
                <a:cs typeface="Courier New" panose="02070309020205020404" pitchFamily="49" charset="0"/>
              </a:rPr>
              <a:t>Var k, v: integer;</a:t>
            </a:r>
          </a:p>
          <a:p>
            <a:pPr marL="381000" indent="-381000" eaLnBrk="1" hangingPunct="1">
              <a:buFont typeface="Wingdings" panose="05000000000000000000" pitchFamily="2" charset="2"/>
              <a:buAutoNum type="arabicParenR"/>
            </a:pPr>
            <a:r>
              <a:rPr lang="en-US" altLang="en-US" sz="2000" b="1" dirty="0">
                <a:latin typeface="Courier New" panose="02070309020205020404" pitchFamily="49" charset="0"/>
                <a:cs typeface="Courier New" panose="02070309020205020404" pitchFamily="49" charset="0"/>
              </a:rPr>
              <a:t>       Function partition(</a:t>
            </a:r>
            <a:r>
              <a:rPr lang="en-US" altLang="en-US" sz="2000" b="1" dirty="0" err="1">
                <a:latin typeface="Courier New" panose="02070309020205020404" pitchFamily="49" charset="0"/>
                <a:cs typeface="Courier New" panose="02070309020205020404" pitchFamily="49" charset="0"/>
              </a:rPr>
              <a:t>y,z</a:t>
            </a:r>
            <a:r>
              <a:rPr lang="en-US" altLang="en-US" sz="2000" b="1" dirty="0">
                <a:latin typeface="Courier New" panose="02070309020205020404" pitchFamily="49" charset="0"/>
                <a:cs typeface="Courier New" panose="02070309020205020404" pitchFamily="49" charset="0"/>
              </a:rPr>
              <a:t>: integer): integer;</a:t>
            </a:r>
          </a:p>
          <a:p>
            <a:pPr marL="381000" indent="-381000" eaLnBrk="1" hangingPunct="1">
              <a:buFont typeface="Wingdings" panose="05000000000000000000" pitchFamily="2" charset="2"/>
              <a:buAutoNum type="arabicParenR"/>
            </a:pPr>
            <a:r>
              <a:rPr lang="en-US" altLang="en-US" sz="2000" b="1" dirty="0">
                <a:latin typeface="Courier New" panose="02070309020205020404" pitchFamily="49" charset="0"/>
                <a:cs typeface="Courier New" panose="02070309020205020404" pitchFamily="49" charset="0"/>
              </a:rPr>
              <a:t>         </a:t>
            </a:r>
            <a:r>
              <a:rPr lang="en-US" altLang="en-US" sz="2000" b="1" i="1" dirty="0">
                <a:latin typeface="Courier New" panose="02070309020205020404" pitchFamily="49" charset="0"/>
                <a:cs typeface="Courier New" panose="02070309020205020404" pitchFamily="49" charset="0"/>
              </a:rPr>
              <a:t>Begin ..</a:t>
            </a:r>
            <a:r>
              <a:rPr lang="en-US" altLang="en-US" sz="2000" b="1" i="1" dirty="0" err="1">
                <a:latin typeface="Courier New" panose="02070309020205020404" pitchFamily="49" charset="0"/>
                <a:cs typeface="Courier New" panose="02070309020205020404" pitchFamily="49" charset="0"/>
              </a:rPr>
              <a:t>a..v..exchange</a:t>
            </a:r>
            <a:r>
              <a:rPr lang="en-US" altLang="en-US" sz="2000" b="1" i="1" dirty="0">
                <a:latin typeface="Courier New" panose="02070309020205020404" pitchFamily="49" charset="0"/>
                <a:cs typeface="Courier New" panose="02070309020205020404" pitchFamily="49" charset="0"/>
              </a:rPr>
              <a:t>(</a:t>
            </a:r>
            <a:r>
              <a:rPr lang="en-US" altLang="en-US" sz="2000" b="1" i="1" dirty="0" err="1">
                <a:latin typeface="Courier New" panose="02070309020205020404" pitchFamily="49" charset="0"/>
                <a:cs typeface="Courier New" panose="02070309020205020404" pitchFamily="49" charset="0"/>
              </a:rPr>
              <a:t>i,j</a:t>
            </a:r>
            <a:r>
              <a:rPr lang="en-US" altLang="en-US" sz="2000" b="1" i="1" dirty="0">
                <a:latin typeface="Courier New" panose="02070309020205020404" pitchFamily="49" charset="0"/>
                <a:cs typeface="Courier New" panose="02070309020205020404" pitchFamily="49" charset="0"/>
              </a:rPr>
              <a:t>) end; {partition}</a:t>
            </a:r>
          </a:p>
          <a:p>
            <a:pPr marL="381000" indent="-381000" eaLnBrk="1" hangingPunct="1">
              <a:buFont typeface="Wingdings" panose="05000000000000000000" pitchFamily="2" charset="2"/>
              <a:buAutoNum type="arabicParenR"/>
            </a:pPr>
            <a:r>
              <a:rPr lang="en-US" altLang="en-US" sz="2000" b="1" i="1" dirty="0">
                <a:latin typeface="Courier New" panose="02070309020205020404" pitchFamily="49" charset="0"/>
                <a:cs typeface="Courier New" panose="02070309020205020404" pitchFamily="49" charset="0"/>
              </a:rPr>
              <a:t>     Begin … end; {quicksort}</a:t>
            </a:r>
          </a:p>
          <a:p>
            <a:pPr marL="381000" indent="-381000" eaLnBrk="1" hangingPunct="1">
              <a:buFont typeface="Wingdings" panose="05000000000000000000" pitchFamily="2" charset="2"/>
              <a:buAutoNum type="arabicParenR"/>
            </a:pPr>
            <a:r>
              <a:rPr lang="en-US" altLang="en-US" sz="2000" b="1" i="1" dirty="0">
                <a:latin typeface="Courier New" panose="02070309020205020404" pitchFamily="49" charset="0"/>
                <a:cs typeface="Courier New" panose="02070309020205020404" pitchFamily="49" charset="0"/>
              </a:rPr>
              <a:t>Begin … end; {sort}</a:t>
            </a:r>
          </a:p>
          <a:p>
            <a:pPr marL="381000" indent="-381000" eaLnBrk="1" hangingPunct="1">
              <a:buFont typeface="Wingdings" panose="05000000000000000000" pitchFamily="2" charset="2"/>
              <a:buAutoNum type="arabicParenR"/>
            </a:pPr>
            <a:endParaRPr lang="en-US" altLang="en-US" sz="2000" i="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21F0A98-7AB8-4324-9E46-95D96505C80E}"/>
              </a:ext>
            </a:extLst>
          </p:cNvPr>
          <p:cNvSpPr>
            <a:spLocks noGrp="1" noChangeArrowheads="1"/>
          </p:cNvSpPr>
          <p:nvPr>
            <p:ph type="title"/>
          </p:nvPr>
        </p:nvSpPr>
        <p:spPr>
          <a:xfrm>
            <a:off x="457200" y="457200"/>
            <a:ext cx="8229600" cy="838200"/>
          </a:xfrm>
        </p:spPr>
        <p:txBody>
          <a:bodyPr/>
          <a:lstStyle/>
          <a:p>
            <a:pPr eaLnBrk="1" hangingPunct="1"/>
            <a:r>
              <a:rPr lang="en-US" altLang="en-US"/>
              <a:t>Five Symbol Tables of Sort</a:t>
            </a:r>
          </a:p>
        </p:txBody>
      </p:sp>
      <p:sp>
        <p:nvSpPr>
          <p:cNvPr id="32771" name="Rectangle 3">
            <a:extLst>
              <a:ext uri="{FF2B5EF4-FFF2-40B4-BE49-F238E27FC236}">
                <a16:creationId xmlns:a16="http://schemas.microsoft.com/office/drawing/2014/main" id="{9B6FD976-D9EA-42DD-ABB8-728C3F891D4B}"/>
              </a:ext>
            </a:extLst>
          </p:cNvPr>
          <p:cNvSpPr>
            <a:spLocks noGrp="1" noChangeArrowheads="1"/>
          </p:cNvSpPr>
          <p:nvPr>
            <p:ph idx="1"/>
          </p:nvPr>
        </p:nvSpPr>
        <p:spPr/>
        <p:txBody>
          <a:bodyPr/>
          <a:lstStyle/>
          <a:p>
            <a:pPr eaLnBrk="1" hangingPunct="1">
              <a:buFont typeface="Wingdings" panose="05000000000000000000" pitchFamily="2" charset="2"/>
              <a:buNone/>
            </a:pPr>
            <a:endParaRPr lang="en-US" altLang="en-US"/>
          </a:p>
        </p:txBody>
      </p:sp>
      <p:pic>
        <p:nvPicPr>
          <p:cNvPr id="263172" name="Picture 4">
            <a:extLst>
              <a:ext uri="{FF2B5EF4-FFF2-40B4-BE49-F238E27FC236}">
                <a16:creationId xmlns:a16="http://schemas.microsoft.com/office/drawing/2014/main" id="{DCE4746F-962C-47AF-BB7E-5C0C8CC520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219200"/>
            <a:ext cx="80772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63172"/>
                                        </p:tgtEl>
                                        <p:attrNameLst>
                                          <p:attrName>style.visibility</p:attrName>
                                        </p:attrNameLst>
                                      </p:cBhvr>
                                      <p:to>
                                        <p:strVal val="visible"/>
                                      </p:to>
                                    </p:set>
                                    <p:animEffect transition="in" filter="box(in)">
                                      <p:cBhvr>
                                        <p:cTn id="7" dur="500"/>
                                        <p:tgtEl>
                                          <p:spTgt spid="263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F4581F0D-D62D-4E98-BFAB-1043D8867C21}"/>
              </a:ext>
            </a:extLst>
          </p:cNvPr>
          <p:cNvSpPr>
            <a:spLocks noGrp="1" noChangeArrowheads="1"/>
          </p:cNvSpPr>
          <p:nvPr>
            <p:ph type="title"/>
          </p:nvPr>
        </p:nvSpPr>
        <p:spPr>
          <a:xfrm>
            <a:off x="457200" y="0"/>
            <a:ext cx="8686800" cy="1371600"/>
          </a:xfrm>
        </p:spPr>
        <p:txBody>
          <a:bodyPr/>
          <a:lstStyle/>
          <a:p>
            <a:pPr eaLnBrk="1" hangingPunct="1"/>
            <a:r>
              <a:rPr lang="en-US" altLang="en-US" sz="3600"/>
              <a:t>Procedures of semantic rules </a:t>
            </a:r>
          </a:p>
        </p:txBody>
      </p:sp>
      <p:sp>
        <p:nvSpPr>
          <p:cNvPr id="34819" name="Rectangle 3">
            <a:extLst>
              <a:ext uri="{FF2B5EF4-FFF2-40B4-BE49-F238E27FC236}">
                <a16:creationId xmlns:a16="http://schemas.microsoft.com/office/drawing/2014/main" id="{F4362F6A-7976-4B9F-B431-D1F00B5E2B9E}"/>
              </a:ext>
            </a:extLst>
          </p:cNvPr>
          <p:cNvSpPr>
            <a:spLocks noGrp="1" noChangeArrowheads="1"/>
          </p:cNvSpPr>
          <p:nvPr>
            <p:ph idx="1"/>
          </p:nvPr>
        </p:nvSpPr>
        <p:spPr>
          <a:xfrm>
            <a:off x="457200" y="1371600"/>
            <a:ext cx="8229600" cy="4876800"/>
          </a:xfrm>
        </p:spPr>
        <p:txBody>
          <a:bodyPr>
            <a:normAutofit lnSpcReduction="10000"/>
          </a:bodyPr>
          <a:lstStyle/>
          <a:p>
            <a:pPr eaLnBrk="1" hangingPunct="1">
              <a:buFont typeface="Wingdings" panose="05000000000000000000" pitchFamily="2" charset="2"/>
              <a:buNone/>
            </a:pPr>
            <a:r>
              <a:rPr lang="en-US" altLang="en-US" sz="2200" b="1" dirty="0" err="1"/>
              <a:t>mktable</a:t>
            </a:r>
            <a:r>
              <a:rPr lang="en-US" altLang="en-US" sz="2200" b="1" dirty="0"/>
              <a:t>(previous)</a:t>
            </a:r>
            <a:r>
              <a:rPr lang="en-US" altLang="en-US" sz="2200" dirty="0"/>
              <a:t> – creates a new symbol table and returns a pointer to the new table. The argument </a:t>
            </a:r>
            <a:r>
              <a:rPr lang="en-US" altLang="en-US" sz="2200" i="1" dirty="0"/>
              <a:t>previous</a:t>
            </a:r>
            <a:r>
              <a:rPr lang="en-US" altLang="en-US" sz="2200" dirty="0"/>
              <a:t> point to previously created symbol table.</a:t>
            </a:r>
          </a:p>
          <a:p>
            <a:pPr eaLnBrk="1" hangingPunct="1">
              <a:buFont typeface="Wingdings" panose="05000000000000000000" pitchFamily="2" charset="2"/>
              <a:buNone/>
            </a:pPr>
            <a:endParaRPr lang="en-US" altLang="en-US" sz="2200" dirty="0"/>
          </a:p>
          <a:p>
            <a:pPr eaLnBrk="1" hangingPunct="1">
              <a:buFont typeface="Wingdings" panose="05000000000000000000" pitchFamily="2" charset="2"/>
              <a:buNone/>
            </a:pPr>
            <a:r>
              <a:rPr lang="en-US" altLang="en-US" sz="2200" b="1" dirty="0"/>
              <a:t>enter(</a:t>
            </a:r>
            <a:r>
              <a:rPr lang="en-US" altLang="en-US" sz="2200" b="1" dirty="0" err="1"/>
              <a:t>table,name,type,offset</a:t>
            </a:r>
            <a:r>
              <a:rPr lang="en-US" altLang="en-US" sz="2200" b="1" dirty="0"/>
              <a:t>)</a:t>
            </a:r>
            <a:r>
              <a:rPr lang="en-US" altLang="en-US" sz="2200" dirty="0"/>
              <a:t> – creates a new entry for name </a:t>
            </a:r>
            <a:r>
              <a:rPr lang="en-US" altLang="en-US" sz="2200" dirty="0" err="1"/>
              <a:t>name</a:t>
            </a:r>
            <a:r>
              <a:rPr lang="en-US" altLang="en-US" sz="2200" dirty="0"/>
              <a:t> in the symbol table pointed to by </a:t>
            </a:r>
            <a:r>
              <a:rPr lang="en-US" altLang="en-US" sz="2200" dirty="0" err="1"/>
              <a:t>table,places</a:t>
            </a:r>
            <a:r>
              <a:rPr lang="en-US" altLang="en-US" sz="2200" dirty="0"/>
              <a:t> type </a:t>
            </a:r>
            <a:r>
              <a:rPr lang="en-US" altLang="en-US" sz="2200" i="1" dirty="0" err="1"/>
              <a:t>type</a:t>
            </a:r>
            <a:r>
              <a:rPr lang="en-US" altLang="en-US" sz="2200" dirty="0"/>
              <a:t> and relative address offset in fields within the entry</a:t>
            </a:r>
          </a:p>
          <a:p>
            <a:pPr eaLnBrk="1" hangingPunct="1">
              <a:buFont typeface="Wingdings" panose="05000000000000000000" pitchFamily="2" charset="2"/>
              <a:buNone/>
            </a:pPr>
            <a:endParaRPr lang="en-US" altLang="en-US" sz="2200" dirty="0"/>
          </a:p>
          <a:p>
            <a:pPr eaLnBrk="1" hangingPunct="1">
              <a:buFont typeface="Wingdings" panose="05000000000000000000" pitchFamily="2" charset="2"/>
              <a:buNone/>
            </a:pPr>
            <a:r>
              <a:rPr lang="en-US" altLang="en-US" sz="2200" b="1" dirty="0" err="1"/>
              <a:t>enterproc</a:t>
            </a:r>
            <a:r>
              <a:rPr lang="en-US" altLang="en-US" sz="2200" b="1" dirty="0"/>
              <a:t>(</a:t>
            </a:r>
            <a:r>
              <a:rPr lang="en-US" altLang="en-US" sz="2200" b="1" dirty="0" err="1"/>
              <a:t>table,name,newbtable</a:t>
            </a:r>
            <a:r>
              <a:rPr lang="en-US" altLang="en-US" sz="2200" b="1" dirty="0"/>
              <a:t>)</a:t>
            </a:r>
            <a:r>
              <a:rPr lang="en-US" altLang="en-US" sz="2200" dirty="0"/>
              <a:t> – creates a new entry for procedure </a:t>
            </a:r>
            <a:r>
              <a:rPr lang="en-US" altLang="en-US" sz="2200" i="1" dirty="0"/>
              <a:t>name</a:t>
            </a:r>
            <a:r>
              <a:rPr lang="en-US" altLang="en-US" sz="2200" dirty="0"/>
              <a:t> in the symbol table pointed to by </a:t>
            </a:r>
            <a:r>
              <a:rPr lang="en-US" altLang="en-US" sz="2200" i="1" dirty="0"/>
              <a:t>table</a:t>
            </a:r>
            <a:r>
              <a:rPr lang="en-US" altLang="en-US" sz="2200" dirty="0"/>
              <a:t>. The argument </a:t>
            </a:r>
            <a:r>
              <a:rPr lang="en-US" altLang="en-US" sz="2200" i="1" dirty="0" err="1"/>
              <a:t>newtable</a:t>
            </a:r>
            <a:r>
              <a:rPr lang="en-US" altLang="en-US" sz="2200" dirty="0"/>
              <a:t> points to the symbol table for this procedure </a:t>
            </a:r>
            <a:r>
              <a:rPr lang="en-US" altLang="en-US" sz="2200" i="1" dirty="0"/>
              <a:t>name</a:t>
            </a:r>
          </a:p>
          <a:p>
            <a:pPr eaLnBrk="1" hangingPunct="1">
              <a:buFont typeface="Wingdings" panose="05000000000000000000" pitchFamily="2" charset="2"/>
              <a:buNone/>
            </a:pPr>
            <a:endParaRPr lang="en-US" altLang="en-US" sz="2200" i="1" dirty="0"/>
          </a:p>
          <a:p>
            <a:pPr eaLnBrk="1" hangingPunct="1">
              <a:buFont typeface="Wingdings" panose="05000000000000000000" pitchFamily="2" charset="2"/>
              <a:buNone/>
            </a:pPr>
            <a:r>
              <a:rPr lang="en-US" altLang="en-US" sz="2200" b="1" dirty="0" err="1"/>
              <a:t>addwidth</a:t>
            </a:r>
            <a:r>
              <a:rPr lang="en-US" altLang="en-US" sz="2200" b="1" dirty="0"/>
              <a:t>(</a:t>
            </a:r>
            <a:r>
              <a:rPr lang="en-US" altLang="en-US" sz="2200" b="1" dirty="0" err="1"/>
              <a:t>table,width</a:t>
            </a:r>
            <a:r>
              <a:rPr lang="en-US" altLang="en-US" sz="2200" b="1" dirty="0"/>
              <a:t>)</a:t>
            </a:r>
            <a:r>
              <a:rPr lang="en-US" altLang="en-US" sz="2200" dirty="0"/>
              <a:t> – records the </a:t>
            </a:r>
            <a:r>
              <a:rPr lang="en-US" altLang="en-US" sz="2200" dirty="0" err="1"/>
              <a:t>cummulative</a:t>
            </a:r>
            <a:r>
              <a:rPr lang="en-US" altLang="en-US" sz="2200" dirty="0"/>
              <a:t> width of all the entries in table in the header associate with this symbol table.</a:t>
            </a:r>
          </a:p>
          <a:p>
            <a:pPr eaLnBrk="1" hangingPunct="1">
              <a:buFont typeface="Wingdings" panose="05000000000000000000" pitchFamily="2" charset="2"/>
              <a:buNone/>
            </a:pPr>
            <a:endParaRPr lang="en-US" altLang="en-US" sz="2000" dirty="0"/>
          </a:p>
          <a:p>
            <a:pPr eaLnBrk="1" hangingPunct="1"/>
            <a:endParaRPr lang="en-US" alt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B7362D34-8F23-49F2-989B-F5BDA2CDD5B7}"/>
              </a:ext>
            </a:extLst>
          </p:cNvPr>
          <p:cNvSpPr>
            <a:spLocks noGrp="1" noChangeArrowheads="1"/>
          </p:cNvSpPr>
          <p:nvPr>
            <p:ph type="title"/>
          </p:nvPr>
        </p:nvSpPr>
        <p:spPr>
          <a:xfrm>
            <a:off x="381000" y="0"/>
            <a:ext cx="8534400" cy="1371600"/>
          </a:xfrm>
        </p:spPr>
        <p:txBody>
          <a:bodyPr>
            <a:normAutofit/>
          </a:bodyPr>
          <a:lstStyle/>
          <a:p>
            <a:pPr eaLnBrk="1" hangingPunct="1"/>
            <a:r>
              <a:rPr lang="en-US" altLang="en-US" sz="3600" dirty="0"/>
              <a:t>Declaration Processing in Nested Procedures</a:t>
            </a:r>
          </a:p>
        </p:txBody>
      </p:sp>
      <p:sp>
        <p:nvSpPr>
          <p:cNvPr id="36867" name="Rectangle 3">
            <a:extLst>
              <a:ext uri="{FF2B5EF4-FFF2-40B4-BE49-F238E27FC236}">
                <a16:creationId xmlns:a16="http://schemas.microsoft.com/office/drawing/2014/main" id="{D00F69EC-8DE3-443A-B0F2-75291E72ACF4}"/>
              </a:ext>
            </a:extLst>
          </p:cNvPr>
          <p:cNvSpPr>
            <a:spLocks noGrp="1" noChangeArrowheads="1"/>
          </p:cNvSpPr>
          <p:nvPr>
            <p:ph idx="1"/>
          </p:nvPr>
        </p:nvSpPr>
        <p:spPr>
          <a:xfrm>
            <a:off x="457200" y="1143000"/>
            <a:ext cx="8229600" cy="5105400"/>
          </a:xfrm>
        </p:spPr>
        <p:txBody>
          <a:bodyPr>
            <a:normAutofit lnSpcReduction="10000"/>
          </a:bodyPr>
          <a:lstStyle/>
          <a:p>
            <a:pPr eaLnBrk="1" hangingPunct="1">
              <a:lnSpc>
                <a:spcPct val="79000"/>
              </a:lnSpc>
              <a:buFont typeface="Wingdings" panose="05000000000000000000" pitchFamily="2" charset="2"/>
              <a:buNone/>
            </a:pPr>
            <a:endParaRPr lang="en-US" altLang="en-US" sz="2800" b="1" dirty="0"/>
          </a:p>
          <a:p>
            <a:pPr eaLnBrk="1" hangingPunct="1">
              <a:lnSpc>
                <a:spcPct val="79000"/>
              </a:lnSpc>
              <a:buFont typeface="Wingdings" panose="05000000000000000000" pitchFamily="2" charset="2"/>
              <a:buNone/>
            </a:pPr>
            <a:r>
              <a:rPr lang="en-US" altLang="en-US" sz="1900" b="1" dirty="0"/>
              <a:t>P </a:t>
            </a:r>
            <a:r>
              <a:rPr lang="en-US" altLang="en-US" sz="1900" b="1" dirty="0">
                <a:sym typeface="Symbol" panose="05050102010706020507" pitchFamily="18" charset="2"/>
              </a:rPr>
              <a:t> M D	 { </a:t>
            </a:r>
            <a:r>
              <a:rPr lang="en-US" altLang="en-US" sz="1900" b="1" i="1" dirty="0" err="1">
                <a:sym typeface="Symbol" panose="05050102010706020507" pitchFamily="18" charset="2"/>
              </a:rPr>
              <a:t>addwidth</a:t>
            </a:r>
            <a:r>
              <a:rPr lang="en-US" altLang="en-US" sz="1900" b="1" dirty="0">
                <a:sym typeface="Symbol" panose="05050102010706020507" pitchFamily="18" charset="2"/>
              </a:rPr>
              <a:t>(</a:t>
            </a:r>
            <a:r>
              <a:rPr lang="en-US" altLang="en-US" sz="1900" b="1" i="1" dirty="0">
                <a:sym typeface="Symbol" panose="05050102010706020507" pitchFamily="18" charset="2"/>
              </a:rPr>
              <a:t>top</a:t>
            </a:r>
            <a:r>
              <a:rPr lang="en-US" altLang="en-US" sz="1900" b="1" dirty="0">
                <a:sym typeface="Symbol" panose="05050102010706020507" pitchFamily="18" charset="2"/>
              </a:rPr>
              <a:t>(</a:t>
            </a:r>
            <a:r>
              <a:rPr lang="en-US" altLang="en-US" sz="1900" b="1" dirty="0" err="1">
                <a:sym typeface="Symbol" panose="05050102010706020507" pitchFamily="18" charset="2"/>
              </a:rPr>
              <a:t>tblptr</a:t>
            </a:r>
            <a:r>
              <a:rPr lang="en-US" altLang="en-US" sz="1900" b="1" dirty="0">
                <a:sym typeface="Symbol" panose="05050102010706020507" pitchFamily="18" charset="2"/>
              </a:rPr>
              <a:t>), </a:t>
            </a:r>
            <a:r>
              <a:rPr lang="en-US" altLang="en-US" sz="1900" b="1" i="1" dirty="0">
                <a:sym typeface="Symbol" panose="05050102010706020507" pitchFamily="18" charset="2"/>
              </a:rPr>
              <a:t>top</a:t>
            </a:r>
            <a:r>
              <a:rPr lang="en-US" altLang="en-US" sz="1900" b="1" dirty="0">
                <a:sym typeface="Symbol" panose="05050102010706020507" pitchFamily="18" charset="2"/>
              </a:rPr>
              <a:t>(offset)); </a:t>
            </a:r>
            <a:r>
              <a:rPr lang="en-US" altLang="en-US" sz="1900" b="1" i="1" dirty="0">
                <a:sym typeface="Symbol" panose="05050102010706020507" pitchFamily="18" charset="2"/>
              </a:rPr>
              <a:t>pop</a:t>
            </a:r>
            <a:r>
              <a:rPr lang="en-US" altLang="en-US" sz="1900" b="1" dirty="0">
                <a:sym typeface="Symbol" panose="05050102010706020507" pitchFamily="18" charset="2"/>
              </a:rPr>
              <a:t>(</a:t>
            </a:r>
            <a:r>
              <a:rPr lang="en-US" altLang="en-US" sz="1900" b="1" dirty="0" err="1">
                <a:sym typeface="Symbol" panose="05050102010706020507" pitchFamily="18" charset="2"/>
              </a:rPr>
              <a:t>tblptr</a:t>
            </a:r>
            <a:r>
              <a:rPr lang="en-US" altLang="en-US" sz="1900" b="1" dirty="0">
                <a:sym typeface="Symbol" panose="05050102010706020507" pitchFamily="18" charset="2"/>
              </a:rPr>
              <a:t>); </a:t>
            </a:r>
            <a:r>
              <a:rPr lang="en-US" altLang="en-US" sz="1900" b="1" i="1" dirty="0">
                <a:sym typeface="Symbol" panose="05050102010706020507" pitchFamily="18" charset="2"/>
              </a:rPr>
              <a:t>pop</a:t>
            </a:r>
            <a:r>
              <a:rPr lang="en-US" altLang="en-US" sz="1900" b="1" dirty="0">
                <a:sym typeface="Symbol" panose="05050102010706020507" pitchFamily="18" charset="2"/>
              </a:rPr>
              <a:t>(offset) }</a:t>
            </a:r>
            <a:br>
              <a:rPr lang="en-US" altLang="en-US" sz="1900" b="1" dirty="0">
                <a:sym typeface="Symbol" panose="05050102010706020507" pitchFamily="18" charset="2"/>
              </a:rPr>
            </a:br>
            <a:endParaRPr lang="en-US" altLang="en-US" sz="1900" b="1" dirty="0">
              <a:sym typeface="Symbol" panose="05050102010706020507" pitchFamily="18" charset="2"/>
            </a:endParaRPr>
          </a:p>
          <a:p>
            <a:pPr eaLnBrk="1" hangingPunct="1">
              <a:lnSpc>
                <a:spcPct val="79000"/>
              </a:lnSpc>
              <a:buFont typeface="Wingdings" panose="05000000000000000000" pitchFamily="2" charset="2"/>
              <a:buNone/>
            </a:pPr>
            <a:r>
              <a:rPr lang="en-US" altLang="en-US" sz="1900" b="1" dirty="0">
                <a:sym typeface="Symbol" panose="05050102010706020507" pitchFamily="18" charset="2"/>
              </a:rPr>
              <a:t>M  		{ t:=</a:t>
            </a:r>
            <a:r>
              <a:rPr lang="en-US" altLang="en-US" sz="1900" b="1" i="1" dirty="0">
                <a:sym typeface="Symbol" panose="05050102010706020507" pitchFamily="18" charset="2"/>
              </a:rPr>
              <a:t>mktable</a:t>
            </a:r>
            <a:r>
              <a:rPr lang="en-US" altLang="en-US" sz="1900" b="1" dirty="0">
                <a:sym typeface="Symbol" panose="05050102010706020507" pitchFamily="18" charset="2"/>
              </a:rPr>
              <a:t>(null);  </a:t>
            </a:r>
            <a:r>
              <a:rPr lang="en-US" altLang="en-US" sz="1900" b="1" i="1" dirty="0">
                <a:sym typeface="Symbol" panose="05050102010706020507" pitchFamily="18" charset="2"/>
              </a:rPr>
              <a:t>push</a:t>
            </a:r>
            <a:r>
              <a:rPr lang="en-US" altLang="en-US" sz="1900" b="1" dirty="0">
                <a:sym typeface="Symbol" panose="05050102010706020507" pitchFamily="18" charset="2"/>
              </a:rPr>
              <a:t>(t, </a:t>
            </a:r>
            <a:r>
              <a:rPr lang="en-US" altLang="en-US" sz="1900" b="1" dirty="0" err="1">
                <a:sym typeface="Symbol" panose="05050102010706020507" pitchFamily="18" charset="2"/>
              </a:rPr>
              <a:t>tblptr</a:t>
            </a:r>
            <a:r>
              <a:rPr lang="en-US" altLang="en-US" sz="1900" b="1" dirty="0">
                <a:sym typeface="Symbol" panose="05050102010706020507" pitchFamily="18" charset="2"/>
              </a:rPr>
              <a:t>); </a:t>
            </a:r>
            <a:r>
              <a:rPr lang="en-US" altLang="en-US" sz="1900" b="1" i="1" dirty="0">
                <a:sym typeface="Symbol" panose="05050102010706020507" pitchFamily="18" charset="2"/>
              </a:rPr>
              <a:t>push</a:t>
            </a:r>
            <a:r>
              <a:rPr lang="en-US" altLang="en-US" sz="1900" b="1" dirty="0">
                <a:sym typeface="Symbol" panose="05050102010706020507" pitchFamily="18" charset="2"/>
              </a:rPr>
              <a:t>(0, offset)}</a:t>
            </a:r>
          </a:p>
          <a:p>
            <a:pPr eaLnBrk="1" hangingPunct="1">
              <a:lnSpc>
                <a:spcPct val="79000"/>
              </a:lnSpc>
              <a:buFont typeface="Wingdings" panose="05000000000000000000" pitchFamily="2" charset="2"/>
              <a:buNone/>
            </a:pPr>
            <a:endParaRPr lang="en-US" altLang="en-US" sz="1900" b="1" dirty="0">
              <a:sym typeface="Symbol" panose="05050102010706020507" pitchFamily="18" charset="2"/>
            </a:endParaRPr>
          </a:p>
          <a:p>
            <a:pPr eaLnBrk="1" hangingPunct="1">
              <a:lnSpc>
                <a:spcPct val="79000"/>
              </a:lnSpc>
              <a:buFont typeface="Wingdings" panose="05000000000000000000" pitchFamily="2" charset="2"/>
              <a:buNone/>
            </a:pPr>
            <a:r>
              <a:rPr lang="en-US" altLang="en-US" sz="1900" b="1" dirty="0">
                <a:sym typeface="Symbol" panose="05050102010706020507" pitchFamily="18" charset="2"/>
              </a:rPr>
              <a:t>D  D</a:t>
            </a:r>
            <a:r>
              <a:rPr lang="en-US" altLang="en-US" sz="1900" b="1" baseline="-25000" dirty="0">
                <a:sym typeface="Symbol" panose="05050102010706020507" pitchFamily="18" charset="2"/>
              </a:rPr>
              <a:t>1</a:t>
            </a:r>
            <a:r>
              <a:rPr lang="en-US" altLang="en-US" sz="1900" b="1" dirty="0">
                <a:sym typeface="Symbol" panose="05050102010706020507" pitchFamily="18" charset="2"/>
              </a:rPr>
              <a:t> </a:t>
            </a:r>
            <a:r>
              <a:rPr lang="en-US" altLang="en-US" sz="1900" b="1" dirty="0">
                <a:solidFill>
                  <a:schemeClr val="accent2"/>
                </a:solidFill>
                <a:sym typeface="Symbol" panose="05050102010706020507" pitchFamily="18" charset="2"/>
              </a:rPr>
              <a:t>; </a:t>
            </a:r>
            <a:r>
              <a:rPr lang="en-US" altLang="en-US" sz="1900" b="1" dirty="0">
                <a:sym typeface="Symbol" panose="05050102010706020507" pitchFamily="18" charset="2"/>
              </a:rPr>
              <a:t>D</a:t>
            </a:r>
            <a:r>
              <a:rPr lang="en-US" altLang="en-US" sz="1900" b="1" baseline="-25000" dirty="0">
                <a:sym typeface="Symbol" panose="05050102010706020507" pitchFamily="18" charset="2"/>
              </a:rPr>
              <a:t>2</a:t>
            </a:r>
            <a:r>
              <a:rPr lang="en-US" altLang="en-US" sz="1900" b="1" dirty="0">
                <a:sym typeface="Symbol" panose="05050102010706020507" pitchFamily="18" charset="2"/>
              </a:rPr>
              <a:t> </a:t>
            </a:r>
          </a:p>
          <a:p>
            <a:pPr eaLnBrk="1" hangingPunct="1">
              <a:lnSpc>
                <a:spcPct val="79000"/>
              </a:lnSpc>
              <a:buFont typeface="Wingdings" panose="05000000000000000000" pitchFamily="2" charset="2"/>
              <a:buNone/>
            </a:pPr>
            <a:endParaRPr lang="en-US" altLang="en-US" sz="1900" b="1" dirty="0">
              <a:sym typeface="Symbol" panose="05050102010706020507" pitchFamily="18" charset="2"/>
            </a:endParaRPr>
          </a:p>
          <a:p>
            <a:pPr eaLnBrk="1" hangingPunct="1">
              <a:lnSpc>
                <a:spcPct val="79000"/>
              </a:lnSpc>
              <a:buFont typeface="Wingdings" panose="05000000000000000000" pitchFamily="2" charset="2"/>
              <a:buNone/>
            </a:pPr>
            <a:r>
              <a:rPr lang="en-US" altLang="en-US" sz="1900" b="1" dirty="0">
                <a:sym typeface="Symbol" panose="05050102010706020507" pitchFamily="18" charset="2"/>
              </a:rPr>
              <a:t>D  </a:t>
            </a:r>
            <a:r>
              <a:rPr lang="en-US" altLang="en-US" sz="1900" b="1" dirty="0">
                <a:solidFill>
                  <a:schemeClr val="accent2"/>
                </a:solidFill>
                <a:sym typeface="Symbol" panose="05050102010706020507" pitchFamily="18" charset="2"/>
              </a:rPr>
              <a:t>proc id ; </a:t>
            </a:r>
            <a:r>
              <a:rPr lang="en-US" altLang="en-US" sz="1900" b="1" dirty="0">
                <a:sym typeface="Symbol" panose="05050102010706020507" pitchFamily="18" charset="2"/>
              </a:rPr>
              <a:t>N D</a:t>
            </a:r>
            <a:r>
              <a:rPr lang="en-US" altLang="en-US" sz="1900" b="1" baseline="-25000" dirty="0">
                <a:sym typeface="Symbol" panose="05050102010706020507" pitchFamily="18" charset="2"/>
              </a:rPr>
              <a:t>1</a:t>
            </a:r>
            <a:r>
              <a:rPr lang="en-US" altLang="en-US" sz="1900" b="1" dirty="0">
                <a:sym typeface="Symbol" panose="05050102010706020507" pitchFamily="18" charset="2"/>
              </a:rPr>
              <a:t> </a:t>
            </a:r>
            <a:r>
              <a:rPr lang="en-US" altLang="en-US" sz="1900" b="1" dirty="0">
                <a:solidFill>
                  <a:schemeClr val="accent2"/>
                </a:solidFill>
                <a:sym typeface="Symbol" panose="05050102010706020507" pitchFamily="18" charset="2"/>
              </a:rPr>
              <a:t>;</a:t>
            </a:r>
            <a:r>
              <a:rPr lang="en-US" altLang="en-US" sz="1900" b="1" dirty="0">
                <a:sym typeface="Symbol" panose="05050102010706020507" pitchFamily="18" charset="2"/>
              </a:rPr>
              <a:t> S	{ t:=</a:t>
            </a:r>
            <a:r>
              <a:rPr lang="en-US" altLang="en-US" sz="1900" b="1" i="1" dirty="0">
                <a:sym typeface="Symbol" panose="05050102010706020507" pitchFamily="18" charset="2"/>
              </a:rPr>
              <a:t>top</a:t>
            </a:r>
            <a:r>
              <a:rPr lang="en-US" altLang="en-US" sz="1900" b="1" dirty="0">
                <a:sym typeface="Symbol" panose="05050102010706020507" pitchFamily="18" charset="2"/>
              </a:rPr>
              <a:t>(tblpr); </a:t>
            </a:r>
            <a:r>
              <a:rPr lang="en-US" altLang="en-US" sz="1900" b="1" i="1" dirty="0" err="1">
                <a:sym typeface="Symbol" panose="05050102010706020507" pitchFamily="18" charset="2"/>
              </a:rPr>
              <a:t>addwidth</a:t>
            </a:r>
            <a:r>
              <a:rPr lang="en-US" altLang="en-US" sz="1900" b="1" dirty="0">
                <a:sym typeface="Symbol" panose="05050102010706020507" pitchFamily="18" charset="2"/>
              </a:rPr>
              <a:t>(</a:t>
            </a:r>
            <a:r>
              <a:rPr lang="en-US" altLang="en-US" sz="1900" b="1" dirty="0" err="1">
                <a:sym typeface="Symbol" panose="05050102010706020507" pitchFamily="18" charset="2"/>
              </a:rPr>
              <a:t>t,</a:t>
            </a:r>
            <a:r>
              <a:rPr lang="en-US" altLang="en-US" sz="1900" b="1" i="1" dirty="0" err="1">
                <a:sym typeface="Symbol" panose="05050102010706020507" pitchFamily="18" charset="2"/>
              </a:rPr>
              <a:t>top</a:t>
            </a:r>
            <a:r>
              <a:rPr lang="en-US" altLang="en-US" sz="1900" b="1" dirty="0">
                <a:sym typeface="Symbol" panose="05050102010706020507" pitchFamily="18" charset="2"/>
              </a:rPr>
              <a:t>(offset));</a:t>
            </a:r>
          </a:p>
          <a:p>
            <a:pPr eaLnBrk="1" hangingPunct="1">
              <a:lnSpc>
                <a:spcPct val="79000"/>
              </a:lnSpc>
              <a:buFont typeface="Wingdings" panose="05000000000000000000" pitchFamily="2" charset="2"/>
              <a:buNone/>
            </a:pPr>
            <a:r>
              <a:rPr lang="en-US" altLang="en-US" sz="1900" b="1" dirty="0">
                <a:sym typeface="Symbol" panose="05050102010706020507" pitchFamily="18" charset="2"/>
              </a:rPr>
              <a:t>					</a:t>
            </a:r>
            <a:r>
              <a:rPr lang="en-US" altLang="en-US" sz="1900" b="1" i="1" dirty="0">
                <a:sym typeface="Symbol" panose="05050102010706020507" pitchFamily="18" charset="2"/>
              </a:rPr>
              <a:t>pop</a:t>
            </a:r>
            <a:r>
              <a:rPr lang="en-US" altLang="en-US" sz="1900" b="1" dirty="0">
                <a:sym typeface="Symbol" panose="05050102010706020507" pitchFamily="18" charset="2"/>
              </a:rPr>
              <a:t>(</a:t>
            </a:r>
            <a:r>
              <a:rPr lang="en-US" altLang="en-US" sz="1900" b="1" dirty="0" err="1">
                <a:sym typeface="Symbol" panose="05050102010706020507" pitchFamily="18" charset="2"/>
              </a:rPr>
              <a:t>tblptr</a:t>
            </a:r>
            <a:r>
              <a:rPr lang="en-US" altLang="en-US" sz="1900" b="1" dirty="0">
                <a:sym typeface="Symbol" panose="05050102010706020507" pitchFamily="18" charset="2"/>
              </a:rPr>
              <a:t>); </a:t>
            </a:r>
            <a:r>
              <a:rPr lang="en-US" altLang="en-US" sz="1900" b="1" i="1" dirty="0">
                <a:sym typeface="Symbol" panose="05050102010706020507" pitchFamily="18" charset="2"/>
              </a:rPr>
              <a:t>pop</a:t>
            </a:r>
            <a:r>
              <a:rPr lang="en-US" altLang="en-US" sz="1900" b="1" dirty="0">
                <a:sym typeface="Symbol" panose="05050102010706020507" pitchFamily="18" charset="2"/>
              </a:rPr>
              <a:t>(offset);</a:t>
            </a:r>
          </a:p>
          <a:p>
            <a:pPr eaLnBrk="1" hangingPunct="1">
              <a:lnSpc>
                <a:spcPct val="79000"/>
              </a:lnSpc>
              <a:buFont typeface="Wingdings" panose="05000000000000000000" pitchFamily="2" charset="2"/>
              <a:buNone/>
            </a:pPr>
            <a:r>
              <a:rPr lang="en-US" altLang="en-US" sz="1900" b="1" dirty="0">
                <a:sym typeface="Symbol" panose="05050102010706020507" pitchFamily="18" charset="2"/>
              </a:rPr>
              <a:t>					</a:t>
            </a:r>
            <a:r>
              <a:rPr lang="en-US" altLang="en-US" sz="1900" b="1" i="1" dirty="0" err="1">
                <a:sym typeface="Symbol" panose="05050102010706020507" pitchFamily="18" charset="2"/>
              </a:rPr>
              <a:t>enterproc</a:t>
            </a:r>
            <a:r>
              <a:rPr lang="en-US" altLang="en-US" sz="1900" b="1" dirty="0">
                <a:sym typeface="Symbol" panose="05050102010706020507" pitchFamily="18" charset="2"/>
              </a:rPr>
              <a:t>(</a:t>
            </a:r>
            <a:r>
              <a:rPr lang="en-US" altLang="en-US" sz="1900" b="1" i="1" dirty="0">
                <a:sym typeface="Symbol" panose="05050102010706020507" pitchFamily="18" charset="2"/>
              </a:rPr>
              <a:t>top</a:t>
            </a:r>
            <a:r>
              <a:rPr lang="en-US" altLang="en-US" sz="1900" b="1" dirty="0">
                <a:sym typeface="Symbol" panose="05050102010706020507" pitchFamily="18" charset="2"/>
              </a:rPr>
              <a:t>(</a:t>
            </a:r>
            <a:r>
              <a:rPr lang="en-US" altLang="en-US" sz="1900" b="1" dirty="0" err="1">
                <a:sym typeface="Symbol" panose="05050102010706020507" pitchFamily="18" charset="2"/>
              </a:rPr>
              <a:t>tblptr</a:t>
            </a:r>
            <a:r>
              <a:rPr lang="en-US" altLang="en-US" sz="1900" b="1" dirty="0">
                <a:sym typeface="Symbol" panose="05050102010706020507" pitchFamily="18" charset="2"/>
              </a:rPr>
              <a:t>), </a:t>
            </a:r>
            <a:r>
              <a:rPr lang="en-US" altLang="en-US" sz="1900" b="1" dirty="0">
                <a:solidFill>
                  <a:schemeClr val="accent2"/>
                </a:solidFill>
                <a:sym typeface="Symbol" panose="05050102010706020507" pitchFamily="18" charset="2"/>
              </a:rPr>
              <a:t>id</a:t>
            </a:r>
            <a:r>
              <a:rPr lang="en-US" altLang="en-US" sz="1900" b="1" dirty="0">
                <a:sym typeface="Symbol" panose="05050102010706020507" pitchFamily="18" charset="2"/>
              </a:rPr>
              <a:t>.name, t)}	</a:t>
            </a:r>
          </a:p>
          <a:p>
            <a:pPr eaLnBrk="1" hangingPunct="1">
              <a:lnSpc>
                <a:spcPct val="79000"/>
              </a:lnSpc>
              <a:buFont typeface="Wingdings" panose="05000000000000000000" pitchFamily="2" charset="2"/>
              <a:buNone/>
            </a:pPr>
            <a:endParaRPr lang="en-US" altLang="en-US" sz="1900" b="1" dirty="0">
              <a:sym typeface="Symbol" panose="05050102010706020507" pitchFamily="18" charset="2"/>
            </a:endParaRPr>
          </a:p>
          <a:p>
            <a:pPr eaLnBrk="1" hangingPunct="1">
              <a:lnSpc>
                <a:spcPct val="79000"/>
              </a:lnSpc>
              <a:buFont typeface="Wingdings" panose="05000000000000000000" pitchFamily="2" charset="2"/>
              <a:buNone/>
            </a:pPr>
            <a:r>
              <a:rPr lang="en-US" altLang="en-US" sz="1900" b="1" dirty="0">
                <a:sym typeface="Symbol" panose="05050102010706020507" pitchFamily="18" charset="2"/>
              </a:rPr>
              <a:t>N   	{t:=</a:t>
            </a:r>
            <a:r>
              <a:rPr lang="en-US" altLang="en-US" sz="1900" b="1" i="1" dirty="0" err="1">
                <a:sym typeface="Symbol" panose="05050102010706020507" pitchFamily="18" charset="2"/>
              </a:rPr>
              <a:t>mktable</a:t>
            </a:r>
            <a:r>
              <a:rPr lang="en-US" altLang="en-US" sz="1900" b="1" dirty="0">
                <a:sym typeface="Symbol" panose="05050102010706020507" pitchFamily="18" charset="2"/>
              </a:rPr>
              <a:t>(</a:t>
            </a:r>
            <a:r>
              <a:rPr lang="en-US" altLang="en-US" sz="1900" b="1" i="1" dirty="0">
                <a:sym typeface="Symbol" panose="05050102010706020507" pitchFamily="18" charset="2"/>
              </a:rPr>
              <a:t>top</a:t>
            </a:r>
            <a:r>
              <a:rPr lang="en-US" altLang="en-US" sz="1900" b="1" dirty="0">
                <a:sym typeface="Symbol" panose="05050102010706020507" pitchFamily="18" charset="2"/>
              </a:rPr>
              <a:t>(</a:t>
            </a:r>
            <a:r>
              <a:rPr lang="en-US" altLang="en-US" sz="1900" b="1" dirty="0" err="1">
                <a:sym typeface="Symbol" panose="05050102010706020507" pitchFamily="18" charset="2"/>
              </a:rPr>
              <a:t>tblptr</a:t>
            </a:r>
            <a:r>
              <a:rPr lang="en-US" altLang="en-US" sz="1900" b="1" dirty="0">
                <a:sym typeface="Symbol" panose="05050102010706020507" pitchFamily="18" charset="2"/>
              </a:rPr>
              <a:t>)); </a:t>
            </a:r>
            <a:r>
              <a:rPr lang="en-US" altLang="en-US" sz="1900" b="1" i="1" dirty="0">
                <a:sym typeface="Symbol" panose="05050102010706020507" pitchFamily="18" charset="2"/>
              </a:rPr>
              <a:t>push</a:t>
            </a:r>
            <a:r>
              <a:rPr lang="en-US" altLang="en-US" sz="1900" b="1" dirty="0">
                <a:sym typeface="Symbol" panose="05050102010706020507" pitchFamily="18" charset="2"/>
              </a:rPr>
              <a:t>(</a:t>
            </a:r>
            <a:r>
              <a:rPr lang="en-US" altLang="en-US" sz="1900" b="1" dirty="0" err="1">
                <a:sym typeface="Symbol" panose="05050102010706020507" pitchFamily="18" charset="2"/>
              </a:rPr>
              <a:t>t,tblptr</a:t>
            </a:r>
            <a:r>
              <a:rPr lang="en-US" altLang="en-US" sz="1900" b="1" dirty="0">
                <a:sym typeface="Symbol" panose="05050102010706020507" pitchFamily="18" charset="2"/>
              </a:rPr>
              <a:t>); </a:t>
            </a:r>
            <a:r>
              <a:rPr lang="en-US" altLang="en-US" sz="1900" b="1" i="1" dirty="0">
                <a:sym typeface="Symbol" panose="05050102010706020507" pitchFamily="18" charset="2"/>
              </a:rPr>
              <a:t>push</a:t>
            </a:r>
            <a:r>
              <a:rPr lang="en-US" altLang="en-US" sz="1900" b="1" dirty="0">
                <a:sym typeface="Symbol" panose="05050102010706020507" pitchFamily="18" charset="2"/>
              </a:rPr>
              <a:t>(0,offset);}</a:t>
            </a:r>
          </a:p>
          <a:p>
            <a:pPr eaLnBrk="1" hangingPunct="1">
              <a:lnSpc>
                <a:spcPct val="79000"/>
              </a:lnSpc>
              <a:buFont typeface="Wingdings" panose="05000000000000000000" pitchFamily="2" charset="2"/>
              <a:buNone/>
            </a:pPr>
            <a:endParaRPr lang="en-US" altLang="en-US" sz="1900" b="1" dirty="0">
              <a:sym typeface="Symbol" panose="05050102010706020507" pitchFamily="18" charset="2"/>
            </a:endParaRPr>
          </a:p>
          <a:p>
            <a:pPr eaLnBrk="1" hangingPunct="1">
              <a:lnSpc>
                <a:spcPct val="79000"/>
              </a:lnSpc>
              <a:buFont typeface="Wingdings" panose="05000000000000000000" pitchFamily="2" charset="2"/>
              <a:buNone/>
            </a:pPr>
            <a:r>
              <a:rPr lang="en-US" altLang="en-US" sz="1900" b="1" dirty="0">
                <a:sym typeface="Symbol" panose="05050102010706020507" pitchFamily="18" charset="2"/>
              </a:rPr>
              <a:t>D  </a:t>
            </a:r>
            <a:r>
              <a:rPr lang="en-US" altLang="en-US" sz="1900" b="1" dirty="0">
                <a:solidFill>
                  <a:schemeClr val="accent2"/>
                </a:solidFill>
                <a:sym typeface="Symbol" panose="05050102010706020507" pitchFamily="18" charset="2"/>
              </a:rPr>
              <a:t>id : </a:t>
            </a:r>
            <a:r>
              <a:rPr lang="en-US" altLang="en-US" sz="1900" b="1" dirty="0">
                <a:sym typeface="Symbol" panose="05050102010706020507" pitchFamily="18" charset="2"/>
              </a:rPr>
              <a:t>T {</a:t>
            </a:r>
            <a:r>
              <a:rPr lang="en-US" altLang="en-US" sz="1900" b="1" i="1" dirty="0">
                <a:sym typeface="Symbol" panose="05050102010706020507" pitchFamily="18" charset="2"/>
              </a:rPr>
              <a:t>enter</a:t>
            </a:r>
            <a:r>
              <a:rPr lang="en-US" altLang="en-US" sz="1900" b="1" dirty="0">
                <a:sym typeface="Symbol" panose="05050102010706020507" pitchFamily="18" charset="2"/>
              </a:rPr>
              <a:t>(</a:t>
            </a:r>
            <a:r>
              <a:rPr lang="en-US" altLang="en-US" sz="1900" b="1" i="1" dirty="0">
                <a:sym typeface="Symbol" panose="05050102010706020507" pitchFamily="18" charset="2"/>
              </a:rPr>
              <a:t>top</a:t>
            </a:r>
            <a:r>
              <a:rPr lang="en-US" altLang="en-US" sz="1900" b="1" dirty="0">
                <a:sym typeface="Symbol" panose="05050102010706020507" pitchFamily="18" charset="2"/>
              </a:rPr>
              <a:t>(</a:t>
            </a:r>
            <a:r>
              <a:rPr lang="en-US" altLang="en-US" sz="1900" b="1" dirty="0" err="1">
                <a:sym typeface="Symbol" panose="05050102010706020507" pitchFamily="18" charset="2"/>
              </a:rPr>
              <a:t>tblptr</a:t>
            </a:r>
            <a:r>
              <a:rPr lang="en-US" altLang="en-US" sz="1900" b="1" dirty="0">
                <a:sym typeface="Symbol" panose="05050102010706020507" pitchFamily="18" charset="2"/>
              </a:rPr>
              <a:t>), </a:t>
            </a:r>
            <a:r>
              <a:rPr lang="en-US" altLang="en-US" sz="1900" b="1" dirty="0">
                <a:solidFill>
                  <a:schemeClr val="accent2"/>
                </a:solidFill>
                <a:sym typeface="Symbol" panose="05050102010706020507" pitchFamily="18" charset="2"/>
              </a:rPr>
              <a:t>id</a:t>
            </a:r>
            <a:r>
              <a:rPr lang="en-US" altLang="en-US" sz="1900" b="1" dirty="0">
                <a:sym typeface="Symbol" panose="05050102010706020507" pitchFamily="18" charset="2"/>
              </a:rPr>
              <a:t>.name, </a:t>
            </a:r>
            <a:r>
              <a:rPr lang="en-US" altLang="en-US" sz="1900" b="1" dirty="0" err="1">
                <a:sym typeface="Symbol" panose="05050102010706020507" pitchFamily="18" charset="2"/>
              </a:rPr>
              <a:t>T.</a:t>
            </a:r>
            <a:r>
              <a:rPr lang="en-US" altLang="en-US" sz="1900" b="1" i="1" dirty="0" err="1">
                <a:sym typeface="Symbol" panose="05050102010706020507" pitchFamily="18" charset="2"/>
              </a:rPr>
              <a:t>type</a:t>
            </a:r>
            <a:r>
              <a:rPr lang="en-US" altLang="en-US" sz="1900" b="1" dirty="0">
                <a:sym typeface="Symbol" panose="05050102010706020507" pitchFamily="18" charset="2"/>
              </a:rPr>
              <a:t>, </a:t>
            </a:r>
            <a:r>
              <a:rPr lang="en-US" altLang="en-US" sz="1900" b="1" i="1" dirty="0">
                <a:sym typeface="Symbol" panose="05050102010706020507" pitchFamily="18" charset="2"/>
              </a:rPr>
              <a:t>top</a:t>
            </a:r>
            <a:r>
              <a:rPr lang="en-US" altLang="en-US" sz="1900" b="1" dirty="0">
                <a:sym typeface="Symbol" panose="05050102010706020507" pitchFamily="18" charset="2"/>
              </a:rPr>
              <a:t>(offset);</a:t>
            </a:r>
          </a:p>
          <a:p>
            <a:pPr eaLnBrk="1" hangingPunct="1">
              <a:lnSpc>
                <a:spcPct val="79000"/>
              </a:lnSpc>
              <a:buFont typeface="Wingdings" panose="05000000000000000000" pitchFamily="2" charset="2"/>
              <a:buNone/>
            </a:pPr>
            <a:r>
              <a:rPr lang="en-US" altLang="en-US" sz="1900" b="1" dirty="0">
                <a:sym typeface="Symbol" panose="05050102010706020507" pitchFamily="18" charset="2"/>
              </a:rPr>
              <a:t>			</a:t>
            </a:r>
            <a:r>
              <a:rPr lang="en-US" altLang="en-US" sz="1900" b="1" i="1" dirty="0">
                <a:sym typeface="Symbol" panose="05050102010706020507" pitchFamily="18" charset="2"/>
              </a:rPr>
              <a:t>top</a:t>
            </a:r>
            <a:r>
              <a:rPr lang="en-US" altLang="en-US" sz="1900" b="1" dirty="0">
                <a:sym typeface="Symbol" panose="05050102010706020507" pitchFamily="18" charset="2"/>
              </a:rPr>
              <a:t>(offset):=</a:t>
            </a:r>
            <a:r>
              <a:rPr lang="en-US" altLang="en-US" sz="1900" b="1" i="1" dirty="0">
                <a:sym typeface="Symbol" panose="05050102010706020507" pitchFamily="18" charset="2"/>
              </a:rPr>
              <a:t>top</a:t>
            </a:r>
            <a:r>
              <a:rPr lang="en-US" altLang="en-US" sz="1900" b="1" dirty="0">
                <a:sym typeface="Symbol" panose="05050102010706020507" pitchFamily="18" charset="2"/>
              </a:rPr>
              <a:t>(offset) + </a:t>
            </a:r>
            <a:r>
              <a:rPr lang="en-US" altLang="en-US" sz="1900" b="1" dirty="0" err="1">
                <a:sym typeface="Symbol" panose="05050102010706020507" pitchFamily="18" charset="2"/>
              </a:rPr>
              <a:t>T.</a:t>
            </a:r>
            <a:r>
              <a:rPr lang="en-US" altLang="en-US" sz="1900" b="1" i="1" dirty="0" err="1">
                <a:sym typeface="Symbol" panose="05050102010706020507" pitchFamily="18" charset="2"/>
              </a:rPr>
              <a:t>width</a:t>
            </a:r>
            <a:r>
              <a:rPr lang="en-US" altLang="en-US" sz="1900" b="1" dirty="0">
                <a:sym typeface="Symbol" panose="05050102010706020507" pitchFamily="18" charset="2"/>
              </a:rPr>
              <a:t>	</a:t>
            </a:r>
          </a:p>
          <a:p>
            <a:pPr eaLnBrk="1" hangingPunct="1">
              <a:lnSpc>
                <a:spcPct val="79000"/>
              </a:lnSpc>
              <a:buFont typeface="Wingdings" panose="05000000000000000000" pitchFamily="2" charset="2"/>
              <a:buNone/>
            </a:pPr>
            <a:endParaRPr lang="en-US" altLang="en-US" sz="1800" dirty="0"/>
          </a:p>
          <a:p>
            <a:pPr lvl="1" eaLnBrk="1" hangingPunct="1">
              <a:lnSpc>
                <a:spcPct val="70000"/>
              </a:lnSpc>
              <a:buFont typeface="Wingdings" panose="05000000000000000000" pitchFamily="2" charset="2"/>
              <a:buNone/>
            </a:pPr>
            <a:endParaRPr lang="en-US" alt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5EF12239-411D-4279-924B-BE289109E15A}"/>
              </a:ext>
            </a:extLst>
          </p:cNvPr>
          <p:cNvSpPr>
            <a:spLocks noGrp="1" noChangeArrowheads="1"/>
          </p:cNvSpPr>
          <p:nvPr>
            <p:ph type="title"/>
          </p:nvPr>
        </p:nvSpPr>
        <p:spPr>
          <a:xfrm>
            <a:off x="609600" y="304800"/>
            <a:ext cx="8077200" cy="1371600"/>
          </a:xfrm>
        </p:spPr>
        <p:txBody>
          <a:bodyPr/>
          <a:lstStyle/>
          <a:p>
            <a:pPr eaLnBrk="1" hangingPunct="1"/>
            <a:r>
              <a:rPr lang="en-US" altLang="en-US" dirty="0"/>
              <a:t>Syntax directed definition for assignment statements</a:t>
            </a:r>
          </a:p>
        </p:txBody>
      </p:sp>
      <p:pic>
        <p:nvPicPr>
          <p:cNvPr id="38915" name="Picture 4">
            <a:extLst>
              <a:ext uri="{FF2B5EF4-FFF2-40B4-BE49-F238E27FC236}">
                <a16:creationId xmlns:a16="http://schemas.microsoft.com/office/drawing/2014/main" id="{B3FD8820-AB2F-41CC-BE11-DC35B737DD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9792" y="1676400"/>
            <a:ext cx="7738898" cy="453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F7998DD-A1B1-4074-8D2B-9CA1A42FD9C4}"/>
              </a:ext>
            </a:extLst>
          </p:cNvPr>
          <p:cNvSpPr>
            <a:spLocks noGrp="1" noChangeArrowheads="1"/>
          </p:cNvSpPr>
          <p:nvPr>
            <p:ph type="title"/>
          </p:nvPr>
        </p:nvSpPr>
        <p:spPr/>
        <p:txBody>
          <a:bodyPr/>
          <a:lstStyle/>
          <a:p>
            <a:pPr eaLnBrk="1" hangingPunct="1"/>
            <a:r>
              <a:rPr lang="en-US" altLang="en-US"/>
              <a:t>Names in the symbol table</a:t>
            </a:r>
          </a:p>
        </p:txBody>
      </p:sp>
      <p:sp>
        <p:nvSpPr>
          <p:cNvPr id="40963" name="Rectangle 3">
            <a:extLst>
              <a:ext uri="{FF2B5EF4-FFF2-40B4-BE49-F238E27FC236}">
                <a16:creationId xmlns:a16="http://schemas.microsoft.com/office/drawing/2014/main" id="{CF075183-7880-4DAE-A140-3A781FB4F00D}"/>
              </a:ext>
            </a:extLst>
          </p:cNvPr>
          <p:cNvSpPr>
            <a:spLocks noGrp="1" noChangeArrowheads="1"/>
          </p:cNvSpPr>
          <p:nvPr>
            <p:ph idx="1"/>
          </p:nvPr>
        </p:nvSpPr>
        <p:spPr>
          <a:xfrm>
            <a:off x="457200" y="1295400"/>
            <a:ext cx="8229600" cy="5105400"/>
          </a:xfrm>
        </p:spPr>
        <p:txBody>
          <a:bodyPr/>
          <a:lstStyle/>
          <a:p>
            <a:pPr eaLnBrk="1" hangingPunct="1"/>
            <a:r>
              <a:rPr lang="en-US" altLang="en-US" sz="2400" dirty="0"/>
              <a:t>Names in an assignment generated by S must have been declared in either the procedure that S appears in or in some enclosing procedures. </a:t>
            </a:r>
          </a:p>
          <a:p>
            <a:pPr eaLnBrk="1" hangingPunct="1"/>
            <a:r>
              <a:rPr lang="en-US" altLang="en-US" sz="2400" dirty="0"/>
              <a:t>The</a:t>
            </a:r>
            <a:r>
              <a:rPr lang="en-US" altLang="en-US" sz="2400" i="1" dirty="0"/>
              <a:t> lookup </a:t>
            </a:r>
            <a:r>
              <a:rPr lang="en-US" altLang="en-US" sz="2400" dirty="0"/>
              <a:t>operation first check if there is an entry for attribute id.name in the symbol table. If so, a pointer to the entry is returned. If the name cannot be found, then lookup returns nil.</a:t>
            </a:r>
          </a:p>
          <a:p>
            <a:pPr eaLnBrk="1" hangingPunct="1"/>
            <a:r>
              <a:rPr lang="en-US" altLang="en-US" sz="2400" dirty="0"/>
              <a:t>Emit procedure used to emit three-address statements to an output file rather than building up </a:t>
            </a:r>
            <a:r>
              <a:rPr lang="en-US" altLang="en-US" sz="2400" i="1" dirty="0"/>
              <a:t>code</a:t>
            </a:r>
            <a:r>
              <a:rPr lang="en-US" altLang="en-US" sz="2400" dirty="0"/>
              <a:t> attributes for some </a:t>
            </a:r>
            <a:r>
              <a:rPr lang="en-US" altLang="en-US" sz="2400" dirty="0" err="1"/>
              <a:t>nonterminals</a:t>
            </a:r>
            <a:r>
              <a:rPr lang="en-US" altLang="en-US" sz="2400" dirty="0"/>
              <a:t>. Translation can be done by emitting to an output file if the </a:t>
            </a:r>
            <a:r>
              <a:rPr lang="en-US" altLang="en-US" sz="2400" i="1" dirty="0"/>
              <a:t>code</a:t>
            </a:r>
            <a:r>
              <a:rPr lang="en-US" altLang="en-US" sz="2400" dirty="0"/>
              <a:t> attributes of the </a:t>
            </a:r>
            <a:r>
              <a:rPr lang="en-US" altLang="en-US" sz="2400" dirty="0" err="1"/>
              <a:t>nonterminals</a:t>
            </a:r>
            <a:r>
              <a:rPr lang="en-US" altLang="en-US" sz="2400" dirty="0"/>
              <a:t> on the left sides of productions are formed by concatenating the code attributes of the </a:t>
            </a:r>
            <a:r>
              <a:rPr lang="en-US" altLang="en-US" sz="2400" dirty="0" err="1"/>
              <a:t>nonterminals</a:t>
            </a:r>
            <a:r>
              <a:rPr lang="en-US" altLang="en-US" sz="2400" dirty="0"/>
              <a:t> on the right side, perhaps with some additional strings in between</a:t>
            </a:r>
          </a:p>
          <a:p>
            <a:pPr eaLnBrk="1" hangingPunct="1"/>
            <a:endParaRPr lang="en-US"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AEB999A5-45EF-463D-B0C9-EA92C4371AB1}"/>
              </a:ext>
            </a:extLst>
          </p:cNvPr>
          <p:cNvSpPr>
            <a:spLocks noGrp="1" noChangeArrowheads="1"/>
          </p:cNvSpPr>
          <p:nvPr>
            <p:ph type="title"/>
          </p:nvPr>
        </p:nvSpPr>
        <p:spPr>
          <a:xfrm>
            <a:off x="457200" y="457200"/>
            <a:ext cx="8534400" cy="838200"/>
          </a:xfrm>
        </p:spPr>
        <p:txBody>
          <a:bodyPr/>
          <a:lstStyle/>
          <a:p>
            <a:pPr eaLnBrk="1" hangingPunct="1"/>
            <a:r>
              <a:rPr lang="en-US" altLang="en-US" sz="4000"/>
              <a:t>Names in the symbol table (cont’d)</a:t>
            </a:r>
          </a:p>
        </p:txBody>
      </p:sp>
      <p:sp>
        <p:nvSpPr>
          <p:cNvPr id="277507" name="Rectangle 3">
            <a:extLst>
              <a:ext uri="{FF2B5EF4-FFF2-40B4-BE49-F238E27FC236}">
                <a16:creationId xmlns:a16="http://schemas.microsoft.com/office/drawing/2014/main" id="{CDC51DEA-9CD4-43E3-8181-DDE21A8B851C}"/>
              </a:ext>
            </a:extLst>
          </p:cNvPr>
          <p:cNvSpPr>
            <a:spLocks noGrp="1" noChangeArrowheads="1"/>
          </p:cNvSpPr>
          <p:nvPr>
            <p:ph idx="1"/>
          </p:nvPr>
        </p:nvSpPr>
        <p:spPr>
          <a:xfrm>
            <a:off x="533400" y="1752600"/>
            <a:ext cx="8077200" cy="5324475"/>
          </a:xfrm>
        </p:spPr>
        <p:txBody>
          <a:bodyPr/>
          <a:lstStyle/>
          <a:p>
            <a:pPr eaLnBrk="1" hangingPunct="1">
              <a:lnSpc>
                <a:spcPct val="80000"/>
              </a:lnSpc>
            </a:pPr>
            <a:r>
              <a:rPr lang="en-US" altLang="en-US" sz="2000"/>
              <a:t>Consider productions: D </a:t>
            </a:r>
            <a:r>
              <a:rPr lang="en-US" altLang="en-US" sz="2000">
                <a:sym typeface="Symbol" panose="05050102010706020507" pitchFamily="18" charset="2"/>
              </a:rPr>
              <a:t> proc id; ND</a:t>
            </a:r>
            <a:r>
              <a:rPr lang="en-US" altLang="en-US" sz="2000" baseline="-25000">
                <a:sym typeface="Symbol" panose="05050102010706020507" pitchFamily="18" charset="2"/>
              </a:rPr>
              <a:t>1</a:t>
            </a:r>
            <a:r>
              <a:rPr lang="en-US" altLang="en-US" sz="2000">
                <a:sym typeface="Symbol" panose="05050102010706020507" pitchFamily="18" charset="2"/>
              </a:rPr>
              <a:t>; S</a:t>
            </a:r>
          </a:p>
          <a:p>
            <a:pPr eaLnBrk="1" hangingPunct="1">
              <a:lnSpc>
                <a:spcPct val="80000"/>
              </a:lnSpc>
            </a:pPr>
            <a:endParaRPr lang="en-US" altLang="en-US" sz="2000">
              <a:sym typeface="Symbol" panose="05050102010706020507" pitchFamily="18" charset="2"/>
            </a:endParaRPr>
          </a:p>
          <a:p>
            <a:pPr eaLnBrk="1" hangingPunct="1">
              <a:lnSpc>
                <a:spcPct val="80000"/>
              </a:lnSpc>
            </a:pPr>
            <a:r>
              <a:rPr lang="en-US" altLang="en-US" sz="2000">
                <a:sym typeface="Symbol" panose="05050102010706020507" pitchFamily="18" charset="2"/>
              </a:rPr>
              <a:t>Names in an assignment generated by S must have been declared in either the procedure that S appears in or in some enclosing procedure. </a:t>
            </a:r>
          </a:p>
          <a:p>
            <a:pPr eaLnBrk="1" hangingPunct="1">
              <a:lnSpc>
                <a:spcPct val="80000"/>
              </a:lnSpc>
            </a:pPr>
            <a:r>
              <a:rPr lang="en-US" altLang="en-US" sz="2000">
                <a:sym typeface="Symbol" panose="05050102010706020507" pitchFamily="18" charset="2"/>
              </a:rPr>
              <a:t>When apply to </a:t>
            </a:r>
            <a:r>
              <a:rPr lang="en-US" altLang="en-US" sz="2000" i="1">
                <a:sym typeface="Symbol" panose="05050102010706020507" pitchFamily="18" charset="2"/>
              </a:rPr>
              <a:t>name</a:t>
            </a:r>
            <a:r>
              <a:rPr lang="en-US" altLang="en-US" sz="2000">
                <a:sym typeface="Symbol" panose="05050102010706020507" pitchFamily="18" charset="2"/>
              </a:rPr>
              <a:t>, lookup operation checks if name appears in the current symbol table accessible through </a:t>
            </a:r>
            <a:r>
              <a:rPr lang="en-US" altLang="en-US" sz="2000" i="1">
                <a:sym typeface="Symbol" panose="05050102010706020507" pitchFamily="18" charset="2"/>
              </a:rPr>
              <a:t>top(tblptr). </a:t>
            </a:r>
            <a:r>
              <a:rPr lang="en-US" altLang="en-US" sz="2000">
                <a:sym typeface="Symbol" panose="05050102010706020507" pitchFamily="18" charset="2"/>
              </a:rPr>
              <a:t>If not, lookup uses the pointer in the header of the table to find the symbol table for the enclosing procedure and looks for the name there. If the name cannot be found in any of these scopes, </a:t>
            </a:r>
            <a:r>
              <a:rPr lang="en-US" altLang="en-US" sz="2000" i="1">
                <a:sym typeface="Symbol" panose="05050102010706020507" pitchFamily="18" charset="2"/>
              </a:rPr>
              <a:t>lookup </a:t>
            </a:r>
            <a:r>
              <a:rPr lang="en-US" altLang="en-US" sz="2000">
                <a:sym typeface="Symbol" panose="05050102010706020507" pitchFamily="18" charset="2"/>
              </a:rPr>
              <a:t>will return nil</a:t>
            </a:r>
            <a:endParaRPr lang="en-US" altLang="en-US"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77507">
                                            <p:txEl>
                                              <p:pRg st="0" end="0"/>
                                            </p:txEl>
                                          </p:spTgt>
                                        </p:tgtEl>
                                        <p:attrNameLst>
                                          <p:attrName>style.visibility</p:attrName>
                                        </p:attrNameLst>
                                      </p:cBhvr>
                                      <p:to>
                                        <p:strVal val="visible"/>
                                      </p:to>
                                    </p:set>
                                    <p:animEffect transition="in" filter="blinds(horizontal)">
                                      <p:cBhvr>
                                        <p:cTn id="7" dur="500"/>
                                        <p:tgtEl>
                                          <p:spTgt spid="27750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77507">
                                            <p:txEl>
                                              <p:pRg st="2" end="2"/>
                                            </p:txEl>
                                          </p:spTgt>
                                        </p:tgtEl>
                                        <p:attrNameLst>
                                          <p:attrName>style.visibility</p:attrName>
                                        </p:attrNameLst>
                                      </p:cBhvr>
                                      <p:to>
                                        <p:strVal val="visible"/>
                                      </p:to>
                                    </p:set>
                                    <p:animEffect transition="in" filter="blinds(horizontal)">
                                      <p:cBhvr>
                                        <p:cTn id="10" dur="500"/>
                                        <p:tgtEl>
                                          <p:spTgt spid="277507">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77507">
                                            <p:txEl>
                                              <p:pRg st="3" end="3"/>
                                            </p:txEl>
                                          </p:spTgt>
                                        </p:tgtEl>
                                        <p:attrNameLst>
                                          <p:attrName>style.visibility</p:attrName>
                                        </p:attrNameLst>
                                      </p:cBhvr>
                                      <p:to>
                                        <p:strVal val="visible"/>
                                      </p:to>
                                    </p:set>
                                    <p:animEffect transition="in" filter="blinds(horizontal)">
                                      <p:cBhvr>
                                        <p:cTn id="13" dur="500"/>
                                        <p:tgtEl>
                                          <p:spTgt spid="2775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8C4C0918-1088-4B42-9B10-974E48C14BBB}"/>
              </a:ext>
            </a:extLst>
          </p:cNvPr>
          <p:cNvSpPr>
            <a:spLocks noGrp="1" noChangeArrowheads="1"/>
          </p:cNvSpPr>
          <p:nvPr>
            <p:ph type="title"/>
          </p:nvPr>
        </p:nvSpPr>
        <p:spPr>
          <a:xfrm>
            <a:off x="457200" y="457200"/>
            <a:ext cx="8229600" cy="533400"/>
          </a:xfrm>
        </p:spPr>
        <p:txBody>
          <a:bodyPr>
            <a:normAutofit fontScale="90000"/>
          </a:bodyPr>
          <a:lstStyle/>
          <a:p>
            <a:pPr eaLnBrk="1" hangingPunct="1"/>
            <a:r>
              <a:rPr lang="en-US" altLang="en-US" sz="3600"/>
              <a:t>Addressing array element</a:t>
            </a:r>
          </a:p>
        </p:txBody>
      </p:sp>
      <p:sp>
        <p:nvSpPr>
          <p:cNvPr id="45059" name="Rectangle 3">
            <a:extLst>
              <a:ext uri="{FF2B5EF4-FFF2-40B4-BE49-F238E27FC236}">
                <a16:creationId xmlns:a16="http://schemas.microsoft.com/office/drawing/2014/main" id="{42F7961B-618F-4DFB-A65F-DB9DBA0E86FD}"/>
              </a:ext>
            </a:extLst>
          </p:cNvPr>
          <p:cNvSpPr>
            <a:spLocks noGrp="1" noChangeArrowheads="1"/>
          </p:cNvSpPr>
          <p:nvPr>
            <p:ph idx="1"/>
          </p:nvPr>
        </p:nvSpPr>
        <p:spPr>
          <a:xfrm>
            <a:off x="381000" y="1219200"/>
            <a:ext cx="8229600" cy="3886200"/>
          </a:xfrm>
        </p:spPr>
        <p:txBody>
          <a:bodyPr>
            <a:normAutofit lnSpcReduction="10000"/>
          </a:bodyPr>
          <a:lstStyle/>
          <a:p>
            <a:pPr marL="523875" indent="-523875" eaLnBrk="1" hangingPunct="1">
              <a:tabLst>
                <a:tab pos="1025525" algn="l"/>
              </a:tabLst>
            </a:pPr>
            <a:r>
              <a:rPr lang="en-US" altLang="en-US" sz="2000"/>
              <a:t>Elements of an array can be accessed quickly if the elements are stored in a block of consecutive locations. If the width of each array element is w then the i</a:t>
            </a:r>
            <a:r>
              <a:rPr lang="en-US" altLang="en-US" sz="2000" baseline="30000"/>
              <a:t>th</a:t>
            </a:r>
            <a:r>
              <a:rPr lang="en-US" altLang="en-US" sz="2000"/>
              <a:t> element of array A begins in location:</a:t>
            </a:r>
          </a:p>
          <a:p>
            <a:pPr marL="523875" indent="-523875" eaLnBrk="1" hangingPunct="1">
              <a:tabLst>
                <a:tab pos="1025525" algn="l"/>
              </a:tabLst>
            </a:pPr>
            <a:r>
              <a:rPr lang="en-US" altLang="en-US" sz="2000"/>
              <a:t>A[i] = base + (i-low)*w</a:t>
            </a:r>
          </a:p>
          <a:p>
            <a:pPr marL="523875" indent="-523875" eaLnBrk="1" hangingPunct="1">
              <a:tabLst>
                <a:tab pos="1025525" algn="l"/>
              </a:tabLst>
            </a:pPr>
            <a:r>
              <a:rPr lang="en-US" altLang="en-US" sz="2000"/>
              <a:t>Where: </a:t>
            </a:r>
          </a:p>
          <a:p>
            <a:pPr marL="1025525" lvl="1" indent="-387350" eaLnBrk="1" hangingPunct="1">
              <a:tabLst>
                <a:tab pos="1025525" algn="l"/>
              </a:tabLst>
            </a:pPr>
            <a:r>
              <a:rPr lang="en-US" altLang="en-US" sz="2000"/>
              <a:t>Low is the lower bound of the subscript</a:t>
            </a:r>
          </a:p>
          <a:p>
            <a:pPr marL="1025525" lvl="1" indent="-387350" eaLnBrk="1" hangingPunct="1">
              <a:tabLst>
                <a:tab pos="1025525" algn="l"/>
              </a:tabLst>
            </a:pPr>
            <a:r>
              <a:rPr lang="en-US" altLang="en-US" sz="2000"/>
              <a:t>Base is the relative address of the storage allocated for the array(the relative address of A[low])</a:t>
            </a:r>
          </a:p>
          <a:p>
            <a:pPr marL="523875" indent="-523875" eaLnBrk="1" hangingPunct="1">
              <a:tabLst>
                <a:tab pos="1025525" algn="l"/>
              </a:tabLst>
            </a:pPr>
            <a:r>
              <a:rPr lang="en-US" altLang="en-US" sz="2000"/>
              <a:t> A[i] = i*w + (base – low*w)</a:t>
            </a:r>
          </a:p>
          <a:p>
            <a:pPr marL="523875" indent="-523875" eaLnBrk="1" hangingPunct="1">
              <a:tabLst>
                <a:tab pos="1025525" algn="l"/>
              </a:tabLst>
            </a:pPr>
            <a:r>
              <a:rPr lang="en-US" altLang="en-US" sz="2000"/>
              <a:t>Where c = base – low*w can be evaluated when the declaration of the array is seen. Assume  c is saved in the symbol table entry for A, </a:t>
            </a:r>
          </a:p>
          <a:p>
            <a:pPr marL="523875" indent="-523875" eaLnBrk="1" hangingPunct="1">
              <a:tabLst>
                <a:tab pos="1025525" algn="l"/>
              </a:tabLst>
            </a:pPr>
            <a:r>
              <a:rPr lang="en-US" altLang="en-US" sz="2000">
                <a:sym typeface="Symbol" panose="05050102010706020507" pitchFamily="18" charset="2"/>
              </a:rPr>
              <a:t> A[i] = i*w + c</a:t>
            </a:r>
            <a:r>
              <a:rPr lang="en-US" altLang="en-US" sz="2000"/>
              <a:t> </a:t>
            </a:r>
          </a:p>
          <a:p>
            <a:pPr marL="1025525" lvl="1" indent="-387350" eaLnBrk="1" hangingPunct="1">
              <a:tabLst>
                <a:tab pos="1025525" algn="l"/>
              </a:tabLst>
            </a:pPr>
            <a:endParaRPr lang="en-US" altLang="en-US" sz="2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1901095-F873-43CE-92BB-CB9453D711FB}"/>
              </a:ext>
            </a:extLst>
          </p:cNvPr>
          <p:cNvSpPr>
            <a:spLocks noGrp="1" noChangeArrowheads="1"/>
          </p:cNvSpPr>
          <p:nvPr>
            <p:ph type="title"/>
          </p:nvPr>
        </p:nvSpPr>
        <p:spPr>
          <a:xfrm>
            <a:off x="200025" y="196056"/>
            <a:ext cx="8743950" cy="1325563"/>
          </a:xfrm>
        </p:spPr>
        <p:txBody>
          <a:bodyPr>
            <a:normAutofit/>
          </a:bodyPr>
          <a:lstStyle/>
          <a:p>
            <a:pPr eaLnBrk="1" hangingPunct="1"/>
            <a:r>
              <a:rPr lang="en-US" altLang="en-US" sz="4000" dirty="0"/>
              <a:t>Layouts for a two dimensional array</a:t>
            </a:r>
          </a:p>
        </p:txBody>
      </p:sp>
      <p:sp>
        <p:nvSpPr>
          <p:cNvPr id="47107" name="Rectangle 3">
            <a:extLst>
              <a:ext uri="{FF2B5EF4-FFF2-40B4-BE49-F238E27FC236}">
                <a16:creationId xmlns:a16="http://schemas.microsoft.com/office/drawing/2014/main" id="{A1C0F1B3-98BA-4790-9CA2-2C019BCB33D0}"/>
              </a:ext>
            </a:extLst>
          </p:cNvPr>
          <p:cNvSpPr>
            <a:spLocks noGrp="1" noChangeArrowheads="1"/>
          </p:cNvSpPr>
          <p:nvPr>
            <p:ph idx="1"/>
          </p:nvPr>
        </p:nvSpPr>
        <p:spPr>
          <a:xfrm>
            <a:off x="457200" y="1676400"/>
            <a:ext cx="8229600" cy="3886200"/>
          </a:xfrm>
        </p:spPr>
        <p:txBody>
          <a:bodyPr/>
          <a:lstStyle/>
          <a:p>
            <a:pPr eaLnBrk="1" hangingPunct="1"/>
            <a:r>
              <a:rPr lang="en-US" altLang="en-US" sz="3600"/>
              <a:t>By row</a:t>
            </a:r>
          </a:p>
        </p:txBody>
      </p:sp>
      <p:pic>
        <p:nvPicPr>
          <p:cNvPr id="47108" name="Picture 4">
            <a:extLst>
              <a:ext uri="{FF2B5EF4-FFF2-40B4-BE49-F238E27FC236}">
                <a16:creationId xmlns:a16="http://schemas.microsoft.com/office/drawing/2014/main" id="{FE47D67A-8587-4C2E-9A70-3D1EAE491F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1752600"/>
            <a:ext cx="37338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9" name="Text Box 5">
            <a:extLst>
              <a:ext uri="{FF2B5EF4-FFF2-40B4-BE49-F238E27FC236}">
                <a16:creationId xmlns:a16="http://schemas.microsoft.com/office/drawing/2014/main" id="{C0591D46-8D4A-4120-92CE-AFE10429AEF3}"/>
              </a:ext>
            </a:extLst>
          </p:cNvPr>
          <p:cNvSpPr txBox="1">
            <a:spLocks noChangeArrowheads="1"/>
          </p:cNvSpPr>
          <p:nvPr/>
        </p:nvSpPr>
        <p:spPr bwMode="auto">
          <a:xfrm>
            <a:off x="1143000" y="24384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endParaRPr lang="en-US" altLang="en-US" sz="2400">
              <a:solidFill>
                <a:schemeClr val="accent2"/>
              </a:solidFill>
              <a:latin typeface="Times New Roman" panose="02020603050405020304" pitchFamily="18" charset="0"/>
            </a:endParaRPr>
          </a:p>
        </p:txBody>
      </p:sp>
      <p:sp>
        <p:nvSpPr>
          <p:cNvPr id="47110" name="Text Box 6">
            <a:extLst>
              <a:ext uri="{FF2B5EF4-FFF2-40B4-BE49-F238E27FC236}">
                <a16:creationId xmlns:a16="http://schemas.microsoft.com/office/drawing/2014/main" id="{DD59F832-46E9-44AC-9037-7C55C237B155}"/>
              </a:ext>
            </a:extLst>
          </p:cNvPr>
          <p:cNvSpPr txBox="1">
            <a:spLocks noChangeArrowheads="1"/>
          </p:cNvSpPr>
          <p:nvPr/>
        </p:nvSpPr>
        <p:spPr bwMode="auto">
          <a:xfrm>
            <a:off x="381000" y="2514600"/>
            <a:ext cx="4724400" cy="1016000"/>
          </a:xfrm>
          <a:prstGeom prst="rect">
            <a:avLst/>
          </a:prstGeom>
          <a:solidFill>
            <a:srgbClr val="99CC00"/>
          </a:solidFill>
          <a:ln>
            <a:noFill/>
          </a:ln>
          <a:extLst>
            <a:ext uri="{91240B29-F687-4F45-9708-019B960494DF}">
              <a14:hiddenLine xmlns:a14="http://schemas.microsoft.com/office/drawing/2010/main" w="25400">
                <a:solidFill>
                  <a:srgbClr val="000000"/>
                </a:solidFill>
                <a:miter lim="800000"/>
                <a:headEnd type="none" w="sm" len="sm"/>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2400">
                <a:latin typeface="Times New Roman" panose="02020603050405020304" pitchFamily="18" charset="0"/>
              </a:rPr>
              <a:t>Relative address of A[i</a:t>
            </a:r>
            <a:r>
              <a:rPr lang="en-US" altLang="en-US" sz="2400" baseline="-25000">
                <a:latin typeface="Times New Roman" panose="02020603050405020304" pitchFamily="18" charset="0"/>
              </a:rPr>
              <a:t>1</a:t>
            </a:r>
            <a:r>
              <a:rPr lang="en-US" altLang="en-US" sz="2400">
                <a:latin typeface="Times New Roman" panose="02020603050405020304" pitchFamily="18" charset="0"/>
              </a:rPr>
              <a:t>,i</a:t>
            </a:r>
            <a:r>
              <a:rPr lang="en-US" altLang="en-US" sz="2400" baseline="-25000">
                <a:latin typeface="Times New Roman" panose="02020603050405020304" pitchFamily="18" charset="0"/>
              </a:rPr>
              <a:t>2</a:t>
            </a:r>
            <a:r>
              <a:rPr lang="en-US" altLang="en-US" sz="2400">
                <a:latin typeface="Times New Roman" panose="02020603050405020304" pitchFamily="18" charset="0"/>
              </a:rPr>
              <a:t>] =</a:t>
            </a:r>
          </a:p>
          <a:p>
            <a:pPr eaLnBrk="1" hangingPunct="1">
              <a:spcBef>
                <a:spcPct val="50000"/>
              </a:spcBef>
              <a:buClrTx/>
              <a:buSzTx/>
              <a:buFontTx/>
              <a:buNone/>
            </a:pPr>
            <a:r>
              <a:rPr lang="en-US" altLang="en-US" sz="2400">
                <a:latin typeface="Times New Roman" panose="02020603050405020304" pitchFamily="18" charset="0"/>
              </a:rPr>
              <a:t>base + ((i</a:t>
            </a:r>
            <a:r>
              <a:rPr lang="en-US" altLang="en-US" sz="2400" baseline="-25000">
                <a:latin typeface="Times New Roman" panose="02020603050405020304" pitchFamily="18" charset="0"/>
              </a:rPr>
              <a:t>1</a:t>
            </a:r>
            <a:r>
              <a:rPr lang="en-US" altLang="en-US" sz="2400">
                <a:latin typeface="Times New Roman" panose="02020603050405020304" pitchFamily="18" charset="0"/>
              </a:rPr>
              <a:t> – low</a:t>
            </a:r>
            <a:r>
              <a:rPr lang="en-US" altLang="en-US" sz="2400" baseline="-25000">
                <a:latin typeface="Times New Roman" panose="02020603050405020304" pitchFamily="18" charset="0"/>
              </a:rPr>
              <a:t>1</a:t>
            </a:r>
            <a:r>
              <a:rPr lang="en-US" altLang="en-US" sz="2400">
                <a:latin typeface="Times New Roman" panose="02020603050405020304" pitchFamily="18" charset="0"/>
              </a:rPr>
              <a:t>)*n</a:t>
            </a:r>
            <a:r>
              <a:rPr lang="en-US" altLang="en-US" sz="2400" baseline="-25000">
                <a:latin typeface="Times New Roman" panose="02020603050405020304" pitchFamily="18" charset="0"/>
              </a:rPr>
              <a:t>2</a:t>
            </a:r>
            <a:r>
              <a:rPr lang="en-US" altLang="en-US" sz="2400">
                <a:latin typeface="Times New Roman" panose="02020603050405020304" pitchFamily="18" charset="0"/>
              </a:rPr>
              <a:t> + i</a:t>
            </a:r>
            <a:r>
              <a:rPr lang="en-US" altLang="en-US" sz="2400" baseline="-25000">
                <a:latin typeface="Times New Roman" panose="02020603050405020304" pitchFamily="18" charset="0"/>
              </a:rPr>
              <a:t>2</a:t>
            </a:r>
            <a:r>
              <a:rPr lang="en-US" altLang="en-US" sz="2400">
                <a:latin typeface="Times New Roman" panose="02020603050405020304" pitchFamily="18" charset="0"/>
              </a:rPr>
              <a:t> – low</a:t>
            </a:r>
            <a:r>
              <a:rPr lang="en-US" altLang="en-US" sz="2400" baseline="-25000">
                <a:latin typeface="Times New Roman" panose="02020603050405020304" pitchFamily="18" charset="0"/>
              </a:rPr>
              <a:t>2</a:t>
            </a:r>
            <a:r>
              <a:rPr lang="en-US" altLang="en-US" sz="2400">
                <a:latin typeface="Times New Roman" panose="02020603050405020304" pitchFamily="18" charset="0"/>
              </a:rPr>
              <a:t>)*w</a:t>
            </a:r>
          </a:p>
        </p:txBody>
      </p:sp>
      <p:sp>
        <p:nvSpPr>
          <p:cNvPr id="47111" name="Text Box 7">
            <a:extLst>
              <a:ext uri="{FF2B5EF4-FFF2-40B4-BE49-F238E27FC236}">
                <a16:creationId xmlns:a16="http://schemas.microsoft.com/office/drawing/2014/main" id="{3EB4D3DC-EC0C-4619-BD47-FC7F76196971}"/>
              </a:ext>
            </a:extLst>
          </p:cNvPr>
          <p:cNvSpPr txBox="1">
            <a:spLocks noChangeArrowheads="1"/>
          </p:cNvSpPr>
          <p:nvPr/>
        </p:nvSpPr>
        <p:spPr bwMode="auto">
          <a:xfrm>
            <a:off x="381000" y="4191000"/>
            <a:ext cx="4648200" cy="1754188"/>
          </a:xfrm>
          <a:prstGeom prst="rect">
            <a:avLst/>
          </a:prstGeom>
          <a:solidFill>
            <a:srgbClr val="CC9900"/>
          </a:solidFill>
          <a:ln>
            <a:noFill/>
          </a:ln>
          <a:extLst>
            <a:ext uri="{91240B29-F687-4F45-9708-019B960494DF}">
              <a14:hiddenLine xmlns:a14="http://schemas.microsoft.com/office/drawing/2010/main" w="25400">
                <a:solidFill>
                  <a:srgbClr val="000000"/>
                </a:solidFill>
                <a:miter lim="800000"/>
                <a:headEnd type="none" w="sm" len="sm"/>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2400">
                <a:latin typeface="Times New Roman" panose="02020603050405020304" pitchFamily="18" charset="0"/>
              </a:rPr>
              <a:t>low</a:t>
            </a:r>
            <a:r>
              <a:rPr lang="en-US" altLang="en-US" sz="2400" baseline="-25000">
                <a:latin typeface="Times New Roman" panose="02020603050405020304" pitchFamily="18" charset="0"/>
              </a:rPr>
              <a:t>1</a:t>
            </a:r>
            <a:r>
              <a:rPr lang="en-US" altLang="en-US" sz="2400">
                <a:latin typeface="Times New Roman" panose="02020603050405020304" pitchFamily="18" charset="0"/>
              </a:rPr>
              <a:t>, low</a:t>
            </a:r>
            <a:r>
              <a:rPr lang="en-US" altLang="en-US" sz="2400" baseline="-25000">
                <a:latin typeface="Times New Roman" panose="02020603050405020304" pitchFamily="18" charset="0"/>
              </a:rPr>
              <a:t>2</a:t>
            </a:r>
            <a:r>
              <a:rPr lang="en-US" altLang="en-US" sz="2400">
                <a:latin typeface="Times New Roman" panose="02020603050405020304" pitchFamily="18" charset="0"/>
              </a:rPr>
              <a:t>: lower bound of i</a:t>
            </a:r>
            <a:r>
              <a:rPr lang="en-US" altLang="en-US" sz="2400" baseline="-25000">
                <a:latin typeface="Times New Roman" panose="02020603050405020304" pitchFamily="18" charset="0"/>
              </a:rPr>
              <a:t>1</a:t>
            </a:r>
            <a:r>
              <a:rPr lang="en-US" altLang="en-US" sz="2400">
                <a:latin typeface="Times New Roman" panose="02020603050405020304" pitchFamily="18" charset="0"/>
              </a:rPr>
              <a:t> và i</a:t>
            </a:r>
            <a:r>
              <a:rPr lang="en-US" altLang="en-US" sz="2400" baseline="-25000">
                <a:latin typeface="Times New Roman" panose="02020603050405020304" pitchFamily="18" charset="0"/>
              </a:rPr>
              <a:t>2</a:t>
            </a:r>
          </a:p>
          <a:p>
            <a:pPr eaLnBrk="1" hangingPunct="1">
              <a:spcBef>
                <a:spcPct val="50000"/>
              </a:spcBef>
              <a:buClrTx/>
              <a:buSzTx/>
              <a:buFontTx/>
              <a:buNone/>
            </a:pPr>
            <a:r>
              <a:rPr lang="en-US" altLang="en-US" sz="2400">
                <a:latin typeface="Times New Roman" panose="02020603050405020304" pitchFamily="18" charset="0"/>
              </a:rPr>
              <a:t>n</a:t>
            </a:r>
            <a:r>
              <a:rPr lang="en-US" altLang="en-US" sz="2400" baseline="-25000">
                <a:latin typeface="Times New Roman" panose="02020603050405020304" pitchFamily="18" charset="0"/>
              </a:rPr>
              <a:t>2</a:t>
            </a:r>
            <a:r>
              <a:rPr lang="en-US" altLang="en-US" sz="2400">
                <a:latin typeface="Times New Roman" panose="02020603050405020304" pitchFamily="18" charset="0"/>
              </a:rPr>
              <a:t>: the number of values that i</a:t>
            </a:r>
            <a:r>
              <a:rPr lang="en-US" altLang="en-US" sz="2400" baseline="-25000">
                <a:latin typeface="Times New Roman" panose="02020603050405020304" pitchFamily="18" charset="0"/>
              </a:rPr>
              <a:t>2</a:t>
            </a:r>
            <a:r>
              <a:rPr lang="en-US" altLang="en-US" sz="2400">
                <a:latin typeface="Times New Roman" panose="02020603050405020304" pitchFamily="18" charset="0"/>
              </a:rPr>
              <a:t> can take. If high</a:t>
            </a:r>
            <a:r>
              <a:rPr lang="en-US" altLang="en-US" sz="2400" baseline="-25000">
                <a:latin typeface="Times New Roman" panose="02020603050405020304" pitchFamily="18" charset="0"/>
              </a:rPr>
              <a:t>2</a:t>
            </a:r>
            <a:r>
              <a:rPr lang="en-US" altLang="en-US" sz="2400">
                <a:latin typeface="Times New Roman" panose="02020603050405020304" pitchFamily="18" charset="0"/>
              </a:rPr>
              <a:t> is upper bound of i</a:t>
            </a:r>
            <a:r>
              <a:rPr lang="en-US" altLang="en-US" sz="2400" baseline="-25000">
                <a:latin typeface="Times New Roman" panose="02020603050405020304" pitchFamily="18" charset="0"/>
              </a:rPr>
              <a:t>2</a:t>
            </a:r>
            <a:r>
              <a:rPr lang="en-US" altLang="en-US" sz="2400">
                <a:latin typeface="Times New Roman" panose="02020603050405020304" pitchFamily="18" charset="0"/>
              </a:rPr>
              <a:t> then n</a:t>
            </a:r>
            <a:r>
              <a:rPr lang="en-US" altLang="en-US" sz="2400" baseline="-25000">
                <a:latin typeface="Times New Roman" panose="02020603050405020304" pitchFamily="18" charset="0"/>
              </a:rPr>
              <a:t>2 </a:t>
            </a:r>
            <a:r>
              <a:rPr lang="en-US" altLang="en-US" sz="2400">
                <a:latin typeface="Times New Roman" panose="02020603050405020304" pitchFamily="18" charset="0"/>
              </a:rPr>
              <a:t>= high</a:t>
            </a:r>
            <a:r>
              <a:rPr lang="en-US" altLang="en-US" sz="2400" baseline="-25000">
                <a:latin typeface="Times New Roman" panose="02020603050405020304" pitchFamily="18" charset="0"/>
              </a:rPr>
              <a:t>2</a:t>
            </a:r>
            <a:r>
              <a:rPr lang="en-US" altLang="en-US" sz="2400">
                <a:latin typeface="Times New Roman" panose="02020603050405020304" pitchFamily="18" charset="0"/>
              </a:rPr>
              <a:t> – low</a:t>
            </a:r>
            <a:r>
              <a:rPr lang="en-US" altLang="en-US" sz="2400" baseline="-25000">
                <a:latin typeface="Times New Roman" panose="02020603050405020304" pitchFamily="18" charset="0"/>
              </a:rPr>
              <a:t>2</a:t>
            </a:r>
            <a:r>
              <a:rPr lang="en-US" altLang="en-US" sz="2400">
                <a:latin typeface="Times New Roman" panose="02020603050405020304" pitchFamily="18" charset="0"/>
              </a:rPr>
              <a:t> + 1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823E8A50-C2F9-4583-A120-F8072685201D}"/>
              </a:ext>
            </a:extLst>
          </p:cNvPr>
          <p:cNvSpPr>
            <a:spLocks noGrp="1" noChangeArrowheads="1"/>
          </p:cNvSpPr>
          <p:nvPr>
            <p:ph type="title"/>
          </p:nvPr>
        </p:nvSpPr>
        <p:spPr/>
        <p:txBody>
          <a:bodyPr>
            <a:normAutofit/>
          </a:bodyPr>
          <a:lstStyle/>
          <a:p>
            <a:pPr eaLnBrk="1" hangingPunct="1"/>
            <a:r>
              <a:rPr lang="en-US" altLang="en-US" sz="4000" dirty="0"/>
              <a:t>Layouts for a two dimensional array</a:t>
            </a:r>
          </a:p>
        </p:txBody>
      </p:sp>
      <p:sp>
        <p:nvSpPr>
          <p:cNvPr id="49155" name="Rectangle 3">
            <a:extLst>
              <a:ext uri="{FF2B5EF4-FFF2-40B4-BE49-F238E27FC236}">
                <a16:creationId xmlns:a16="http://schemas.microsoft.com/office/drawing/2014/main" id="{A08A5955-9A0D-44E1-B513-37763D6501FB}"/>
              </a:ext>
            </a:extLst>
          </p:cNvPr>
          <p:cNvSpPr>
            <a:spLocks noGrp="1" noChangeArrowheads="1"/>
          </p:cNvSpPr>
          <p:nvPr>
            <p:ph idx="1"/>
          </p:nvPr>
        </p:nvSpPr>
        <p:spPr/>
        <p:txBody>
          <a:bodyPr/>
          <a:lstStyle/>
          <a:p>
            <a:pPr lvl="1" eaLnBrk="1" hangingPunct="1"/>
            <a:r>
              <a:rPr lang="en-US" altLang="en-US" sz="3200"/>
              <a:t>By column </a:t>
            </a:r>
          </a:p>
          <a:p>
            <a:pPr eaLnBrk="1" hangingPunct="1"/>
            <a:endParaRPr lang="en-US" altLang="en-US" sz="3600"/>
          </a:p>
        </p:txBody>
      </p:sp>
      <p:pic>
        <p:nvPicPr>
          <p:cNvPr id="49156" name="Picture 5">
            <a:extLst>
              <a:ext uri="{FF2B5EF4-FFF2-40B4-BE49-F238E27FC236}">
                <a16:creationId xmlns:a16="http://schemas.microsoft.com/office/drawing/2014/main" id="{140B2760-FAA1-49A6-AADF-C1D6E851FD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2209800"/>
            <a:ext cx="428625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70269632-6473-48CD-9A0F-FC60BCDC4CC1}"/>
              </a:ext>
            </a:extLst>
          </p:cNvPr>
          <p:cNvSpPr>
            <a:spLocks noGrp="1" noChangeArrowheads="1"/>
          </p:cNvSpPr>
          <p:nvPr>
            <p:ph type="title"/>
          </p:nvPr>
        </p:nvSpPr>
        <p:spPr/>
        <p:txBody>
          <a:bodyPr/>
          <a:lstStyle/>
          <a:p>
            <a:pPr eaLnBrk="1" hangingPunct="1"/>
            <a:r>
              <a:rPr lang="en-US" altLang="en-US" dirty="0"/>
              <a:t>Boolean Expressions</a:t>
            </a:r>
          </a:p>
        </p:txBody>
      </p:sp>
      <p:sp>
        <p:nvSpPr>
          <p:cNvPr id="51203" name="Rectangle 3">
            <a:extLst>
              <a:ext uri="{FF2B5EF4-FFF2-40B4-BE49-F238E27FC236}">
                <a16:creationId xmlns:a16="http://schemas.microsoft.com/office/drawing/2014/main" id="{602C33B7-F936-49E8-AEAC-15C54C247716}"/>
              </a:ext>
            </a:extLst>
          </p:cNvPr>
          <p:cNvSpPr>
            <a:spLocks noGrp="1" noChangeArrowheads="1"/>
          </p:cNvSpPr>
          <p:nvPr>
            <p:ph idx="1"/>
          </p:nvPr>
        </p:nvSpPr>
        <p:spPr>
          <a:xfrm>
            <a:off x="457200" y="1600200"/>
            <a:ext cx="8229600" cy="4648200"/>
          </a:xfrm>
        </p:spPr>
        <p:txBody>
          <a:bodyPr>
            <a:normAutofit fontScale="92500" lnSpcReduction="10000"/>
          </a:bodyPr>
          <a:lstStyle/>
          <a:p>
            <a:pPr eaLnBrk="1" hangingPunct="1"/>
            <a:r>
              <a:rPr lang="en-US" altLang="en-US" b="1" dirty="0"/>
              <a:t>Boolean Expressions </a:t>
            </a:r>
            <a:r>
              <a:rPr lang="en-US" altLang="en-US" dirty="0"/>
              <a:t>are used to either compute logical values or as conditional expressions in flow-of-control statements.</a:t>
            </a:r>
          </a:p>
          <a:p>
            <a:pPr eaLnBrk="1" hangingPunct="1"/>
            <a:r>
              <a:rPr lang="en-US" altLang="en-US" dirty="0"/>
              <a:t> We consider Boolean Expressions with the following grammar:</a:t>
            </a:r>
          </a:p>
          <a:p>
            <a:pPr eaLnBrk="1" hangingPunct="1"/>
            <a:r>
              <a:rPr lang="en-US" altLang="en-US" dirty="0"/>
              <a:t>E → E or E | E and E | not E | (E) | id </a:t>
            </a:r>
            <a:r>
              <a:rPr lang="en-US" altLang="en-US" dirty="0" err="1"/>
              <a:t>relop</a:t>
            </a:r>
            <a:r>
              <a:rPr lang="en-US" altLang="en-US" dirty="0"/>
              <a:t> id | true | false</a:t>
            </a:r>
          </a:p>
          <a:p>
            <a:pPr eaLnBrk="1" hangingPunct="1"/>
            <a:r>
              <a:rPr lang="en-US" altLang="en-US" dirty="0"/>
              <a:t>There are two methods to evaluate Boolean Expressions</a:t>
            </a:r>
          </a:p>
          <a:p>
            <a:pPr lvl="1" eaLnBrk="1" hangingPunct="1">
              <a:buFont typeface="Wingdings" panose="05000000000000000000" pitchFamily="2" charset="2"/>
              <a:buNone/>
            </a:pPr>
            <a:r>
              <a:rPr lang="en-US" altLang="en-US" sz="2800" dirty="0"/>
              <a:t>1. </a:t>
            </a:r>
            <a:r>
              <a:rPr lang="en-US" altLang="en-US" sz="2800" i="1" dirty="0"/>
              <a:t>Numerical Representation</a:t>
            </a:r>
            <a:r>
              <a:rPr lang="en-US" altLang="en-US" sz="2800" dirty="0"/>
              <a:t>. Encode true with ’1’ and false with ’0’ and we proceed analogously to arithmetic expressions.</a:t>
            </a:r>
          </a:p>
          <a:p>
            <a:pPr lvl="1" eaLnBrk="1" hangingPunct="1">
              <a:buFont typeface="Wingdings" panose="05000000000000000000" pitchFamily="2" charset="2"/>
              <a:buNone/>
            </a:pPr>
            <a:r>
              <a:rPr lang="en-US" altLang="en-US" sz="2800" dirty="0"/>
              <a:t>2. </a:t>
            </a:r>
            <a:r>
              <a:rPr lang="en-US" altLang="en-US" sz="2800" i="1" dirty="0"/>
              <a:t>Jumping </a:t>
            </a:r>
            <a:r>
              <a:rPr lang="en-US" altLang="en-US" sz="2800" b="1" i="1" dirty="0"/>
              <a:t>Code</a:t>
            </a:r>
            <a:r>
              <a:rPr lang="en-US" altLang="en-US" sz="2800" dirty="0"/>
              <a:t>. We represent the value of a Boolean Expression by a position reached in a program. </a:t>
            </a:r>
            <a:endParaRPr lang="en-US" altLang="en-US" sz="3200" dirty="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DE692CDB-66D1-4080-A52B-77545EE52325}"/>
              </a:ext>
            </a:extLst>
          </p:cNvPr>
          <p:cNvSpPr>
            <a:spLocks noGrp="1" noChangeArrowheads="1"/>
          </p:cNvSpPr>
          <p:nvPr>
            <p:ph type="title"/>
          </p:nvPr>
        </p:nvSpPr>
        <p:spPr>
          <a:xfrm>
            <a:off x="0" y="457200"/>
            <a:ext cx="9601200" cy="762000"/>
          </a:xfrm>
        </p:spPr>
        <p:txBody>
          <a:bodyPr/>
          <a:lstStyle/>
          <a:p>
            <a:pPr eaLnBrk="1" hangingPunct="1"/>
            <a:r>
              <a:rPr lang="en-US" altLang="en-US" sz="3200"/>
              <a:t>Numerical Representation of Boolean Expressions</a:t>
            </a:r>
          </a:p>
        </p:txBody>
      </p:sp>
      <p:sp>
        <p:nvSpPr>
          <p:cNvPr id="53251" name="Rectangle 3">
            <a:extLst>
              <a:ext uri="{FF2B5EF4-FFF2-40B4-BE49-F238E27FC236}">
                <a16:creationId xmlns:a16="http://schemas.microsoft.com/office/drawing/2014/main" id="{7EC75F70-3362-4335-829B-97AB0CC7F787}"/>
              </a:ext>
            </a:extLst>
          </p:cNvPr>
          <p:cNvSpPr>
            <a:spLocks noGrp="1" noChangeArrowheads="1"/>
          </p:cNvSpPr>
          <p:nvPr>
            <p:ph idx="1"/>
          </p:nvPr>
        </p:nvSpPr>
        <p:spPr>
          <a:xfrm>
            <a:off x="457200" y="1219200"/>
            <a:ext cx="8229600" cy="4648200"/>
          </a:xfrm>
        </p:spPr>
        <p:txBody>
          <a:bodyPr>
            <a:normAutofit fontScale="92500" lnSpcReduction="10000"/>
          </a:bodyPr>
          <a:lstStyle/>
          <a:p>
            <a:pPr eaLnBrk="1" hangingPunct="1"/>
            <a:r>
              <a:rPr lang="en-US" altLang="en-US" sz="2400"/>
              <a:t>Expressions will be evaluated from left to right assuming that: or and and </a:t>
            </a:r>
            <a:r>
              <a:rPr lang="en-US" altLang="ja-JP" sz="2400">
                <a:ea typeface="MS PGothic" panose="020B0600070205080204" pitchFamily="34" charset="-128"/>
              </a:rPr>
              <a:t>are left-associative, and that or has lowest precedence, then and, then not</a:t>
            </a:r>
            <a:r>
              <a:rPr lang="en-US" altLang="ja-JP">
                <a:ea typeface="MS PGothic" panose="020B0600070205080204" pitchFamily="34" charset="-128"/>
              </a:rPr>
              <a:t> </a:t>
            </a:r>
          </a:p>
          <a:p>
            <a:pPr eaLnBrk="1" hangingPunct="1"/>
            <a:r>
              <a:rPr lang="en-US" altLang="en-US" sz="2400"/>
              <a:t>Example 1: The translation for </a:t>
            </a:r>
            <a:r>
              <a:rPr lang="en-US" altLang="en-US" sz="2400" i="1"/>
              <a:t>a or b and not c </a:t>
            </a:r>
            <a:r>
              <a:rPr lang="en-US" altLang="en-US" sz="2400"/>
              <a:t>is</a:t>
            </a:r>
          </a:p>
          <a:p>
            <a:pPr lvl="2" eaLnBrk="1" hangingPunct="1">
              <a:lnSpc>
                <a:spcPct val="70000"/>
              </a:lnSpc>
              <a:buFont typeface="Wingdings" panose="05000000000000000000" pitchFamily="2" charset="2"/>
              <a:buNone/>
            </a:pPr>
            <a:r>
              <a:rPr lang="en-US" altLang="en-US" sz="2000"/>
              <a:t>t1 = not c</a:t>
            </a:r>
          </a:p>
          <a:p>
            <a:pPr lvl="2" eaLnBrk="1" hangingPunct="1">
              <a:lnSpc>
                <a:spcPct val="70000"/>
              </a:lnSpc>
              <a:buFont typeface="Wingdings" panose="05000000000000000000" pitchFamily="2" charset="2"/>
              <a:buNone/>
            </a:pPr>
            <a:r>
              <a:rPr lang="en-US" altLang="en-US" sz="2000"/>
              <a:t>t2 = b and t1</a:t>
            </a:r>
          </a:p>
          <a:p>
            <a:pPr lvl="2" eaLnBrk="1" hangingPunct="1">
              <a:lnSpc>
                <a:spcPct val="70000"/>
              </a:lnSpc>
              <a:buFont typeface="Wingdings" panose="05000000000000000000" pitchFamily="2" charset="2"/>
              <a:buNone/>
            </a:pPr>
            <a:r>
              <a:rPr lang="en-US" altLang="en-US" sz="2000"/>
              <a:t>t3 = a or t2</a:t>
            </a:r>
          </a:p>
          <a:p>
            <a:pPr eaLnBrk="1" hangingPunct="1"/>
            <a:r>
              <a:rPr lang="en-US" altLang="en-US" sz="2400"/>
              <a:t>A relational expression such as a&lt;b is equivalent to the conditional statement if a&lt;b then 1 else 0 and its translation involves </a:t>
            </a:r>
            <a:r>
              <a:rPr lang="en-US" altLang="en-US" sz="2400" i="1"/>
              <a:t>jumps to labeled statements</a:t>
            </a:r>
            <a:r>
              <a:rPr lang="en-US" altLang="en-US" sz="2400"/>
              <a:t>:</a:t>
            </a:r>
          </a:p>
          <a:p>
            <a:pPr eaLnBrk="1" hangingPunct="1"/>
            <a:r>
              <a:rPr lang="en-US" altLang="en-US" sz="2400"/>
              <a:t>Example 2</a:t>
            </a:r>
          </a:p>
          <a:p>
            <a:pPr lvl="2" eaLnBrk="1" hangingPunct="1">
              <a:buFont typeface="Wingdings" panose="05000000000000000000" pitchFamily="2" charset="2"/>
              <a:buNone/>
            </a:pPr>
            <a:r>
              <a:rPr lang="en-US" altLang="en-US" sz="1800"/>
              <a:t>100: if a&lt;b goto 103</a:t>
            </a:r>
          </a:p>
          <a:p>
            <a:pPr lvl="2" eaLnBrk="1" hangingPunct="1">
              <a:lnSpc>
                <a:spcPct val="70000"/>
              </a:lnSpc>
              <a:buFont typeface="Wingdings" panose="05000000000000000000" pitchFamily="2" charset="2"/>
              <a:buNone/>
            </a:pPr>
            <a:r>
              <a:rPr lang="en-US" altLang="en-US" sz="1800"/>
              <a:t>101: t:=0</a:t>
            </a:r>
          </a:p>
          <a:p>
            <a:pPr lvl="2" eaLnBrk="1" hangingPunct="1">
              <a:lnSpc>
                <a:spcPct val="70000"/>
              </a:lnSpc>
              <a:buFont typeface="Wingdings" panose="05000000000000000000" pitchFamily="2" charset="2"/>
              <a:buNone/>
            </a:pPr>
            <a:r>
              <a:rPr lang="en-US" altLang="en-US" sz="1800"/>
              <a:t>102: goto 104</a:t>
            </a:r>
          </a:p>
          <a:p>
            <a:pPr lvl="2" eaLnBrk="1" hangingPunct="1">
              <a:lnSpc>
                <a:spcPct val="70000"/>
              </a:lnSpc>
              <a:buFont typeface="Wingdings" panose="05000000000000000000" pitchFamily="2" charset="2"/>
              <a:buNone/>
            </a:pPr>
            <a:r>
              <a:rPr lang="en-US" altLang="en-US" sz="1800"/>
              <a:t>103: t:= 1</a:t>
            </a:r>
          </a:p>
          <a:p>
            <a:pPr lvl="2" eaLnBrk="1" hangingPunct="1">
              <a:lnSpc>
                <a:spcPct val="70000"/>
              </a:lnSpc>
              <a:buFont typeface="Wingdings" panose="05000000000000000000" pitchFamily="2" charset="2"/>
              <a:buNone/>
            </a:pPr>
            <a:r>
              <a:rPr lang="en-US" altLang="en-US" sz="1800"/>
              <a:t>104: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961C1B53-B089-4D1B-8E8E-F20F1439E759}"/>
              </a:ext>
            </a:extLst>
          </p:cNvPr>
          <p:cNvSpPr>
            <a:spLocks noGrp="1" noChangeArrowheads="1"/>
          </p:cNvSpPr>
          <p:nvPr>
            <p:ph type="title"/>
          </p:nvPr>
        </p:nvSpPr>
        <p:spPr>
          <a:xfrm>
            <a:off x="480060" y="457200"/>
            <a:ext cx="8686800" cy="1371600"/>
          </a:xfrm>
        </p:spPr>
        <p:txBody>
          <a:bodyPr/>
          <a:lstStyle/>
          <a:p>
            <a:pPr eaLnBrk="1" hangingPunct="1"/>
            <a:r>
              <a:rPr lang="en-US" altLang="en-US" sz="3600" dirty="0"/>
              <a:t>Jumping Code for Boolean Expressions</a:t>
            </a:r>
            <a:br>
              <a:rPr lang="en-US" altLang="en-US" sz="4000" dirty="0"/>
            </a:br>
            <a:endParaRPr lang="en-US" altLang="en-US" sz="4000" dirty="0"/>
          </a:p>
        </p:txBody>
      </p:sp>
      <p:sp>
        <p:nvSpPr>
          <p:cNvPr id="55299" name="Rectangle 3">
            <a:extLst>
              <a:ext uri="{FF2B5EF4-FFF2-40B4-BE49-F238E27FC236}">
                <a16:creationId xmlns:a16="http://schemas.microsoft.com/office/drawing/2014/main" id="{F0ACACA8-A9C1-4491-8D05-4A44994D7F81}"/>
              </a:ext>
            </a:extLst>
          </p:cNvPr>
          <p:cNvSpPr>
            <a:spLocks noGrp="1" noChangeArrowheads="1"/>
          </p:cNvSpPr>
          <p:nvPr>
            <p:ph idx="1"/>
          </p:nvPr>
        </p:nvSpPr>
        <p:spPr>
          <a:xfrm>
            <a:off x="628650" y="1817370"/>
            <a:ext cx="7886700" cy="4483100"/>
          </a:xfrm>
        </p:spPr>
        <p:txBody>
          <a:bodyPr/>
          <a:lstStyle/>
          <a:p>
            <a:pPr eaLnBrk="1" hangingPunct="1">
              <a:lnSpc>
                <a:spcPct val="90000"/>
              </a:lnSpc>
            </a:pPr>
            <a:r>
              <a:rPr lang="en-US" altLang="en-US" dirty="0"/>
              <a:t>The value of a Boolean Expression is represented by a position in the </a:t>
            </a:r>
            <a:r>
              <a:rPr lang="en-US" altLang="en-US" b="1" dirty="0"/>
              <a:t>code</a:t>
            </a:r>
            <a:r>
              <a:rPr lang="en-US" altLang="en-US" dirty="0"/>
              <a:t>.</a:t>
            </a:r>
          </a:p>
          <a:p>
            <a:pPr eaLnBrk="1" hangingPunct="1">
              <a:lnSpc>
                <a:spcPct val="90000"/>
              </a:lnSpc>
            </a:pPr>
            <a:r>
              <a:rPr lang="en-US" altLang="en-US" dirty="0"/>
              <a:t>Consider Example 2: We can tell what value t will have by whether we reach statement 101 or statement 103.</a:t>
            </a:r>
          </a:p>
          <a:p>
            <a:pPr eaLnBrk="1" hangingPunct="1">
              <a:lnSpc>
                <a:spcPct val="90000"/>
              </a:lnSpc>
            </a:pPr>
            <a:r>
              <a:rPr lang="en-US" altLang="en-US" dirty="0"/>
              <a:t>Jumping </a:t>
            </a:r>
            <a:r>
              <a:rPr lang="en-US" altLang="en-US" b="1" dirty="0"/>
              <a:t>code</a:t>
            </a:r>
            <a:r>
              <a:rPr lang="en-US" altLang="en-US" dirty="0"/>
              <a:t> is extremely useful when Boolean Expressions are in the context of flow-of-control statements</a:t>
            </a:r>
            <a:r>
              <a:rPr lang="en-US" altLang="en-US" sz="2400" dirty="0"/>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5FF2D334-922E-4130-8AE3-37AB1A84E09B}"/>
              </a:ext>
            </a:extLst>
          </p:cNvPr>
          <p:cNvSpPr>
            <a:spLocks noGrp="1" noChangeArrowheads="1"/>
          </p:cNvSpPr>
          <p:nvPr>
            <p:ph type="title"/>
          </p:nvPr>
        </p:nvSpPr>
        <p:spPr>
          <a:xfrm>
            <a:off x="457200" y="457200"/>
            <a:ext cx="8229600" cy="838200"/>
          </a:xfrm>
        </p:spPr>
        <p:txBody>
          <a:bodyPr>
            <a:normAutofit/>
          </a:bodyPr>
          <a:lstStyle/>
          <a:p>
            <a:pPr eaLnBrk="1" hangingPunct="1"/>
            <a:r>
              <a:rPr lang="en-US" altLang="en-US" sz="4000" dirty="0"/>
              <a:t>Translating Boolean expressions</a:t>
            </a:r>
          </a:p>
        </p:txBody>
      </p:sp>
      <p:sp>
        <p:nvSpPr>
          <p:cNvPr id="56323" name="Rectangle 3">
            <a:extLst>
              <a:ext uri="{FF2B5EF4-FFF2-40B4-BE49-F238E27FC236}">
                <a16:creationId xmlns:a16="http://schemas.microsoft.com/office/drawing/2014/main" id="{7E23E29F-AA67-4AAF-BF40-DBCE3BD3E399}"/>
              </a:ext>
            </a:extLst>
          </p:cNvPr>
          <p:cNvSpPr>
            <a:spLocks noGrp="1" noChangeArrowheads="1"/>
          </p:cNvSpPr>
          <p:nvPr>
            <p:ph idx="1"/>
          </p:nvPr>
        </p:nvSpPr>
        <p:spPr>
          <a:xfrm>
            <a:off x="457200" y="1524000"/>
            <a:ext cx="8229600" cy="4343400"/>
          </a:xfrm>
        </p:spPr>
        <p:txBody>
          <a:bodyPr/>
          <a:lstStyle/>
          <a:p>
            <a:pPr marL="609600" indent="-609600" eaLnBrk="1" hangingPunct="1">
              <a:lnSpc>
                <a:spcPct val="80000"/>
              </a:lnSpc>
            </a:pPr>
            <a:r>
              <a:rPr lang="en-US" altLang="en-US" sz="3200" dirty="0"/>
              <a:t>If E has form : a&lt;b the </a:t>
            </a:r>
            <a:r>
              <a:rPr lang="en-US" altLang="en-US" sz="3200" dirty="0" err="1"/>
              <a:t>the</a:t>
            </a:r>
            <a:r>
              <a:rPr lang="en-US" altLang="en-US" sz="3200" dirty="0"/>
              <a:t> code generated is</a:t>
            </a:r>
          </a:p>
          <a:p>
            <a:pPr marL="990600" lvl="1" indent="-533400" eaLnBrk="1" hangingPunct="1">
              <a:lnSpc>
                <a:spcPct val="80000"/>
              </a:lnSpc>
              <a:buFont typeface="Wingdings" panose="05000000000000000000" pitchFamily="2" charset="2"/>
              <a:buNone/>
            </a:pPr>
            <a:r>
              <a:rPr lang="en-US" altLang="en-US" sz="3200" dirty="0"/>
              <a:t>If a&lt;b then </a:t>
            </a:r>
            <a:r>
              <a:rPr lang="en-US" altLang="en-US" sz="3200" dirty="0" err="1"/>
              <a:t>goto</a:t>
            </a:r>
            <a:r>
              <a:rPr lang="en-US" altLang="en-US" sz="3200" dirty="0"/>
              <a:t> </a:t>
            </a:r>
            <a:r>
              <a:rPr lang="en-US" altLang="en-US" sz="3200" dirty="0" err="1"/>
              <a:t>E.true</a:t>
            </a:r>
            <a:r>
              <a:rPr lang="en-US" altLang="en-US" sz="3200" dirty="0"/>
              <a:t> else </a:t>
            </a:r>
            <a:r>
              <a:rPr lang="en-US" altLang="en-US" sz="3200" dirty="0" err="1"/>
              <a:t>goto</a:t>
            </a:r>
            <a:r>
              <a:rPr lang="en-US" altLang="en-US" sz="3200" dirty="0"/>
              <a:t> </a:t>
            </a:r>
            <a:r>
              <a:rPr lang="en-US" altLang="en-US" sz="3200" dirty="0" err="1"/>
              <a:t>E.false</a:t>
            </a:r>
            <a:endParaRPr lang="en-US" altLang="en-US" sz="3200" dirty="0"/>
          </a:p>
          <a:p>
            <a:pPr marL="609600" indent="-609600" eaLnBrk="1" hangingPunct="1">
              <a:lnSpc>
                <a:spcPct val="80000"/>
              </a:lnSpc>
            </a:pPr>
            <a:r>
              <a:rPr lang="en-US" altLang="en-US" sz="3200" dirty="0"/>
              <a:t>If E has form: E1 or E2 then </a:t>
            </a:r>
          </a:p>
          <a:p>
            <a:pPr marL="990600" lvl="1" indent="-533400" eaLnBrk="1" hangingPunct="1">
              <a:lnSpc>
                <a:spcPct val="80000"/>
              </a:lnSpc>
            </a:pPr>
            <a:r>
              <a:rPr lang="en-US" altLang="en-US" sz="3200" dirty="0"/>
              <a:t>If  E1 is true then E is true</a:t>
            </a:r>
          </a:p>
          <a:p>
            <a:pPr marL="990600" lvl="1" indent="-533400" eaLnBrk="1" hangingPunct="1">
              <a:lnSpc>
                <a:spcPct val="80000"/>
              </a:lnSpc>
            </a:pPr>
            <a:r>
              <a:rPr lang="en-US" altLang="en-US" sz="3200" dirty="0"/>
              <a:t>If E1is false then evaluate E2; Value of E is true or false depends onE2</a:t>
            </a:r>
          </a:p>
          <a:p>
            <a:pPr marL="609600" indent="-609600" eaLnBrk="1" hangingPunct="1">
              <a:lnSpc>
                <a:spcPct val="80000"/>
              </a:lnSpc>
            </a:pPr>
            <a:r>
              <a:rPr lang="en-US" altLang="en-US" sz="3200" dirty="0"/>
              <a:t>Similarly  for E1 and E2</a:t>
            </a:r>
            <a:endParaRPr lang="en-US" alt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13CA9456-1640-422A-A1CB-A81118C5BE70}"/>
              </a:ext>
            </a:extLst>
          </p:cNvPr>
          <p:cNvSpPr>
            <a:spLocks noGrp="1" noChangeArrowheads="1"/>
          </p:cNvSpPr>
          <p:nvPr>
            <p:ph type="title"/>
          </p:nvPr>
        </p:nvSpPr>
        <p:spPr>
          <a:xfrm>
            <a:off x="228600" y="504825"/>
            <a:ext cx="2209800" cy="5486400"/>
          </a:xfrm>
        </p:spPr>
        <p:txBody>
          <a:bodyPr/>
          <a:lstStyle/>
          <a:p>
            <a:pPr eaLnBrk="1" hangingPunct="1"/>
            <a:r>
              <a:rPr lang="en-US" altLang="en-US" sz="2800"/>
              <a:t>Translating Boolean expressions</a:t>
            </a:r>
          </a:p>
        </p:txBody>
      </p:sp>
      <p:pic>
        <p:nvPicPr>
          <p:cNvPr id="58371" name="Picture 4">
            <a:extLst>
              <a:ext uri="{FF2B5EF4-FFF2-40B4-BE49-F238E27FC236}">
                <a16:creationId xmlns:a16="http://schemas.microsoft.com/office/drawing/2014/main" id="{149F166C-3244-47D4-B45F-FA66B6F667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0763" y="685800"/>
            <a:ext cx="5876925"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9C77547E-4C32-42EF-AB17-BB0469E464AB}"/>
              </a:ext>
            </a:extLst>
          </p:cNvPr>
          <p:cNvSpPr>
            <a:spLocks noGrp="1" noChangeArrowheads="1"/>
          </p:cNvSpPr>
          <p:nvPr>
            <p:ph type="title"/>
          </p:nvPr>
        </p:nvSpPr>
        <p:spPr>
          <a:xfrm>
            <a:off x="457200" y="457200"/>
            <a:ext cx="8229600" cy="838200"/>
          </a:xfrm>
        </p:spPr>
        <p:txBody>
          <a:bodyPr/>
          <a:lstStyle/>
          <a:p>
            <a:pPr eaLnBrk="1" hangingPunct="1"/>
            <a:r>
              <a:rPr lang="en-US" altLang="en-US"/>
              <a:t>Flow-of-Control Statements</a:t>
            </a:r>
          </a:p>
        </p:txBody>
      </p:sp>
      <p:sp>
        <p:nvSpPr>
          <p:cNvPr id="60419" name="Rectangle 3">
            <a:extLst>
              <a:ext uri="{FF2B5EF4-FFF2-40B4-BE49-F238E27FC236}">
                <a16:creationId xmlns:a16="http://schemas.microsoft.com/office/drawing/2014/main" id="{AF3F563A-1EA6-449E-88BE-5D3F5F187AFA}"/>
              </a:ext>
            </a:extLst>
          </p:cNvPr>
          <p:cNvSpPr>
            <a:spLocks noGrp="1" noChangeArrowheads="1"/>
          </p:cNvSpPr>
          <p:nvPr>
            <p:ph idx="1"/>
          </p:nvPr>
        </p:nvSpPr>
        <p:spPr>
          <a:xfrm>
            <a:off x="0" y="1447800"/>
            <a:ext cx="8686800" cy="4953000"/>
          </a:xfrm>
        </p:spPr>
        <p:txBody>
          <a:bodyPr/>
          <a:lstStyle/>
          <a:p>
            <a:pPr eaLnBrk="1" hangingPunct="1"/>
            <a:r>
              <a:rPr lang="en-US" altLang="en-US" sz="2800"/>
              <a:t>In the translation, we assume that a three-address </a:t>
            </a:r>
            <a:r>
              <a:rPr lang="en-US" altLang="en-US" sz="2800" b="1"/>
              <a:t>code</a:t>
            </a:r>
            <a:r>
              <a:rPr lang="en-US" altLang="en-US" sz="2800"/>
              <a:t> statement can have a </a:t>
            </a:r>
            <a:r>
              <a:rPr lang="en-US" altLang="en-US" sz="2800" i="1"/>
              <a:t>symbolic label</a:t>
            </a:r>
            <a:r>
              <a:rPr lang="en-US" altLang="en-US" sz="2800"/>
              <a:t>, and that the function </a:t>
            </a:r>
            <a:r>
              <a:rPr lang="en-US" altLang="en-US" sz="2800" i="1"/>
              <a:t>newlabel </a:t>
            </a:r>
            <a:r>
              <a:rPr lang="en-US" altLang="en-US" sz="2800"/>
              <a:t>generates such labels.</a:t>
            </a:r>
          </a:p>
          <a:p>
            <a:pPr eaLnBrk="1" hangingPunct="1"/>
            <a:r>
              <a:rPr lang="en-US" altLang="en-US" sz="2800"/>
              <a:t>We associate with E two labels using inherited attributes:</a:t>
            </a:r>
          </a:p>
          <a:p>
            <a:pPr lvl="1" eaLnBrk="1" hangingPunct="1">
              <a:buFont typeface="Wingdings" panose="05000000000000000000" pitchFamily="2" charset="2"/>
              <a:buNone/>
            </a:pPr>
            <a:r>
              <a:rPr lang="en-US" altLang="en-US" sz="2400"/>
              <a:t>1. </a:t>
            </a:r>
            <a:r>
              <a:rPr lang="en-US" altLang="en-US" sz="2400" i="1"/>
              <a:t>E.true</a:t>
            </a:r>
            <a:r>
              <a:rPr lang="en-US" altLang="en-US" sz="2400"/>
              <a:t>, the label to which control flows if E is true;</a:t>
            </a:r>
          </a:p>
          <a:p>
            <a:pPr lvl="1" eaLnBrk="1" hangingPunct="1">
              <a:buFont typeface="Wingdings" panose="05000000000000000000" pitchFamily="2" charset="2"/>
              <a:buNone/>
            </a:pPr>
            <a:r>
              <a:rPr lang="en-US" altLang="en-US" sz="2400"/>
              <a:t>2. </a:t>
            </a:r>
            <a:r>
              <a:rPr lang="en-US" altLang="en-US" sz="2400" i="1"/>
              <a:t>E.false</a:t>
            </a:r>
            <a:r>
              <a:rPr lang="en-US" altLang="en-US" sz="2400"/>
              <a:t>, the label to which control flows if E is false.</a:t>
            </a:r>
          </a:p>
          <a:p>
            <a:pPr eaLnBrk="1" hangingPunct="1"/>
            <a:r>
              <a:rPr lang="en-US" altLang="en-US" sz="2800"/>
              <a:t>We associate to S the inherited attribute </a:t>
            </a:r>
            <a:r>
              <a:rPr lang="en-US" altLang="en-US" sz="2800" i="1"/>
              <a:t>S.next </a:t>
            </a:r>
            <a:r>
              <a:rPr lang="en-US" altLang="en-US" sz="2800"/>
              <a:t>that represents the label attached to the first statement after the </a:t>
            </a:r>
            <a:r>
              <a:rPr lang="en-US" altLang="en-US" sz="2800" b="1"/>
              <a:t>code</a:t>
            </a:r>
            <a:r>
              <a:rPr lang="en-US" altLang="en-US" sz="2800"/>
              <a:t> for 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728D251E-6398-44E6-9056-B4A52B56FBF6}"/>
              </a:ext>
            </a:extLst>
          </p:cNvPr>
          <p:cNvSpPr>
            <a:spLocks noGrp="1" noChangeArrowheads="1"/>
          </p:cNvSpPr>
          <p:nvPr>
            <p:ph type="title"/>
          </p:nvPr>
        </p:nvSpPr>
        <p:spPr>
          <a:xfrm>
            <a:off x="381000" y="0"/>
            <a:ext cx="8229600" cy="1371600"/>
          </a:xfrm>
        </p:spPr>
        <p:txBody>
          <a:bodyPr/>
          <a:lstStyle/>
          <a:p>
            <a:pPr eaLnBrk="1" hangingPunct="1"/>
            <a:r>
              <a:rPr lang="en-US" altLang="en-US" sz="2800"/>
              <a:t>Flow of Control Statements</a:t>
            </a:r>
          </a:p>
        </p:txBody>
      </p:sp>
      <p:sp>
        <p:nvSpPr>
          <p:cNvPr id="61443" name="Rectangle 3">
            <a:extLst>
              <a:ext uri="{FF2B5EF4-FFF2-40B4-BE49-F238E27FC236}">
                <a16:creationId xmlns:a16="http://schemas.microsoft.com/office/drawing/2014/main" id="{1FF32ED8-2724-4691-B370-D5F66174019D}"/>
              </a:ext>
            </a:extLst>
          </p:cNvPr>
          <p:cNvSpPr>
            <a:spLocks noGrp="1" noChangeArrowheads="1"/>
          </p:cNvSpPr>
          <p:nvPr>
            <p:ph idx="1"/>
          </p:nvPr>
        </p:nvSpPr>
        <p:spPr/>
        <p:txBody>
          <a:bodyPr/>
          <a:lstStyle/>
          <a:p>
            <a:pPr eaLnBrk="1" hangingPunct="1"/>
            <a:endParaRPr lang="en-US" altLang="en-US"/>
          </a:p>
        </p:txBody>
      </p:sp>
      <p:pic>
        <p:nvPicPr>
          <p:cNvPr id="61444" name="Picture 4">
            <a:extLst>
              <a:ext uri="{FF2B5EF4-FFF2-40B4-BE49-F238E27FC236}">
                <a16:creationId xmlns:a16="http://schemas.microsoft.com/office/drawing/2014/main" id="{24101793-99EF-4CD8-A4A7-8662AD0573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066800"/>
            <a:ext cx="81534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E0015C86-B217-4AA8-AE45-5C6552364893}"/>
              </a:ext>
            </a:extLst>
          </p:cNvPr>
          <p:cNvSpPr>
            <a:spLocks noGrp="1" noChangeArrowheads="1"/>
          </p:cNvSpPr>
          <p:nvPr>
            <p:ph type="title"/>
          </p:nvPr>
        </p:nvSpPr>
        <p:spPr>
          <a:xfrm>
            <a:off x="0" y="457200"/>
            <a:ext cx="2314575" cy="5867400"/>
          </a:xfrm>
        </p:spPr>
        <p:txBody>
          <a:bodyPr/>
          <a:lstStyle/>
          <a:p>
            <a:r>
              <a:rPr lang="en-US" altLang="en-US" sz="3200"/>
              <a:t>SDT for flow of control statements</a:t>
            </a:r>
            <a:endParaRPr lang="en-GB" altLang="en-US" sz="3200"/>
          </a:p>
        </p:txBody>
      </p:sp>
      <p:pic>
        <p:nvPicPr>
          <p:cNvPr id="63491" name="Picture 4">
            <a:extLst>
              <a:ext uri="{FF2B5EF4-FFF2-40B4-BE49-F238E27FC236}">
                <a16:creationId xmlns:a16="http://schemas.microsoft.com/office/drawing/2014/main" id="{259B2406-94E1-48B5-8D6F-D17A72BC63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38125"/>
            <a:ext cx="5976313" cy="608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242BD3B8-34A1-4EE6-9F61-D12502470821}"/>
              </a:ext>
            </a:extLst>
          </p:cNvPr>
          <p:cNvSpPr>
            <a:spLocks noGrp="1" noChangeArrowheads="1"/>
          </p:cNvSpPr>
          <p:nvPr>
            <p:ph type="title"/>
          </p:nvPr>
        </p:nvSpPr>
        <p:spPr>
          <a:xfrm>
            <a:off x="937260" y="304800"/>
            <a:ext cx="8229600" cy="1371600"/>
          </a:xfrm>
        </p:spPr>
        <p:txBody>
          <a:bodyPr/>
          <a:lstStyle/>
          <a:p>
            <a:pPr eaLnBrk="1" hangingPunct="1"/>
            <a:r>
              <a:rPr lang="en-US" altLang="en-US" sz="4000" dirty="0"/>
              <a:t>Example</a:t>
            </a:r>
          </a:p>
        </p:txBody>
      </p:sp>
      <p:sp>
        <p:nvSpPr>
          <p:cNvPr id="64515" name="Rectangle 3">
            <a:extLst>
              <a:ext uri="{FF2B5EF4-FFF2-40B4-BE49-F238E27FC236}">
                <a16:creationId xmlns:a16="http://schemas.microsoft.com/office/drawing/2014/main" id="{62756F38-869B-4F32-88CB-7DA6B798BDDB}"/>
              </a:ext>
            </a:extLst>
          </p:cNvPr>
          <p:cNvSpPr>
            <a:spLocks noGrp="1" noChangeArrowheads="1"/>
          </p:cNvSpPr>
          <p:nvPr>
            <p:ph idx="1"/>
          </p:nvPr>
        </p:nvSpPr>
        <p:spPr/>
        <p:txBody>
          <a:bodyPr/>
          <a:lstStyle/>
          <a:p>
            <a:pPr eaLnBrk="1" hangingPunct="1"/>
            <a:r>
              <a:rPr lang="en-US" altLang="en-US" sz="3200" dirty="0"/>
              <a:t>Translate the following statement:</a:t>
            </a:r>
          </a:p>
          <a:p>
            <a:pPr lvl="2" eaLnBrk="1" hangingPunct="1">
              <a:buFont typeface="Wingdings" panose="05000000000000000000" pitchFamily="2" charset="2"/>
              <a:buNone/>
            </a:pPr>
            <a:r>
              <a:rPr lang="en-US" altLang="en-US" sz="3200" dirty="0"/>
              <a:t>while a &lt; b do</a:t>
            </a:r>
          </a:p>
          <a:p>
            <a:pPr lvl="2" eaLnBrk="1" hangingPunct="1">
              <a:buFont typeface="Wingdings" panose="05000000000000000000" pitchFamily="2" charset="2"/>
              <a:buNone/>
            </a:pPr>
            <a:r>
              <a:rPr lang="en-US" altLang="en-US" sz="3200" dirty="0"/>
              <a:t>if c &lt; d then</a:t>
            </a:r>
          </a:p>
          <a:p>
            <a:pPr lvl="2" eaLnBrk="1" hangingPunct="1">
              <a:buFont typeface="Wingdings" panose="05000000000000000000" pitchFamily="2" charset="2"/>
              <a:buNone/>
            </a:pPr>
            <a:r>
              <a:rPr lang="en-US" altLang="en-US" sz="3200" dirty="0"/>
              <a:t>x := y + z</a:t>
            </a:r>
          </a:p>
          <a:p>
            <a:pPr lvl="2" eaLnBrk="1" hangingPunct="1">
              <a:buFont typeface="Wingdings" panose="05000000000000000000" pitchFamily="2" charset="2"/>
              <a:buNone/>
            </a:pPr>
            <a:r>
              <a:rPr lang="en-US" altLang="en-US" sz="3200" dirty="0"/>
              <a:t>else</a:t>
            </a:r>
          </a:p>
          <a:p>
            <a:pPr lvl="2" eaLnBrk="1" hangingPunct="1">
              <a:buFont typeface="Wingdings" panose="05000000000000000000" pitchFamily="2" charset="2"/>
              <a:buNone/>
            </a:pPr>
            <a:r>
              <a:rPr lang="en-US" altLang="en-US" sz="3200" dirty="0"/>
              <a:t>x := y - z</a:t>
            </a:r>
            <a:endParaRPr lang="en-US" altLang="en-US"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A128E9-29AC-499C-BEB2-CE713B473E39}"/>
              </a:ext>
            </a:extLst>
          </p:cNvPr>
          <p:cNvSpPr txBox="1"/>
          <p:nvPr/>
        </p:nvSpPr>
        <p:spPr>
          <a:xfrm>
            <a:off x="942975" y="533400"/>
            <a:ext cx="7258050" cy="708025"/>
          </a:xfrm>
          <a:prstGeom prst="rect">
            <a:avLst/>
          </a:prstGeom>
          <a:noFill/>
        </p:spPr>
        <p:txBody>
          <a:bodyPr>
            <a:spAutoFit/>
          </a:bodyPr>
          <a:lstStyle/>
          <a:p>
            <a:pPr>
              <a:defRPr/>
            </a:pPr>
            <a:r>
              <a:rPr lang="en-US" sz="4000" dirty="0">
                <a:latin typeface="Times New Roman" panose="02020603050405020304" pitchFamily="18" charset="0"/>
                <a:ea typeface="+mj-ea"/>
                <a:cs typeface="Times New Roman" panose="02020603050405020304" pitchFamily="18" charset="0"/>
              </a:rPr>
              <a:t>Parse Tree of St</a:t>
            </a:r>
            <a:endParaRPr lang="en-GB" sz="4000" dirty="0">
              <a:latin typeface="Times New Roman" panose="02020603050405020304" pitchFamily="18" charset="0"/>
              <a:ea typeface="+mj-ea"/>
              <a:cs typeface="Times New Roman" panose="02020603050405020304" pitchFamily="18" charset="0"/>
            </a:endParaRPr>
          </a:p>
        </p:txBody>
      </p:sp>
      <p:pic>
        <p:nvPicPr>
          <p:cNvPr id="65539" name="Picture 4">
            <a:extLst>
              <a:ext uri="{FF2B5EF4-FFF2-40B4-BE49-F238E27FC236}">
                <a16:creationId xmlns:a16="http://schemas.microsoft.com/office/drawing/2014/main" id="{E4E67317-3026-4E0A-9437-D5CCE44F32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725" y="1747838"/>
            <a:ext cx="7448550" cy="347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 Arrow 1">
            <a:extLst>
              <a:ext uri="{FF2B5EF4-FFF2-40B4-BE49-F238E27FC236}">
                <a16:creationId xmlns:a16="http://schemas.microsoft.com/office/drawing/2014/main" id="{086B5558-8D51-41A1-93EB-5CD8C60EFE4F}"/>
              </a:ext>
            </a:extLst>
          </p:cNvPr>
          <p:cNvSpPr>
            <a:spLocks noChangeArrowheads="1"/>
          </p:cNvSpPr>
          <p:nvPr/>
        </p:nvSpPr>
        <p:spPr bwMode="auto">
          <a:xfrm>
            <a:off x="8428038" y="3352800"/>
            <a:ext cx="479425" cy="228600"/>
          </a:xfrm>
          <a:prstGeom prst="leftArrow">
            <a:avLst>
              <a:gd name="adj1" fmla="val 50000"/>
              <a:gd name="adj2" fmla="val 50061"/>
            </a:avLst>
          </a:prstGeom>
          <a:solidFill>
            <a:schemeClr val="accent1"/>
          </a:solidFill>
          <a:ln w="9525" algn="ctr">
            <a:solidFill>
              <a:schemeClr val="tx1"/>
            </a:solidFill>
            <a:round/>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endParaRPr lang="en-GB" altLang="en-US" sz="1800"/>
          </a:p>
        </p:txBody>
      </p:sp>
      <p:sp>
        <p:nvSpPr>
          <p:cNvPr id="3" name="TextBox 2">
            <a:extLst>
              <a:ext uri="{FF2B5EF4-FFF2-40B4-BE49-F238E27FC236}">
                <a16:creationId xmlns:a16="http://schemas.microsoft.com/office/drawing/2014/main" id="{EBB5DF6F-0D72-4A30-A007-78F2BF3FF4F5}"/>
              </a:ext>
            </a:extLst>
          </p:cNvPr>
          <p:cNvSpPr txBox="1">
            <a:spLocks noChangeArrowheads="1"/>
          </p:cNvSpPr>
          <p:nvPr/>
        </p:nvSpPr>
        <p:spPr bwMode="auto">
          <a:xfrm>
            <a:off x="1676400" y="5322888"/>
            <a:ext cx="4038600" cy="646112"/>
          </a:xfrm>
          <a:prstGeom prst="rect">
            <a:avLst/>
          </a:prstGeom>
          <a:noFill/>
          <a:ln w="317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b="1">
                <a:cs typeface="Arial" panose="020B0604020202020204" pitchFamily="34" charset="0"/>
              </a:rPr>
              <a:t>Attributes</a:t>
            </a:r>
          </a:p>
          <a:p>
            <a:pPr algn="ctr" eaLnBrk="1" hangingPunct="1">
              <a:spcBef>
                <a:spcPct val="0"/>
              </a:spcBef>
              <a:buClrTx/>
              <a:buSzTx/>
              <a:buFontTx/>
              <a:buNone/>
            </a:pPr>
            <a:r>
              <a:rPr lang="en-US" altLang="en-US" sz="1800" b="1">
                <a:cs typeface="Arial" panose="020B0604020202020204" pitchFamily="34" charset="0"/>
              </a:rPr>
              <a:t>id.place: z</a:t>
            </a:r>
            <a:endParaRPr lang="en-GB" altLang="en-US" sz="1800">
              <a:cs typeface="Arial" panose="020B0604020202020204" pitchFamily="34" charset="0"/>
            </a:endParaRPr>
          </a:p>
        </p:txBody>
      </p:sp>
      <p:pic>
        <p:nvPicPr>
          <p:cNvPr id="66564" name="Picture 5">
            <a:extLst>
              <a:ext uri="{FF2B5EF4-FFF2-40B4-BE49-F238E27FC236}">
                <a16:creationId xmlns:a16="http://schemas.microsoft.com/office/drawing/2014/main" id="{5F98BC87-7C03-4E27-8C62-5E1AB3AD40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725" y="838200"/>
            <a:ext cx="7448550" cy="347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 Arrow 1">
            <a:extLst>
              <a:ext uri="{FF2B5EF4-FFF2-40B4-BE49-F238E27FC236}">
                <a16:creationId xmlns:a16="http://schemas.microsoft.com/office/drawing/2014/main" id="{03EBBDC5-1B2B-4913-9BDD-2F22AFB43394}"/>
              </a:ext>
            </a:extLst>
          </p:cNvPr>
          <p:cNvSpPr>
            <a:spLocks noChangeArrowheads="1"/>
          </p:cNvSpPr>
          <p:nvPr/>
        </p:nvSpPr>
        <p:spPr bwMode="auto">
          <a:xfrm>
            <a:off x="8324850" y="2743200"/>
            <a:ext cx="477838" cy="228600"/>
          </a:xfrm>
          <a:prstGeom prst="leftArrow">
            <a:avLst>
              <a:gd name="adj1" fmla="val 50000"/>
              <a:gd name="adj2" fmla="val 49896"/>
            </a:avLst>
          </a:prstGeom>
          <a:solidFill>
            <a:schemeClr val="accent1"/>
          </a:solidFill>
          <a:ln w="9525" algn="ctr">
            <a:solidFill>
              <a:schemeClr val="tx1"/>
            </a:solidFill>
            <a:round/>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endParaRPr lang="en-GB" altLang="en-US" sz="1800"/>
          </a:p>
        </p:txBody>
      </p:sp>
      <p:sp>
        <p:nvSpPr>
          <p:cNvPr id="3" name="TextBox 2">
            <a:extLst>
              <a:ext uri="{FF2B5EF4-FFF2-40B4-BE49-F238E27FC236}">
                <a16:creationId xmlns:a16="http://schemas.microsoft.com/office/drawing/2014/main" id="{93B6D102-02B6-44F6-8400-E01AEB71C5AF}"/>
              </a:ext>
            </a:extLst>
          </p:cNvPr>
          <p:cNvSpPr txBox="1">
            <a:spLocks noChangeArrowheads="1"/>
          </p:cNvSpPr>
          <p:nvPr/>
        </p:nvSpPr>
        <p:spPr bwMode="auto">
          <a:xfrm>
            <a:off x="1905000" y="4953000"/>
            <a:ext cx="4038600" cy="922338"/>
          </a:xfrm>
          <a:prstGeom prst="rect">
            <a:avLst/>
          </a:prstGeom>
          <a:noFill/>
          <a:ln w="317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b="1">
                <a:cs typeface="Arial" panose="020B0604020202020204" pitchFamily="34" charset="0"/>
              </a:rPr>
              <a:t>Attributes</a:t>
            </a:r>
          </a:p>
          <a:p>
            <a:pPr eaLnBrk="1" hangingPunct="1">
              <a:spcBef>
                <a:spcPct val="0"/>
              </a:spcBef>
              <a:buClrTx/>
              <a:buSzTx/>
              <a:buFontTx/>
              <a:buNone/>
            </a:pPr>
            <a:r>
              <a:rPr lang="en-US" altLang="en-US" sz="1800">
                <a:cs typeface="Arial" panose="020B0604020202020204" pitchFamily="34" charset="0"/>
              </a:rPr>
              <a:t>E.place =z</a:t>
            </a:r>
          </a:p>
          <a:p>
            <a:pPr eaLnBrk="1" hangingPunct="1">
              <a:spcBef>
                <a:spcPct val="0"/>
              </a:spcBef>
              <a:buClrTx/>
              <a:buSzTx/>
              <a:buFontTx/>
              <a:buNone/>
            </a:pPr>
            <a:r>
              <a:rPr lang="en-US" altLang="en-US" sz="1800">
                <a:cs typeface="Arial" panose="020B0604020202020204" pitchFamily="34" charset="0"/>
              </a:rPr>
              <a:t>E.code=“”</a:t>
            </a:r>
            <a:endParaRPr lang="en-GB" altLang="en-US" sz="1800">
              <a:cs typeface="Arial" panose="020B0604020202020204" pitchFamily="34" charset="0"/>
            </a:endParaRPr>
          </a:p>
        </p:txBody>
      </p:sp>
      <p:pic>
        <p:nvPicPr>
          <p:cNvPr id="67588" name="Picture 6">
            <a:extLst>
              <a:ext uri="{FF2B5EF4-FFF2-40B4-BE49-F238E27FC236}">
                <a16:creationId xmlns:a16="http://schemas.microsoft.com/office/drawing/2014/main" id="{C691FB3D-AFAD-4D23-B925-98AB6E413C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813" y="762000"/>
            <a:ext cx="7448550" cy="347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08AE3F-727F-4F06-84AB-62AD530EF4C0}"/>
              </a:ext>
            </a:extLst>
          </p:cNvPr>
          <p:cNvSpPr txBox="1">
            <a:spLocks noChangeArrowheads="1"/>
          </p:cNvSpPr>
          <p:nvPr/>
        </p:nvSpPr>
        <p:spPr bwMode="auto">
          <a:xfrm>
            <a:off x="1447800" y="4876800"/>
            <a:ext cx="4038600" cy="922338"/>
          </a:xfrm>
          <a:prstGeom prst="rect">
            <a:avLst/>
          </a:prstGeom>
          <a:noFill/>
          <a:ln w="317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b="1">
                <a:cs typeface="Arial" panose="020B0604020202020204" pitchFamily="34" charset="0"/>
              </a:rPr>
              <a:t>Attributes</a:t>
            </a:r>
          </a:p>
          <a:p>
            <a:pPr eaLnBrk="1" hangingPunct="1">
              <a:spcBef>
                <a:spcPct val="0"/>
              </a:spcBef>
              <a:buClrTx/>
              <a:buSzTx/>
              <a:buFontTx/>
              <a:buNone/>
            </a:pPr>
            <a:r>
              <a:rPr lang="en-US" altLang="en-US" sz="1800">
                <a:cs typeface="Arial" panose="020B0604020202020204" pitchFamily="34" charset="0"/>
              </a:rPr>
              <a:t>E.place = newtemp()    t1</a:t>
            </a:r>
          </a:p>
          <a:p>
            <a:pPr eaLnBrk="1" hangingPunct="1">
              <a:spcBef>
                <a:spcPct val="0"/>
              </a:spcBef>
              <a:buClrTx/>
              <a:buSzTx/>
              <a:buFontTx/>
              <a:buNone/>
            </a:pPr>
            <a:r>
              <a:rPr lang="en-US" altLang="en-US" sz="1800">
                <a:cs typeface="Arial" panose="020B0604020202020204" pitchFamily="34" charset="0"/>
              </a:rPr>
              <a:t>E.code= “t1=y-z”</a:t>
            </a:r>
            <a:endParaRPr lang="en-GB" altLang="en-US" sz="1800">
              <a:cs typeface="Arial" panose="020B0604020202020204" pitchFamily="34" charset="0"/>
            </a:endParaRPr>
          </a:p>
        </p:txBody>
      </p:sp>
      <p:pic>
        <p:nvPicPr>
          <p:cNvPr id="68611" name="Picture 5">
            <a:extLst>
              <a:ext uri="{FF2B5EF4-FFF2-40B4-BE49-F238E27FC236}">
                <a16:creationId xmlns:a16="http://schemas.microsoft.com/office/drawing/2014/main" id="{1FF89F33-04C5-42F6-AB10-FABC152CB9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725" y="838200"/>
            <a:ext cx="7448550" cy="347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Left Arrow 1">
            <a:extLst>
              <a:ext uri="{FF2B5EF4-FFF2-40B4-BE49-F238E27FC236}">
                <a16:creationId xmlns:a16="http://schemas.microsoft.com/office/drawing/2014/main" id="{83DF52C8-C136-46E8-B5EC-4E3DCF590234}"/>
              </a:ext>
            </a:extLst>
          </p:cNvPr>
          <p:cNvSpPr>
            <a:spLocks noChangeArrowheads="1"/>
          </p:cNvSpPr>
          <p:nvPr/>
        </p:nvSpPr>
        <p:spPr bwMode="auto">
          <a:xfrm>
            <a:off x="8056563" y="2309813"/>
            <a:ext cx="479425" cy="228600"/>
          </a:xfrm>
          <a:prstGeom prst="leftArrow">
            <a:avLst>
              <a:gd name="adj1" fmla="val 50000"/>
              <a:gd name="adj2" fmla="val 50061"/>
            </a:avLst>
          </a:prstGeom>
          <a:solidFill>
            <a:schemeClr val="accent1"/>
          </a:solidFill>
          <a:ln w="9525" algn="ctr">
            <a:solidFill>
              <a:schemeClr val="tx1"/>
            </a:solidFill>
            <a:round/>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endParaRPr lang="en-GB"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6">
            <a:extLst>
              <a:ext uri="{FF2B5EF4-FFF2-40B4-BE49-F238E27FC236}">
                <a16:creationId xmlns:a16="http://schemas.microsoft.com/office/drawing/2014/main" id="{3CB6BC77-68BA-4DA0-8D69-E6AF9EDCFE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0" y="658813"/>
            <a:ext cx="7448550" cy="347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Left Arrow 1">
            <a:extLst>
              <a:ext uri="{FF2B5EF4-FFF2-40B4-BE49-F238E27FC236}">
                <a16:creationId xmlns:a16="http://schemas.microsoft.com/office/drawing/2014/main" id="{10A84A41-95AA-4CC8-94D4-AD4B67C5E231}"/>
              </a:ext>
            </a:extLst>
          </p:cNvPr>
          <p:cNvSpPr>
            <a:spLocks noChangeArrowheads="1"/>
          </p:cNvSpPr>
          <p:nvPr/>
        </p:nvSpPr>
        <p:spPr bwMode="auto">
          <a:xfrm>
            <a:off x="8129588" y="1712913"/>
            <a:ext cx="477837" cy="228600"/>
          </a:xfrm>
          <a:prstGeom prst="leftArrow">
            <a:avLst>
              <a:gd name="adj1" fmla="val 50000"/>
              <a:gd name="adj2" fmla="val 49896"/>
            </a:avLst>
          </a:prstGeom>
          <a:solidFill>
            <a:schemeClr val="accent1"/>
          </a:solidFill>
          <a:ln w="9525" algn="ctr">
            <a:solidFill>
              <a:schemeClr val="tx1"/>
            </a:solidFill>
            <a:round/>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endParaRPr lang="en-GB" altLang="en-US" sz="1800"/>
          </a:p>
        </p:txBody>
      </p:sp>
      <p:sp>
        <p:nvSpPr>
          <p:cNvPr id="3" name="TextBox 2">
            <a:extLst>
              <a:ext uri="{FF2B5EF4-FFF2-40B4-BE49-F238E27FC236}">
                <a16:creationId xmlns:a16="http://schemas.microsoft.com/office/drawing/2014/main" id="{8F6B28D7-35B3-4C1F-9E59-D9A23CB4161D}"/>
              </a:ext>
            </a:extLst>
          </p:cNvPr>
          <p:cNvSpPr txBox="1">
            <a:spLocks noChangeArrowheads="1"/>
          </p:cNvSpPr>
          <p:nvPr/>
        </p:nvSpPr>
        <p:spPr bwMode="auto">
          <a:xfrm>
            <a:off x="1647825" y="3706019"/>
            <a:ext cx="6629400" cy="1028700"/>
          </a:xfrm>
          <a:prstGeom prst="rect">
            <a:avLst/>
          </a:prstGeom>
          <a:noFill/>
          <a:ln w="317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b="1">
                <a:cs typeface="Arial" panose="020B0604020202020204" pitchFamily="34" charset="0"/>
              </a:rPr>
              <a:t>Semantic rules</a:t>
            </a:r>
          </a:p>
          <a:p>
            <a:pPr eaLnBrk="1" hangingPunct="1">
              <a:lnSpc>
                <a:spcPct val="69000"/>
              </a:lnSpc>
              <a:spcBef>
                <a:spcPct val="0"/>
              </a:spcBef>
              <a:buClrTx/>
              <a:buSzTx/>
              <a:buFont typeface="Wingdings" panose="05000000000000000000" pitchFamily="2" charset="2"/>
              <a:buNone/>
            </a:pPr>
            <a:r>
              <a:rPr lang="en-US" altLang="en-US" sz="1800">
                <a:cs typeface="Arial" panose="020B0604020202020204" pitchFamily="34" charset="0"/>
                <a:sym typeface="Symbol" panose="05050102010706020507" pitchFamily="18" charset="2"/>
              </a:rPr>
              <a:t>S  </a:t>
            </a:r>
            <a:r>
              <a:rPr lang="en-US" altLang="en-US" sz="1800">
                <a:solidFill>
                  <a:schemeClr val="accent2"/>
                </a:solidFill>
                <a:cs typeface="Arial" panose="020B0604020202020204" pitchFamily="34" charset="0"/>
                <a:sym typeface="Symbol" panose="05050102010706020507" pitchFamily="18" charset="2"/>
              </a:rPr>
              <a:t>id := </a:t>
            </a:r>
            <a:r>
              <a:rPr lang="en-US" altLang="en-US" sz="1800">
                <a:cs typeface="Arial" panose="020B0604020202020204" pitchFamily="34" charset="0"/>
                <a:sym typeface="Symbol" panose="05050102010706020507" pitchFamily="18" charset="2"/>
              </a:rPr>
              <a:t>E	{ S.place=id.place</a:t>
            </a:r>
          </a:p>
          <a:p>
            <a:pPr eaLnBrk="1" hangingPunct="1">
              <a:lnSpc>
                <a:spcPct val="69000"/>
              </a:lnSpc>
              <a:spcBef>
                <a:spcPct val="0"/>
              </a:spcBef>
              <a:buClrTx/>
              <a:buSzTx/>
              <a:buFont typeface="Wingdings" panose="05000000000000000000" pitchFamily="2" charset="2"/>
              <a:buNone/>
            </a:pPr>
            <a:r>
              <a:rPr lang="en-US" altLang="en-US" sz="1800">
                <a:cs typeface="Arial" panose="020B0604020202020204" pitchFamily="34" charset="0"/>
                <a:sym typeface="Symbol" panose="05050102010706020507" pitchFamily="18" charset="2"/>
              </a:rPr>
              <a:t>		  S</a:t>
            </a:r>
            <a:r>
              <a:rPr lang="en-US" altLang="en-US" sz="1800" i="1">
                <a:cs typeface="Arial" panose="020B0604020202020204" pitchFamily="34" charset="0"/>
                <a:sym typeface="Symbol" panose="05050102010706020507" pitchFamily="18" charset="2"/>
              </a:rPr>
              <a:t>.code = </a:t>
            </a:r>
            <a:r>
              <a:rPr lang="en-US" altLang="en-US" sz="1800">
                <a:cs typeface="Arial" panose="020B0604020202020204" pitchFamily="34" charset="0"/>
                <a:sym typeface="Symbol" panose="05050102010706020507" pitchFamily="18" charset="2"/>
              </a:rPr>
              <a:t>E.</a:t>
            </a:r>
            <a:r>
              <a:rPr lang="en-US" altLang="en-US" sz="1800" i="1">
                <a:cs typeface="Arial" panose="020B0604020202020204" pitchFamily="34" charset="0"/>
                <a:sym typeface="Symbol" panose="05050102010706020507" pitchFamily="18" charset="2"/>
              </a:rPr>
              <a:t>code</a:t>
            </a:r>
            <a:r>
              <a:rPr lang="en-US" altLang="en-US" sz="1800">
                <a:cs typeface="Arial" panose="020B0604020202020204" pitchFamily="34" charset="0"/>
                <a:sym typeface="Symbol" panose="05050102010706020507" pitchFamily="18" charset="2"/>
              </a:rPr>
              <a:t>||</a:t>
            </a:r>
            <a:r>
              <a:rPr lang="en-US" altLang="en-US" sz="1800" i="1">
                <a:cs typeface="Arial" panose="020B0604020202020204" pitchFamily="34" charset="0"/>
                <a:sym typeface="Symbol" panose="05050102010706020507" pitchFamily="18" charset="2"/>
              </a:rPr>
              <a:t>gen</a:t>
            </a:r>
            <a:r>
              <a:rPr lang="en-US" altLang="en-US" sz="1800">
                <a:cs typeface="Arial" panose="020B0604020202020204" pitchFamily="34" charset="0"/>
                <a:sym typeface="Symbol" panose="05050102010706020507" pitchFamily="18" charset="2"/>
              </a:rPr>
              <a:t>(S</a:t>
            </a:r>
            <a:r>
              <a:rPr lang="en-US" altLang="en-US" sz="1800" i="1">
                <a:cs typeface="Arial" panose="020B0604020202020204" pitchFamily="34" charset="0"/>
                <a:sym typeface="Symbol" panose="05050102010706020507" pitchFamily="18" charset="2"/>
              </a:rPr>
              <a:t>.place</a:t>
            </a:r>
            <a:r>
              <a:rPr lang="en-US" altLang="en-US" sz="1800">
                <a:cs typeface="Arial" panose="020B0604020202020204" pitchFamily="34" charset="0"/>
                <a:sym typeface="Symbol" panose="05050102010706020507" pitchFamily="18" charset="2"/>
              </a:rPr>
              <a:t> ‘:=’</a:t>
            </a:r>
            <a:r>
              <a:rPr lang="en-US" altLang="en-US" sz="1800" i="1">
                <a:cs typeface="Arial" panose="020B0604020202020204" pitchFamily="34" charset="0"/>
                <a:sym typeface="Symbol" panose="05050102010706020507" pitchFamily="18" charset="2"/>
              </a:rPr>
              <a:t> </a:t>
            </a:r>
            <a:r>
              <a:rPr lang="en-US" altLang="en-US" sz="1800">
                <a:cs typeface="Arial" panose="020B0604020202020204" pitchFamily="34" charset="0"/>
                <a:sym typeface="Symbol" panose="05050102010706020507" pitchFamily="18" charset="2"/>
              </a:rPr>
              <a:t>E.</a:t>
            </a:r>
            <a:r>
              <a:rPr lang="en-US" altLang="en-US" sz="1800" i="1">
                <a:cs typeface="Arial" panose="020B0604020202020204" pitchFamily="34" charset="0"/>
                <a:sym typeface="Symbol" panose="05050102010706020507" pitchFamily="18" charset="2"/>
              </a:rPr>
              <a:t>place</a:t>
            </a:r>
            <a:r>
              <a:rPr lang="en-US" altLang="en-US" sz="1800">
                <a:cs typeface="Arial" panose="020B0604020202020204" pitchFamily="34" charset="0"/>
                <a:sym typeface="Symbol" panose="05050102010706020507" pitchFamily="18" charset="2"/>
              </a:rPr>
              <a:t>) }</a:t>
            </a:r>
            <a:endParaRPr lang="en-US" altLang="en-US" sz="1800" i="1">
              <a:cs typeface="Arial" panose="020B0604020202020204" pitchFamily="34" charset="0"/>
              <a:sym typeface="Symbol" panose="05050102010706020507" pitchFamily="18" charset="2"/>
            </a:endParaRPr>
          </a:p>
          <a:p>
            <a:pPr eaLnBrk="1" hangingPunct="1">
              <a:spcBef>
                <a:spcPct val="0"/>
              </a:spcBef>
              <a:buClrTx/>
              <a:buSzTx/>
              <a:buFontTx/>
              <a:buNone/>
            </a:pPr>
            <a:endParaRPr lang="en-GB" altLang="en-US" sz="1800">
              <a:cs typeface="Arial" panose="020B0604020202020204" pitchFamily="34" charset="0"/>
            </a:endParaRPr>
          </a:p>
        </p:txBody>
      </p:sp>
      <p:sp>
        <p:nvSpPr>
          <p:cNvPr id="5" name="TextBox 4">
            <a:extLst>
              <a:ext uri="{FF2B5EF4-FFF2-40B4-BE49-F238E27FC236}">
                <a16:creationId xmlns:a16="http://schemas.microsoft.com/office/drawing/2014/main" id="{50683FAF-5C87-49C6-95BD-554443BAA22B}"/>
              </a:ext>
            </a:extLst>
          </p:cNvPr>
          <p:cNvSpPr txBox="1">
            <a:spLocks noChangeArrowheads="1"/>
          </p:cNvSpPr>
          <p:nvPr/>
        </p:nvSpPr>
        <p:spPr bwMode="auto">
          <a:xfrm>
            <a:off x="1647825" y="4995227"/>
            <a:ext cx="4038600" cy="1200150"/>
          </a:xfrm>
          <a:prstGeom prst="rect">
            <a:avLst/>
          </a:prstGeom>
          <a:noFill/>
          <a:ln w="317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b="1" dirty="0">
                <a:cs typeface="Arial" panose="020B0604020202020204" pitchFamily="34" charset="0"/>
              </a:rPr>
              <a:t>Attributes</a:t>
            </a:r>
          </a:p>
          <a:p>
            <a:pPr eaLnBrk="1" hangingPunct="1">
              <a:spcBef>
                <a:spcPct val="0"/>
              </a:spcBef>
              <a:buClrTx/>
              <a:buSzTx/>
              <a:buFontTx/>
              <a:buNone/>
            </a:pPr>
            <a:r>
              <a:rPr lang="en-US" altLang="en-US" sz="1800" dirty="0" err="1">
                <a:cs typeface="Arial" panose="020B0604020202020204" pitchFamily="34" charset="0"/>
              </a:rPr>
              <a:t>S.place</a:t>
            </a:r>
            <a:r>
              <a:rPr lang="en-US" altLang="en-US" sz="1800" dirty="0">
                <a:cs typeface="Arial" panose="020B0604020202020204" pitchFamily="34" charset="0"/>
              </a:rPr>
              <a:t>=</a:t>
            </a:r>
            <a:r>
              <a:rPr lang="en-US" altLang="en-US" sz="1800" dirty="0" err="1">
                <a:cs typeface="Arial" panose="020B0604020202020204" pitchFamily="34" charset="0"/>
              </a:rPr>
              <a:t>id.place</a:t>
            </a:r>
            <a:r>
              <a:rPr lang="en-US" altLang="en-US" sz="1800" dirty="0">
                <a:cs typeface="Arial" panose="020B0604020202020204" pitchFamily="34" charset="0"/>
              </a:rPr>
              <a:t> = x</a:t>
            </a:r>
          </a:p>
          <a:p>
            <a:pPr eaLnBrk="1" hangingPunct="1">
              <a:spcBef>
                <a:spcPct val="0"/>
              </a:spcBef>
              <a:buClrTx/>
              <a:buSzTx/>
              <a:buFontTx/>
              <a:buNone/>
            </a:pPr>
            <a:r>
              <a:rPr lang="en-US" altLang="en-US" sz="1800" dirty="0" err="1">
                <a:cs typeface="Arial" panose="020B0604020202020204" pitchFamily="34" charset="0"/>
              </a:rPr>
              <a:t>S.code</a:t>
            </a:r>
            <a:r>
              <a:rPr lang="en-US" altLang="en-US" sz="1800" dirty="0">
                <a:cs typeface="Arial" panose="020B0604020202020204" pitchFamily="34" charset="0"/>
              </a:rPr>
              <a:t>= “t1=y-z</a:t>
            </a:r>
          </a:p>
          <a:p>
            <a:pPr eaLnBrk="1" hangingPunct="1">
              <a:spcBef>
                <a:spcPct val="0"/>
              </a:spcBef>
              <a:buClrTx/>
              <a:buSzTx/>
              <a:buFontTx/>
              <a:buNone/>
            </a:pPr>
            <a:r>
              <a:rPr lang="en-US" altLang="en-US" sz="1800" dirty="0">
                <a:cs typeface="Arial" panose="020B0604020202020204" pitchFamily="34" charset="0"/>
              </a:rPr>
              <a:t>                x=t1”</a:t>
            </a:r>
            <a:endParaRPr lang="en-GB" altLang="en-US" sz="1800" dirty="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3">
            <a:extLst>
              <a:ext uri="{FF2B5EF4-FFF2-40B4-BE49-F238E27FC236}">
                <a16:creationId xmlns:a16="http://schemas.microsoft.com/office/drawing/2014/main" id="{578C9E92-45FF-4CA7-8161-CD86BFACC5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28600"/>
            <a:ext cx="7505700" cy="310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Left Arrow 1">
            <a:extLst>
              <a:ext uri="{FF2B5EF4-FFF2-40B4-BE49-F238E27FC236}">
                <a16:creationId xmlns:a16="http://schemas.microsoft.com/office/drawing/2014/main" id="{7D358E0D-0D84-4AAB-9324-F58D2C901CA9}"/>
              </a:ext>
            </a:extLst>
          </p:cNvPr>
          <p:cNvSpPr>
            <a:spLocks noChangeArrowheads="1"/>
          </p:cNvSpPr>
          <p:nvPr/>
        </p:nvSpPr>
        <p:spPr bwMode="auto">
          <a:xfrm>
            <a:off x="5407025" y="1343025"/>
            <a:ext cx="250825" cy="228600"/>
          </a:xfrm>
          <a:prstGeom prst="leftArrow">
            <a:avLst>
              <a:gd name="adj1" fmla="val 50000"/>
              <a:gd name="adj2" fmla="val 50122"/>
            </a:avLst>
          </a:prstGeom>
          <a:solidFill>
            <a:schemeClr val="accent1"/>
          </a:solidFill>
          <a:ln w="9525" algn="ctr">
            <a:solidFill>
              <a:schemeClr val="tx1"/>
            </a:solidFill>
            <a:round/>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endParaRPr lang="en-GB" altLang="en-US" sz="1800"/>
          </a:p>
        </p:txBody>
      </p:sp>
      <p:sp>
        <p:nvSpPr>
          <p:cNvPr id="3" name="TextBox 2">
            <a:extLst>
              <a:ext uri="{FF2B5EF4-FFF2-40B4-BE49-F238E27FC236}">
                <a16:creationId xmlns:a16="http://schemas.microsoft.com/office/drawing/2014/main" id="{16539D2E-468E-48CC-B347-893C3D9DE74E}"/>
              </a:ext>
            </a:extLst>
          </p:cNvPr>
          <p:cNvSpPr txBox="1">
            <a:spLocks noChangeArrowheads="1"/>
          </p:cNvSpPr>
          <p:nvPr/>
        </p:nvSpPr>
        <p:spPr bwMode="auto">
          <a:xfrm>
            <a:off x="304800" y="2863850"/>
            <a:ext cx="5370513" cy="1114425"/>
          </a:xfrm>
          <a:prstGeom prst="rect">
            <a:avLst/>
          </a:prstGeom>
          <a:noFill/>
          <a:ln w="317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b="1">
                <a:cs typeface="Arial" panose="020B0604020202020204" pitchFamily="34" charset="0"/>
              </a:rPr>
              <a:t>Semantic rules</a:t>
            </a:r>
          </a:p>
          <a:p>
            <a:pPr algn="ctr" eaLnBrk="1" hangingPunct="1">
              <a:spcBef>
                <a:spcPct val="0"/>
              </a:spcBef>
              <a:buClrTx/>
              <a:buSzTx/>
              <a:buFontTx/>
              <a:buNone/>
            </a:pPr>
            <a:endParaRPr lang="en-US" altLang="en-US" sz="1800" b="1">
              <a:cs typeface="Arial" panose="020B0604020202020204" pitchFamily="34" charset="0"/>
            </a:endParaRPr>
          </a:p>
          <a:p>
            <a:pPr eaLnBrk="1" hangingPunct="1">
              <a:lnSpc>
                <a:spcPct val="69000"/>
              </a:lnSpc>
              <a:spcBef>
                <a:spcPct val="0"/>
              </a:spcBef>
              <a:buClrTx/>
              <a:buSzTx/>
              <a:buFont typeface="Wingdings" panose="05000000000000000000" pitchFamily="2" charset="2"/>
              <a:buNone/>
            </a:pPr>
            <a:endParaRPr lang="en-US" altLang="en-US" sz="1800" i="1">
              <a:cs typeface="Arial" panose="020B0604020202020204" pitchFamily="34" charset="0"/>
              <a:sym typeface="Symbol" panose="05050102010706020507" pitchFamily="18" charset="2"/>
            </a:endParaRPr>
          </a:p>
          <a:p>
            <a:pPr eaLnBrk="1" hangingPunct="1">
              <a:spcBef>
                <a:spcPct val="0"/>
              </a:spcBef>
              <a:buClrTx/>
              <a:buSzTx/>
              <a:buFontTx/>
              <a:buNone/>
            </a:pPr>
            <a:endParaRPr lang="en-GB" altLang="en-US" sz="1800">
              <a:cs typeface="Arial" panose="020B0604020202020204" pitchFamily="34" charset="0"/>
            </a:endParaRPr>
          </a:p>
        </p:txBody>
      </p:sp>
      <p:sp>
        <p:nvSpPr>
          <p:cNvPr id="5" name="TextBox 4">
            <a:extLst>
              <a:ext uri="{FF2B5EF4-FFF2-40B4-BE49-F238E27FC236}">
                <a16:creationId xmlns:a16="http://schemas.microsoft.com/office/drawing/2014/main" id="{C52F65B0-01CA-4F6F-B6F0-EF943FA58615}"/>
              </a:ext>
            </a:extLst>
          </p:cNvPr>
          <p:cNvSpPr txBox="1">
            <a:spLocks noChangeArrowheads="1"/>
          </p:cNvSpPr>
          <p:nvPr/>
        </p:nvSpPr>
        <p:spPr bwMode="auto">
          <a:xfrm>
            <a:off x="498475" y="3978275"/>
            <a:ext cx="3794125" cy="2032000"/>
          </a:xfrm>
          <a:prstGeom prst="rect">
            <a:avLst/>
          </a:prstGeom>
          <a:noFill/>
          <a:ln w="317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b="1" dirty="0">
                <a:cs typeface="Arial" panose="020B0604020202020204" pitchFamily="34" charset="0"/>
              </a:rPr>
              <a:t>Attribute</a:t>
            </a:r>
          </a:p>
          <a:p>
            <a:pPr eaLnBrk="1" hangingPunct="1">
              <a:spcBef>
                <a:spcPct val="0"/>
              </a:spcBef>
              <a:buClrTx/>
              <a:buSzTx/>
              <a:buFontTx/>
              <a:buNone/>
            </a:pPr>
            <a:r>
              <a:rPr lang="en-US" altLang="en-US" sz="1800" dirty="0">
                <a:cs typeface="Arial" panose="020B0604020202020204" pitchFamily="34" charset="0"/>
              </a:rPr>
              <a:t>.code</a:t>
            </a:r>
          </a:p>
          <a:p>
            <a:pPr eaLnBrk="1" hangingPunct="1">
              <a:spcBef>
                <a:spcPct val="0"/>
              </a:spcBef>
              <a:buClrTx/>
              <a:buSzTx/>
              <a:buFontTx/>
              <a:buNone/>
            </a:pPr>
            <a:r>
              <a:rPr lang="en-US" altLang="en-US" sz="1800" dirty="0">
                <a:cs typeface="Arial" panose="020B0604020202020204" pitchFamily="34" charset="0"/>
              </a:rPr>
              <a:t>      if c &lt; d </a:t>
            </a:r>
            <a:r>
              <a:rPr lang="en-US" altLang="en-US" sz="1800" dirty="0" err="1">
                <a:cs typeface="Arial" panose="020B0604020202020204" pitchFamily="34" charset="0"/>
              </a:rPr>
              <a:t>goto</a:t>
            </a:r>
            <a:r>
              <a:rPr lang="en-US" altLang="en-US" sz="1800" dirty="0">
                <a:cs typeface="Arial" panose="020B0604020202020204" pitchFamily="34" charset="0"/>
              </a:rPr>
              <a:t> L1</a:t>
            </a:r>
          </a:p>
          <a:p>
            <a:pPr eaLnBrk="1" hangingPunct="1">
              <a:spcBef>
                <a:spcPct val="0"/>
              </a:spcBef>
              <a:buClrTx/>
              <a:buSzTx/>
              <a:buFontTx/>
              <a:buNone/>
            </a:pPr>
            <a:r>
              <a:rPr lang="en-US" altLang="en-US" sz="1800" dirty="0">
                <a:cs typeface="Arial" panose="020B0604020202020204" pitchFamily="34" charset="0"/>
              </a:rPr>
              <a:t>      </a:t>
            </a:r>
            <a:r>
              <a:rPr lang="en-US" altLang="en-US" sz="1800" dirty="0" err="1">
                <a:cs typeface="Arial" panose="020B0604020202020204" pitchFamily="34" charset="0"/>
              </a:rPr>
              <a:t>Goto</a:t>
            </a:r>
            <a:r>
              <a:rPr lang="en-US" altLang="en-US" sz="1800" dirty="0">
                <a:cs typeface="Arial" panose="020B0604020202020204" pitchFamily="34" charset="0"/>
              </a:rPr>
              <a:t> L2</a:t>
            </a:r>
          </a:p>
          <a:p>
            <a:pPr eaLnBrk="1" hangingPunct="1">
              <a:spcBef>
                <a:spcPct val="0"/>
              </a:spcBef>
              <a:buClrTx/>
              <a:buSzTx/>
              <a:buFontTx/>
              <a:buNone/>
            </a:pPr>
            <a:endParaRPr lang="en-US" altLang="en-US" sz="1800" dirty="0">
              <a:cs typeface="Arial" panose="020B0604020202020204" pitchFamily="34" charset="0"/>
            </a:endParaRPr>
          </a:p>
          <a:p>
            <a:pPr eaLnBrk="1" hangingPunct="1">
              <a:spcBef>
                <a:spcPct val="0"/>
              </a:spcBef>
              <a:buClrTx/>
              <a:buSzTx/>
              <a:buFontTx/>
              <a:buNone/>
            </a:pPr>
            <a:endParaRPr lang="en-US" altLang="en-US" sz="1800" dirty="0">
              <a:cs typeface="Arial" panose="020B0604020202020204" pitchFamily="34" charset="0"/>
            </a:endParaRPr>
          </a:p>
          <a:p>
            <a:pPr eaLnBrk="1" hangingPunct="1">
              <a:spcBef>
                <a:spcPct val="0"/>
              </a:spcBef>
              <a:buClrTx/>
              <a:buSzTx/>
              <a:buFontTx/>
              <a:buNone/>
            </a:pPr>
            <a:endParaRPr lang="en-GB" altLang="en-US" sz="1800" dirty="0">
              <a:cs typeface="Arial" panose="020B0604020202020204" pitchFamily="34" charset="0"/>
            </a:endParaRPr>
          </a:p>
        </p:txBody>
      </p:sp>
      <p:pic>
        <p:nvPicPr>
          <p:cNvPr id="70662" name="Picture 2">
            <a:extLst>
              <a:ext uri="{FF2B5EF4-FFF2-40B4-BE49-F238E27FC236}">
                <a16:creationId xmlns:a16="http://schemas.microsoft.com/office/drawing/2014/main" id="{4BEA6B31-9A81-4656-93C0-A3A1511A56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475" y="3203575"/>
            <a:ext cx="4981575"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7">
            <a:extLst>
              <a:ext uri="{FF2B5EF4-FFF2-40B4-BE49-F238E27FC236}">
                <a16:creationId xmlns:a16="http://schemas.microsoft.com/office/drawing/2014/main" id="{662959EF-A801-4B25-934E-E98C9FF910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981" y="304800"/>
            <a:ext cx="7448550" cy="347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B4B6C0F9-3E49-49F5-9A07-98E759338F8C}"/>
              </a:ext>
            </a:extLst>
          </p:cNvPr>
          <p:cNvSpPr txBox="1">
            <a:spLocks noChangeArrowheads="1"/>
          </p:cNvSpPr>
          <p:nvPr/>
        </p:nvSpPr>
        <p:spPr bwMode="auto">
          <a:xfrm>
            <a:off x="1600200" y="3369945"/>
            <a:ext cx="8437563" cy="3662541"/>
          </a:xfrm>
          <a:prstGeom prst="rect">
            <a:avLst/>
          </a:prstGeom>
          <a:noFill/>
          <a:ln w="317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lvl="8">
              <a:spcBef>
                <a:spcPct val="0"/>
              </a:spcBef>
              <a:buClrTx/>
              <a:buFontTx/>
              <a:buNone/>
            </a:pPr>
            <a:r>
              <a:rPr lang="en-US" altLang="en-US" sz="1600" b="1" dirty="0">
                <a:cs typeface="Arial" panose="020B0604020202020204" pitchFamily="34" charset="0"/>
              </a:rPr>
              <a:t>Attributes</a:t>
            </a:r>
          </a:p>
          <a:p>
            <a:pPr lvl="8">
              <a:spcBef>
                <a:spcPct val="0"/>
              </a:spcBef>
              <a:buClrTx/>
              <a:buFontTx/>
              <a:buNone/>
            </a:pPr>
            <a:r>
              <a:rPr lang="en-US" altLang="en-US" sz="1400" dirty="0" err="1">
                <a:cs typeface="Arial" panose="020B0604020202020204" pitchFamily="34" charset="0"/>
              </a:rPr>
              <a:t>B.true</a:t>
            </a:r>
            <a:r>
              <a:rPr lang="en-US" altLang="en-US" sz="1400" dirty="0">
                <a:cs typeface="Arial" panose="020B0604020202020204" pitchFamily="34" charset="0"/>
              </a:rPr>
              <a:t> = </a:t>
            </a:r>
            <a:r>
              <a:rPr lang="en-US" altLang="en-US" sz="1400" dirty="0" err="1">
                <a:cs typeface="Arial" panose="020B0604020202020204" pitchFamily="34" charset="0"/>
              </a:rPr>
              <a:t>newlabel</a:t>
            </a:r>
            <a:r>
              <a:rPr lang="en-US" altLang="en-US" sz="1400" dirty="0">
                <a:cs typeface="Arial" panose="020B0604020202020204" pitchFamily="34" charset="0"/>
              </a:rPr>
              <a:t>()   -&gt; L1</a:t>
            </a:r>
          </a:p>
          <a:p>
            <a:pPr lvl="8">
              <a:spcBef>
                <a:spcPct val="0"/>
              </a:spcBef>
              <a:buClrTx/>
              <a:buFontTx/>
              <a:buNone/>
            </a:pPr>
            <a:r>
              <a:rPr lang="en-US" altLang="en-US" sz="1400" dirty="0" err="1">
                <a:cs typeface="Arial" panose="020B0604020202020204" pitchFamily="34" charset="0"/>
              </a:rPr>
              <a:t>B.false</a:t>
            </a:r>
            <a:r>
              <a:rPr lang="en-US" altLang="en-US" sz="1400" dirty="0">
                <a:cs typeface="Arial" panose="020B0604020202020204" pitchFamily="34" charset="0"/>
              </a:rPr>
              <a:t>= </a:t>
            </a:r>
            <a:r>
              <a:rPr lang="en-US" altLang="en-US" sz="1400" dirty="0" err="1">
                <a:cs typeface="Arial" panose="020B0604020202020204" pitchFamily="34" charset="0"/>
              </a:rPr>
              <a:t>newlable</a:t>
            </a:r>
            <a:r>
              <a:rPr lang="en-US" altLang="en-US" sz="1400" dirty="0">
                <a:cs typeface="Arial" panose="020B0604020202020204" pitchFamily="34" charset="0"/>
              </a:rPr>
              <a:t>()    -&gt; L2</a:t>
            </a:r>
          </a:p>
          <a:p>
            <a:pPr lvl="8">
              <a:spcBef>
                <a:spcPct val="0"/>
              </a:spcBef>
              <a:buClrTx/>
              <a:buFontTx/>
              <a:buNone/>
            </a:pPr>
            <a:r>
              <a:rPr lang="en-US" altLang="en-US" sz="1400" dirty="0">
                <a:cs typeface="Arial" panose="020B0604020202020204" pitchFamily="34" charset="0"/>
              </a:rPr>
              <a:t>S1.next=s2.next=s3.next</a:t>
            </a:r>
          </a:p>
          <a:p>
            <a:pPr lvl="8">
              <a:spcBef>
                <a:spcPct val="0"/>
              </a:spcBef>
              <a:buClrTx/>
              <a:buFontTx/>
              <a:buNone/>
            </a:pPr>
            <a:r>
              <a:rPr lang="en-US" altLang="en-US" sz="1400" dirty="0" err="1">
                <a:cs typeface="Arial" panose="020B0604020202020204" pitchFamily="34" charset="0"/>
              </a:rPr>
              <a:t>S.code</a:t>
            </a:r>
            <a:endParaRPr lang="en-US" altLang="en-US" sz="1400" dirty="0">
              <a:cs typeface="Arial" panose="020B0604020202020204" pitchFamily="34" charset="0"/>
            </a:endParaRPr>
          </a:p>
          <a:p>
            <a:pPr lvl="8">
              <a:spcBef>
                <a:spcPct val="0"/>
              </a:spcBef>
              <a:buClrTx/>
              <a:buFontTx/>
              <a:buNone/>
            </a:pPr>
            <a:r>
              <a:rPr lang="en-US" altLang="en-US" sz="1400" dirty="0">
                <a:cs typeface="Arial" panose="020B0604020202020204" pitchFamily="34" charset="0"/>
              </a:rPr>
              <a:t>      if c &lt; d </a:t>
            </a:r>
            <a:r>
              <a:rPr lang="en-US" altLang="en-US" sz="1400" dirty="0" err="1">
                <a:cs typeface="Arial" panose="020B0604020202020204" pitchFamily="34" charset="0"/>
              </a:rPr>
              <a:t>goto</a:t>
            </a:r>
            <a:r>
              <a:rPr lang="en-US" altLang="en-US" sz="1400" dirty="0">
                <a:cs typeface="Arial" panose="020B0604020202020204" pitchFamily="34" charset="0"/>
              </a:rPr>
              <a:t> L1</a:t>
            </a:r>
          </a:p>
          <a:p>
            <a:pPr lvl="8">
              <a:spcBef>
                <a:spcPct val="0"/>
              </a:spcBef>
              <a:buClrTx/>
              <a:buFontTx/>
              <a:buNone/>
            </a:pPr>
            <a:r>
              <a:rPr lang="en-US" altLang="en-US" sz="1400" dirty="0">
                <a:cs typeface="Arial" panose="020B0604020202020204" pitchFamily="34" charset="0"/>
              </a:rPr>
              <a:t>      </a:t>
            </a:r>
            <a:r>
              <a:rPr lang="en-US" altLang="en-US" sz="1400" dirty="0" err="1">
                <a:cs typeface="Arial" panose="020B0604020202020204" pitchFamily="34" charset="0"/>
              </a:rPr>
              <a:t>goto</a:t>
            </a:r>
            <a:r>
              <a:rPr lang="en-US" altLang="en-US" sz="1400" dirty="0">
                <a:cs typeface="Arial" panose="020B0604020202020204" pitchFamily="34" charset="0"/>
              </a:rPr>
              <a:t>  L2</a:t>
            </a:r>
          </a:p>
          <a:p>
            <a:pPr lvl="8">
              <a:spcBef>
                <a:spcPct val="0"/>
              </a:spcBef>
              <a:buClrTx/>
              <a:buFontTx/>
              <a:buNone/>
            </a:pPr>
            <a:r>
              <a:rPr lang="en-US" altLang="en-US" sz="1400" dirty="0">
                <a:cs typeface="Arial" panose="020B0604020202020204" pitchFamily="34" charset="0"/>
              </a:rPr>
              <a:t>L1: t1= y + z</a:t>
            </a:r>
          </a:p>
          <a:p>
            <a:pPr lvl="8">
              <a:spcBef>
                <a:spcPct val="0"/>
              </a:spcBef>
              <a:buClrTx/>
              <a:buFontTx/>
              <a:buNone/>
            </a:pPr>
            <a:r>
              <a:rPr lang="en-US" altLang="en-US" sz="1400" dirty="0">
                <a:cs typeface="Arial" panose="020B0604020202020204" pitchFamily="34" charset="0"/>
              </a:rPr>
              <a:t>      x = t1 </a:t>
            </a:r>
          </a:p>
          <a:p>
            <a:pPr lvl="8">
              <a:spcBef>
                <a:spcPct val="0"/>
              </a:spcBef>
              <a:buClrTx/>
              <a:buFontTx/>
              <a:buNone/>
            </a:pPr>
            <a:r>
              <a:rPr lang="en-US" altLang="en-US" sz="1400" dirty="0">
                <a:cs typeface="Arial" panose="020B0604020202020204" pitchFamily="34" charset="0"/>
              </a:rPr>
              <a:t>      </a:t>
            </a:r>
            <a:r>
              <a:rPr lang="en-US" altLang="en-US" sz="1400" dirty="0" err="1">
                <a:cs typeface="Arial" panose="020B0604020202020204" pitchFamily="34" charset="0"/>
              </a:rPr>
              <a:t>goto</a:t>
            </a:r>
            <a:r>
              <a:rPr lang="en-US" altLang="en-US" sz="1400" dirty="0">
                <a:cs typeface="Arial" panose="020B0604020202020204" pitchFamily="34" charset="0"/>
              </a:rPr>
              <a:t> </a:t>
            </a:r>
            <a:r>
              <a:rPr lang="en-US" altLang="en-US" sz="1400" dirty="0" err="1">
                <a:cs typeface="Arial" panose="020B0604020202020204" pitchFamily="34" charset="0"/>
              </a:rPr>
              <a:t>S.next</a:t>
            </a:r>
            <a:r>
              <a:rPr lang="en-US" altLang="en-US" sz="1400" dirty="0">
                <a:cs typeface="Arial" panose="020B0604020202020204" pitchFamily="34" charset="0"/>
              </a:rPr>
              <a:t> </a:t>
            </a:r>
          </a:p>
          <a:p>
            <a:pPr lvl="8">
              <a:spcBef>
                <a:spcPct val="0"/>
              </a:spcBef>
              <a:buClrTx/>
              <a:buFontTx/>
              <a:buNone/>
            </a:pPr>
            <a:r>
              <a:rPr lang="en-US" altLang="en-US" sz="1400" dirty="0">
                <a:cs typeface="Arial" panose="020B0604020202020204" pitchFamily="34" charset="0"/>
              </a:rPr>
              <a:t>L2:t2 = y – z</a:t>
            </a:r>
          </a:p>
          <a:p>
            <a:pPr lvl="8">
              <a:spcBef>
                <a:spcPct val="0"/>
              </a:spcBef>
              <a:buClrTx/>
              <a:buFontTx/>
              <a:buNone/>
            </a:pPr>
            <a:r>
              <a:rPr lang="en-US" altLang="en-US" sz="1400" dirty="0">
                <a:cs typeface="Arial" panose="020B0604020202020204" pitchFamily="34" charset="0"/>
              </a:rPr>
              <a:t>      x = t2</a:t>
            </a:r>
          </a:p>
          <a:p>
            <a:pPr lvl="8">
              <a:spcBef>
                <a:spcPct val="0"/>
              </a:spcBef>
              <a:buClrTx/>
              <a:buFontTx/>
              <a:buNone/>
            </a:pPr>
            <a:r>
              <a:rPr lang="en-US" altLang="en-US" sz="1400" dirty="0">
                <a:cs typeface="Arial" panose="020B0604020202020204" pitchFamily="34" charset="0"/>
              </a:rPr>
              <a:t>      </a:t>
            </a:r>
          </a:p>
          <a:p>
            <a:pPr lvl="8">
              <a:spcBef>
                <a:spcPct val="0"/>
              </a:spcBef>
              <a:buClrTx/>
              <a:buFontTx/>
              <a:buNone/>
            </a:pPr>
            <a:endParaRPr lang="en-US" altLang="en-US" sz="1600" dirty="0">
              <a:cs typeface="Arial" panose="020B0604020202020204" pitchFamily="34" charset="0"/>
            </a:endParaRPr>
          </a:p>
          <a:p>
            <a:pPr lvl="8">
              <a:spcBef>
                <a:spcPct val="0"/>
              </a:spcBef>
              <a:buClrTx/>
              <a:buFontTx/>
              <a:buNone/>
            </a:pPr>
            <a:endParaRPr lang="en-US" altLang="en-US" sz="1600" dirty="0">
              <a:cs typeface="Arial" panose="020B0604020202020204" pitchFamily="34" charset="0"/>
            </a:endParaRPr>
          </a:p>
          <a:p>
            <a:pPr eaLnBrk="1" hangingPunct="1">
              <a:spcBef>
                <a:spcPct val="0"/>
              </a:spcBef>
              <a:buClrTx/>
              <a:buSzTx/>
              <a:buFontTx/>
              <a:buNone/>
            </a:pPr>
            <a:endParaRPr lang="en-GB" altLang="en-US" sz="1600" dirty="0">
              <a:cs typeface="Arial" panose="020B0604020202020204" pitchFamily="34" charset="0"/>
            </a:endParaRPr>
          </a:p>
        </p:txBody>
      </p:sp>
      <p:sp>
        <p:nvSpPr>
          <p:cNvPr id="2" name="Left Arrow 1">
            <a:extLst>
              <a:ext uri="{FF2B5EF4-FFF2-40B4-BE49-F238E27FC236}">
                <a16:creationId xmlns:a16="http://schemas.microsoft.com/office/drawing/2014/main" id="{F3A3BEB1-2C0C-4FEC-B305-7E7CF1B67B54}"/>
              </a:ext>
            </a:extLst>
          </p:cNvPr>
          <p:cNvSpPr>
            <a:spLocks noChangeArrowheads="1"/>
          </p:cNvSpPr>
          <p:nvPr/>
        </p:nvSpPr>
        <p:spPr bwMode="auto">
          <a:xfrm>
            <a:off x="5121275" y="1066800"/>
            <a:ext cx="250825" cy="228600"/>
          </a:xfrm>
          <a:prstGeom prst="leftArrow">
            <a:avLst>
              <a:gd name="adj1" fmla="val 50000"/>
              <a:gd name="adj2" fmla="val 50122"/>
            </a:avLst>
          </a:prstGeom>
          <a:solidFill>
            <a:schemeClr val="accent1"/>
          </a:solidFill>
          <a:ln w="9525" algn="ctr">
            <a:solidFill>
              <a:schemeClr val="tx1"/>
            </a:solidFill>
            <a:round/>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endParaRPr lang="en-GB" altLang="en-US" sz="1800"/>
          </a:p>
        </p:txBody>
      </p:sp>
      <p:sp>
        <p:nvSpPr>
          <p:cNvPr id="3" name="TextBox 2">
            <a:extLst>
              <a:ext uri="{FF2B5EF4-FFF2-40B4-BE49-F238E27FC236}">
                <a16:creationId xmlns:a16="http://schemas.microsoft.com/office/drawing/2014/main" id="{C2840E2D-F5DE-4654-A7DC-E8C4683E6524}"/>
              </a:ext>
            </a:extLst>
          </p:cNvPr>
          <p:cNvSpPr txBox="1">
            <a:spLocks noChangeArrowheads="1"/>
          </p:cNvSpPr>
          <p:nvPr/>
        </p:nvSpPr>
        <p:spPr bwMode="auto">
          <a:xfrm>
            <a:off x="381000" y="1978503"/>
            <a:ext cx="3144838" cy="369887"/>
          </a:xfrm>
          <a:prstGeom prst="rect">
            <a:avLst/>
          </a:prstGeom>
          <a:noFill/>
          <a:ln w="317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b="1" dirty="0">
                <a:cs typeface="Arial" panose="020B0604020202020204" pitchFamily="34" charset="0"/>
              </a:rPr>
              <a:t>Semantic rules</a:t>
            </a:r>
          </a:p>
        </p:txBody>
      </p:sp>
      <p:pic>
        <p:nvPicPr>
          <p:cNvPr id="48133" name="Picture 3">
            <a:extLst>
              <a:ext uri="{FF2B5EF4-FFF2-40B4-BE49-F238E27FC236}">
                <a16:creationId xmlns:a16="http://schemas.microsoft.com/office/drawing/2014/main" id="{9B1F6D2D-6D07-4480-8EA5-786BAF59F4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353310"/>
            <a:ext cx="4038600" cy="139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48133"/>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P spid="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7">
            <a:extLst>
              <a:ext uri="{FF2B5EF4-FFF2-40B4-BE49-F238E27FC236}">
                <a16:creationId xmlns:a16="http://schemas.microsoft.com/office/drawing/2014/main" id="{41CA9643-F6D7-4488-8DD9-32EF383A6F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350838"/>
            <a:ext cx="6934200" cy="2544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Left Arrow 1">
            <a:extLst>
              <a:ext uri="{FF2B5EF4-FFF2-40B4-BE49-F238E27FC236}">
                <a16:creationId xmlns:a16="http://schemas.microsoft.com/office/drawing/2014/main" id="{C3549100-8462-4394-BEB5-4B5BDA19F989}"/>
              </a:ext>
            </a:extLst>
          </p:cNvPr>
          <p:cNvSpPr>
            <a:spLocks noChangeArrowheads="1"/>
          </p:cNvSpPr>
          <p:nvPr/>
        </p:nvSpPr>
        <p:spPr bwMode="auto">
          <a:xfrm>
            <a:off x="4267200" y="371475"/>
            <a:ext cx="250825" cy="228600"/>
          </a:xfrm>
          <a:prstGeom prst="leftArrow">
            <a:avLst>
              <a:gd name="adj1" fmla="val 50000"/>
              <a:gd name="adj2" fmla="val 50122"/>
            </a:avLst>
          </a:prstGeom>
          <a:solidFill>
            <a:schemeClr val="accent1"/>
          </a:solidFill>
          <a:ln w="9525" algn="ctr">
            <a:solidFill>
              <a:schemeClr val="tx1"/>
            </a:solidFill>
            <a:round/>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endParaRPr lang="en-GB" altLang="en-US" sz="1800"/>
          </a:p>
        </p:txBody>
      </p:sp>
      <p:sp>
        <p:nvSpPr>
          <p:cNvPr id="3" name="TextBox 2">
            <a:extLst>
              <a:ext uri="{FF2B5EF4-FFF2-40B4-BE49-F238E27FC236}">
                <a16:creationId xmlns:a16="http://schemas.microsoft.com/office/drawing/2014/main" id="{7E26B668-70B1-44FD-9B65-10CC850BA3C6}"/>
              </a:ext>
            </a:extLst>
          </p:cNvPr>
          <p:cNvSpPr txBox="1">
            <a:spLocks noChangeArrowheads="1"/>
          </p:cNvSpPr>
          <p:nvPr/>
        </p:nvSpPr>
        <p:spPr bwMode="auto">
          <a:xfrm>
            <a:off x="360363" y="2089150"/>
            <a:ext cx="3144837" cy="369888"/>
          </a:xfrm>
          <a:prstGeom prst="rect">
            <a:avLst/>
          </a:prstGeom>
          <a:solidFill>
            <a:schemeClr val="bg1"/>
          </a:solidFill>
          <a:ln w="3175">
            <a:solidFill>
              <a:schemeClr val="bg1"/>
            </a:solidFill>
            <a:miter lim="800000"/>
            <a:headEnd/>
            <a:tailEnd/>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b="1">
                <a:cs typeface="Arial" panose="020B0604020202020204" pitchFamily="34" charset="0"/>
              </a:rPr>
              <a:t>Semantic rules</a:t>
            </a:r>
          </a:p>
        </p:txBody>
      </p:sp>
      <p:pic>
        <p:nvPicPr>
          <p:cNvPr id="49157" name="Picture 2">
            <a:extLst>
              <a:ext uri="{FF2B5EF4-FFF2-40B4-BE49-F238E27FC236}">
                <a16:creationId xmlns:a16="http://schemas.microsoft.com/office/drawing/2014/main" id="{08FE372B-5FA2-43DF-9247-92DCDD18AD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 y="2590800"/>
            <a:ext cx="4710113" cy="157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146260BE-C1C5-4103-B150-E6BF143F07F9}"/>
              </a:ext>
            </a:extLst>
          </p:cNvPr>
          <p:cNvSpPr txBox="1">
            <a:spLocks noChangeArrowheads="1"/>
          </p:cNvSpPr>
          <p:nvPr/>
        </p:nvSpPr>
        <p:spPr bwMode="auto">
          <a:xfrm>
            <a:off x="4446587" y="2459038"/>
            <a:ext cx="4687888" cy="4124206"/>
          </a:xfrm>
          <a:prstGeom prst="rect">
            <a:avLst/>
          </a:prstGeom>
          <a:noFill/>
          <a:ln w="317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b="1" dirty="0">
                <a:cs typeface="Arial" panose="020B0604020202020204" pitchFamily="34" charset="0"/>
              </a:rPr>
              <a:t>Attributes</a:t>
            </a:r>
          </a:p>
          <a:p>
            <a:pPr eaLnBrk="1" hangingPunct="1">
              <a:spcBef>
                <a:spcPct val="0"/>
              </a:spcBef>
              <a:buClrTx/>
              <a:buSzTx/>
              <a:buFontTx/>
              <a:buNone/>
            </a:pPr>
            <a:r>
              <a:rPr lang="en-US" altLang="en-US" sz="1200" dirty="0">
                <a:cs typeface="Arial" panose="020B0604020202020204" pitchFamily="34" charset="0"/>
              </a:rPr>
              <a:t>begin = </a:t>
            </a:r>
            <a:r>
              <a:rPr lang="en-US" altLang="en-US" sz="1200" dirty="0" err="1">
                <a:cs typeface="Arial" panose="020B0604020202020204" pitchFamily="34" charset="0"/>
              </a:rPr>
              <a:t>newlabel</a:t>
            </a:r>
            <a:r>
              <a:rPr lang="en-US" altLang="en-US" sz="1200" dirty="0">
                <a:cs typeface="Arial" panose="020B0604020202020204" pitchFamily="34" charset="0"/>
              </a:rPr>
              <a:t>()   -&gt; L3</a:t>
            </a:r>
          </a:p>
          <a:p>
            <a:pPr eaLnBrk="1" hangingPunct="1">
              <a:spcBef>
                <a:spcPct val="0"/>
              </a:spcBef>
              <a:buClrTx/>
              <a:buSzTx/>
              <a:buFontTx/>
              <a:buNone/>
            </a:pPr>
            <a:r>
              <a:rPr lang="en-US" altLang="en-US" sz="1200" dirty="0" err="1">
                <a:cs typeface="Arial" panose="020B0604020202020204" pitchFamily="34" charset="0"/>
              </a:rPr>
              <a:t>B.true</a:t>
            </a:r>
            <a:r>
              <a:rPr lang="en-US" altLang="en-US" sz="1200" dirty="0">
                <a:cs typeface="Arial" panose="020B0604020202020204" pitchFamily="34" charset="0"/>
              </a:rPr>
              <a:t>= </a:t>
            </a:r>
            <a:r>
              <a:rPr lang="en-US" altLang="en-US" sz="1200" dirty="0" err="1">
                <a:cs typeface="Arial" panose="020B0604020202020204" pitchFamily="34" charset="0"/>
              </a:rPr>
              <a:t>newlabel</a:t>
            </a:r>
            <a:r>
              <a:rPr lang="en-US" altLang="en-US" sz="1200" dirty="0">
                <a:cs typeface="Arial" panose="020B0604020202020204" pitchFamily="34" charset="0"/>
              </a:rPr>
              <a:t>()    -&gt; L4</a:t>
            </a:r>
          </a:p>
          <a:p>
            <a:pPr eaLnBrk="1" hangingPunct="1">
              <a:spcBef>
                <a:spcPct val="0"/>
              </a:spcBef>
              <a:buClrTx/>
              <a:buSzTx/>
              <a:buFontTx/>
              <a:buNone/>
            </a:pPr>
            <a:r>
              <a:rPr lang="en-US" altLang="en-US" sz="1200" dirty="0" err="1">
                <a:cs typeface="Arial" panose="020B0604020202020204" pitchFamily="34" charset="0"/>
              </a:rPr>
              <a:t>B.False</a:t>
            </a:r>
            <a:r>
              <a:rPr lang="en-US" altLang="en-US" sz="1200" dirty="0">
                <a:cs typeface="Arial" panose="020B0604020202020204" pitchFamily="34" charset="0"/>
              </a:rPr>
              <a:t> = </a:t>
            </a:r>
            <a:r>
              <a:rPr lang="en-US" altLang="en-US" sz="1200" dirty="0" err="1">
                <a:cs typeface="Arial" panose="020B0604020202020204" pitchFamily="34" charset="0"/>
              </a:rPr>
              <a:t>S.next</a:t>
            </a:r>
            <a:endParaRPr lang="en-US" altLang="en-US" sz="1200" dirty="0">
              <a:cs typeface="Arial" panose="020B0604020202020204" pitchFamily="34" charset="0"/>
            </a:endParaRPr>
          </a:p>
          <a:p>
            <a:pPr eaLnBrk="1" hangingPunct="1">
              <a:spcBef>
                <a:spcPct val="0"/>
              </a:spcBef>
              <a:buClrTx/>
              <a:buSzTx/>
              <a:buFontTx/>
              <a:buNone/>
            </a:pPr>
            <a:r>
              <a:rPr lang="en-US" altLang="en-US" sz="1200" dirty="0">
                <a:cs typeface="Arial" panose="020B0604020202020204" pitchFamily="34" charset="0"/>
              </a:rPr>
              <a:t>S1.next = begin = L3  =&gt;  S2.next = S3.next = L3</a:t>
            </a:r>
          </a:p>
          <a:p>
            <a:pPr eaLnBrk="1" hangingPunct="1">
              <a:spcBef>
                <a:spcPct val="0"/>
              </a:spcBef>
              <a:buClrTx/>
              <a:buSzTx/>
              <a:buFontTx/>
              <a:buNone/>
            </a:pPr>
            <a:r>
              <a:rPr lang="en-US" altLang="en-US" sz="1200" dirty="0" err="1">
                <a:cs typeface="Arial" panose="020B0604020202020204" pitchFamily="34" charset="0"/>
              </a:rPr>
              <a:t>S.code</a:t>
            </a:r>
            <a:endParaRPr lang="en-US" altLang="en-US" sz="1200" dirty="0">
              <a:cs typeface="Arial" panose="020B0604020202020204" pitchFamily="34" charset="0"/>
            </a:endParaRPr>
          </a:p>
          <a:p>
            <a:pPr eaLnBrk="1" hangingPunct="1">
              <a:spcBef>
                <a:spcPct val="0"/>
              </a:spcBef>
              <a:buClrTx/>
              <a:buSzTx/>
              <a:buFontTx/>
              <a:buNone/>
            </a:pPr>
            <a:r>
              <a:rPr lang="en-US" altLang="en-US" sz="1200" dirty="0">
                <a:cs typeface="Arial" panose="020B0604020202020204" pitchFamily="34" charset="0"/>
              </a:rPr>
              <a:t>L3: if a&lt; b </a:t>
            </a:r>
            <a:r>
              <a:rPr lang="en-US" altLang="en-US" sz="1200" dirty="0" err="1">
                <a:cs typeface="Arial" panose="020B0604020202020204" pitchFamily="34" charset="0"/>
              </a:rPr>
              <a:t>goto</a:t>
            </a:r>
            <a:r>
              <a:rPr lang="en-US" altLang="en-US" sz="1200" dirty="0">
                <a:cs typeface="Arial" panose="020B0604020202020204" pitchFamily="34" charset="0"/>
              </a:rPr>
              <a:t> L4</a:t>
            </a:r>
          </a:p>
          <a:p>
            <a:pPr eaLnBrk="1" hangingPunct="1">
              <a:spcBef>
                <a:spcPct val="0"/>
              </a:spcBef>
              <a:buClrTx/>
              <a:buSzTx/>
              <a:buFontTx/>
              <a:buNone/>
            </a:pPr>
            <a:r>
              <a:rPr lang="en-US" altLang="en-US" sz="1200" dirty="0">
                <a:cs typeface="Arial" panose="020B0604020202020204" pitchFamily="34" charset="0"/>
              </a:rPr>
              <a:t>       </a:t>
            </a:r>
            <a:r>
              <a:rPr lang="en-US" altLang="en-US" sz="1200" dirty="0" err="1">
                <a:cs typeface="Arial" panose="020B0604020202020204" pitchFamily="34" charset="0"/>
              </a:rPr>
              <a:t>goto</a:t>
            </a:r>
            <a:r>
              <a:rPr lang="en-US" altLang="en-US" sz="1200" dirty="0">
                <a:cs typeface="Arial" panose="020B0604020202020204" pitchFamily="34" charset="0"/>
              </a:rPr>
              <a:t> L0</a:t>
            </a:r>
          </a:p>
          <a:p>
            <a:pPr eaLnBrk="1" hangingPunct="1">
              <a:spcBef>
                <a:spcPct val="0"/>
              </a:spcBef>
              <a:buClrTx/>
              <a:buSzTx/>
              <a:buFontTx/>
              <a:buNone/>
            </a:pPr>
            <a:r>
              <a:rPr lang="en-US" altLang="en-US" sz="1200" dirty="0">
                <a:cs typeface="Arial" panose="020B0604020202020204" pitchFamily="34" charset="0"/>
              </a:rPr>
              <a:t>L4: if c &lt; d </a:t>
            </a:r>
            <a:r>
              <a:rPr lang="en-US" altLang="en-US" sz="1200" dirty="0" err="1">
                <a:cs typeface="Arial" panose="020B0604020202020204" pitchFamily="34" charset="0"/>
              </a:rPr>
              <a:t>goto</a:t>
            </a:r>
            <a:r>
              <a:rPr lang="en-US" altLang="en-US" sz="1200" dirty="0">
                <a:cs typeface="Arial" panose="020B0604020202020204" pitchFamily="34" charset="0"/>
              </a:rPr>
              <a:t> L1</a:t>
            </a:r>
          </a:p>
          <a:p>
            <a:pPr eaLnBrk="1" hangingPunct="1">
              <a:spcBef>
                <a:spcPct val="0"/>
              </a:spcBef>
              <a:buClrTx/>
              <a:buSzTx/>
              <a:buFontTx/>
              <a:buNone/>
            </a:pPr>
            <a:r>
              <a:rPr lang="en-US" altLang="en-US" sz="1200" dirty="0">
                <a:cs typeface="Arial" panose="020B0604020202020204" pitchFamily="34" charset="0"/>
              </a:rPr>
              <a:t>      </a:t>
            </a:r>
            <a:r>
              <a:rPr lang="en-US" altLang="en-US" sz="1200" dirty="0" err="1">
                <a:cs typeface="Arial" panose="020B0604020202020204" pitchFamily="34" charset="0"/>
              </a:rPr>
              <a:t>goto</a:t>
            </a:r>
            <a:r>
              <a:rPr lang="en-US" altLang="en-US" sz="1200" dirty="0">
                <a:cs typeface="Arial" panose="020B0604020202020204" pitchFamily="34" charset="0"/>
              </a:rPr>
              <a:t> L2</a:t>
            </a:r>
          </a:p>
          <a:p>
            <a:pPr eaLnBrk="1" hangingPunct="1">
              <a:spcBef>
                <a:spcPct val="0"/>
              </a:spcBef>
              <a:buClrTx/>
              <a:buSzTx/>
              <a:buFontTx/>
              <a:buNone/>
            </a:pPr>
            <a:r>
              <a:rPr lang="en-US" altLang="en-US" sz="1200" dirty="0">
                <a:cs typeface="Arial" panose="020B0604020202020204" pitchFamily="34" charset="0"/>
              </a:rPr>
              <a:t>L1: t1= y + z</a:t>
            </a:r>
          </a:p>
          <a:p>
            <a:pPr eaLnBrk="1" hangingPunct="1">
              <a:spcBef>
                <a:spcPct val="0"/>
              </a:spcBef>
              <a:buClrTx/>
              <a:buSzTx/>
              <a:buFontTx/>
              <a:buNone/>
            </a:pPr>
            <a:r>
              <a:rPr lang="en-US" altLang="en-US" sz="1200" dirty="0">
                <a:cs typeface="Arial" panose="020B0604020202020204" pitchFamily="34" charset="0"/>
              </a:rPr>
              <a:t>      x = t1 </a:t>
            </a:r>
          </a:p>
          <a:p>
            <a:pPr eaLnBrk="1" hangingPunct="1">
              <a:spcBef>
                <a:spcPct val="0"/>
              </a:spcBef>
              <a:buClrTx/>
              <a:buSzTx/>
              <a:buFontTx/>
              <a:buNone/>
            </a:pPr>
            <a:r>
              <a:rPr lang="en-US" altLang="en-US" sz="1200" dirty="0">
                <a:cs typeface="Arial" panose="020B0604020202020204" pitchFamily="34" charset="0"/>
              </a:rPr>
              <a:t>      </a:t>
            </a:r>
            <a:r>
              <a:rPr lang="en-US" altLang="en-US" sz="1200" dirty="0" err="1">
                <a:cs typeface="Arial" panose="020B0604020202020204" pitchFamily="34" charset="0"/>
              </a:rPr>
              <a:t>goto</a:t>
            </a:r>
            <a:r>
              <a:rPr lang="en-US" altLang="en-US" sz="1200" dirty="0">
                <a:cs typeface="Arial" panose="020B0604020202020204" pitchFamily="34" charset="0"/>
              </a:rPr>
              <a:t> L3 </a:t>
            </a:r>
          </a:p>
          <a:p>
            <a:pPr eaLnBrk="1" hangingPunct="1">
              <a:spcBef>
                <a:spcPct val="0"/>
              </a:spcBef>
              <a:buClrTx/>
              <a:buSzTx/>
              <a:buFontTx/>
              <a:buNone/>
            </a:pPr>
            <a:r>
              <a:rPr lang="en-US" altLang="en-US" sz="1200" dirty="0">
                <a:cs typeface="Arial" panose="020B0604020202020204" pitchFamily="34" charset="0"/>
              </a:rPr>
              <a:t>L2:t2 = y – z</a:t>
            </a:r>
          </a:p>
          <a:p>
            <a:pPr eaLnBrk="1" hangingPunct="1">
              <a:spcBef>
                <a:spcPct val="0"/>
              </a:spcBef>
              <a:buClrTx/>
              <a:buSzTx/>
              <a:buFontTx/>
              <a:buNone/>
            </a:pPr>
            <a:r>
              <a:rPr lang="en-US" altLang="en-US" sz="1200" dirty="0">
                <a:cs typeface="Arial" panose="020B0604020202020204" pitchFamily="34" charset="0"/>
              </a:rPr>
              <a:t>      x = t1 </a:t>
            </a:r>
          </a:p>
          <a:p>
            <a:pPr eaLnBrk="1" hangingPunct="1">
              <a:spcBef>
                <a:spcPct val="0"/>
              </a:spcBef>
              <a:buClrTx/>
              <a:buSzTx/>
              <a:buFontTx/>
              <a:buNone/>
            </a:pPr>
            <a:r>
              <a:rPr lang="en-US" altLang="en-US" sz="1200" dirty="0">
                <a:cs typeface="Arial" panose="020B0604020202020204" pitchFamily="34" charset="0"/>
              </a:rPr>
              <a:t> </a:t>
            </a:r>
            <a:r>
              <a:rPr lang="en-US" altLang="en-US" sz="1200" dirty="0" err="1">
                <a:cs typeface="Arial" panose="020B0604020202020204" pitchFamily="34" charset="0"/>
              </a:rPr>
              <a:t>goto</a:t>
            </a:r>
            <a:r>
              <a:rPr lang="en-US" altLang="en-US" sz="1200" dirty="0">
                <a:cs typeface="Arial" panose="020B0604020202020204" pitchFamily="34" charset="0"/>
              </a:rPr>
              <a:t> L3</a:t>
            </a:r>
          </a:p>
          <a:p>
            <a:pPr eaLnBrk="1" hangingPunct="1">
              <a:spcBef>
                <a:spcPct val="0"/>
              </a:spcBef>
              <a:buClrTx/>
              <a:buSzTx/>
              <a:buFontTx/>
              <a:buNone/>
            </a:pPr>
            <a:r>
              <a:rPr lang="en-US" altLang="en-US" sz="1400" dirty="0">
                <a:cs typeface="Arial" panose="020B0604020202020204" pitchFamily="34" charset="0"/>
              </a:rPr>
              <a:t>Label L0 will appear in the intermediate program after generating code using semantic rules of production S </a:t>
            </a:r>
            <a:r>
              <a:rPr lang="en-US" altLang="en-US" sz="1400" dirty="0">
                <a:cs typeface="Arial" panose="020B0604020202020204" pitchFamily="34" charset="0"/>
                <a:sym typeface="Symbol" panose="05050102010706020507" pitchFamily="18" charset="2"/>
              </a:rPr>
              <a:t> S</a:t>
            </a:r>
            <a:r>
              <a:rPr lang="en-US" altLang="en-US" sz="1400" baseline="-25000" dirty="0">
                <a:cs typeface="Arial" panose="020B0604020202020204" pitchFamily="34" charset="0"/>
                <a:sym typeface="Symbol" panose="05050102010706020507" pitchFamily="18" charset="2"/>
              </a:rPr>
              <a:t>1</a:t>
            </a:r>
            <a:r>
              <a:rPr lang="en-US" altLang="en-US" sz="1400" dirty="0">
                <a:cs typeface="Arial" panose="020B0604020202020204" pitchFamily="34" charset="0"/>
                <a:sym typeface="Symbol" panose="05050102010706020507" pitchFamily="18" charset="2"/>
              </a:rPr>
              <a:t>S</a:t>
            </a:r>
            <a:r>
              <a:rPr lang="en-US" altLang="en-US" sz="1400" baseline="-25000" dirty="0">
                <a:cs typeface="Arial" panose="020B0604020202020204" pitchFamily="34" charset="0"/>
                <a:sym typeface="Symbol" panose="05050102010706020507" pitchFamily="18" charset="2"/>
              </a:rPr>
              <a:t>2</a:t>
            </a:r>
            <a:endParaRPr lang="en-US" altLang="en-US" sz="1400" baseline="-25000" dirty="0">
              <a:cs typeface="Arial" panose="020B0604020202020204" pitchFamily="34" charset="0"/>
            </a:endParaRPr>
          </a:p>
          <a:p>
            <a:pPr eaLnBrk="1" hangingPunct="1">
              <a:spcBef>
                <a:spcPct val="0"/>
              </a:spcBef>
              <a:buClrTx/>
              <a:buSzTx/>
              <a:buFontTx/>
              <a:buNone/>
            </a:pPr>
            <a:endParaRPr lang="en-GB" altLang="en-US" sz="1600" dirty="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49157"/>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p:bldLst>
  </p:timing>
</p:sld>
</file>

<file path=ppt/theme/theme1.xml><?xml version="1.0" encoding="utf-8"?>
<a:theme xmlns:a="http://schemas.openxmlformats.org/drawingml/2006/main" name="SoICT-PPT-template-hoi-thao-onlin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SoICT-PPT-template-hoi-thao-online</Template>
  <TotalTime>9208</TotalTime>
  <Words>3051</Words>
  <Application>Microsoft Office PowerPoint</Application>
  <PresentationFormat>On-screen Show (4:3)</PresentationFormat>
  <Paragraphs>428</Paragraphs>
  <Slides>45</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Wingdings</vt:lpstr>
      <vt:lpstr>Arial Black</vt:lpstr>
      <vt:lpstr>Times New Roman</vt:lpstr>
      <vt:lpstr>MS PGothic</vt:lpstr>
      <vt:lpstr>Symbol</vt:lpstr>
      <vt:lpstr>Verdana</vt:lpstr>
      <vt:lpstr>SoICT-PPT-template-hoi-thao-online</vt:lpstr>
      <vt:lpstr>Unit 11  Intermediate Code Generation</vt:lpstr>
      <vt:lpstr>Summary</vt:lpstr>
      <vt:lpstr>Introduction</vt:lpstr>
      <vt:lpstr>Benefits of Intermediate Code</vt:lpstr>
      <vt:lpstr>Intermediate Code </vt:lpstr>
      <vt:lpstr>Intermediate Code </vt:lpstr>
      <vt:lpstr>Three Address Code of t: =x + y * z</vt:lpstr>
      <vt:lpstr>Types of Three-Address Statements</vt:lpstr>
      <vt:lpstr>Types of Three-Address Statements</vt:lpstr>
      <vt:lpstr>Syntax Directed Definition into Three Address Code</vt:lpstr>
      <vt:lpstr>SDD to Produce Three Address Code for Assignments</vt:lpstr>
      <vt:lpstr>Three Address Code of  a := b * -c + d</vt:lpstr>
      <vt:lpstr>Implementation of Three Address Statements</vt:lpstr>
      <vt:lpstr>Implementation of Three Address Statements</vt:lpstr>
      <vt:lpstr>More Triple Representations</vt:lpstr>
      <vt:lpstr>Implementation of Three Address Statements</vt:lpstr>
      <vt:lpstr>Intermediate Code for Declarations</vt:lpstr>
      <vt:lpstr>Keeping track of scope information</vt:lpstr>
      <vt:lpstr>Nested procedures for quick sorting</vt:lpstr>
      <vt:lpstr>Five Symbol Tables of Sort</vt:lpstr>
      <vt:lpstr>Procedures of semantic rules </vt:lpstr>
      <vt:lpstr>Declaration Processing in Nested Procedures</vt:lpstr>
      <vt:lpstr>Syntax directed definition for assignment statements</vt:lpstr>
      <vt:lpstr>Names in the symbol table</vt:lpstr>
      <vt:lpstr>Names in the symbol table (cont’d)</vt:lpstr>
      <vt:lpstr>Addressing array element</vt:lpstr>
      <vt:lpstr>Layouts for a two dimensional array</vt:lpstr>
      <vt:lpstr>Layouts for a two dimensional array</vt:lpstr>
      <vt:lpstr>Boolean Expressions</vt:lpstr>
      <vt:lpstr>Numerical Representation of Boolean Expressions</vt:lpstr>
      <vt:lpstr>Jumping Code for Boolean Expressions </vt:lpstr>
      <vt:lpstr>Translating Boolean expressions</vt:lpstr>
      <vt:lpstr>Translating Boolean expressions</vt:lpstr>
      <vt:lpstr>Flow-of-Control Statements</vt:lpstr>
      <vt:lpstr>Flow of Control Statements</vt:lpstr>
      <vt:lpstr>SDT for flow of control statements</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Tel 0915 152 158</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 COSTRUCTION</dc:title>
  <dc:creator>huongnt</dc:creator>
  <cp:lastModifiedBy>Nguyen Thi Thu Huong</cp:lastModifiedBy>
  <cp:revision>409</cp:revision>
  <dcterms:created xsi:type="dcterms:W3CDTF">2008-08-10T02:45:21Z</dcterms:created>
  <dcterms:modified xsi:type="dcterms:W3CDTF">2021-01-19T14:19:20Z</dcterms:modified>
</cp:coreProperties>
</file>