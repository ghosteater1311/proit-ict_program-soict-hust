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notesMasterIdLst>
    <p:notesMasterId r:id="rId24"/>
  </p:notesMasterIdLst>
  <p:sldIdLst>
    <p:sldId id="355" r:id="rId2"/>
    <p:sldId id="389" r:id="rId3"/>
    <p:sldId id="384" r:id="rId4"/>
    <p:sldId id="385" r:id="rId5"/>
    <p:sldId id="391" r:id="rId6"/>
    <p:sldId id="386" r:id="rId7"/>
    <p:sldId id="387" r:id="rId8"/>
    <p:sldId id="390" r:id="rId9"/>
    <p:sldId id="392" r:id="rId10"/>
    <p:sldId id="372" r:id="rId11"/>
    <p:sldId id="380" r:id="rId12"/>
    <p:sldId id="262" r:id="rId13"/>
    <p:sldId id="381" r:id="rId14"/>
    <p:sldId id="371" r:id="rId15"/>
    <p:sldId id="373" r:id="rId16"/>
    <p:sldId id="374" r:id="rId17"/>
    <p:sldId id="375" r:id="rId18"/>
    <p:sldId id="376" r:id="rId19"/>
    <p:sldId id="377" r:id="rId20"/>
    <p:sldId id="378" r:id="rId21"/>
    <p:sldId id="382" r:id="rId22"/>
    <p:sldId id="383" r:id="rId23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915" autoAdjust="0"/>
  </p:normalViewPr>
  <p:slideViewPr>
    <p:cSldViewPr>
      <p:cViewPr varScale="1">
        <p:scale>
          <a:sx n="52" d="100"/>
          <a:sy n="52" d="100"/>
        </p:scale>
        <p:origin x="1248" y="4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36B395D9-338D-46EA-BA8F-11A50FAEE9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363EA1B-D33E-458D-8CCB-0C355045D7D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C7F8E7A8-97D4-4DF1-8862-863881F0E94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0E59BC76-0191-45BB-8711-952B061328F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3798" name="Rectangle 6">
            <a:extLst>
              <a:ext uri="{FF2B5EF4-FFF2-40B4-BE49-F238E27FC236}">
                <a16:creationId xmlns:a16="http://schemas.microsoft.com/office/drawing/2014/main" id="{535CCCE8-B050-4C3A-9326-2D2B8C35DE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3799" name="Rectangle 7">
            <a:extLst>
              <a:ext uri="{FF2B5EF4-FFF2-40B4-BE49-F238E27FC236}">
                <a16:creationId xmlns:a16="http://schemas.microsoft.com/office/drawing/2014/main" id="{BFCCB471-73C2-4AC5-92BC-317AB06EDA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05C4A90D-AA3A-4E1F-B5DF-FADCC72A6E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inguistics.stackexchange.com/questions/414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pstag.dna.bio.keio.ac.jp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A999580-C9D0-4246-8F54-C17D2D5BB4F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Cpt S 317: Spring 2009</a:t>
            </a:r>
          </a:p>
        </p:txBody>
      </p:sp>
      <p:sp>
        <p:nvSpPr>
          <p:cNvPr id="13315" name="Rectangle 6">
            <a:extLst>
              <a:ext uri="{FF2B5EF4-FFF2-40B4-BE49-F238E27FC236}">
                <a16:creationId xmlns:a16="http://schemas.microsoft.com/office/drawing/2014/main" id="{8498C738-D574-4211-B66E-631A2317FEC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School of EECS, WSU</a:t>
            </a:r>
          </a:p>
        </p:txBody>
      </p:sp>
      <p:sp>
        <p:nvSpPr>
          <p:cNvPr id="13316" name="Rectangle 7">
            <a:extLst>
              <a:ext uri="{FF2B5EF4-FFF2-40B4-BE49-F238E27FC236}">
                <a16:creationId xmlns:a16="http://schemas.microsoft.com/office/drawing/2014/main" id="{9885AF34-3BAC-45C2-8FEF-96C37F050F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705F57D-52B4-4F6B-AC48-840F75283E09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3515A611-4770-473C-AF4F-5FE63758BE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C6587E51-BE5A-421A-B3C8-99AEDA9B51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D565449-5EFF-4703-9121-E076A7E9246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Cpt S 317: Spring 2009</a:t>
            </a:r>
          </a:p>
        </p:txBody>
      </p:sp>
      <p:sp>
        <p:nvSpPr>
          <p:cNvPr id="17411" name="Rectangle 6">
            <a:extLst>
              <a:ext uri="{FF2B5EF4-FFF2-40B4-BE49-F238E27FC236}">
                <a16:creationId xmlns:a16="http://schemas.microsoft.com/office/drawing/2014/main" id="{7A7CD646-BC77-46B4-B87A-E0178E89C2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School of EECS, WSU</a:t>
            </a:r>
          </a:p>
        </p:txBody>
      </p:sp>
      <p:sp>
        <p:nvSpPr>
          <p:cNvPr id="17412" name="Rectangle 7">
            <a:extLst>
              <a:ext uri="{FF2B5EF4-FFF2-40B4-BE49-F238E27FC236}">
                <a16:creationId xmlns:a16="http://schemas.microsoft.com/office/drawing/2014/main" id="{C0232951-F0C7-406C-B5AE-ACCA0EB55D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442CCDD-1559-4BF2-8864-7C645C7A9CA6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7413" name="Rectangle 2">
            <a:extLst>
              <a:ext uri="{FF2B5EF4-FFF2-40B4-BE49-F238E27FC236}">
                <a16:creationId xmlns:a16="http://schemas.microsoft.com/office/drawing/2014/main" id="{C2914B96-15E8-4677-8FAB-48D9D52621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4" name="Rectangle 3">
            <a:extLst>
              <a:ext uri="{FF2B5EF4-FFF2-40B4-BE49-F238E27FC236}">
                <a16:creationId xmlns:a16="http://schemas.microsoft.com/office/drawing/2014/main" id="{477A38CF-3A20-4B17-937E-417333F75FA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4737470-112F-4759-B6C3-6E82A6CFCCD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Cpt S 317: Spring 2009</a:t>
            </a:r>
          </a:p>
        </p:txBody>
      </p:sp>
      <p:sp>
        <p:nvSpPr>
          <p:cNvPr id="19459" name="Rectangle 6">
            <a:extLst>
              <a:ext uri="{FF2B5EF4-FFF2-40B4-BE49-F238E27FC236}">
                <a16:creationId xmlns:a16="http://schemas.microsoft.com/office/drawing/2014/main" id="{DD6B740D-35C3-4A1B-8B28-CDD7D1B985F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altLang="en-US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t>School of EECS, WSU</a:t>
            </a:r>
          </a:p>
        </p:txBody>
      </p:sp>
      <p:sp>
        <p:nvSpPr>
          <p:cNvPr id="19460" name="Rectangle 7">
            <a:extLst>
              <a:ext uri="{FF2B5EF4-FFF2-40B4-BE49-F238E27FC236}">
                <a16:creationId xmlns:a16="http://schemas.microsoft.com/office/drawing/2014/main" id="{F62E9916-6C6B-4911-B499-2A9B8243F52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4861255-48BD-4CD2-81C1-EF84CD758A82}" type="slidenum">
              <a:rPr lang="en-US" altLang="en-US" smtClean="0">
                <a:latin typeface="Arial" panose="020B0604020202020204" pitchFamily="34" charset="0"/>
                <a:ea typeface="MS PGothic" panose="020B0600070205080204" pitchFamily="34" charset="-128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 altLang="en-US">
              <a:latin typeface="Arial" panose="020B0604020202020204" pitchFamily="34" charset="0"/>
              <a:ea typeface="MS PGothic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19461" name="Rectangle 2">
            <a:extLst>
              <a:ext uri="{FF2B5EF4-FFF2-40B4-BE49-F238E27FC236}">
                <a16:creationId xmlns:a16="http://schemas.microsoft.com/office/drawing/2014/main" id="{E79AED4F-8F0B-4ECE-90E1-CCE8C6BC1A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2" name="Rectangle 3">
            <a:extLst>
              <a:ext uri="{FF2B5EF4-FFF2-40B4-BE49-F238E27FC236}">
                <a16:creationId xmlns:a16="http://schemas.microsoft.com/office/drawing/2014/main" id="{C4CFC35F-DF52-4420-B8DF-ADF79FE2F2F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fr-FR" altLang="en-US">
              <a:latin typeface="Arial" panose="020B0604020202020204" pitchFamily="34" charset="0"/>
              <a:ea typeface="MS PGothic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DCED4ECE-0AB9-4CD5-B2C3-53A17765EA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43AD2227-146D-456B-8CA7-C176ED778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altLang="en-US">
                <a:latin typeface="Arial" panose="020B0604020202020204" pitchFamily="34" charset="0"/>
              </a:rPr>
              <a:t>There are linguistics structures (such as </a:t>
            </a:r>
            <a:r>
              <a:rPr lang="en-GB" altLang="en-US">
                <a:latin typeface="Arial" panose="020B0604020202020204" pitchFamily="34" charset="0"/>
                <a:hlinkClick r:id="rId3"/>
              </a:rPr>
              <a:t>cross-serial dependency</a:t>
            </a:r>
            <a:r>
              <a:rPr lang="en-GB" altLang="en-US">
                <a:latin typeface="Arial" panose="020B0604020202020204" pitchFamily="34" charset="0"/>
              </a:rPr>
              <a:t>) that are not naturally expressed with CF languages. Thus scientists have been defining more powerful syntactics formalisms, such as tree-adjoining grammar (TAG)</a:t>
            </a:r>
          </a:p>
          <a:p>
            <a:r>
              <a:rPr lang="en-GB" altLang="en-US">
                <a:latin typeface="Arial" panose="020B0604020202020204" pitchFamily="34" charset="0"/>
              </a:rPr>
              <a:t> For example TAGs and equivalent formalism have been considered in biology the explain DNA structures related to specific types of</a:t>
            </a:r>
            <a:r>
              <a:rPr lang="en-GB" altLang="en-US">
                <a:latin typeface="Arial" panose="020B0604020202020204" pitchFamily="34" charset="0"/>
                <a:hlinkClick r:id="rId4"/>
              </a:rPr>
              <a:t>folding of DNA or RNA strands</a:t>
            </a:r>
            <a:r>
              <a:rPr lang="en-GB" altLang="en-US">
                <a:latin typeface="Arial" panose="020B0604020202020204" pitchFamily="34" charset="0"/>
              </a:rPr>
              <a:t>.</a:t>
            </a:r>
            <a:endParaRPr lang="fr-FR" altLang="en-US">
              <a:latin typeface="Arial" panose="020B0604020202020204" pitchFamily="34" charset="0"/>
            </a:endParaRPr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261C7526-2BBA-4BC8-8BFE-2C7257CB75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6B76918-B60D-4E76-A006-B253BDB22DE2}" type="slidenum">
              <a:rPr lang="en-US" altLang="en-US" smtClean="0">
                <a:latin typeface="Arial" panose="020B0604020202020204" pitchFamily="34" charset="0"/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561270-B476-4EB7-9978-D81399525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16E6EC-94D3-4BD2-82DC-F0BFF7B2D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8FA17F-F5C2-4B3C-AC76-7DBFA9751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15696611-6556-44A9-A155-611EEB8C8E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5780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46842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93851"/>
            <a:ext cx="7886700" cy="44831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578C94-A26D-41F1-BBF4-47A362B614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57950" y="6142038"/>
            <a:ext cx="2057400" cy="365125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348BF42-ED09-4484-BE04-F5B5BD52D3A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7372350" y="6413500"/>
            <a:ext cx="11430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11D8A6-3A71-4CF3-A89A-E5F5157376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93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23966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3227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3B9BC-A25A-403E-919A-105F94131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46B64-0E88-4A7F-88C6-4B1C2C883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ABC4A-A04F-413D-815D-7359D6940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96DFDF-E185-424C-9AAC-C6E15B5D74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101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28775"/>
            <a:ext cx="38862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4A50A2-BEA7-4A22-89AC-C7EF9A8B5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3CD0BDE-508E-4473-9DC4-7692843F9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6DF99C-E586-4F2D-8F66-065F6B0C2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7FB2D-11CC-4BA1-9558-794DD6B0494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2453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50370BD-3192-410C-9C97-8002EC946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4F3C6E9-8768-4F1B-AC95-7A9419DF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5BFD1A4-E32F-483F-939C-75F878E0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D79BBD-F305-4BA7-B446-B1D6DB39133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50093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6B3841A-5F54-4EA0-A293-963C5B94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9AED01C-B73B-4CC4-B412-576542EF1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BE9B30F-7E82-49BC-A7C1-BF6076589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47F9F3-E504-434A-BE6D-3763CD6DCF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9694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900" y="1781176"/>
            <a:ext cx="2711450" cy="4244974"/>
          </a:xfrm>
        </p:spPr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51FD7C-457A-47F1-9370-E96108CB1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60D45E-816D-402F-A28E-B634B6BAE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35F2B-9F92-4B70-AF08-9A267F5C1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F67B5B-8F0F-421E-9A03-BFB8E4C2A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2281931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C46CEB-A467-47D0-AC47-F5AB247E0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B44C8-C030-47E8-B536-CE490AE2E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059B97-8A27-47D6-ABE7-0E8020D87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966B3A-4DDF-4782-B963-75EB53BBE62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256124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424FFA0F-7921-4900-B5C7-A861100A56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F4E67D9-DA8B-48B4-8FAE-50678D909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399132D5-0523-4C69-A762-2C2ACC1F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DC77F2-AE1C-44BC-AE7B-0795EFE691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1094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B16653-8C16-443F-8C0A-E775A6FC0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B60C0-B4E6-4E68-965F-698D6D399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3F54D7-D6B3-4440-8497-7E2E0BE77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855D6E-71DE-4080-BEA5-1395443D8DD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69632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A6D9E-9A1A-4D39-9118-54CB4CC0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D82D30-D8A8-44E1-AB76-E74473016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11D9CD-8973-42AE-8A33-D5EE949B7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667AE0-A5F7-402B-8535-743E676772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10084329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457200"/>
            <a:ext cx="4629150" cy="54038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E5C8E91-03F6-4F3A-9938-0B32C056E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7EA3478-5FED-426A-8DF4-312BC48F5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AC617EE-F814-497E-940D-683027BE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0C45D7-FFF6-4472-B316-5E1BDC40462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804501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457200"/>
            <a:ext cx="4629150" cy="5403851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CN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3DB4460-8EEA-4383-9313-F2CDCDE70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B865B57-A277-47E7-ACF6-064C6E9A4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C27340D-6700-4DA8-9CE2-E14893FB2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2DB61-6503-4AEE-BAED-7F3B3FF73A8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672795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33DD29-C496-4D7C-ACD6-B54236F1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071A8A-739D-46A1-A6DB-157C40506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8B2B5-C965-40E7-B530-93184A973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0DE01B-6EA9-4574-A474-78019F5D19A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4518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497888-54B2-498D-A358-852297F7D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3D312-B737-4DB3-94B8-B57774EAF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B8349C-5742-4CC9-9E76-20BC67B6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7CB7B-6319-4CC3-B2E2-D14EE830D4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40791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4000500"/>
            <a:ext cx="4038600" cy="1866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861D391-5CE8-409F-AB96-3556606B59D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0B552DA6-939E-44F9-942F-4A2EDCBF680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D7B7EB-BF68-454D-BA1C-6A082A9A5F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8" name="Rectangle 16">
            <a:extLst>
              <a:ext uri="{FF2B5EF4-FFF2-40B4-BE49-F238E27FC236}">
                <a16:creationId xmlns:a16="http://schemas.microsoft.com/office/drawing/2014/main" id="{ACC32DD5-EAD7-44E7-8D3B-4805A895DA3D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08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8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C318AABA-93A2-43E5-B288-0535923504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155575"/>
            <a:ext cx="78867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  <a:endParaRPr lang="en-US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E9FA813-F396-4729-8D78-C909DAB4A2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25600"/>
            <a:ext cx="7886700" cy="446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2362E-62BD-4F02-9119-8D4A32038D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97750" y="6121400"/>
            <a:ext cx="1117600" cy="276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CFE063-E5B3-4144-ACBF-7FADC054B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87850" y="6432550"/>
            <a:ext cx="300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62EC1-6EA8-468F-8B6D-0D101B09C4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397750" y="6432550"/>
            <a:ext cx="1117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601E0E7A-54AA-4E30-BCAA-C0A2B40973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889" r:id="rId3"/>
    <p:sldLayoutId id="2147483890" r:id="rId4"/>
    <p:sldLayoutId id="2147483891" r:id="rId5"/>
    <p:sldLayoutId id="2147483892" r:id="rId6"/>
    <p:sldLayoutId id="2147483900" r:id="rId7"/>
    <p:sldLayoutId id="2147483901" r:id="rId8"/>
    <p:sldLayoutId id="2147483893" r:id="rId9"/>
    <p:sldLayoutId id="2147483902" r:id="rId10"/>
    <p:sldLayoutId id="2147483903" r:id="rId11"/>
    <p:sldLayoutId id="2147483894" r:id="rId12"/>
    <p:sldLayoutId id="2147483895" r:id="rId13"/>
    <p:sldLayoutId id="2147483896" r:id="rId14"/>
    <p:sldLayoutId id="2147483897" r:id="rId15"/>
    <p:sldLayoutId id="2147483904" r:id="rId16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0F5F8F1A-E957-41F5-B59D-381E56FD4C6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dirty="0"/>
              <a:t>Unit 3.</a:t>
            </a:r>
            <a:br>
              <a:rPr lang="en-US" altLang="en-US" dirty="0"/>
            </a:br>
            <a:r>
              <a:rPr lang="en-US" altLang="en-US" dirty="0"/>
              <a:t>Generative Grammars</a:t>
            </a:r>
          </a:p>
        </p:txBody>
      </p:sp>
      <p:sp>
        <p:nvSpPr>
          <p:cNvPr id="10243" name="Rectangle 18">
            <a:extLst>
              <a:ext uri="{FF2B5EF4-FFF2-40B4-BE49-F238E27FC236}">
                <a16:creationId xmlns:a16="http://schemas.microsoft.com/office/drawing/2014/main" id="{AFB318AA-1565-4702-80C4-29B2E8C891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E6BE764-7C2C-4C51-9640-967CA7CF0EDE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ECEED52D-5BD2-4C88-B09C-98303E9CA6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1066800"/>
          </a:xfrm>
        </p:spPr>
        <p:txBody>
          <a:bodyPr/>
          <a:lstStyle/>
          <a:p>
            <a:r>
              <a:rPr lang="en-US" altLang="en-US" sz="4000"/>
              <a:t>Basic concepts of languages theory</a:t>
            </a:r>
            <a:endParaRPr lang="en-GB" altLang="en-US" sz="4000"/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5A8C7FED-AB1F-4CF6-80E9-E2D4334C48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447800"/>
            <a:ext cx="8382000" cy="4419600"/>
          </a:xfrm>
        </p:spPr>
        <p:txBody>
          <a:bodyPr/>
          <a:lstStyle/>
          <a:p>
            <a:r>
              <a:rPr lang="en-GB" altLang="en-US">
                <a:solidFill>
                  <a:srgbClr val="FF0000"/>
                </a:solidFill>
              </a:rPr>
              <a:t>Parsing or syntactic analysis</a:t>
            </a:r>
            <a:r>
              <a:rPr lang="en-GB" altLang="en-US"/>
              <a:t> is the process of analyzing a </a:t>
            </a:r>
            <a:r>
              <a:rPr lang="en-GB" altLang="en-US">
                <a:solidFill>
                  <a:srgbClr val="FF0000"/>
                </a:solidFill>
              </a:rPr>
              <a:t>string</a:t>
            </a:r>
            <a:r>
              <a:rPr lang="en-GB" altLang="en-US"/>
              <a:t> of </a:t>
            </a:r>
            <a:r>
              <a:rPr lang="en-GB" altLang="en-US">
                <a:solidFill>
                  <a:srgbClr val="FF0000"/>
                </a:solidFill>
              </a:rPr>
              <a:t>symbols</a:t>
            </a:r>
            <a:r>
              <a:rPr lang="en-GB" altLang="en-US"/>
              <a:t>, either in natural languages or in computer languages, conforming to the rules of a </a:t>
            </a:r>
            <a:r>
              <a:rPr lang="en-GB" altLang="en-US">
                <a:solidFill>
                  <a:srgbClr val="FF0000"/>
                </a:solidFill>
              </a:rPr>
              <a:t>formal grammar.</a:t>
            </a:r>
          </a:p>
          <a:p>
            <a:r>
              <a:rPr lang="en-GB" altLang="en-US"/>
              <a:t>The </a:t>
            </a:r>
            <a:r>
              <a:rPr lang="en-GB" altLang="en-US">
                <a:solidFill>
                  <a:srgbClr val="FF0000"/>
                </a:solidFill>
              </a:rPr>
              <a:t>formal language theory </a:t>
            </a:r>
            <a:r>
              <a:rPr lang="en-GB" altLang="en-US"/>
              <a:t>considers a language as a mathematical object. </a:t>
            </a:r>
          </a:p>
          <a:p>
            <a:r>
              <a:rPr lang="en-GB" altLang="en-US"/>
              <a:t>A language is just a set of strings (sentences). To formally define a language we need to formally define what are the strings admitted by the language.</a:t>
            </a:r>
          </a:p>
        </p:txBody>
      </p:sp>
      <p:sp>
        <p:nvSpPr>
          <p:cNvPr id="11268" name="Slide Number Placeholder 3">
            <a:extLst>
              <a:ext uri="{FF2B5EF4-FFF2-40B4-BE49-F238E27FC236}">
                <a16:creationId xmlns:a16="http://schemas.microsoft.com/office/drawing/2014/main" id="{94AACFDE-105A-4637-9EB2-518EA34A1E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4B51BC94-E3EB-4E66-9B95-174D090207C6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E9E26B9F-FC25-40D1-9CF5-BFBAD0774F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Alphabet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503BEFD8-A444-4C8E-AE48-5632D04224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524000"/>
            <a:ext cx="8077200" cy="4191000"/>
          </a:xfrm>
        </p:spPr>
        <p:txBody>
          <a:bodyPr rtlCol="0">
            <a:normAutofit fontScale="85000" lnSpcReduction="20000"/>
          </a:bodyPr>
          <a:lstStyle/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u="sng">
                <a:solidFill>
                  <a:srgbClr val="FF0000"/>
                </a:solidFill>
              </a:rPr>
              <a:t>Symbol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i="1">
                <a:solidFill>
                  <a:srgbClr val="FF0000"/>
                </a:solidFill>
              </a:rPr>
              <a:t>	</a:t>
            </a:r>
            <a:r>
              <a:rPr lang="en-US" altLang="en-US"/>
              <a:t>A  physical entity that we shall not formally define; we shall rely on intuition.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u="sng">
                <a:solidFill>
                  <a:srgbClr val="FF0000"/>
                </a:solidFill>
              </a:rPr>
              <a:t>Alphabet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/>
              <a:t>A finite, non-empty set of symbols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sz="2000"/>
              <a:t>We often use the symbol ∑ (sigma) to denote an alphabet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sz="2000"/>
              <a:t>Examples of alphabet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000"/>
              <a:t>Binary: ∑ = {0,1}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000"/>
              <a:t>All lower case letters: ∑ = {a,b,c,..z}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000"/>
              <a:t>Alphanumeric: ∑ = {a-z, A-Z, 0-9}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000"/>
              <a:t>DNA molecule letters: ∑ = {a,c,g,t}(guanine, adenine, thymine, and cytosine)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000"/>
              <a:t>C character set </a:t>
            </a:r>
          </a:p>
          <a:p>
            <a:pPr lvl="1" fontAlgn="auto">
              <a:spcAft>
                <a:spcPts val="0"/>
              </a:spcAft>
              <a:defRPr/>
            </a:pPr>
            <a:r>
              <a:rPr lang="en-US" altLang="en-US" sz="2000"/>
              <a:t>KPL  token set.</a:t>
            </a:r>
          </a:p>
          <a:p>
            <a:pPr lvl="1" fontAlgn="auto">
              <a:spcAft>
                <a:spcPts val="0"/>
              </a:spcAft>
              <a:buFont typeface="Wingdings 2" panose="05020102010507070707" pitchFamily="18" charset="2"/>
              <a:buNone/>
              <a:defRPr/>
            </a:pP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4C756BF8-1889-4619-B5F0-EC671592CE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C character set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7EB8A4-C2CA-4BF9-ADC1-BE6206BD378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914400" y="1447800"/>
          <a:ext cx="7772400" cy="2422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latin typeface="Calibri"/>
                          <a:ea typeface="Calibri"/>
                          <a:cs typeface="Times New Roman"/>
                        </a:rPr>
                        <a:t>Types</a:t>
                      </a:r>
                      <a:endParaRPr lang="en-US" sz="16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7" marB="9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b="1">
                          <a:latin typeface="Calibri"/>
                          <a:ea typeface="Calibri"/>
                          <a:cs typeface="Times New Roman"/>
                        </a:rPr>
                        <a:t>Character Set</a:t>
                      </a:r>
                      <a:endParaRPr lang="en-US" sz="160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9525" marR="9525" marT="9527" marB="952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Lowercase Letters</a:t>
                      </a:r>
                    </a:p>
                  </a:txBody>
                  <a:tcPr marL="9525" marR="9525" marT="9527" marB="9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a –z</a:t>
                      </a:r>
                    </a:p>
                  </a:txBody>
                  <a:tcPr marL="9525" marR="9525" marT="9527" marB="95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Uppercase Letters</a:t>
                      </a:r>
                    </a:p>
                  </a:txBody>
                  <a:tcPr marL="9525" marR="9525" marT="9527" marB="9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A - Z</a:t>
                      </a:r>
                    </a:p>
                  </a:txBody>
                  <a:tcPr marL="9525" marR="9525" marT="9527" marB="95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Digits</a:t>
                      </a:r>
                    </a:p>
                  </a:txBody>
                  <a:tcPr marL="9525" marR="9525" marT="9527" marB="9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0-9</a:t>
                      </a:r>
                    </a:p>
                  </a:txBody>
                  <a:tcPr marL="9525" marR="9525" marT="9527" marB="95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783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Special Characters</a:t>
                      </a:r>
                    </a:p>
                  </a:txBody>
                  <a:tcPr marL="9525" marR="9525" marT="9527" marB="9527" anchor="ctr"/>
                </a:tc>
                <a:tc>
                  <a:txBody>
                    <a:bodyPr/>
                    <a:lstStyle/>
                    <a:p>
                      <a:r>
                        <a:rPr kumimoji="0"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~! # $%  ^ &amp;  *( )_ +|  \’ - =	  {  } []  : ” ; &lt; &gt;  ? , .  /</a:t>
                      </a:r>
                    </a:p>
                  </a:txBody>
                  <a:tcPr marL="9525" marR="9525" marT="9527" marB="95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latin typeface="Calibri"/>
                          <a:ea typeface="Calibri"/>
                          <a:cs typeface="Times New Roman"/>
                        </a:rPr>
                        <a:t>White Spaces</a:t>
                      </a:r>
                    </a:p>
                  </a:txBody>
                  <a:tcPr marL="9525" marR="9525" marT="9527" marB="9527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>
                          <a:latin typeface="Calibri"/>
                          <a:ea typeface="Calibri"/>
                          <a:cs typeface="Times New Roman"/>
                        </a:rPr>
                        <a:t>Tab Or New line Or Space</a:t>
                      </a:r>
                    </a:p>
                  </a:txBody>
                  <a:tcPr marL="9525" marR="9525" marT="9527" marB="952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E9AD3239-0B43-4D9F-8910-A699DAEB0C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Token set of KPL</a:t>
            </a:r>
            <a:endParaRPr lang="vi-VN" altLang="en-US"/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99CD9760-8161-489A-A452-D89A1B8DE746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en-US" sz="2200"/>
              <a:t>Identifiers, numbers, character constants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sz="2200"/>
              <a:t>Keywords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200"/>
              <a:t>	PROGRAM, CONST, TYPE, VAR, PROCEDURE, FUNCTION, BEGIN, END, ARRAY, OF, INTEGER, CHAR, CALL, IF, ELSE, WHILE, DO, FOR, TO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altLang="en-US" sz="2200"/>
              <a:t>Operators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200"/>
              <a:t>	:= (assign), + (addition), - (subtraction), * (multiplication), / (division), = (comparison of equality), != (comparison of difference), &gt; (comparison of greaterness), &lt; (comparison of lessness), &gt;= (comparison of greaterness or equality), &lt;= (comparison of lessness or equality)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200"/>
              <a:t>Separators: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sz="2200"/>
              <a:t>:,;,(,),,,(.,.),.</a:t>
            </a:r>
          </a:p>
          <a:p>
            <a:pPr fontAlgn="auto">
              <a:spcAft>
                <a:spcPts val="0"/>
              </a:spcAft>
              <a:defRPr/>
            </a:pPr>
            <a:endParaRPr lang="en-US" altLang="en-US" sz="2200"/>
          </a:p>
          <a:p>
            <a:pPr fontAlgn="auto">
              <a:spcAft>
                <a:spcPts val="0"/>
              </a:spcAft>
              <a:defRPr/>
            </a:pPr>
            <a:endParaRPr lang="vi-VN" altLang="en-US" sz="2200"/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DBF23FE3-B336-401E-B5F4-328FB366F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xfrm>
            <a:off x="457200" y="6245225"/>
            <a:ext cx="21336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7A834688-37C5-42CE-9F70-19E75198E783}" type="slidenum">
              <a:rPr lang="vi-VN" altLang="en-US" sz="1200">
                <a:latin typeface="Arial" panose="020B0604020202020204" pitchFamily="34" charset="0"/>
                <a:cs typeface="Arial" panose="020B0604020202020204" pitchFamily="34" charset="0"/>
              </a:rPr>
              <a:pPr algn="l"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vi-VN" altLang="en-US" sz="1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A09C6C33-C80E-476B-BE4C-1A7C64FD9D7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String (sentence)</a:t>
            </a:r>
          </a:p>
        </p:txBody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90108144-EAFF-42EB-9ECA-57F5757E09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00200"/>
            <a:ext cx="8229600" cy="4191000"/>
          </a:xfrm>
        </p:spPr>
        <p:txBody>
          <a:bodyPr/>
          <a:lstStyle/>
          <a:p>
            <a:r>
              <a:rPr lang="en-US" altLang="en-US" b="1" i="1">
                <a:solidFill>
                  <a:srgbClr val="FF0000"/>
                </a:solidFill>
                <a:sym typeface="Symbol" panose="05050102010706020507" pitchFamily="18" charset="2"/>
              </a:rPr>
              <a:t>A string is finite sequence of symbols chosen from some alphabet</a:t>
            </a:r>
          </a:p>
          <a:p>
            <a:r>
              <a:rPr lang="en-US" altLang="en-US"/>
              <a:t>Empty string is </a:t>
            </a:r>
            <a:r>
              <a:rPr lang="en-US" altLang="en-US">
                <a:sym typeface="Symbol" panose="05050102010706020507" pitchFamily="18" charset="2"/>
              </a:rPr>
              <a:t></a:t>
            </a:r>
            <a:r>
              <a:rPr lang="en-US" altLang="en-US"/>
              <a:t> </a:t>
            </a:r>
          </a:p>
          <a:p>
            <a:r>
              <a:rPr lang="en-US" altLang="en-US"/>
              <a:t>Examples of string: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en-US"/>
              <a:t>1000010101111 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en-US"/>
              <a:t>A C program is a string of tokens</a:t>
            </a:r>
          </a:p>
          <a:p>
            <a:pPr lvl="1">
              <a:buFont typeface="Wingdings" panose="05000000000000000000" pitchFamily="2" charset="2"/>
              <a:buChar char="n"/>
            </a:pPr>
            <a:r>
              <a:rPr lang="en-US" altLang="en-US"/>
              <a:t>A human DNA pattern</a:t>
            </a:r>
          </a:p>
          <a:p>
            <a:endParaRPr lang="en-US" altLang="en-US" sz="2400" i="1"/>
          </a:p>
        </p:txBody>
      </p:sp>
      <p:pic>
        <p:nvPicPr>
          <p:cNvPr id="16388" name="Picture 3">
            <a:extLst>
              <a:ext uri="{FF2B5EF4-FFF2-40B4-BE49-F238E27FC236}">
                <a16:creationId xmlns:a16="http://schemas.microsoft.com/office/drawing/2014/main" id="{7C566CAC-03C6-4F45-A1D2-F78F05E7F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343400"/>
            <a:ext cx="3351213" cy="154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8FDEFF3C-92D3-4213-B09C-6C430AEAAE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Languages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832D6780-34E5-427F-9AFB-0274D5CD51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191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 sz="2000" b="1" i="1">
              <a:solidFill>
                <a:srgbClr val="FF0000"/>
              </a:solidFill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</a:rPr>
              <a:t>A language over alphabet </a:t>
            </a:r>
            <a:r>
              <a:rPr lang="en-US" altLang="en-US" b="1" i="1">
                <a:solidFill>
                  <a:srgbClr val="FF0000"/>
                </a:solidFill>
                <a:sym typeface="Symbol" panose="05050102010706020507" pitchFamily="18" charset="2"/>
              </a:rPr>
              <a:t>  </a:t>
            </a:r>
            <a:r>
              <a:rPr lang="en-US" altLang="en-US" b="1" i="1">
                <a:solidFill>
                  <a:srgbClr val="FF0000"/>
                </a:solidFill>
              </a:rPr>
              <a:t>is a set of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b="1" i="1">
                <a:solidFill>
                  <a:srgbClr val="FF0000"/>
                </a:solidFill>
              </a:rPr>
              <a:t>strings over </a:t>
            </a:r>
            <a:r>
              <a:rPr lang="en-US" altLang="en-US" b="1" i="1">
                <a:solidFill>
                  <a:srgbClr val="FF0000"/>
                </a:solidFill>
                <a:sym typeface="Symbol" panose="05050102010706020507" pitchFamily="18" charset="2"/>
              </a:rPr>
              <a:t></a:t>
            </a:r>
          </a:p>
          <a:p>
            <a:pPr>
              <a:buFontTx/>
              <a:buNone/>
            </a:pPr>
            <a:r>
              <a:rPr lang="en-US" altLang="en-US">
                <a:sym typeface="Symbol" panose="05050102010706020507" pitchFamily="18" charset="2"/>
              </a:rPr>
              <a:t>Examples of languages: </a:t>
            </a:r>
          </a:p>
          <a:p>
            <a:r>
              <a:rPr lang="en-US" altLang="en-US">
                <a:sym typeface="Symbol" panose="05050102010706020507" pitchFamily="18" charset="2"/>
              </a:rPr>
              <a:t>The set of all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words over {a, b},</a:t>
            </a:r>
            <a:r>
              <a:rPr lang="en-US" altLang="en-US">
                <a:sym typeface="Symbol" panose="05050102010706020507" pitchFamily="18" charset="2"/>
              </a:rPr>
              <a:t> </a:t>
            </a:r>
          </a:p>
          <a:p>
            <a:r>
              <a:rPr lang="en-US" altLang="en-US">
                <a:sym typeface="Symbol" panose="05050102010706020507" pitchFamily="18" charset="2"/>
              </a:rPr>
              <a:t>The set {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a</a:t>
            </a:r>
            <a:r>
              <a:rPr lang="en-US" altLang="en-US" i="1" baseline="30000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| </a:t>
            </a:r>
            <a:r>
              <a:rPr lang="en-US" altLang="en-US" i="1">
                <a:solidFill>
                  <a:schemeClr val="accent2"/>
                </a:solidFill>
                <a:sym typeface="Symbol" panose="05050102010706020507" pitchFamily="18" charset="2"/>
              </a:rPr>
              <a:t>n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 is a prime number</a:t>
            </a:r>
            <a:r>
              <a:rPr lang="en-US" altLang="en-US">
                <a:sym typeface="Symbol" panose="05050102010706020507" pitchFamily="18" charset="2"/>
              </a:rPr>
              <a:t> }, </a:t>
            </a:r>
          </a:p>
          <a:p>
            <a:r>
              <a:rPr lang="en-US" altLang="en-US">
                <a:sym typeface="Symbol" panose="05050102010706020507" pitchFamily="18" charset="2"/>
              </a:rPr>
              <a:t>Programming language C: the set of </a:t>
            </a:r>
            <a:r>
              <a:rPr lang="en-US" altLang="en-US">
                <a:solidFill>
                  <a:schemeClr val="accent2"/>
                </a:solidFill>
                <a:sym typeface="Symbol" panose="05050102010706020507" pitchFamily="18" charset="2"/>
              </a:rPr>
              <a:t>syntactically correct programs in C</a:t>
            </a:r>
            <a:endParaRPr lang="en-US" altLang="en-US">
              <a:sym typeface="Symbol" panose="05050102010706020507" pitchFamily="18" charset="2"/>
            </a:endParaRPr>
          </a:p>
          <a:p>
            <a:pPr>
              <a:buFont typeface="Wingdings" panose="05000000000000000000" pitchFamily="2" charset="2"/>
              <a:buNone/>
            </a:pPr>
            <a:endParaRPr lang="en-US" altLang="en-US" b="1" i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65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65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76486CB-E0D5-410D-B4CC-6D19D81BCA6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04800"/>
            <a:ext cx="7772400" cy="1143000"/>
          </a:xfrm>
        </p:spPr>
        <p:txBody>
          <a:bodyPr/>
          <a:lstStyle/>
          <a:p>
            <a:r>
              <a:rPr lang="en-US" altLang="en-US"/>
              <a:t>Chomsky's Hierarchy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1F3E7E87-8D27-48DB-B1A6-9D59159C09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95400"/>
            <a:ext cx="9144000" cy="4800600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</a:rPr>
              <a:t>Type-0 languages (recursive enumerable)</a:t>
            </a:r>
          </a:p>
          <a:p>
            <a:pPr>
              <a:buFontTx/>
              <a:buNone/>
            </a:pPr>
            <a:r>
              <a:rPr lang="en-US" altLang="en-US" dirty="0"/>
              <a:t>	 instances of a problem.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Type-1 languages (context-sensitive) </a:t>
            </a:r>
          </a:p>
          <a:p>
            <a:pPr>
              <a:buFontTx/>
              <a:buNone/>
            </a:pPr>
            <a:r>
              <a:rPr lang="en-US" altLang="en-US" dirty="0"/>
              <a:t>	 natural languages, DNA languages 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Type-2 languages (context-free) </a:t>
            </a:r>
          </a:p>
          <a:p>
            <a:pPr>
              <a:buFontTx/>
              <a:buNone/>
            </a:pPr>
            <a:r>
              <a:rPr lang="en-US" altLang="en-US" b="1" dirty="0"/>
              <a:t>	</a:t>
            </a:r>
            <a:r>
              <a:rPr lang="en-US" altLang="en-US" dirty="0"/>
              <a:t> programming language, natural languages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Type-3 languages (regular) </a:t>
            </a:r>
          </a:p>
          <a:p>
            <a:pPr>
              <a:buFontTx/>
              <a:buNone/>
            </a:pPr>
            <a:r>
              <a:rPr lang="en-US" altLang="en-US" b="1" dirty="0"/>
              <a:t>	</a:t>
            </a:r>
            <a:r>
              <a:rPr lang="en-US" altLang="en-US" dirty="0"/>
              <a:t>tokens of programming languages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D5B101A0-DE4A-4494-A50C-C0332CB391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000" y="457200"/>
            <a:ext cx="8763000" cy="838200"/>
          </a:xfrm>
        </p:spPr>
        <p:txBody>
          <a:bodyPr/>
          <a:lstStyle/>
          <a:p>
            <a:r>
              <a:rPr lang="en-US" altLang="en-US" sz="4000"/>
              <a:t>A grammar to generate real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8D87C1-DC1D-4231-828A-C4224D100B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485" y="1485900"/>
            <a:ext cx="8963025" cy="3886200"/>
          </a:xfrm>
        </p:spPr>
        <p:txBody>
          <a:bodyPr rtlCol="0">
            <a:normAutofit lnSpcReduction="10000"/>
          </a:bodyPr>
          <a:lstStyle/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&lt;real number&gt;    ::= &lt;sign&gt;&lt;natural number&gt; |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                     &lt;sign&gt;&lt;natural number&gt;'.'&lt;digit sequence&gt; | &lt;sign&gt;'.'&lt;digit&gt;&lt;digit sequence&gt; |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&lt;sign&gt;&lt;real number&gt;'e'&lt;natural number&gt;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&lt;sign&gt;           ::= ‘’ | ‘+’ | ‘-‘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&lt;natural number&gt; ::= ‘0’ | &lt;nonzero digit&gt;&lt;digit sequence&gt;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&lt;nonzero digit&gt;  ::= ‘1’ | ‘2’ | ‘3’ | ‘4’ | ‘5’ | ‘6’ | ‘7’ | ‘8’ | ‘9’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&lt;digit sequence&gt; ::= ‘’ | &lt;digit&gt;&lt;digit sequence&gt;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sz="2600" dirty="0"/>
              <a:t>&lt;digit&gt;          ::= ‘0’ | ‘1’ | ‘2’ | ‘3’ | ‘4’ | ‘5’ | ‘6’ | ‘7’ | ‘8’ | ‘9’</a:t>
            </a:r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C28B5F83-7D2B-4C3A-A110-D04DF38AAB4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66E557C1-02B0-4D00-8462-0DDA3B2BCC0A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CA3555E-44EE-46C6-A337-9F8D3F8FEA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How a string of a context free language can be generate  ?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54E79EAB-DDD8-4937-86AC-06A029E8E1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534400" cy="38862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	A </a:t>
            </a:r>
            <a:r>
              <a:rPr lang="en-US" altLang="en-US" dirty="0">
                <a:solidFill>
                  <a:srgbClr val="FF0000"/>
                </a:solidFill>
              </a:rPr>
              <a:t>context free grammar </a:t>
            </a:r>
            <a:r>
              <a:rPr lang="en-US" altLang="en-US" dirty="0"/>
              <a:t>can be used to generate strings in the corresponding language as follows: 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3200" i="1" dirty="0"/>
              <a:t>let X = the start symbol s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3200" i="1" dirty="0"/>
              <a:t>while there is some nonterminal Y in X do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3200" i="1" dirty="0"/>
              <a:t>apply any one production rule using Y, e.g. </a:t>
            </a:r>
          </a:p>
          <a:p>
            <a:pPr lvl="1">
              <a:buFont typeface="Wingdings" panose="05000000000000000000" pitchFamily="2" charset="2"/>
              <a:buNone/>
            </a:pPr>
            <a:r>
              <a:rPr lang="en-US" altLang="en-US" sz="3200" i="1" dirty="0"/>
              <a:t>Y -&gt; w</a:t>
            </a:r>
            <a:endParaRPr lang="en-US" altLang="en-US" i="1" dirty="0"/>
          </a:p>
        </p:txBody>
      </p:sp>
      <p:sp>
        <p:nvSpPr>
          <p:cNvPr id="23556" name="Slide Number Placeholder 4">
            <a:extLst>
              <a:ext uri="{FF2B5EF4-FFF2-40B4-BE49-F238E27FC236}">
                <a16:creationId xmlns:a16="http://schemas.microsoft.com/office/drawing/2014/main" id="{86AF09CE-EDCF-4948-9564-4C9AD73E021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D018048-C525-4B50-97C5-9F1569F3E262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492ECE21-8F32-4407-AD95-020E13A6DA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Context Free Grammars (CFG)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66D7C235-294C-4491-BF3B-40E1EE30A4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i="1"/>
              <a:t>A context free grammar G has: </a:t>
            </a:r>
          </a:p>
          <a:p>
            <a:r>
              <a:rPr lang="en-US" altLang="en-US"/>
              <a:t>A set of terminal symbols, </a:t>
            </a:r>
            <a:r>
              <a:rPr lang="en-US" altLang="en-US">
                <a:sym typeface="Symbol" panose="05050102010706020507" pitchFamily="18" charset="2"/>
              </a:rPr>
              <a:t></a:t>
            </a:r>
          </a:p>
          <a:p>
            <a:r>
              <a:rPr lang="en-US" altLang="en-US"/>
              <a:t>A set of nonterminal symbols, </a:t>
            </a:r>
            <a:r>
              <a:rPr lang="en-US" altLang="en-US">
                <a:sym typeface="Symbol" panose="05050102010706020507" pitchFamily="18" charset="2"/>
              </a:rPr>
              <a:t></a:t>
            </a:r>
          </a:p>
          <a:p>
            <a:r>
              <a:rPr lang="en-US" altLang="en-US"/>
              <a:t>A start symbol, S, which is a member of </a:t>
            </a:r>
            <a:r>
              <a:rPr lang="en-US" altLang="en-US">
                <a:sym typeface="Symbol" panose="05050102010706020507" pitchFamily="18" charset="2"/>
              </a:rPr>
              <a:t></a:t>
            </a:r>
          </a:p>
          <a:p>
            <a:r>
              <a:rPr lang="en-US" altLang="en-US"/>
              <a:t>A set P of production rules of the form </a:t>
            </a:r>
            <a:r>
              <a:rPr lang="en-US" altLang="en-US">
                <a:solidFill>
                  <a:srgbClr val="FF0000"/>
                </a:solidFill>
              </a:rPr>
              <a:t>A -&gt; w</a:t>
            </a:r>
            <a:r>
              <a:rPr lang="en-US" altLang="en-US"/>
              <a:t>, where A is a nonterminal and w is a string of terminal and nonterminal symbols or </a:t>
            </a:r>
            <a:r>
              <a:rPr lang="en-US" altLang="en-US">
                <a:sym typeface="Symbol" panose="05050102010706020507" pitchFamily="18" charset="2"/>
              </a:rPr>
              <a:t></a:t>
            </a:r>
            <a:r>
              <a:rPr lang="en-US" altLang="en-US"/>
              <a:t>. </a:t>
            </a:r>
          </a:p>
        </p:txBody>
      </p:sp>
      <p:sp>
        <p:nvSpPr>
          <p:cNvPr id="24580" name="Slide Number Placeholder 4">
            <a:extLst>
              <a:ext uri="{FF2B5EF4-FFF2-40B4-BE49-F238E27FC236}">
                <a16:creationId xmlns:a16="http://schemas.microsoft.com/office/drawing/2014/main" id="{827D9B92-1085-4D2B-AEF8-20E9F06A6F9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9A286B55-A51A-420C-BE41-86E7F5C86CFF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EF240CC-700B-474E-86D8-4FD2E62658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68313" y="260350"/>
            <a:ext cx="8229600" cy="792163"/>
          </a:xfrm>
        </p:spPr>
        <p:txBody>
          <a:bodyPr/>
          <a:lstStyle/>
          <a:p>
            <a:r>
              <a:rPr lang="en-US" altLang="zh-CN">
                <a:ea typeface="SimSun" panose="02010600030101010101" pitchFamily="2" charset="-122"/>
              </a:rPr>
              <a:t>Parse Tree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4E02A8B-DAA9-4D90-A409-C3DEC23475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081416"/>
            <a:ext cx="2523331" cy="5876925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zh-CN" sz="3200" dirty="0">
                <a:ea typeface="SimSun" panose="02010600030101010101" pitchFamily="2" charset="-122"/>
              </a:rPr>
              <a:t>S </a:t>
            </a:r>
            <a:r>
              <a:rPr lang="en-US" altLang="zh-CN" sz="3200" dirty="0">
                <a:ea typeface="SimSun" panose="02010600030101010101" pitchFamily="2" charset="-122"/>
                <a:sym typeface="Symbol" panose="05050102010706020507" pitchFamily="18" charset="2"/>
              </a:rPr>
              <a:t> NP VP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zh-CN" sz="3200" dirty="0">
                <a:ea typeface="SimSun" panose="02010600030101010101" pitchFamily="2" charset="-122"/>
                <a:sym typeface="Symbol" panose="05050102010706020507" pitchFamily="18" charset="2"/>
              </a:rPr>
              <a:t>NP  D N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zh-CN" sz="3200" dirty="0">
                <a:ea typeface="SimSun" panose="02010600030101010101" pitchFamily="2" charset="-122"/>
                <a:sym typeface="Symbol" panose="05050102010706020507" pitchFamily="18" charset="2"/>
              </a:rPr>
              <a:t>VP  V NP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zh-CN" sz="3200" dirty="0">
                <a:ea typeface="SimSun" panose="02010600030101010101" pitchFamily="2" charset="-122"/>
                <a:sym typeface="Symbol" panose="05050102010706020507" pitchFamily="18" charset="2"/>
              </a:rPr>
              <a:t>D  the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zh-CN" sz="3200" dirty="0">
                <a:ea typeface="SimSun" panose="02010600030101010101" pitchFamily="2" charset="-122"/>
                <a:sym typeface="Symbol" panose="05050102010706020507" pitchFamily="18" charset="2"/>
              </a:rPr>
              <a:t>N  chef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zh-CN" sz="3200" dirty="0">
                <a:ea typeface="SimSun" panose="02010600030101010101" pitchFamily="2" charset="-122"/>
                <a:sym typeface="Symbol" panose="05050102010706020507" pitchFamily="18" charset="2"/>
              </a:rPr>
              <a:t>N  soup</a:t>
            </a:r>
          </a:p>
          <a:p>
            <a:pPr fontAlgn="auto">
              <a:spcAft>
                <a:spcPts val="0"/>
              </a:spcAft>
              <a:buFontTx/>
              <a:buNone/>
              <a:defRPr/>
            </a:pPr>
            <a:r>
              <a:rPr lang="en-US" altLang="zh-CN" sz="3200" dirty="0">
                <a:ea typeface="SimSun" panose="02010600030101010101" pitchFamily="2" charset="-122"/>
                <a:sym typeface="Symbol" panose="05050102010706020507" pitchFamily="18" charset="2"/>
              </a:rPr>
              <a:t>V  soup</a:t>
            </a:r>
            <a:endParaRPr lang="en-US" altLang="zh-CN" sz="3200" dirty="0">
              <a:ea typeface="SimSun" panose="02010600030101010101" pitchFamily="2" charset="-122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975E77D-82B3-4BBA-BAAB-FBE0FA35C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828800"/>
            <a:ext cx="5227320" cy="40614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34456205-D523-4A2A-AE28-A9921158BD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 sz="4000"/>
              <a:t>Context Free Grammar Examples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E4C093E7-26EF-4D36-8D26-F0E072E5F2E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483100"/>
          </a:xfrm>
        </p:spPr>
        <p:txBody>
          <a:bodyPr/>
          <a:lstStyle/>
          <a:p>
            <a:r>
              <a:rPr lang="en-US" altLang="en-US"/>
              <a:t>Grammar of nested parentheses</a:t>
            </a:r>
            <a:br>
              <a:rPr lang="en-US" altLang="en-US"/>
            </a:br>
            <a:r>
              <a:rPr lang="en-US" altLang="en-US"/>
              <a:t>G = (</a:t>
            </a:r>
            <a:r>
              <a:rPr lang="en-US" altLang="en-US">
                <a:sym typeface="Symbol" panose="05050102010706020507" pitchFamily="18" charset="2"/>
              </a:rPr>
              <a:t></a:t>
            </a:r>
            <a:r>
              <a:rPr lang="en-US" altLang="en-US"/>
              <a:t>, </a:t>
            </a:r>
            <a:r>
              <a:rPr lang="en-US" altLang="en-US">
                <a:sym typeface="Symbol" panose="05050102010706020507" pitchFamily="18" charset="2"/>
              </a:rPr>
              <a:t>, P, S) where</a:t>
            </a:r>
            <a:r>
              <a:rPr lang="en-US" altLang="en-US"/>
              <a:t> 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3200">
                <a:sym typeface="Symbol" panose="05050102010706020507" pitchFamily="18" charset="2"/>
              </a:rPr>
              <a:t> </a:t>
            </a:r>
            <a:r>
              <a:rPr lang="en-US" altLang="en-US" sz="3200"/>
              <a:t>= {S}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3200">
                <a:sym typeface="Symbol" panose="05050102010706020507" pitchFamily="18" charset="2"/>
              </a:rPr>
              <a:t> ={</a:t>
            </a:r>
            <a:r>
              <a:rPr lang="en-US" altLang="en-US" sz="3200">
                <a:solidFill>
                  <a:srgbClr val="0033CC"/>
                </a:solidFill>
                <a:sym typeface="Symbol" panose="05050102010706020507" pitchFamily="18" charset="2"/>
              </a:rPr>
              <a:t> </a:t>
            </a:r>
            <a:r>
              <a:rPr lang="en-US" altLang="en-US" sz="3200" b="1">
                <a:solidFill>
                  <a:srgbClr val="0033CC"/>
                </a:solidFill>
                <a:sym typeface="Symbol" panose="05050102010706020507" pitchFamily="18" charset="2"/>
              </a:rPr>
              <a:t>(</a:t>
            </a:r>
            <a:r>
              <a:rPr lang="en-US" altLang="en-US" sz="3200">
                <a:sym typeface="Symbol" panose="05050102010706020507" pitchFamily="18" charset="2"/>
              </a:rPr>
              <a:t>, </a:t>
            </a:r>
            <a:r>
              <a:rPr lang="en-US" altLang="en-US" sz="3200" b="1">
                <a:solidFill>
                  <a:srgbClr val="0033CC"/>
                </a:solidFill>
                <a:sym typeface="Symbol" panose="05050102010706020507" pitchFamily="18" charset="2"/>
              </a:rPr>
              <a:t>)</a:t>
            </a:r>
            <a:r>
              <a:rPr lang="en-US" altLang="en-US" sz="3200">
                <a:sym typeface="Symbol" panose="05050102010706020507" pitchFamily="18" charset="2"/>
              </a:rPr>
              <a:t> }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3200">
                <a:sym typeface="Symbol" panose="05050102010706020507" pitchFamily="18" charset="2"/>
              </a:rPr>
              <a:t>P ={ S </a:t>
            </a:r>
            <a:r>
              <a:rPr lang="en-US" altLang="en-US" sz="3200" b="1">
                <a:solidFill>
                  <a:srgbClr val="0033CC"/>
                </a:solidFill>
                <a:sym typeface="Symbol" panose="05050102010706020507" pitchFamily="18" charset="2"/>
              </a:rPr>
              <a:t>(</a:t>
            </a:r>
            <a:r>
              <a:rPr lang="en-US" altLang="en-US" sz="3200">
                <a:sym typeface="Symbol" panose="05050102010706020507" pitchFamily="18" charset="2"/>
              </a:rPr>
              <a:t>S</a:t>
            </a:r>
            <a:r>
              <a:rPr lang="en-US" altLang="en-US" sz="3200" b="1">
                <a:solidFill>
                  <a:srgbClr val="0033CC"/>
                </a:solidFill>
                <a:sym typeface="Symbol" panose="05050102010706020507" pitchFamily="18" charset="2"/>
              </a:rPr>
              <a:t>)</a:t>
            </a:r>
            <a:r>
              <a:rPr lang="en-US" altLang="en-US" sz="3200">
                <a:sym typeface="Symbol" panose="05050102010706020507" pitchFamily="18" charset="2"/>
              </a:rPr>
              <a:t>, SSS, S</a:t>
            </a:r>
            <a:r>
              <a:rPr lang="en-US" altLang="en-US" sz="3200" b="1">
                <a:sym typeface="Symbol" panose="05050102010706020507" pitchFamily="18" charset="2"/>
              </a:rPr>
              <a:t></a:t>
            </a:r>
            <a:r>
              <a:rPr lang="en-US" altLang="en-US" sz="3200">
                <a:sym typeface="Symbol" panose="05050102010706020507" pitchFamily="18" charset="2"/>
              </a:rPr>
              <a:t> } </a:t>
            </a:r>
          </a:p>
          <a:p>
            <a:endParaRPr lang="en-US" altLang="en-US"/>
          </a:p>
        </p:txBody>
      </p:sp>
      <p:sp>
        <p:nvSpPr>
          <p:cNvPr id="26628" name="Slide Number Placeholder 4">
            <a:extLst>
              <a:ext uri="{FF2B5EF4-FFF2-40B4-BE49-F238E27FC236}">
                <a16:creationId xmlns:a16="http://schemas.microsoft.com/office/drawing/2014/main" id="{9FF5BDA0-2384-4205-8512-DED18175833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E83592E8-2C36-480C-A6B3-2842413A5EC5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13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3">
            <a:extLst>
              <a:ext uri="{FF2B5EF4-FFF2-40B4-BE49-F238E27FC236}">
                <a16:creationId xmlns:a16="http://schemas.microsoft.com/office/drawing/2014/main" id="{4AC2AE22-2D23-4AC9-A157-407BFF4617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2286000"/>
            <a:ext cx="8229600" cy="3886200"/>
          </a:xfrm>
        </p:spPr>
        <p:txBody>
          <a:bodyPr/>
          <a:lstStyle/>
          <a:p>
            <a:pPr lvl="2">
              <a:buFont typeface="Wingdings" panose="05000000000000000000" pitchFamily="2" charset="2"/>
              <a:buNone/>
            </a:pPr>
            <a:r>
              <a:rPr lang="en-US" altLang="en-US" sz="4800" dirty="0"/>
              <a:t>S -&gt; +A | -A | A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4800" dirty="0"/>
              <a:t>A -&gt; B.B | B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4800" dirty="0"/>
              <a:t>B -&gt; BC | C</a:t>
            </a:r>
          </a:p>
          <a:p>
            <a:pPr lvl="2">
              <a:buFont typeface="Wingdings" panose="05000000000000000000" pitchFamily="2" charset="2"/>
              <a:buNone/>
            </a:pPr>
            <a:r>
              <a:rPr lang="en-US" altLang="en-US" sz="4800" dirty="0"/>
              <a:t>C -&gt; 0 | 1 | 2 |. . . .| 9</a:t>
            </a:r>
          </a:p>
        </p:txBody>
      </p:sp>
      <p:sp>
        <p:nvSpPr>
          <p:cNvPr id="27651" name="Slide Number Placeholder 4">
            <a:extLst>
              <a:ext uri="{FF2B5EF4-FFF2-40B4-BE49-F238E27FC236}">
                <a16:creationId xmlns:a16="http://schemas.microsoft.com/office/drawing/2014/main" id="{4D93272D-CC61-4ECD-8F5D-B4E2A6529EE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11327A1C-9E42-434E-B5B6-A499572A1189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14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27652" name="Rectangle 5">
            <a:extLst>
              <a:ext uri="{FF2B5EF4-FFF2-40B4-BE49-F238E27FC236}">
                <a16:creationId xmlns:a16="http://schemas.microsoft.com/office/drawing/2014/main" id="{BB643E89-F0CA-4EB0-BD86-3DAD553CFE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57200"/>
            <a:ext cx="8229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4000">
                <a:latin typeface="Arial" panose="020B0604020202020204" pitchFamily="34" charset="0"/>
              </a:rPr>
              <a:t>Context Free Grammar Examples</a:t>
            </a:r>
          </a:p>
        </p:txBody>
      </p:sp>
      <p:sp>
        <p:nvSpPr>
          <p:cNvPr id="27653" name="Rectangle 7">
            <a:extLst>
              <a:ext uri="{FF2B5EF4-FFF2-40B4-BE49-F238E27FC236}">
                <a16:creationId xmlns:a16="http://schemas.microsoft.com/office/drawing/2014/main" id="{6F3FC6E9-31BC-4B9F-B383-103416FE6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1503363"/>
            <a:ext cx="6550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Wingdings" panose="05000000000000000000" pitchFamily="2" charset="2"/>
              <a:buBlip>
                <a:blip r:embed="rId2"/>
              </a:buBlip>
            </a:pPr>
            <a:r>
              <a:rPr lang="en-US" altLang="en-US" sz="3200">
                <a:latin typeface="Arial" panose="020B0604020202020204" pitchFamily="34" charset="0"/>
              </a:rPr>
              <a:t>The grammar of decimal numbers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1239BF20-59FA-47F8-A4BE-159374F71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Derivations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434F955F-B7E1-4C5A-940D-B4ADA42A0F6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76200" y="1981200"/>
            <a:ext cx="8915400" cy="3886200"/>
          </a:xfrm>
        </p:spPr>
        <p:txBody>
          <a:bodyPr/>
          <a:lstStyle/>
          <a:p>
            <a:r>
              <a:rPr lang="en-US" altLang="en-US" dirty="0"/>
              <a:t>When X consists only of terminal symbols, it is a string of the language denoted by the grammar.</a:t>
            </a:r>
          </a:p>
          <a:p>
            <a:r>
              <a:rPr lang="en-US" altLang="en-US" dirty="0"/>
              <a:t>Each iteration of the loop is a derivation step.</a:t>
            </a:r>
          </a:p>
          <a:p>
            <a:r>
              <a:rPr lang="en-US" altLang="en-US" dirty="0"/>
              <a:t>If an iteration has several </a:t>
            </a:r>
            <a:r>
              <a:rPr lang="en-US" altLang="en-US" dirty="0" err="1"/>
              <a:t>nonterminals</a:t>
            </a:r>
            <a:r>
              <a:rPr lang="en-US" altLang="en-US" dirty="0"/>
              <a:t> to choose from at some point, the rules of </a:t>
            </a:r>
            <a:r>
              <a:rPr lang="en-US" altLang="en-US" dirty="0" err="1"/>
              <a:t>derviation</a:t>
            </a:r>
            <a:r>
              <a:rPr lang="en-US" altLang="en-US" dirty="0"/>
              <a:t> would allow any of these to be applied.</a:t>
            </a:r>
          </a:p>
          <a:p>
            <a:r>
              <a:rPr lang="en-US" altLang="en-US" dirty="0"/>
              <a:t>Example : S </a:t>
            </a:r>
            <a:r>
              <a:rPr lang="en-US" altLang="en-US" dirty="0">
                <a:sym typeface="Wingdings" panose="05000000000000000000" pitchFamily="2" charset="2"/>
              </a:rPr>
              <a:t> -A  -B.B  -B.C  -C.C -1.C  -1.5</a:t>
            </a:r>
            <a:endParaRPr lang="en-US" altLang="en-US" dirty="0"/>
          </a:p>
        </p:txBody>
      </p:sp>
      <p:sp>
        <p:nvSpPr>
          <p:cNvPr id="28676" name="Slide Number Placeholder 4">
            <a:extLst>
              <a:ext uri="{FF2B5EF4-FFF2-40B4-BE49-F238E27FC236}">
                <a16:creationId xmlns:a16="http://schemas.microsoft.com/office/drawing/2014/main" id="{66DC1519-D472-406F-8903-28CECD66B3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6D12B715-F1F8-4936-9543-C8C7915DCF0E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15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7E160294-CD41-483F-A513-AF2F1843FB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8600" y="228600"/>
            <a:ext cx="8458200" cy="990600"/>
          </a:xfrm>
        </p:spPr>
        <p:txBody>
          <a:bodyPr/>
          <a:lstStyle/>
          <a:p>
            <a:r>
              <a:rPr lang="en-US" altLang="en-US" sz="4000"/>
              <a:t>Leftmost and Rightmost Derivations</a:t>
            </a:r>
          </a:p>
        </p:txBody>
      </p:sp>
      <p:sp>
        <p:nvSpPr>
          <p:cNvPr id="9220" name="Rectangle 3">
            <a:extLst>
              <a:ext uri="{FF2B5EF4-FFF2-40B4-BE49-F238E27FC236}">
                <a16:creationId xmlns:a16="http://schemas.microsoft.com/office/drawing/2014/main" id="{C621A5DA-FEC4-4EFA-B3D9-0BC40D5A541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1000" y="1676400"/>
            <a:ext cx="8382000" cy="38862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dirty="0"/>
              <a:t>In practice, parsing algorithms tend to always choose the leftmost nonterminal, or the rightmost nonterminal, resulting in strings that are </a:t>
            </a:r>
            <a:r>
              <a:rPr lang="en-US" dirty="0">
                <a:solidFill>
                  <a:srgbClr val="FF0000"/>
                </a:solidFill>
              </a:rPr>
              <a:t>leftmost derivations </a:t>
            </a:r>
            <a:r>
              <a:rPr lang="en-US" dirty="0"/>
              <a:t>or </a:t>
            </a:r>
            <a:r>
              <a:rPr lang="en-US" dirty="0">
                <a:solidFill>
                  <a:srgbClr val="FF0000"/>
                </a:solidFill>
              </a:rPr>
              <a:t>rightmost derivations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dirty="0"/>
              <a:t>Example: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Leftmost derivation: 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S </a:t>
            </a:r>
            <a:r>
              <a:rPr lang="en-US" dirty="0">
                <a:sym typeface="Wingdings"/>
              </a:rPr>
              <a:t> -A  -B.B  -C.B  -1.B  -1.C  -1.5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Rightmost derivation: </a:t>
            </a:r>
          </a:p>
          <a:p>
            <a:pPr marL="0" indent="0"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dirty="0"/>
              <a:t>S </a:t>
            </a:r>
            <a:r>
              <a:rPr lang="en-US" dirty="0">
                <a:sym typeface="Wingdings"/>
              </a:rPr>
              <a:t> -A  -B.B  -B.C  -B.5  -C.5  -1.5</a:t>
            </a:r>
            <a:endParaRPr lang="en-US" dirty="0"/>
          </a:p>
          <a:p>
            <a:pPr fontAlgn="auto"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9700" name="Slide Number Placeholder 4">
            <a:extLst>
              <a:ext uri="{FF2B5EF4-FFF2-40B4-BE49-F238E27FC236}">
                <a16:creationId xmlns:a16="http://schemas.microsoft.com/office/drawing/2014/main" id="{1E70AF42-6A31-45BE-A6E6-6A96F55C593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D35BC9E3-97E5-4E32-8F85-4CFCC2421723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16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2BBD2C83-DA13-4954-90EA-DB3BF24C4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Derivation Tree (parse tree)</a:t>
            </a:r>
          </a:p>
        </p:txBody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EB8CC784-20B4-4DA9-B444-53EA467F2E6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381000" y="1143000"/>
            <a:ext cx="4495800" cy="49530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Derivation tree is constructed with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1) Each tree vertex is a variable (nonterminal) or terminal or epsilon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2) The root vertex is S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3) Interior vertices are from </a:t>
            </a:r>
            <a:r>
              <a:rPr lang="en-US" altLang="en-US" sz="2000" dirty="0">
                <a:sym typeface="Symbol" panose="05050102010706020507" pitchFamily="18" charset="2"/>
              </a:rPr>
              <a:t></a:t>
            </a:r>
            <a:r>
              <a:rPr lang="en-US" altLang="en-US" sz="2000" dirty="0"/>
              <a:t>, leaf vertices are from ∑ or epsilon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4) An interior vertex A has children, in order, left to right,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   X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X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 , </a:t>
            </a:r>
            <a:r>
              <a:rPr lang="en-US" altLang="en-US" sz="2000" dirty="0" err="1"/>
              <a:t>X</a:t>
            </a:r>
            <a:r>
              <a:rPr lang="en-US" altLang="en-US" sz="2000" baseline="-25000" dirty="0" err="1"/>
              <a:t>k</a:t>
            </a:r>
            <a:r>
              <a:rPr lang="en-US" altLang="en-US" sz="2000" dirty="0"/>
              <a:t> when there is a production in P of the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   form  A -&gt; X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X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... </a:t>
            </a:r>
            <a:r>
              <a:rPr lang="en-US" altLang="en-US" sz="2000" dirty="0" err="1"/>
              <a:t>X</a:t>
            </a:r>
            <a:r>
              <a:rPr lang="en-US" altLang="en-US" sz="2000" baseline="-25000" dirty="0" err="1"/>
              <a:t>k</a:t>
            </a:r>
            <a:endParaRPr lang="en-US" altLang="en-US" sz="2000" baseline="-25000" dirty="0"/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 dirty="0"/>
              <a:t>  5) A leaf can be epsilon only when there is a production  A </a:t>
            </a:r>
            <a:r>
              <a:rPr lang="en-US" altLang="en-US" sz="2000" dirty="0">
                <a:sym typeface="Symbol" panose="05050102010706020507" pitchFamily="18" charset="2"/>
              </a:rPr>
              <a:t></a:t>
            </a:r>
            <a:r>
              <a:rPr lang="en-US" altLang="en-US" sz="2000" dirty="0"/>
              <a:t> </a:t>
            </a:r>
            <a:r>
              <a:rPr lang="en-US" altLang="en-US" sz="2000" dirty="0">
                <a:sym typeface="Symbol" panose="05050102010706020507" pitchFamily="18" charset="2"/>
              </a:rPr>
              <a:t></a:t>
            </a:r>
            <a:r>
              <a:rPr lang="en-US" altLang="en-US" sz="2000" dirty="0"/>
              <a:t>     and the leaf’s parent can have only this child.</a:t>
            </a:r>
          </a:p>
        </p:txBody>
      </p:sp>
      <p:sp>
        <p:nvSpPr>
          <p:cNvPr id="30724" name="Slide Number Placeholder 5">
            <a:extLst>
              <a:ext uri="{FF2B5EF4-FFF2-40B4-BE49-F238E27FC236}">
                <a16:creationId xmlns:a16="http://schemas.microsoft.com/office/drawing/2014/main" id="{61C7A678-F582-4820-BF3C-C12C272D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5AA34B0B-9F26-472E-B225-7DF6D8B4F8A1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17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0725" name="Picture 4">
            <a:extLst>
              <a:ext uri="{FF2B5EF4-FFF2-40B4-BE49-F238E27FC236}">
                <a16:creationId xmlns:a16="http://schemas.microsoft.com/office/drawing/2014/main" id="{8DCFB0E7-F8A4-40A8-AE3A-281A1756D9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057400"/>
            <a:ext cx="37338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CDA3AE5-F032-4FF5-95A5-72BD33FB34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Ambiguity</a:t>
            </a:r>
          </a:p>
        </p:txBody>
      </p:sp>
      <p:sp>
        <p:nvSpPr>
          <p:cNvPr id="25604" name="Rectangle 3">
            <a:extLst>
              <a:ext uri="{FF2B5EF4-FFF2-40B4-BE49-F238E27FC236}">
                <a16:creationId xmlns:a16="http://schemas.microsoft.com/office/drawing/2014/main" id="{D7336446-7C8C-4ACC-8897-10BE753748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533400" y="1609780"/>
            <a:ext cx="1828800" cy="2895600"/>
          </a:xfrm>
        </p:spPr>
        <p:txBody>
          <a:bodyPr rtlCol="0">
            <a:normAutofit lnSpcReduction="10000"/>
          </a:bodyPr>
          <a:lstStyle/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dirty="0"/>
              <a:t>Grammar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dirty="0"/>
              <a:t>E -&gt; E + E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dirty="0"/>
              <a:t>E -&gt; E * E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dirty="0"/>
              <a:t>E -&gt; ( E )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dirty="0"/>
              <a:t>E -&gt; ident</a:t>
            </a:r>
          </a:p>
          <a:p>
            <a:pPr fontAlgn="auto">
              <a:spcAft>
                <a:spcPts val="0"/>
              </a:spcAft>
              <a:buFont typeface="Wingdings" panose="05000000000000000000" pitchFamily="2" charset="2"/>
              <a:buNone/>
              <a:defRPr/>
            </a:pPr>
            <a:r>
              <a:rPr lang="en-US" altLang="en-US" dirty="0"/>
              <a:t>	</a:t>
            </a:r>
          </a:p>
        </p:txBody>
      </p:sp>
      <p:sp>
        <p:nvSpPr>
          <p:cNvPr id="31748" name="Slide Number Placeholder 4">
            <a:extLst>
              <a:ext uri="{FF2B5EF4-FFF2-40B4-BE49-F238E27FC236}">
                <a16:creationId xmlns:a16="http://schemas.microsoft.com/office/drawing/2014/main" id="{73C31DB2-31B4-4A01-AA30-763223A8456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A773098D-FCF7-4E8E-BE45-4418C0739E84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sp>
        <p:nvSpPr>
          <p:cNvPr id="31749" name="Text Box 4">
            <a:extLst>
              <a:ext uri="{FF2B5EF4-FFF2-40B4-BE49-F238E27FC236}">
                <a16:creationId xmlns:a16="http://schemas.microsoft.com/office/drawing/2014/main" id="{F1CEFB99-F1E3-4B84-9A78-C70A747794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419600"/>
            <a:ext cx="7391400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None/>
            </a:pPr>
            <a:r>
              <a:rPr lang="en-US" altLang="en-US">
                <a:latin typeface="Arial" panose="020B0604020202020204" pitchFamily="34" charset="0"/>
              </a:rPr>
              <a:t>allows two different derivations for strings such as ident + ident * ident (e.g. x + y * z)</a:t>
            </a:r>
          </a:p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31750" name="Text Box 5">
            <a:extLst>
              <a:ext uri="{FF2B5EF4-FFF2-40B4-BE49-F238E27FC236}">
                <a16:creationId xmlns:a16="http://schemas.microsoft.com/office/drawing/2014/main" id="{02A02068-638B-4C30-927E-3F29AF8E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638800"/>
            <a:ext cx="4724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lang="en-US" altLang="en-US">
                <a:solidFill>
                  <a:srgbClr val="CC3300"/>
                </a:solidFill>
                <a:latin typeface="Arial" panose="020B0604020202020204" pitchFamily="34" charset="0"/>
              </a:rPr>
              <a:t>The grammar is ambiguous</a:t>
            </a:r>
          </a:p>
        </p:txBody>
      </p:sp>
      <p:sp>
        <p:nvSpPr>
          <p:cNvPr id="31751" name="AutoShape 6">
            <a:extLst>
              <a:ext uri="{FF2B5EF4-FFF2-40B4-BE49-F238E27FC236}">
                <a16:creationId xmlns:a16="http://schemas.microsoft.com/office/drawing/2014/main" id="{462F5216-1A94-431D-94C1-8595E93F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5334000"/>
            <a:ext cx="1752600" cy="381000"/>
          </a:xfrm>
          <a:prstGeom prst="downArrow">
            <a:avLst>
              <a:gd name="adj1" fmla="val 50000"/>
              <a:gd name="adj2" fmla="val 2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lang="en-US" altLang="en-US" sz="1800">
              <a:latin typeface="Arial" panose="020B0604020202020204" pitchFamily="34" charset="0"/>
            </a:endParaRPr>
          </a:p>
        </p:txBody>
      </p:sp>
      <p:pic>
        <p:nvPicPr>
          <p:cNvPr id="31752" name="Picture 7">
            <a:extLst>
              <a:ext uri="{FF2B5EF4-FFF2-40B4-BE49-F238E27FC236}">
                <a16:creationId xmlns:a16="http://schemas.microsoft.com/office/drawing/2014/main" id="{5F348C73-8A10-420E-A225-E433737E9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5600" y="1676400"/>
            <a:ext cx="55626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46261B5-B6E3-415A-9ACA-86FE4E5BFD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Disambiguation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A150CB5E-1F1F-425C-A3A9-BD132C9229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593850"/>
            <a:ext cx="7886700" cy="404495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E -&gt; E + 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E -&gt; T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T -&gt; T * F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T -&gt; F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F -&gt; ( E )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dirty="0"/>
              <a:t>F -&gt; ident</a:t>
            </a:r>
          </a:p>
        </p:txBody>
      </p:sp>
      <p:sp>
        <p:nvSpPr>
          <p:cNvPr id="32772" name="Slide Number Placeholder 4">
            <a:extLst>
              <a:ext uri="{FF2B5EF4-FFF2-40B4-BE49-F238E27FC236}">
                <a16:creationId xmlns:a16="http://schemas.microsoft.com/office/drawing/2014/main" id="{83798470-7FD2-4AC0-A3BA-F19F26ED84A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2F301B50-6134-4445-ABA4-F04B928A389C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19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2773" name="Picture 4">
            <a:extLst>
              <a:ext uri="{FF2B5EF4-FFF2-40B4-BE49-F238E27FC236}">
                <a16:creationId xmlns:a16="http://schemas.microsoft.com/office/drawing/2014/main" id="{FF41FA70-0D0C-49BE-9D25-0D8B0A178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2400" y="1828800"/>
            <a:ext cx="3429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4" name="Rectangle 5">
            <a:extLst>
              <a:ext uri="{FF2B5EF4-FFF2-40B4-BE49-F238E27FC236}">
                <a16:creationId xmlns:a16="http://schemas.microsoft.com/office/drawing/2014/main" id="{77D602D8-DBD6-4C00-AD13-D4A69C39A6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492750"/>
            <a:ext cx="91440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900" dirty="0">
                <a:solidFill>
                  <a:srgbClr val="CC3300"/>
                </a:solidFill>
                <a:latin typeface="Arial" panose="020B0604020202020204" pitchFamily="34" charset="0"/>
              </a:rPr>
              <a:t>(by adding some </a:t>
            </a:r>
            <a:r>
              <a:rPr lang="en-US" altLang="en-US" sz="1900" dirty="0" err="1">
                <a:solidFill>
                  <a:srgbClr val="CC3300"/>
                </a:solidFill>
                <a:latin typeface="Arial" panose="020B0604020202020204" pitchFamily="34" charset="0"/>
              </a:rPr>
              <a:t>nonterminals</a:t>
            </a:r>
            <a:r>
              <a:rPr lang="en-US" altLang="en-US" sz="1900" dirty="0">
                <a:solidFill>
                  <a:srgbClr val="CC3300"/>
                </a:solidFill>
                <a:latin typeface="Arial" panose="020B0604020202020204" pitchFamily="34" charset="0"/>
              </a:rPr>
              <a:t> and production rules to force operator precedence)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6CDF4A0C-C98C-46D5-9F19-95A55C567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57200"/>
            <a:ext cx="8229600" cy="685800"/>
          </a:xfrm>
        </p:spPr>
        <p:txBody>
          <a:bodyPr/>
          <a:lstStyle/>
          <a:p>
            <a:r>
              <a:rPr lang="en-US" altLang="en-US" sz="4000" dirty="0"/>
              <a:t>Recursion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781DD9B8-C44B-401A-A1FA-D6290F16A33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8305800" cy="1295400"/>
          </a:xfrm>
        </p:spPr>
        <p:txBody>
          <a:bodyPr/>
          <a:lstStyle/>
          <a:p>
            <a:r>
              <a:rPr lang="en-US" altLang="en-US" b="1"/>
              <a:t>A production is recursive if </a:t>
            </a:r>
            <a:r>
              <a:rPr lang="en-US" altLang="en-US"/>
              <a:t>X ⇒* ω1X ω2 Can be used to represent repetitions and nested structures </a:t>
            </a:r>
          </a:p>
        </p:txBody>
      </p:sp>
      <p:graphicFrame>
        <p:nvGraphicFramePr>
          <p:cNvPr id="191492" name="Group 4">
            <a:extLst>
              <a:ext uri="{FF2B5EF4-FFF2-40B4-BE49-F238E27FC236}">
                <a16:creationId xmlns:a16="http://schemas.microsoft.com/office/drawing/2014/main" id="{BFEBEA64-14F3-4940-8C30-564B7C229AF1}"/>
              </a:ext>
            </a:extLst>
          </p:cNvPr>
          <p:cNvGraphicFramePr>
            <a:graphicFrameLocks noGrp="1"/>
          </p:cNvGraphicFramePr>
          <p:nvPr>
            <p:ph sz="quarter" idx="2"/>
          </p:nvPr>
        </p:nvGraphicFramePr>
        <p:xfrm>
          <a:off x="914400" y="3048000"/>
          <a:ext cx="5562600" cy="609600"/>
        </p:xfrm>
        <a:graphic>
          <a:graphicData uri="http://schemas.openxmlformats.org/drawingml/2006/table">
            <a:tbl>
              <a:tblPr/>
              <a:tblGrid>
                <a:gridCol w="55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Direct recursion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X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⇒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ω</a:t>
                      </a:r>
                      <a:r>
                        <a:rPr kumimoji="0" lang="en-US" sz="11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X ω</a:t>
                      </a:r>
                      <a:r>
                        <a:rPr kumimoji="0" lang="en-US" sz="11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1498" name="Group 10">
            <a:extLst>
              <a:ext uri="{FF2B5EF4-FFF2-40B4-BE49-F238E27FC236}">
                <a16:creationId xmlns:a16="http://schemas.microsoft.com/office/drawing/2014/main" id="{32D113E2-FFBC-445E-B19F-74DBAE89782C}"/>
              </a:ext>
            </a:extLst>
          </p:cNvPr>
          <p:cNvGraphicFramePr>
            <a:graphicFrameLocks noGrp="1"/>
          </p:cNvGraphicFramePr>
          <p:nvPr>
            <p:ph sz="quarter" idx="3"/>
          </p:nvPr>
        </p:nvGraphicFramePr>
        <p:xfrm>
          <a:off x="0" y="3505200"/>
          <a:ext cx="8763000" cy="1401816"/>
        </p:xfrm>
        <a:graphic>
          <a:graphicData uri="http://schemas.openxmlformats.org/drawingml/2006/table">
            <a:tbl>
              <a:tblPr/>
              <a:tblGrid>
                <a:gridCol w="876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0566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131CC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    Left recursion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X -&gt; b |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. 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⇒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X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⇒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X a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⇒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X a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⇒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b a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 ...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131CC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Right recursion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X -&gt; b | a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. 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⇒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Arial" charset="0"/>
                        </a:rPr>
                        <a:t>a X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⇒a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X ⇒a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X ⇒... a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</a:t>
                      </a:r>
                      <a:r>
                        <a:rPr kumimoji="0" lang="en-US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a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 b </a:t>
                      </a:r>
                      <a:r>
                        <a:rPr kumimoji="0" 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131CC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Central recursion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X -&gt;b | (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X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). X ⇒(X) ⇒((X)) ⇒(((X))) ⇒(((... (b)...))) </a:t>
                      </a: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54" marB="45654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0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54" marB="45654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3801" name="Slide Number Placeholder 6">
            <a:extLst>
              <a:ext uri="{FF2B5EF4-FFF2-40B4-BE49-F238E27FC236}">
                <a16:creationId xmlns:a16="http://schemas.microsoft.com/office/drawing/2014/main" id="{139DA3D8-DAD8-4608-88D5-E7EC7396BF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78B1E5E7-3168-4DB5-B730-525FC15D8D53}" type="slidenum">
              <a:rPr lang="en-US" altLang="en-US" sz="1200" smtClean="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graphicFrame>
        <p:nvGraphicFramePr>
          <p:cNvPr id="191505" name="Group 17">
            <a:extLst>
              <a:ext uri="{FF2B5EF4-FFF2-40B4-BE49-F238E27FC236}">
                <a16:creationId xmlns:a16="http://schemas.microsoft.com/office/drawing/2014/main" id="{49F76B06-08E3-4073-BD7E-9A9E09460AD7}"/>
              </a:ext>
            </a:extLst>
          </p:cNvPr>
          <p:cNvGraphicFramePr>
            <a:graphicFrameLocks noGrp="1"/>
          </p:cNvGraphicFramePr>
          <p:nvPr/>
        </p:nvGraphicFramePr>
        <p:xfrm>
          <a:off x="762000" y="4572000"/>
          <a:ext cx="3509963" cy="609600"/>
        </p:xfrm>
        <a:graphic>
          <a:graphicData uri="http://schemas.openxmlformats.org/drawingml/2006/table">
            <a:tbl>
              <a:tblPr/>
              <a:tblGrid>
                <a:gridCol w="35099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Indirect recursion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X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ea typeface="Times New Roman" pitchFamily="18" charset="0"/>
                          <a:cs typeface="MS Mincho" pitchFamily="49" charset="-128"/>
                        </a:rPr>
                        <a:t>⇒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* ω</a:t>
                      </a:r>
                      <a:r>
                        <a:rPr kumimoji="0" lang="en-US" sz="11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X ω</a:t>
                      </a:r>
                      <a:r>
                        <a:rPr kumimoji="0" lang="en-US" sz="1100" b="0" i="0" u="none" strike="noStrike" cap="none" normalizeH="0" baseline="-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2 </a:t>
                      </a: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charset="0"/>
                          <a:cs typeface="Times New Roman" pitchFamily="18" charset="0"/>
                        </a:rPr>
                        <a:t>Example </a:t>
                      </a: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>
            <a:extLst>
              <a:ext uri="{FF2B5EF4-FFF2-40B4-BE49-F238E27FC236}">
                <a16:creationId xmlns:a16="http://schemas.microsoft.com/office/drawing/2014/main" id="{A614639D-2DE3-43E4-9D4E-3E1AD6D111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Removing Left Recursion</a:t>
            </a:r>
          </a:p>
        </p:txBody>
      </p:sp>
      <p:sp>
        <p:nvSpPr>
          <p:cNvPr id="34819" name="Slide Number Placeholder 3">
            <a:extLst>
              <a:ext uri="{FF2B5EF4-FFF2-40B4-BE49-F238E27FC236}">
                <a16:creationId xmlns:a16="http://schemas.microsoft.com/office/drawing/2014/main" id="{8A10274A-99BA-4811-939D-BE5623C566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B74D2AA3-DF33-4CA1-99DF-44A7C4A08F72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  <p:pic>
        <p:nvPicPr>
          <p:cNvPr id="34820" name="Picture 2">
            <a:extLst>
              <a:ext uri="{FF2B5EF4-FFF2-40B4-BE49-F238E27FC236}">
                <a16:creationId xmlns:a16="http://schemas.microsoft.com/office/drawing/2014/main" id="{C327D264-AE92-4EF8-B970-0DD2C99C47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828800"/>
            <a:ext cx="6705600" cy="445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itle 1">
            <a:extLst>
              <a:ext uri="{FF2B5EF4-FFF2-40B4-BE49-F238E27FC236}">
                <a16:creationId xmlns:a16="http://schemas.microsoft.com/office/drawing/2014/main" id="{63B7944D-B8E8-406D-B537-8673DDC9F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146050"/>
            <a:ext cx="7886700" cy="1325563"/>
          </a:xfrm>
        </p:spPr>
        <p:txBody>
          <a:bodyPr/>
          <a:lstStyle/>
          <a:p>
            <a:r>
              <a:rPr lang="en-US" altLang="en-US"/>
              <a:t>Removing Left Recursion</a:t>
            </a:r>
          </a:p>
        </p:txBody>
      </p:sp>
      <p:pic>
        <p:nvPicPr>
          <p:cNvPr id="35843" name="Picture 2">
            <a:extLst>
              <a:ext uri="{FF2B5EF4-FFF2-40B4-BE49-F238E27FC236}">
                <a16:creationId xmlns:a16="http://schemas.microsoft.com/office/drawing/2014/main" id="{02118F4A-A9F7-40E0-9F77-863E54D7091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28650" y="1508399"/>
            <a:ext cx="7620000" cy="4252912"/>
          </a:xfrm>
        </p:spPr>
      </p:pic>
      <p:sp>
        <p:nvSpPr>
          <p:cNvPr id="35844" name="Slide Number Placeholder 3">
            <a:extLst>
              <a:ext uri="{FF2B5EF4-FFF2-40B4-BE49-F238E27FC236}">
                <a16:creationId xmlns:a16="http://schemas.microsoft.com/office/drawing/2014/main" id="{791194AC-F981-434A-9852-51F7B764F29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6pPr>
            <a:lvl7pPr marL="29718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7pPr>
            <a:lvl8pPr marL="34290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8pPr>
            <a:lvl9pPr marL="3886200" indent="-228600" defTabSz="4572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9pPr>
          </a:lstStyle>
          <a:p>
            <a:pPr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fld id="{8D446F08-2048-4E05-A9E0-3B2B0A948997}" type="slidenum">
              <a:rPr lang="en-US" altLang="en-US" sz="1200">
                <a:latin typeface="Arial Black" panose="020B0A04020102020204" pitchFamily="34" charset="0"/>
              </a:rPr>
              <a:pPr fontAlgn="base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n-US" altLang="en-US" sz="1200"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ICT-PPT-template-hoi-thao-onlin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SoICT-PPT-template-hoi-thao-online</Template>
  <TotalTime>5392</TotalTime>
  <Words>1542</Words>
  <Application>Microsoft Office PowerPoint</Application>
  <PresentationFormat>On-screen Show (4:3)</PresentationFormat>
  <Paragraphs>177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3" baseType="lpstr">
      <vt:lpstr>Calibri</vt:lpstr>
      <vt:lpstr>Arial</vt:lpstr>
      <vt:lpstr>Times New Roman</vt:lpstr>
      <vt:lpstr>Arial Black</vt:lpstr>
      <vt:lpstr>Wingdings</vt:lpstr>
      <vt:lpstr>Wingdings 2</vt:lpstr>
      <vt:lpstr>Symbol</vt:lpstr>
      <vt:lpstr>SimSun</vt:lpstr>
      <vt:lpstr>MS Mincho</vt:lpstr>
      <vt:lpstr>MS PGothic</vt:lpstr>
      <vt:lpstr>SoICT-PPT-template-hoi-thao-online</vt:lpstr>
      <vt:lpstr>Unit 3. Generative Grammars</vt:lpstr>
      <vt:lpstr>Basic concepts of languages theory</vt:lpstr>
      <vt:lpstr>Alphabet</vt:lpstr>
      <vt:lpstr>C character set</vt:lpstr>
      <vt:lpstr>Token set of KPL</vt:lpstr>
      <vt:lpstr>String (sentence)</vt:lpstr>
      <vt:lpstr>Languages</vt:lpstr>
      <vt:lpstr>Chomsky's Hierarchy</vt:lpstr>
      <vt:lpstr>A grammar to generate real numbers</vt:lpstr>
      <vt:lpstr>How a string of a context free language can be generate  ?</vt:lpstr>
      <vt:lpstr>Context Free Grammars (CFG)</vt:lpstr>
      <vt:lpstr>Parse Tree</vt:lpstr>
      <vt:lpstr>Context Free Grammar Examples</vt:lpstr>
      <vt:lpstr>PowerPoint Presentation</vt:lpstr>
      <vt:lpstr>Derivations</vt:lpstr>
      <vt:lpstr>Leftmost and Rightmost Derivations</vt:lpstr>
      <vt:lpstr>Derivation Tree (parse tree)</vt:lpstr>
      <vt:lpstr>Ambiguity</vt:lpstr>
      <vt:lpstr>Disambiguation</vt:lpstr>
      <vt:lpstr>Recursion </vt:lpstr>
      <vt:lpstr>Removing Left Recursion</vt:lpstr>
      <vt:lpstr>Removing Left Recursion</vt:lpstr>
    </vt:vector>
  </TitlesOfParts>
  <Company>Tel 0915 152 158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COMPILER COSTRUCTION</dc:title>
  <dc:creator>huongnt</dc:creator>
  <cp:lastModifiedBy>Nguyen Thi Thu Huong</cp:lastModifiedBy>
  <cp:revision>302</cp:revision>
  <dcterms:created xsi:type="dcterms:W3CDTF">2008-08-10T02:45:21Z</dcterms:created>
  <dcterms:modified xsi:type="dcterms:W3CDTF">2021-01-19T15:05:12Z</dcterms:modified>
</cp:coreProperties>
</file>