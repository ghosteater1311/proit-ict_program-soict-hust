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1"/>
  </p:sldMasterIdLst>
  <p:notesMasterIdLst>
    <p:notesMasterId r:id="rId37"/>
  </p:notesMasterIdLst>
  <p:sldIdLst>
    <p:sldId id="368" r:id="rId2"/>
    <p:sldId id="366" r:id="rId3"/>
    <p:sldId id="367" r:id="rId4"/>
    <p:sldId id="347" r:id="rId5"/>
    <p:sldId id="348" r:id="rId6"/>
    <p:sldId id="359" r:id="rId7"/>
    <p:sldId id="360" r:id="rId8"/>
    <p:sldId id="351" r:id="rId9"/>
    <p:sldId id="349" r:id="rId10"/>
    <p:sldId id="361" r:id="rId11"/>
    <p:sldId id="362" r:id="rId12"/>
    <p:sldId id="363" r:id="rId13"/>
    <p:sldId id="364" r:id="rId14"/>
    <p:sldId id="350" r:id="rId15"/>
    <p:sldId id="365" r:id="rId16"/>
    <p:sldId id="346" r:id="rId17"/>
    <p:sldId id="734" r:id="rId18"/>
    <p:sldId id="710" r:id="rId19"/>
    <p:sldId id="737" r:id="rId20"/>
    <p:sldId id="735" r:id="rId21"/>
    <p:sldId id="736" r:id="rId22"/>
    <p:sldId id="715" r:id="rId23"/>
    <p:sldId id="717" r:id="rId24"/>
    <p:sldId id="738" r:id="rId25"/>
    <p:sldId id="369" r:id="rId26"/>
    <p:sldId id="378" r:id="rId27"/>
    <p:sldId id="376" r:id="rId28"/>
    <p:sldId id="372" r:id="rId29"/>
    <p:sldId id="370" r:id="rId30"/>
    <p:sldId id="373" r:id="rId31"/>
    <p:sldId id="377" r:id="rId32"/>
    <p:sldId id="374" r:id="rId33"/>
    <p:sldId id="356" r:id="rId34"/>
    <p:sldId id="357" r:id="rId35"/>
    <p:sldId id="371" r:id="rId36"/>
  </p:sldIdLst>
  <p:sldSz cx="9144000" cy="6858000" type="screen4x3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61" autoAdjust="0"/>
    <p:restoredTop sz="94728" autoAdjust="0"/>
  </p:normalViewPr>
  <p:slideViewPr>
    <p:cSldViewPr>
      <p:cViewPr varScale="1">
        <p:scale>
          <a:sx n="48" d="100"/>
          <a:sy n="48" d="100"/>
        </p:scale>
        <p:origin x="1059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411650F-2F8A-4A54-8FBB-06F340A7D41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E1C2F6B-C0A1-4BC8-A2F2-A063C85F16C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16DF3C9B-A6AA-49D9-B2FD-B9752FED946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EF67D94E-91D0-47E8-8498-A4B5EE9B057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AA0B697F-1AEC-4D93-B481-A3FBEE753C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3E95C8DC-B50F-4BDF-B81E-F45E441BF8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4B05081C-BA16-4404-A89E-F7B15D8717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21270253-5ECF-4FC8-884F-2A0B89684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4D0A1D0-FD63-411D-B779-D130815A4E41}" type="slidenum">
              <a:rPr lang="en-US" altLang="en-US" sz="1200" smtClean="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5BBAFE2-6F8E-43DB-B960-F7A3ECA186E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1D59997-21A8-46EA-81A1-FAA22CBC35F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512763" y="4383088"/>
            <a:ext cx="5964237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811E738-5FF9-463F-A2B1-1B5AD928F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22CE501-F503-43AF-A0B0-81935F85F00C}" type="slidenum">
              <a:rPr lang="en-US" altLang="en-US" sz="1200" smtClean="0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96142AD-9ACB-4D41-B042-EE8339D528B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C373178-AE52-461C-BF6A-2C74E991DA2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512763" y="4383088"/>
            <a:ext cx="5964237" cy="4122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B1FBACA6-A4BB-4D8D-AF96-2FAE892B2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74C06DF9-A047-4938-BD44-F1E6ACE21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2E9E85E5-A492-4C2F-8771-C90BC40AE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3C89867-33D9-417D-AB12-94AE09768986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EA35A-2F14-489E-9735-9A1BFC43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8ECDB-C44D-4686-841B-88157301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8590F-2D59-4256-9B45-57B22E25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9DAE901E-C45D-4EF5-96B4-AE542762D1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722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0850C-E8DB-4201-92CC-C5529EF6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7950" y="6142038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EEF45E-C7D8-47E1-AA4E-C80AA2C495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2350" y="6413500"/>
            <a:ext cx="1143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EB089C-A551-4FBA-B141-0DC744CD83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74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5D31-D73A-4935-9448-444FC78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6F26B-FAB5-44A2-9DCB-5C231CB2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3EC40-7964-4788-90F2-B5D10F8B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262FD0-0883-4147-B978-FF6FBD6795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5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406FA2D-48E4-46C6-B275-955A65582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56B1E45-572F-4B2A-B5F4-C24EE133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4CE7EB-3DC5-4904-A7DA-91807777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FF60C-C981-49B4-91D7-2299B64E0A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648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4AE4B5B-B158-4057-81B9-866523B5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32D815-F7C0-4734-AA28-00B00443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66CA490-92C7-4095-8220-9DA41504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87A3A-224E-4974-A6B9-077EE0CB84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34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449B7C2-73C6-43A1-9AA6-C6346933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91E8EF-D528-4EB5-9DFE-7982CA14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B43E68-042D-4A71-A690-78CFEA9B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AAA28-A3B2-43F5-AA63-522A9847AC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61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A71C9-88ED-44A7-9961-A3979F00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A0EEB-CCA9-478B-8BA5-E07A4EBC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0DD92-E5B8-449D-B8B3-30EB2E0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86C44-DFFF-4329-85C0-062AFD5425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01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F45-33C2-4336-B65D-69301E72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2F346-2635-4B21-9762-3AE57C53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C48DC-7E42-427F-BBF1-67339C2F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A8DEE-11A9-496A-93EA-EB29D557B1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369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9971CE8-B180-49E5-A4FE-482791BC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60D6EB4-30D7-4BA4-A7C6-427CABAE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A1001F-8DB3-4A23-B2CD-BEAD8B37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42337-F153-4A9D-99AC-41C76C75A1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91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3C6DF-D311-4DA5-A3C4-25CB742B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80B6F-0904-440D-ADFD-C49942C3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A3664-B666-4CAD-8F2C-7A0B85A6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94DFF-AF87-41DC-A04D-221CCAC28A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6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A2220-6DE3-4E7B-9CD7-9AB7569B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740F9-E4E0-448A-B199-7B50C85E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8CE46-F2F8-430A-8251-048173CC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345FE-CF72-48A3-9CD1-25243355D5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32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C93F2BE-393D-4B3A-B58F-89E97F3A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C13566-1257-4E52-90AD-AC84A5C5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726F8A-6FE6-43D8-BF0B-4E9BAB25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96EE7-F373-470D-A72D-C2EB0A5DAF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981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78F279-C1CD-4714-85E1-1E9E1877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F61F5F5-DC8A-4067-8093-C1015950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0B475EF-F7F2-41E6-B930-A3A72ED7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B30CE-3515-4AB8-9DD2-32F648C691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388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EEA22-0C4C-46B8-AD07-FFEF485F6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99F68-D85F-4829-899C-365E991C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3735E-B84C-4E28-8D65-25BB6445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C3F67-3258-4B28-B250-88C7FB5D10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883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28D32-1143-4B8F-A93F-57BE3DB9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8BD25-6050-43B2-AC66-C4A636BD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35451-B6EC-4076-B447-AB6C7B3B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85613-C901-40FE-A39C-C0827ECEEA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92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6C724F5-FFD6-4F60-8790-A1C8D0209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5557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E8C42FC-98A3-4FA5-9F81-8C90DB875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25600"/>
            <a:ext cx="788670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49F3-E644-4A81-A544-F5363D771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E6A8A-349F-44E5-A4F0-DB234A2DC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EC070-3CBA-47CC-9EB0-FC2C23F91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97750" y="6432550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833848B-97A0-4035-A863-9AAAD87F2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28" r:id="rId3"/>
    <p:sldLayoutId id="2147483929" r:id="rId4"/>
    <p:sldLayoutId id="2147483930" r:id="rId5"/>
    <p:sldLayoutId id="2147483931" r:id="rId6"/>
    <p:sldLayoutId id="2147483939" r:id="rId7"/>
    <p:sldLayoutId id="2147483940" r:id="rId8"/>
    <p:sldLayoutId id="2147483932" r:id="rId9"/>
    <p:sldLayoutId id="2147483941" r:id="rId10"/>
    <p:sldLayoutId id="2147483942" r:id="rId11"/>
    <p:sldLayoutId id="2147483933" r:id="rId12"/>
    <p:sldLayoutId id="2147483934" r:id="rId13"/>
    <p:sldLayoutId id="2147483935" r:id="rId14"/>
    <p:sldLayoutId id="2147483936" r:id="rId1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22EC8C1-085E-4468-9330-773AF3A175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COMPILER CONSTRUCTION</a:t>
            </a:r>
          </a:p>
        </p:txBody>
      </p:sp>
      <p:sp>
        <p:nvSpPr>
          <p:cNvPr id="9219" name="Subtitle 1">
            <a:extLst>
              <a:ext uri="{FF2B5EF4-FFF2-40B4-BE49-F238E27FC236}">
                <a16:creationId xmlns:a16="http://schemas.microsoft.com/office/drawing/2014/main" id="{3615243E-2FE9-494A-B96B-20BA5AD904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BE9963C-027A-49DA-AA1A-E2FC6E7BA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/>
              <a:t>Why study compilers?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8990599-52F7-4584-9CDB-D66AC0D8D9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839200" cy="4419600"/>
          </a:xfrm>
        </p:spPr>
        <p:txBody>
          <a:bodyPr/>
          <a:lstStyle/>
          <a:p>
            <a:pPr eaLnBrk="1" hangingPunct="1"/>
            <a:r>
              <a:rPr lang="en-US" altLang="en-US" sz="2400"/>
              <a:t>Be able to build a compiler for a (simplified) (programming) language</a:t>
            </a:r>
          </a:p>
          <a:p>
            <a:pPr eaLnBrk="1" hangingPunct="1"/>
            <a:r>
              <a:rPr lang="en-US" altLang="en-US" sz="2400"/>
              <a:t>Be familiar with assembly code and virtual machines</a:t>
            </a:r>
          </a:p>
          <a:p>
            <a:pPr eaLnBrk="1" hangingPunct="1"/>
            <a:r>
              <a:rPr lang="en-US" altLang="en-US" sz="2400"/>
              <a:t>Be able to define LL(1), LL(k) grammars</a:t>
            </a:r>
          </a:p>
          <a:p>
            <a:pPr eaLnBrk="1" hangingPunct="1"/>
            <a:r>
              <a:rPr lang="en-US" altLang="en-US" sz="2400"/>
              <a:t>Be familiar with compiler analysis and optimization techniques</a:t>
            </a:r>
          </a:p>
          <a:p>
            <a:pPr eaLnBrk="1" hangingPunct="1"/>
            <a:r>
              <a:rPr lang="en-US" altLang="ko-KR" sz="2400">
                <a:ea typeface="Gulim" panose="020B0600000101010101" pitchFamily="34" charset="-127"/>
              </a:rPr>
              <a:t>Working with really big data structures </a:t>
            </a:r>
          </a:p>
          <a:p>
            <a:pPr eaLnBrk="1" hangingPunct="1"/>
            <a:r>
              <a:rPr lang="en-US" altLang="ko-KR" sz="2400">
                <a:ea typeface="Gulim" panose="020B0600000101010101" pitchFamily="34" charset="-127"/>
              </a:rPr>
              <a:t>Complex interactions between algorithms</a:t>
            </a:r>
          </a:p>
          <a:p>
            <a:pPr eaLnBrk="1" hangingPunct="1"/>
            <a:r>
              <a:rPr lang="en-US" altLang="ko-KR" sz="2400">
                <a:ea typeface="Gulim" panose="020B0600000101010101" pitchFamily="34" charset="-127"/>
              </a:rPr>
              <a:t>Experience with large-scale applications development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       </a:t>
            </a:r>
          </a:p>
        </p:txBody>
      </p:sp>
      <p:sp>
        <p:nvSpPr>
          <p:cNvPr id="10244" name="AutoShape 4">
            <a:extLst>
              <a:ext uri="{FF2B5EF4-FFF2-40B4-BE49-F238E27FC236}">
                <a16:creationId xmlns:a16="http://schemas.microsoft.com/office/drawing/2014/main" id="{107E1609-E7E8-4097-9D2B-408842806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4800600"/>
            <a:ext cx="1752600" cy="990600"/>
          </a:xfrm>
          <a:prstGeom prst="rightArrow">
            <a:avLst>
              <a:gd name="adj1" fmla="val 50000"/>
              <a:gd name="adj2" fmla="val 442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B67D29EB-F722-4B70-90AC-CEED234FF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65688"/>
            <a:ext cx="58674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200">
                <a:latin typeface="Arial" panose="020B0604020202020204" pitchFamily="34" charset="0"/>
              </a:rPr>
              <a:t>Help you out on your next big programming project</a:t>
            </a:r>
            <a:r>
              <a:rPr lang="en-US" altLang="en-US" sz="1800"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5CC015A-5FB7-4F67-90E3-8DF517020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More details about the course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7385F4E-C420-4AF4-ACAC-5117830E03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How do computers work?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(instruction set, registers, addressing modes, run-time data structures, ...)</a:t>
            </a:r>
          </a:p>
          <a:p>
            <a:pPr eaLnBrk="1" hangingPunct="1"/>
            <a:r>
              <a:rPr lang="en-US" altLang="en-US"/>
              <a:t>How do compilers work? </a:t>
            </a:r>
          </a:p>
          <a:p>
            <a:pPr eaLnBrk="1" hangingPunct="1"/>
            <a:r>
              <a:rPr lang="en-US" altLang="en-US"/>
              <a:t>What machine code is generated for certain language constructs?</a:t>
            </a:r>
          </a:p>
          <a:p>
            <a:pPr eaLnBrk="1" hangingPunct="1"/>
            <a:r>
              <a:rPr lang="en-US" altLang="en-US"/>
              <a:t>What is good language design?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17BA478-DA7E-4828-BDE3-634A7745E3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Course Outline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CC6E920-A97F-4A08-B2BC-0205A3B352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Functions of a Language Processor</a:t>
            </a:r>
          </a:p>
          <a:p>
            <a:pPr eaLnBrk="1" hangingPunct="1"/>
            <a:r>
              <a:rPr lang="en-US" altLang="en-US"/>
              <a:t>The Phases of a Compiler</a:t>
            </a:r>
          </a:p>
          <a:p>
            <a:pPr eaLnBrk="1" hangingPunct="1"/>
            <a:r>
              <a:rPr lang="en-US" altLang="en-US"/>
              <a:t>Generative Grammar</a:t>
            </a:r>
          </a:p>
          <a:p>
            <a:pPr eaLnBrk="1" hangingPunct="1"/>
            <a:r>
              <a:rPr lang="en-US" altLang="en-US"/>
              <a:t>BNF and Syntax Diagrams</a:t>
            </a:r>
          </a:p>
          <a:p>
            <a:pPr eaLnBrk="1" hangingPunct="1"/>
            <a:r>
              <a:rPr lang="en-US" altLang="en-US"/>
              <a:t>Scanner and Symbol Table</a:t>
            </a:r>
          </a:p>
          <a:p>
            <a:pPr eaLnBrk="1" hangingPunct="1"/>
            <a:r>
              <a:rPr lang="en-US" altLang="en-US"/>
              <a:t>Top Down Parsing with Backtracking</a:t>
            </a:r>
          </a:p>
          <a:p>
            <a:pPr eaLnBrk="1" hangingPunct="1"/>
            <a:r>
              <a:rPr lang="en-US" altLang="en-US"/>
              <a:t>Predictive Parsing</a:t>
            </a:r>
          </a:p>
          <a:p>
            <a:pPr eaLnBrk="1" hangingPunct="1"/>
            <a:r>
              <a:rPr lang="en-US" altLang="en-US"/>
              <a:t>LL(k) Grammars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130E802-5AB5-4AA3-B014-1BD25FE63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Course Outline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DB9F784-EFDF-4F0C-B05A-E7D2957406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Recursive Descent Parsing</a:t>
            </a:r>
          </a:p>
          <a:p>
            <a:pPr eaLnBrk="1" hangingPunct="1"/>
            <a:r>
              <a:rPr lang="en-US" altLang="en-US"/>
              <a:t>The Parser of  KPL</a:t>
            </a:r>
          </a:p>
          <a:p>
            <a:pPr eaLnBrk="1" hangingPunct="1"/>
            <a:r>
              <a:rPr lang="en-US" altLang="en-US"/>
              <a:t>Semantic Analysis</a:t>
            </a:r>
          </a:p>
          <a:p>
            <a:pPr eaLnBrk="1" hangingPunct="1"/>
            <a:r>
              <a:rPr lang="en-US" altLang="en-US"/>
              <a:t>Stack calculator</a:t>
            </a:r>
          </a:p>
          <a:p>
            <a:pPr eaLnBrk="1" hangingPunct="1"/>
            <a:r>
              <a:rPr lang="en-US" altLang="en-US"/>
              <a:t>Intermediate Code Generation</a:t>
            </a:r>
          </a:p>
          <a:p>
            <a:pPr eaLnBrk="1" hangingPunct="1"/>
            <a:r>
              <a:rPr lang="en-US" altLang="en-US"/>
              <a:t>Object Code Generation</a:t>
            </a:r>
          </a:p>
          <a:p>
            <a:pPr eaLnBrk="1" hangingPunct="1"/>
            <a:r>
              <a:rPr lang="en-US" altLang="en-US"/>
              <a:t>Code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4B7BB78-F4A9-4CA0-8EFE-E48B703E5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/>
              <a:t>Textbooks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1E71725-044C-44B5-8AF8-907CB188A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Aho.A.V, Sethi.R., Ullman.J.D</a:t>
            </a:r>
            <a:r>
              <a:rPr lang="en-US" altLang="en-US" sz="2900"/>
              <a:t>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 i="1"/>
              <a:t>Compiler : Principles, Techniques and Tools.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100"/>
              <a:t>Addison Wesley.1986</a:t>
            </a: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Bal.H. E.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i="1"/>
              <a:t>Modern Compiler Design</a:t>
            </a:r>
            <a:r>
              <a:rPr lang="en-US" altLang="en-US" sz="2000"/>
              <a:t>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John Wiley &amp; Sons Inc (2000)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William Allan Wulf.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800" i="1"/>
              <a:t>The Design of an Optimizing Compiler</a:t>
            </a:r>
            <a:r>
              <a:rPr lang="en-US" altLang="en-US" sz="2000"/>
              <a:t>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Elsevier Science Ltd (1980)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Charles N. Fischer.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i="1"/>
              <a:t>Crafting a Compiler</a:t>
            </a:r>
            <a:r>
              <a:rPr lang="en-US" altLang="en-US" sz="2000"/>
              <a:t>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Benjamin-Cummings Pub Co (1987)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62C04DE-5E42-40AE-ADEE-2FB101D01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Text books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CEFE9F8-E3D6-4839-916B-3E650B512C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5475" y="1468438"/>
            <a:ext cx="7769225" cy="46497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/>
              <a:t>Niklaus Wirth</a:t>
            </a:r>
            <a:endParaRPr lang="en-US" altLang="en-US" sz="2100" i="1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 i="1"/>
              <a:t>Compiler Construction.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/>
              <a:t>Addison Westley. 1996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100"/>
              <a:t>Andrew.W.Appel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/>
              <a:t>Modern Compiler Implementation in Java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 i="1"/>
              <a:t>Princeton University.1998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/>
              <a:t>Nguyễn Văn Ba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 i="1"/>
              <a:t>Techniques of Compiling (in Vietnamese)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/>
              <a:t>Hanoi University of Technology1994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/>
              <a:t>Vũ Lục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 i="1"/>
              <a:t>Parsing(in Vietnamese)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900"/>
              <a:t>Hanoi University of Technology1994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/>
              <a:t>www.sourceforge.net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50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CB872FE8-D65A-4AB0-B7D4-B0DA5895A5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600"/>
              <a:t>Unit 1. </a:t>
            </a:r>
            <a:br>
              <a:rPr lang="en-US" altLang="en-US" sz="4600"/>
            </a:br>
            <a:r>
              <a:rPr lang="en-US" altLang="en-US" sz="4600"/>
              <a:t>Functions of </a:t>
            </a:r>
            <a:br>
              <a:rPr lang="en-US" altLang="en-US" sz="4600"/>
            </a:br>
            <a:r>
              <a:rPr lang="en-US" altLang="en-US" sz="4600"/>
              <a:t>a Language Processor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1A4B3C7-4723-47C5-8F56-45AA14587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3800"/>
              <a:t>High Level Programming Languages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DBC63CA-ECB5-4F2E-8F17-D5A69E011C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3384550"/>
          </a:xfrm>
        </p:spPr>
        <p:txBody>
          <a:bodyPr/>
          <a:lstStyle/>
          <a:p>
            <a:pPr eaLnBrk="1" hangingPunct="1"/>
            <a:r>
              <a:rPr lang="en-US" altLang="en-US"/>
              <a:t>Programming languages  have taken  5 generation</a:t>
            </a:r>
          </a:p>
          <a:p>
            <a:pPr algn="just" eaLnBrk="1" hangingPunct="1"/>
            <a:r>
              <a:rPr lang="en-US" altLang="en-US"/>
              <a:t>A language is considered high or low level depending on its abstraction 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US"/>
              <a:t>	A high level language may use natural language elements, be easier to use, or more portable across platforms </a:t>
            </a:r>
            <a:endParaRPr lang="en-US" altLang="en-US" sz="200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US"/>
              <a:t>	Low level languages are closer to the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52A6514-9238-43DD-A8CB-5FB8B9FB63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1625"/>
            <a:ext cx="8534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The first and the second generation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E55218A-3E12-4F91-92DC-2CADD94D4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229600" cy="4273550"/>
          </a:xfrm>
        </p:spPr>
        <p:txBody>
          <a:bodyPr/>
          <a:lstStyle/>
          <a:p>
            <a:pPr eaLnBrk="1" hangingPunct="1"/>
            <a:r>
              <a:rPr lang="en-US" altLang="en-US"/>
              <a:t>The first generation: machine language</a:t>
            </a:r>
          </a:p>
          <a:p>
            <a:pPr eaLnBrk="1" hangingPunct="1"/>
            <a:r>
              <a:rPr lang="en-US" altLang="en-US"/>
              <a:t>The second generation : Assembly</a:t>
            </a:r>
          </a:p>
          <a:p>
            <a:pPr eaLnBrk="1" hangingPunct="1"/>
            <a:r>
              <a:rPr lang="en-US" altLang="en-US"/>
              <a:t>Languages of the first and the second generation are low level languages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20CCA87-0510-487F-9B48-6B0374806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z="3600"/>
              <a:t>The Third Generation </a:t>
            </a:r>
            <a:br>
              <a:rPr lang="en-US" altLang="en-US" sz="3600"/>
            </a:br>
            <a:endParaRPr lang="en-US" altLang="en-US" sz="360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84C3218-B3E6-4C69-87BD-13369713E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Easier to read, write and maintain</a:t>
            </a:r>
          </a:p>
          <a:p>
            <a:pPr eaLnBrk="1" hangingPunct="1"/>
            <a:r>
              <a:rPr lang="en-US" altLang="en-US"/>
              <a:t>Allow declarations</a:t>
            </a:r>
          </a:p>
          <a:p>
            <a:pPr eaLnBrk="1" hangingPunct="1"/>
            <a:r>
              <a:rPr lang="en-US" altLang="en-US"/>
              <a:t>Most 3GLs supports structured programming </a:t>
            </a:r>
          </a:p>
          <a:p>
            <a:pPr eaLnBrk="1" hangingPunct="1"/>
            <a:r>
              <a:rPr lang="en-US" altLang="en-US"/>
              <a:t>Examples: Fortran, Cobol, C, C++, Basic . . .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5EC791E-0468-4035-AA1F-ADBF16AB9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The Fourth Generation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F4EEA64-ED4A-4159-B931-906DEF2F95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algn="just" eaLnBrk="1" hangingPunct="1"/>
            <a:r>
              <a:rPr lang="en-US" altLang="en-US"/>
              <a:t>Designed with a specific purpose in mind, such as the development of commercial business software </a:t>
            </a:r>
          </a:p>
          <a:p>
            <a:pPr algn="just" eaLnBrk="1" hangingPunct="1"/>
            <a:r>
              <a:rPr lang="en-US" altLang="en-US"/>
              <a:t>Reduce programming effort, cost of software development </a:t>
            </a:r>
          </a:p>
          <a:p>
            <a:pPr algn="just" eaLnBrk="1" hangingPunct="1"/>
            <a:r>
              <a:rPr lang="en-US" altLang="en-US"/>
              <a:t>May include form or report builder </a:t>
            </a:r>
          </a:p>
          <a:p>
            <a:pPr algn="just" eaLnBrk="1" hangingPunct="1"/>
            <a:r>
              <a:rPr lang="en-US" altLang="en-US"/>
              <a:t>Examples :SQL, Visual Basic, Oracle (SQL plus, Oracle Form, Oracle Report). . . 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4AB9CF2-42A9-4ECC-B3EC-D99E8DF57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The Fifth Generation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7431244-B968-469C-8BD2-26A003671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algn="just" eaLnBrk="1" hangingPunct="1"/>
            <a:r>
              <a:rPr lang="en-US" altLang="en-US"/>
              <a:t>Based around solving problems using constraints given to the program, rather than using an algorithm written by a programmer </a:t>
            </a:r>
          </a:p>
          <a:p>
            <a:pPr algn="just" eaLnBrk="1" hangingPunct="1"/>
            <a:r>
              <a:rPr lang="en-US" altLang="en-US"/>
              <a:t>Are designed to make the computer solve a given problem without the programmer </a:t>
            </a:r>
          </a:p>
          <a:p>
            <a:pPr algn="just" eaLnBrk="1" hangingPunct="1"/>
            <a:r>
              <a:rPr lang="en-US" altLang="en-US"/>
              <a:t>Most constraint-based and logic programming languages and some declarative languages are fifth-generation languages.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40A317C-375A-4562-9ED8-099E11EC2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3600"/>
              <a:t>Characteristics of high level languages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947CA52-69CB-4C59-8E65-49F867F2D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3452813"/>
          </a:xfrm>
        </p:spPr>
        <p:txBody>
          <a:bodyPr/>
          <a:lstStyle/>
          <a:p>
            <a:pPr algn="just" eaLnBrk="1" hangingPunct="1"/>
            <a:r>
              <a:rPr lang="en-US" altLang="en-US"/>
              <a:t>Hardware independence</a:t>
            </a:r>
          </a:p>
          <a:p>
            <a:pPr algn="just" eaLnBrk="1" hangingPunct="1"/>
            <a:r>
              <a:rPr lang="en-US" altLang="en-US"/>
              <a:t>Close to natural languages</a:t>
            </a:r>
          </a:p>
          <a:p>
            <a:pPr algn="just" eaLnBrk="1" hangingPunct="1"/>
            <a:r>
              <a:rPr lang="en-US" altLang="en-US"/>
              <a:t>Easy to read, write and maintain</a:t>
            </a:r>
          </a:p>
          <a:p>
            <a:pPr algn="just" eaLnBrk="1" hangingPunct="1"/>
            <a:r>
              <a:rPr lang="en-US" altLang="en-US"/>
              <a:t>Programs written in a high-level language must be translated into machine language</a:t>
            </a:r>
          </a:p>
          <a:p>
            <a:pPr algn="just" eaLnBrk="1" hangingPunct="1"/>
            <a:r>
              <a:rPr lang="en-US" altLang="en-US"/>
              <a:t>Often result in slower execution speed, higher memory consumption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4A44C3B-89A0-4EB6-AF01-D879E695C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9144000" cy="1066800"/>
          </a:xfrm>
        </p:spPr>
        <p:txBody>
          <a:bodyPr/>
          <a:lstStyle/>
          <a:p>
            <a:pPr eaLnBrk="1" hangingPunct="1"/>
            <a:r>
              <a:rPr lang="en-US" altLang="en-US" sz="3000"/>
              <a:t>Syntax and Semantics of Programming Languages</a:t>
            </a:r>
            <a:br>
              <a:rPr lang="en-US" altLang="en-US" sz="3000"/>
            </a:br>
            <a:endParaRPr lang="en-US" altLang="en-US" sz="300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73F2E83-19A3-4D5F-9A02-13BB5FCDF0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557463"/>
            <a:ext cx="8229600" cy="3309937"/>
          </a:xfrm>
        </p:spPr>
        <p:txBody>
          <a:bodyPr/>
          <a:lstStyle/>
          <a:p>
            <a:pPr algn="just" eaLnBrk="1" hangingPunct="1"/>
            <a:r>
              <a:rPr lang="en-US" altLang="en-US" sz="3500"/>
              <a:t>Syntax:The way symbols can be combined to create well-formed sentence (program) in the language</a:t>
            </a:r>
          </a:p>
          <a:p>
            <a:pPr algn="just" eaLnBrk="1" hangingPunct="1"/>
            <a:r>
              <a:rPr lang="en-US" altLang="en-US" sz="3500"/>
              <a:t>Semantics: The meaning of syntactically valid strings in a language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8D8B40D-877C-4F9B-9F6D-D8F32EEC4E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sz="3600"/>
              <a:t>Language Processors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474ADF5-2FAC-46CF-9568-0B18A6E9A4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A program that performs tasks, such as translating and interpreting, required for processing a specified programming language.For example,</a:t>
            </a:r>
          </a:p>
          <a:p>
            <a:pPr lvl="1" eaLnBrk="1" hangingPunct="1"/>
            <a:r>
              <a:rPr lang="en-US" altLang="en-US">
                <a:solidFill>
                  <a:srgbClr val="FF3300"/>
                </a:solidFill>
              </a:rPr>
              <a:t>Compiler</a:t>
            </a:r>
          </a:p>
          <a:p>
            <a:pPr lvl="1" eaLnBrk="1" hangingPunct="1"/>
            <a:r>
              <a:rPr lang="en-US" altLang="en-US"/>
              <a:t>Assembler</a:t>
            </a:r>
          </a:p>
          <a:p>
            <a:pPr lvl="1" eaLnBrk="1" hangingPunct="1"/>
            <a:r>
              <a:rPr lang="en-US" altLang="en-US"/>
              <a:t>Interpreter</a:t>
            </a:r>
          </a:p>
          <a:p>
            <a:pPr lvl="1" eaLnBrk="1" hangingPunct="1"/>
            <a:r>
              <a:rPr lang="en-US" altLang="en-US"/>
              <a:t>Compiler - Compiler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151DC3F5-14EE-4FA0-B6F9-57B50E3F2D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Language Translation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0A8E413-FD2F-4127-A3BF-36A2FC9EAD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34400" cy="5029200"/>
          </a:xfrm>
        </p:spPr>
        <p:txBody>
          <a:bodyPr/>
          <a:lstStyle/>
          <a:p>
            <a:pPr eaLnBrk="1" hangingPunct="1"/>
            <a:r>
              <a:rPr lang="en-GB" altLang="en-US">
                <a:solidFill>
                  <a:schemeClr val="hlink"/>
                </a:solidFill>
              </a:rPr>
              <a:t>Native-code compiler:</a:t>
            </a:r>
            <a:r>
              <a:rPr lang="en-GB" altLang="en-US"/>
              <a:t> produces machine code</a:t>
            </a:r>
          </a:p>
          <a:p>
            <a:pPr lvl="1" eaLnBrk="1" hangingPunct="1"/>
            <a:r>
              <a:rPr lang="en-GB" altLang="en-US"/>
              <a:t>Compiled languages: Fortran, C, C++, SML …</a:t>
            </a:r>
          </a:p>
          <a:p>
            <a:pPr eaLnBrk="1" hangingPunct="1"/>
            <a:r>
              <a:rPr lang="en-GB" altLang="en-US">
                <a:solidFill>
                  <a:schemeClr val="hlink"/>
                </a:solidFill>
              </a:rPr>
              <a:t>Interpreter:</a:t>
            </a:r>
            <a:r>
              <a:rPr lang="en-GB" altLang="en-US"/>
              <a:t> translates into internal form and immediately executes (read-eval-print loop)</a:t>
            </a:r>
          </a:p>
          <a:p>
            <a:pPr lvl="1" eaLnBrk="1" hangingPunct="1"/>
            <a:r>
              <a:rPr lang="en-GB" altLang="en-US"/>
              <a:t>Interpreted languages: Scheme, Haskell, Python …</a:t>
            </a:r>
          </a:p>
          <a:p>
            <a:pPr eaLnBrk="1" hangingPunct="1"/>
            <a:r>
              <a:rPr lang="en-GB" altLang="en-US">
                <a:solidFill>
                  <a:schemeClr val="hlink"/>
                </a:solidFill>
              </a:rPr>
              <a:t>Byte-code compiler:</a:t>
            </a:r>
            <a:r>
              <a:rPr lang="en-GB" altLang="en-US"/>
              <a:t> produces portable bytecode, which is executed on virtual machine (e.g., Java)</a:t>
            </a:r>
          </a:p>
          <a:p>
            <a:pPr eaLnBrk="1" hangingPunct="1"/>
            <a:r>
              <a:rPr lang="en-GB" altLang="en-US"/>
              <a:t>Hybrid approaches</a:t>
            </a:r>
          </a:p>
          <a:p>
            <a:pPr lvl="1" eaLnBrk="1" hangingPunct="1"/>
            <a:r>
              <a:rPr lang="en-GB" altLang="en-US"/>
              <a:t>Source-to-source translation (early C++ </a:t>
            </a:r>
            <a:r>
              <a:rPr lang="en-GB" altLang="en-US">
                <a:sym typeface="Symbol" panose="05050102010706020507" pitchFamily="18" charset="2"/>
              </a:rPr>
              <a:t> </a:t>
            </a:r>
            <a:r>
              <a:rPr lang="en-GB" altLang="en-US"/>
              <a:t>C</a:t>
            </a:r>
            <a:r>
              <a:rPr lang="en-GB" altLang="en-US">
                <a:sym typeface="Symbol" panose="05050102010706020507" pitchFamily="18" charset="2"/>
              </a:rPr>
              <a:t></a:t>
            </a:r>
            <a:r>
              <a:rPr lang="en-GB" altLang="en-US"/>
              <a:t>compile)</a:t>
            </a:r>
          </a:p>
          <a:p>
            <a:pPr lvl="1" eaLnBrk="1" hangingPunct="1"/>
            <a:r>
              <a:rPr lang="en-GB" altLang="en-US"/>
              <a:t>Just-in-time Java compilers convert bytecode into native machine code when first executed</a:t>
            </a:r>
          </a:p>
        </p:txBody>
      </p:sp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AC9E5841-722D-4971-A7DF-AD776ECC26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CB443B84-78F8-49A8-805F-4284E0CD1919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17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8">
            <a:extLst>
              <a:ext uri="{FF2B5EF4-FFF2-40B4-BE49-F238E27FC236}">
                <a16:creationId xmlns:a16="http://schemas.microsoft.com/office/drawing/2014/main" id="{46B1608E-AD39-4AF6-8625-B9A7B057A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Language Compilation</a:t>
            </a:r>
          </a:p>
        </p:txBody>
      </p:sp>
      <p:sp>
        <p:nvSpPr>
          <p:cNvPr id="27651" name="Rectangle 19">
            <a:extLst>
              <a:ext uri="{FF2B5EF4-FFF2-40B4-BE49-F238E27FC236}">
                <a16:creationId xmlns:a16="http://schemas.microsoft.com/office/drawing/2014/main" id="{6DC63AFE-0B93-4CD6-BF5C-1D28A4BB63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Compiler:</a:t>
            </a:r>
            <a:r>
              <a:rPr lang="en-US" altLang="en-US"/>
              <a:t> program that translates a source language into a target language</a:t>
            </a:r>
          </a:p>
          <a:p>
            <a:pPr lvl="1" eaLnBrk="1" hangingPunct="1"/>
            <a:r>
              <a:rPr lang="en-US" altLang="en-US"/>
              <a:t>Target language is often, but not always, the assembly language for a particular machine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BCB8BCD7-B4C3-4D4B-A4AB-249759546F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FF204410-BE89-4A79-8378-B299BE047E97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308DC33A-B0D0-4917-BBFA-05E90E4E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150" y="3967163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882B1306-9FCB-44A8-B3C6-7605B46B6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3967163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7655" name="Line 6">
            <a:extLst>
              <a:ext uri="{FF2B5EF4-FFF2-40B4-BE49-F238E27FC236}">
                <a16:creationId xmlns:a16="http://schemas.microsoft.com/office/drawing/2014/main" id="{5881C698-047C-4DF3-98FB-744BD0499D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950" y="4271963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Text Box 7">
            <a:extLst>
              <a:ext uri="{FF2B5EF4-FFF2-40B4-BE49-F238E27FC236}">
                <a16:creationId xmlns:a16="http://schemas.microsoft.com/office/drawing/2014/main" id="{50DBC6D5-CBE3-4876-9965-94EAC4E31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4038600"/>
            <a:ext cx="8509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compiler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7657" name="Text Box 8">
            <a:extLst>
              <a:ext uri="{FF2B5EF4-FFF2-40B4-BE49-F238E27FC236}">
                <a16:creationId xmlns:a16="http://schemas.microsoft.com/office/drawing/2014/main" id="{715DCB9A-AE22-4ED6-8731-D30FBCD1C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0"/>
            <a:ext cx="11255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C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source code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7658" name="Text Box 9">
            <a:extLst>
              <a:ext uri="{FF2B5EF4-FFF2-40B4-BE49-F238E27FC236}">
                <a16:creationId xmlns:a16="http://schemas.microsoft.com/office/drawing/2014/main" id="{FA70F8AE-D84D-45C0-9C0B-80A60FF17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275" y="4038600"/>
            <a:ext cx="9763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x86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assembler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7659" name="Text Box 10">
            <a:extLst>
              <a:ext uri="{FF2B5EF4-FFF2-40B4-BE49-F238E27FC236}">
                <a16:creationId xmlns:a16="http://schemas.microsoft.com/office/drawing/2014/main" id="{23D07BDA-4F64-4DD0-B549-3151E3BA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3962400"/>
            <a:ext cx="8620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x86 ASM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7660" name="Line 11">
            <a:extLst>
              <a:ext uri="{FF2B5EF4-FFF2-40B4-BE49-F238E27FC236}">
                <a16:creationId xmlns:a16="http://schemas.microsoft.com/office/drawing/2014/main" id="{7AED5044-90DB-4187-A6A6-2B9769D35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8350" y="4271963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Text Box 12">
            <a:extLst>
              <a:ext uri="{FF2B5EF4-FFF2-40B4-BE49-F238E27FC236}">
                <a16:creationId xmlns:a16="http://schemas.microsoft.com/office/drawing/2014/main" id="{21AA3AC4-3DCE-4A15-9F74-1F89FA363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588" y="3962400"/>
            <a:ext cx="15795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Pentium op codes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7662" name="Line 13">
            <a:extLst>
              <a:ext uri="{FF2B5EF4-FFF2-40B4-BE49-F238E27FC236}">
                <a16:creationId xmlns:a16="http://schemas.microsoft.com/office/drawing/2014/main" id="{4F18DDB0-2AEA-484D-8C5B-60D9EE0D7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9150" y="4271963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17C18FA4-AA19-4C1C-BC60-1A5913924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Checks During Compilation</a:t>
            </a: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727E2526-B899-4543-B83F-A3C1CC43E0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178800" cy="4876800"/>
          </a:xfrm>
        </p:spPr>
        <p:txBody>
          <a:bodyPr/>
          <a:lstStyle/>
          <a:p>
            <a:pPr eaLnBrk="1" hangingPunct="1"/>
            <a:r>
              <a:rPr lang="en-US" altLang="en-US"/>
              <a:t>Syntactically invalid constructs</a:t>
            </a:r>
          </a:p>
          <a:p>
            <a:pPr eaLnBrk="1" hangingPunct="1"/>
            <a:r>
              <a:rPr lang="en-US" altLang="en-US"/>
              <a:t>Invalid type conversions</a:t>
            </a:r>
          </a:p>
          <a:p>
            <a:pPr lvl="1" eaLnBrk="1" hangingPunct="1"/>
            <a:r>
              <a:rPr lang="en-US" altLang="en-US"/>
              <a:t>A value is used in the “wrong” context, e.g., assigning a float to an int</a:t>
            </a:r>
          </a:p>
          <a:p>
            <a:pPr eaLnBrk="1" hangingPunct="1"/>
            <a:r>
              <a:rPr lang="en-US" altLang="en-US"/>
              <a:t>Static determination of type information is also used to generate more efficient code</a:t>
            </a:r>
          </a:p>
          <a:p>
            <a:pPr lvl="1" eaLnBrk="1" hangingPunct="1"/>
            <a:r>
              <a:rPr lang="en-US" altLang="en-US"/>
              <a:t>Know what kind of values will be stored in a given memory region during program execution</a:t>
            </a:r>
          </a:p>
          <a:p>
            <a:pPr eaLnBrk="1" hangingPunct="1"/>
            <a:r>
              <a:rPr lang="en-US" altLang="en-US" u="sng"/>
              <a:t>Some</a:t>
            </a:r>
            <a:r>
              <a:rPr lang="en-US" altLang="en-US"/>
              <a:t> programmer logic errors</a:t>
            </a:r>
          </a:p>
          <a:p>
            <a:pPr lvl="1" eaLnBrk="1" hangingPunct="1"/>
            <a:r>
              <a:rPr lang="en-US" altLang="en-US"/>
              <a:t>Can be subtle: </a:t>
            </a:r>
            <a:r>
              <a:rPr lang="en-US" altLang="en-US">
                <a:solidFill>
                  <a:schemeClr val="folHlink"/>
                </a:solidFill>
              </a:rPr>
              <a:t>if (a = b) …</a:t>
            </a:r>
            <a:r>
              <a:rPr lang="en-US" altLang="en-US"/>
              <a:t> instead of </a:t>
            </a:r>
            <a:r>
              <a:rPr lang="en-US" altLang="en-US">
                <a:solidFill>
                  <a:schemeClr val="folHlink"/>
                </a:solidFill>
              </a:rPr>
              <a:t>if (a == b) …</a:t>
            </a:r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FEB749AA-6618-4A45-9672-36BB487688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58FA487A-FE91-4BC0-B46E-6ACF8D26B697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19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6">
            <a:extLst>
              <a:ext uri="{FF2B5EF4-FFF2-40B4-BE49-F238E27FC236}">
                <a16:creationId xmlns:a16="http://schemas.microsoft.com/office/drawing/2014/main" id="{DBF4745B-3421-4A99-AE8C-D7CB83446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Compilation Process</a:t>
            </a: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id="{7A803299-EDF5-4E9E-BE5C-418083C2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280532C2-D629-4BD6-B108-D121FC655B54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41D4DAB-ED1D-429A-9189-CAACB62C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25146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C98B22C8-400E-4409-8F71-8E39EC15F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25146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033611A2-1406-4CAA-B0D9-BA0ECD735A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39825" y="3200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Text Box 6">
            <a:extLst>
              <a:ext uri="{FF2B5EF4-FFF2-40B4-BE49-F238E27FC236}">
                <a16:creationId xmlns:a16="http://schemas.microsoft.com/office/drawing/2014/main" id="{432701B2-DEEA-4F5B-AF16-47046A4A4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3" y="2586038"/>
            <a:ext cx="83661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Lexical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analyzer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04" name="Text Box 7">
            <a:extLst>
              <a:ext uri="{FF2B5EF4-FFF2-40B4-BE49-F238E27FC236}">
                <a16:creationId xmlns:a16="http://schemas.microsoft.com/office/drawing/2014/main" id="{6AE74A42-A066-489C-9567-F87EA6DD8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763" y="3271838"/>
            <a:ext cx="10429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raw source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code text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05" name="Text Box 8">
            <a:extLst>
              <a:ext uri="{FF2B5EF4-FFF2-40B4-BE49-F238E27FC236}">
                <a16:creationId xmlns:a16="http://schemas.microsoft.com/office/drawing/2014/main" id="{C8555C63-8DFA-48CF-B1B1-837716670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2509838"/>
            <a:ext cx="12382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Syntax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   analyzer +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 type checker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06" name="Text Box 9">
            <a:extLst>
              <a:ext uri="{FF2B5EF4-FFF2-40B4-BE49-F238E27FC236}">
                <a16:creationId xmlns:a16="http://schemas.microsoft.com/office/drawing/2014/main" id="{2CDF27DD-102F-4D50-9C1F-BACD955BA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2113" y="2509838"/>
            <a:ext cx="7000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tokens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07" name="Line 10">
            <a:extLst>
              <a:ext uri="{FF2B5EF4-FFF2-40B4-BE49-F238E27FC236}">
                <a16:creationId xmlns:a16="http://schemas.microsoft.com/office/drawing/2014/main" id="{5CD6EC19-B874-4E38-93B7-53408CDCC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3225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8" name="Text Box 11">
            <a:extLst>
              <a:ext uri="{FF2B5EF4-FFF2-40B4-BE49-F238E27FC236}">
                <a16:creationId xmlns:a16="http://schemas.microsoft.com/office/drawing/2014/main" id="{8EC8255F-F2EB-4E69-9D07-34E86FC64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8" y="2509838"/>
            <a:ext cx="571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ASTs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09" name="Line 12">
            <a:extLst>
              <a:ext uri="{FF2B5EF4-FFF2-40B4-BE49-F238E27FC236}">
                <a16:creationId xmlns:a16="http://schemas.microsoft.com/office/drawing/2014/main" id="{AE936566-D2E0-4E9B-A802-F798EBCE1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2025" y="2819400"/>
            <a:ext cx="701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Rectangle 13">
            <a:extLst>
              <a:ext uri="{FF2B5EF4-FFF2-40B4-BE49-F238E27FC236}">
                <a16:creationId xmlns:a16="http://schemas.microsoft.com/office/drawing/2014/main" id="{3F01109F-DE02-4E1A-881E-8ABB22992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25" y="25146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9711" name="Text Box 14">
            <a:extLst>
              <a:ext uri="{FF2B5EF4-FFF2-40B4-BE49-F238E27FC236}">
                <a16:creationId xmlns:a16="http://schemas.microsoft.com/office/drawing/2014/main" id="{EC9A4181-2D95-4C69-AE41-9D33F99F6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2590800"/>
            <a:ext cx="1193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Intermediate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code gen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12" name="Line 15">
            <a:extLst>
              <a:ext uri="{FF2B5EF4-FFF2-40B4-BE49-F238E27FC236}">
                <a16:creationId xmlns:a16="http://schemas.microsoft.com/office/drawing/2014/main" id="{E8A14D18-E3F6-407D-8708-5F001F772E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0825" y="2819400"/>
            <a:ext cx="541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Rectangle 16">
            <a:extLst>
              <a:ext uri="{FF2B5EF4-FFF2-40B4-BE49-F238E27FC236}">
                <a16:creationId xmlns:a16="http://schemas.microsoft.com/office/drawing/2014/main" id="{01F69F89-4EC5-481A-9DE1-381EB548E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146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9714" name="Text Box 17">
            <a:extLst>
              <a:ext uri="{FF2B5EF4-FFF2-40B4-BE49-F238E27FC236}">
                <a16:creationId xmlns:a16="http://schemas.microsoft.com/office/drawing/2014/main" id="{11271D85-5D33-43F5-8114-344093905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2662238"/>
            <a:ext cx="9350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Optimizer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15" name="Rectangle 18">
            <a:extLst>
              <a:ext uri="{FF2B5EF4-FFF2-40B4-BE49-F238E27FC236}">
                <a16:creationId xmlns:a16="http://schemas.microsoft.com/office/drawing/2014/main" id="{751C2DD0-1AA3-496D-9479-253692FFE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63" y="24384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9716" name="Text Box 19">
            <a:extLst>
              <a:ext uri="{FF2B5EF4-FFF2-40B4-BE49-F238E27FC236}">
                <a16:creationId xmlns:a16="http://schemas.microsoft.com/office/drawing/2014/main" id="{F7907D1F-C0BD-4B82-A5CE-553F1BFE8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0" y="2509838"/>
            <a:ext cx="357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IC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17" name="Line 20">
            <a:extLst>
              <a:ext uri="{FF2B5EF4-FFF2-40B4-BE49-F238E27FC236}">
                <a16:creationId xmlns:a16="http://schemas.microsoft.com/office/drawing/2014/main" id="{9512613B-9EBC-4F47-BA9E-DC637878A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5163" y="2819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8" name="Text Box 21">
            <a:extLst>
              <a:ext uri="{FF2B5EF4-FFF2-40B4-BE49-F238E27FC236}">
                <a16:creationId xmlns:a16="http://schemas.microsoft.com/office/drawing/2014/main" id="{D29E76EB-CD2A-4891-8296-3B310AD91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163" y="2509838"/>
            <a:ext cx="520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IC</a:t>
            </a:r>
            <a:r>
              <a:rPr lang="en-US" altLang="en-US" sz="1400" baseline="-25000">
                <a:latin typeface="Tahoma" panose="020B0604030504040204" pitchFamily="34" charset="0"/>
                <a:ea typeface="MS PGothic" panose="020B0600070205080204" pitchFamily="34" charset="-128"/>
              </a:rPr>
              <a:t>opt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19" name="Text Box 22">
            <a:extLst>
              <a:ext uri="{FF2B5EF4-FFF2-40B4-BE49-F238E27FC236}">
                <a16:creationId xmlns:a16="http://schemas.microsoft.com/office/drawing/2014/main" id="{56A33376-6347-4289-9AB4-9F2942077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514600"/>
            <a:ext cx="9779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Final code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gen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20" name="Line 23">
            <a:extLst>
              <a:ext uri="{FF2B5EF4-FFF2-40B4-BE49-F238E27FC236}">
                <a16:creationId xmlns:a16="http://schemas.microsoft.com/office/drawing/2014/main" id="{EED3A5D1-04B0-487D-AE62-1B400FA2E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3124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Text Box 24">
            <a:extLst>
              <a:ext uri="{FF2B5EF4-FFF2-40B4-BE49-F238E27FC236}">
                <a16:creationId xmlns:a16="http://schemas.microsoft.com/office/drawing/2014/main" id="{73930626-40EE-4EB9-BE67-A5727318C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075" y="3271838"/>
            <a:ext cx="5254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ASM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22" name="Rectangle 25">
            <a:extLst>
              <a:ext uri="{FF2B5EF4-FFF2-40B4-BE49-F238E27FC236}">
                <a16:creationId xmlns:a16="http://schemas.microsoft.com/office/drawing/2014/main" id="{37605F18-5D79-48DF-B666-469580A38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75" y="3733800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9723" name="Text Box 26">
            <a:extLst>
              <a:ext uri="{FF2B5EF4-FFF2-40B4-BE49-F238E27FC236}">
                <a16:creationId xmlns:a16="http://schemas.microsoft.com/office/drawing/2014/main" id="{C83A7295-5FA3-4FF8-889E-F88DE3120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588" y="3881438"/>
            <a:ext cx="9890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Assembler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24" name="Line 27">
            <a:extLst>
              <a:ext uri="{FF2B5EF4-FFF2-40B4-BE49-F238E27FC236}">
                <a16:creationId xmlns:a16="http://schemas.microsoft.com/office/drawing/2014/main" id="{D75ED13A-75C9-4140-BC35-B2AA5DFCF5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4419600"/>
            <a:ext cx="635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Text Box 28">
            <a:extLst>
              <a:ext uri="{FF2B5EF4-FFF2-40B4-BE49-F238E27FC236}">
                <a16:creationId xmlns:a16="http://schemas.microsoft.com/office/drawing/2014/main" id="{5EAFD0D7-5E47-460D-96B7-4BB91A4F0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4113" y="5100638"/>
            <a:ext cx="12557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Machine code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26" name="Line 29">
            <a:extLst>
              <a:ext uri="{FF2B5EF4-FFF2-40B4-BE49-F238E27FC236}">
                <a16:creationId xmlns:a16="http://schemas.microsoft.com/office/drawing/2014/main" id="{880D376C-9FF3-4EF9-9DEC-9708109CCB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2425" y="1981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7" name="Text Box 30">
            <a:extLst>
              <a:ext uri="{FF2B5EF4-FFF2-40B4-BE49-F238E27FC236}">
                <a16:creationId xmlns:a16="http://schemas.microsoft.com/office/drawing/2014/main" id="{D69E4732-241A-4643-84F8-E31CED4D5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88" y="1519238"/>
            <a:ext cx="15255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Syntax and static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type errors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28" name="Rectangle 31">
            <a:extLst>
              <a:ext uri="{FF2B5EF4-FFF2-40B4-BE49-F238E27FC236}">
                <a16:creationId xmlns:a16="http://schemas.microsoft.com/office/drawing/2014/main" id="{F079058E-9857-4108-A23F-CA8234E72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3886200"/>
            <a:ext cx="12192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29729" name="Text Box 32">
            <a:extLst>
              <a:ext uri="{FF2B5EF4-FFF2-40B4-BE49-F238E27FC236}">
                <a16:creationId xmlns:a16="http://schemas.microsoft.com/office/drawing/2014/main" id="{8183EB79-6408-480A-83A4-12E16B8C0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4033838"/>
            <a:ext cx="1193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Preprocessor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30" name="Line 33">
            <a:extLst>
              <a:ext uri="{FF2B5EF4-FFF2-40B4-BE49-F238E27FC236}">
                <a16:creationId xmlns:a16="http://schemas.microsoft.com/office/drawing/2014/main" id="{E59B581A-EE0A-4927-A219-52ED9EDE87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139825" y="4572000"/>
            <a:ext cx="31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1" name="Text Box 34">
            <a:extLst>
              <a:ext uri="{FF2B5EF4-FFF2-40B4-BE49-F238E27FC236}">
                <a16:creationId xmlns:a16="http://schemas.microsoft.com/office/drawing/2014/main" id="{DCC4B22A-7883-49D7-ADAF-285B34835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" y="5024438"/>
            <a:ext cx="19907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Source code with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preprocessor directives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9732" name="Line 35">
            <a:extLst>
              <a:ext uri="{FF2B5EF4-FFF2-40B4-BE49-F238E27FC236}">
                <a16:creationId xmlns:a16="http://schemas.microsoft.com/office/drawing/2014/main" id="{C738684B-40CA-4F8C-81AA-71A21E666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257800"/>
            <a:ext cx="5181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926D0810-5605-466E-9D4A-A6B45087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Phases of Compilation</a:t>
            </a: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6FE9BB96-148B-4878-A26A-3892FEDC66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85863"/>
            <a:ext cx="8534400" cy="50292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Preprocessing:</a:t>
            </a:r>
            <a:r>
              <a:rPr lang="en-US" altLang="en-US"/>
              <a:t> conditional macro text substitution</a:t>
            </a:r>
          </a:p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Lexical analysis:</a:t>
            </a:r>
            <a:r>
              <a:rPr lang="en-US" altLang="en-US"/>
              <a:t> convert keywords, identifiers, constants into a sequence of tokens</a:t>
            </a:r>
          </a:p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Syntactic analysis:</a:t>
            </a:r>
            <a:r>
              <a:rPr lang="en-US" altLang="en-US"/>
              <a:t> check that token sequence is syntactically correct</a:t>
            </a:r>
          </a:p>
          <a:p>
            <a:pPr eaLnBrk="1" hangingPunct="1"/>
            <a:r>
              <a:rPr lang="en-US" altLang="en-US" sz="2400"/>
              <a:t>Semantic Analysis: Generate abstract syntax trees (AST), check types</a:t>
            </a:r>
          </a:p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Intermediate code generation:</a:t>
            </a:r>
            <a:r>
              <a:rPr lang="en-US" altLang="en-US"/>
              <a:t> “walk” the ASTs (or Parse Trees) and generate intermediate code</a:t>
            </a:r>
          </a:p>
          <a:p>
            <a:pPr lvl="1" eaLnBrk="1" hangingPunct="1"/>
            <a:r>
              <a:rPr lang="en-US" altLang="en-US"/>
              <a:t>Apply optimizations to produce efficient code</a:t>
            </a:r>
          </a:p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Final code generation:</a:t>
            </a:r>
            <a:r>
              <a:rPr lang="en-US" altLang="en-US"/>
              <a:t> produce machine code</a:t>
            </a: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21A3FA69-E21D-47A5-8775-D995C639CA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8DB9B76D-8ACB-4A18-969A-B85224184088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53B56CC6-6F8F-45EA-9230-8513A12CD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Language Interpretation</a:t>
            </a:r>
          </a:p>
        </p:txBody>
      </p:sp>
      <p:sp>
        <p:nvSpPr>
          <p:cNvPr id="31747" name="Rectangle 7">
            <a:extLst>
              <a:ext uri="{FF2B5EF4-FFF2-40B4-BE49-F238E27FC236}">
                <a16:creationId xmlns:a16="http://schemas.microsoft.com/office/drawing/2014/main" id="{71CCA2C9-A787-402A-BD2A-EE9C7E9C8A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34400" cy="2747963"/>
          </a:xfrm>
        </p:spPr>
        <p:txBody>
          <a:bodyPr/>
          <a:lstStyle/>
          <a:p>
            <a:pPr eaLnBrk="1" hangingPunct="1"/>
            <a:r>
              <a:rPr lang="en-US" altLang="en-US"/>
              <a:t>Read-eval-print loop</a:t>
            </a:r>
          </a:p>
          <a:p>
            <a:pPr lvl="1" eaLnBrk="1" hangingPunct="1"/>
            <a:r>
              <a:rPr lang="en-US" altLang="en-US"/>
              <a:t>Read in an expression, translate into internal form</a:t>
            </a:r>
          </a:p>
          <a:p>
            <a:pPr lvl="1" eaLnBrk="1" hangingPunct="1"/>
            <a:r>
              <a:rPr lang="en-US" altLang="en-US"/>
              <a:t>Evaluate internal form </a:t>
            </a:r>
          </a:p>
          <a:p>
            <a:pPr lvl="2" eaLnBrk="1" hangingPunct="1"/>
            <a:r>
              <a:rPr lang="en-US" altLang="en-US"/>
              <a:t>This requires an abstract machine and a “run-time” component (usually a compiled program that runs on the native machine)</a:t>
            </a:r>
          </a:p>
          <a:p>
            <a:pPr lvl="1" eaLnBrk="1" hangingPunct="1"/>
            <a:r>
              <a:rPr lang="en-US" altLang="en-US"/>
              <a:t>Print the result of evaluation</a:t>
            </a:r>
          </a:p>
          <a:p>
            <a:pPr lvl="1" eaLnBrk="1" hangingPunct="1"/>
            <a:r>
              <a:rPr lang="en-US" altLang="en-US"/>
              <a:t>Loop back to read the next expression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B0FCC9DC-9F44-44AA-9FB0-7A917DE5C0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8C498DC3-6BE4-4F01-9C60-D3F9982B94F0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749" name="Rectangle 8">
            <a:extLst>
              <a:ext uri="{FF2B5EF4-FFF2-40B4-BE49-F238E27FC236}">
                <a16:creationId xmlns:a16="http://schemas.microsoft.com/office/drawing/2014/main" id="{2D7C3787-D4AB-44D1-91AB-D506F7C7F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348163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1750" name="Text Box 9">
            <a:extLst>
              <a:ext uri="{FF2B5EF4-FFF2-40B4-BE49-F238E27FC236}">
                <a16:creationId xmlns:a16="http://schemas.microsoft.com/office/drawing/2014/main" id="{19968D69-BFAC-46C9-A032-6665B15A5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19600"/>
            <a:ext cx="10112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REPL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interpreter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1751" name="Text Box 10">
            <a:extLst>
              <a:ext uri="{FF2B5EF4-FFF2-40B4-BE49-F238E27FC236}">
                <a16:creationId xmlns:a16="http://schemas.microsoft.com/office/drawing/2014/main" id="{8ADD8929-464C-4580-96FD-6A435DA53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0" y="4191000"/>
            <a:ext cx="1016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input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expression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1752" name="Line 11">
            <a:extLst>
              <a:ext uri="{FF2B5EF4-FFF2-40B4-BE49-F238E27FC236}">
                <a16:creationId xmlns:a16="http://schemas.microsoft.com/office/drawing/2014/main" id="{B7D775C9-EA28-4AF0-8C8E-42C3E26F8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675" y="50339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Rectangle 12">
            <a:extLst>
              <a:ext uri="{FF2B5EF4-FFF2-40B4-BE49-F238E27FC236}">
                <a16:creationId xmlns:a16="http://schemas.microsoft.com/office/drawing/2014/main" id="{D136707B-4DCC-4635-BCE7-3A0A141F4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5643563"/>
            <a:ext cx="1371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1754" name="Text Box 13">
            <a:extLst>
              <a:ext uri="{FF2B5EF4-FFF2-40B4-BE49-F238E27FC236}">
                <a16:creationId xmlns:a16="http://schemas.microsoft.com/office/drawing/2014/main" id="{5C42D2AC-A7AA-42CC-8DAE-C9266AF6F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6613" y="5715000"/>
            <a:ext cx="10366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Interpreter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runtime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1755" name="Line 14">
            <a:extLst>
              <a:ext uri="{FF2B5EF4-FFF2-40B4-BE49-F238E27FC236}">
                <a16:creationId xmlns:a16="http://schemas.microsoft.com/office/drawing/2014/main" id="{4D396264-AE57-452E-8D7A-9B93A1FA1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7875" y="4729163"/>
            <a:ext cx="1179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Line 15">
            <a:extLst>
              <a:ext uri="{FF2B5EF4-FFF2-40B4-BE49-F238E27FC236}">
                <a16:creationId xmlns:a16="http://schemas.microsoft.com/office/drawing/2014/main" id="{6AEC3F78-79E5-404C-9AE3-6E42B0568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1975" y="4729163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Text Box 16">
            <a:extLst>
              <a:ext uri="{FF2B5EF4-FFF2-40B4-BE49-F238E27FC236}">
                <a16:creationId xmlns:a16="http://schemas.microsoft.com/office/drawing/2014/main" id="{FD081A68-30A1-4933-8761-42A23D0CB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4419600"/>
            <a:ext cx="619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result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1758" name="Line 17">
            <a:extLst>
              <a:ext uri="{FF2B5EF4-FFF2-40B4-BE49-F238E27FC236}">
                <a16:creationId xmlns:a16="http://schemas.microsoft.com/office/drawing/2014/main" id="{80795810-2B09-4008-BBBF-D3459A5F57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5275" y="50339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E7AC1CF6-6D05-4C4F-A947-844155A2E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5763"/>
            <a:ext cx="8229600" cy="930275"/>
          </a:xfrm>
        </p:spPr>
        <p:txBody>
          <a:bodyPr/>
          <a:lstStyle/>
          <a:p>
            <a:pPr eaLnBrk="1" hangingPunct="1"/>
            <a:r>
              <a:rPr lang="en-US" altLang="en-US"/>
              <a:t>Bytecode Compilation</a:t>
            </a:r>
          </a:p>
        </p:txBody>
      </p:sp>
      <p:sp>
        <p:nvSpPr>
          <p:cNvPr id="32771" name="Rectangle 7">
            <a:extLst>
              <a:ext uri="{FF2B5EF4-FFF2-40B4-BE49-F238E27FC236}">
                <a16:creationId xmlns:a16="http://schemas.microsoft.com/office/drawing/2014/main" id="{50C8EF74-3F13-42A0-BD8E-3B040952AE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6025"/>
            <a:ext cx="8534400" cy="3203575"/>
          </a:xfrm>
        </p:spPr>
        <p:txBody>
          <a:bodyPr/>
          <a:lstStyle/>
          <a:p>
            <a:pPr eaLnBrk="1" hangingPunct="1"/>
            <a:r>
              <a:rPr lang="en-US" altLang="en-US"/>
              <a:t>Combine compilation with interpretation</a:t>
            </a:r>
          </a:p>
          <a:p>
            <a:pPr lvl="1" eaLnBrk="1" hangingPunct="1"/>
            <a:r>
              <a:rPr lang="en-US" altLang="en-US"/>
              <a:t>Idea: remove inefficiencies of read-eval-print loop </a:t>
            </a:r>
          </a:p>
          <a:p>
            <a:pPr eaLnBrk="1" hangingPunct="1"/>
            <a:r>
              <a:rPr lang="en-US" altLang="en-US"/>
              <a:t>Bytecodes are conceptually similar to real machine opcodes, but they represent compiled instructions to a </a:t>
            </a:r>
            <a:r>
              <a:rPr lang="en-US" altLang="en-US" u="sng"/>
              <a:t>virtual</a:t>
            </a:r>
            <a:r>
              <a:rPr lang="en-US" altLang="en-US"/>
              <a:t> machine instead of a real machine</a:t>
            </a:r>
          </a:p>
          <a:p>
            <a:pPr lvl="1" eaLnBrk="1" hangingPunct="1"/>
            <a:r>
              <a:rPr lang="en-US" altLang="en-US"/>
              <a:t>Source code statically compiled into a set of bytecodes</a:t>
            </a:r>
          </a:p>
          <a:p>
            <a:pPr lvl="1" eaLnBrk="1" hangingPunct="1"/>
            <a:r>
              <a:rPr lang="en-US" altLang="en-US"/>
              <a:t>Bytecode interpreter implements the virtual machine</a:t>
            </a:r>
          </a:p>
        </p:txBody>
      </p:sp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FF316684-75D9-47DC-80C7-FC8E71BD0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3714A459-6BD1-4C88-A299-CF9B585324B1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23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2773" name="Text Box 17">
            <a:extLst>
              <a:ext uri="{FF2B5EF4-FFF2-40B4-BE49-F238E27FC236}">
                <a16:creationId xmlns:a16="http://schemas.microsoft.com/office/drawing/2014/main" id="{4CBE4DCE-2624-4CBB-90F4-F3A620375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7763" y="5238750"/>
            <a:ext cx="14001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Virtual machine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runtime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2774" name="Rectangle 8">
            <a:extLst>
              <a:ext uri="{FF2B5EF4-FFF2-40B4-BE49-F238E27FC236}">
                <a16:creationId xmlns:a16="http://schemas.microsoft.com/office/drawing/2014/main" id="{D1AEA926-A02E-4882-9459-AB44F36FA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4471988"/>
            <a:ext cx="1143000" cy="598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2775" name="Text Box 9">
            <a:extLst>
              <a:ext uri="{FF2B5EF4-FFF2-40B4-BE49-F238E27FC236}">
                <a16:creationId xmlns:a16="http://schemas.microsoft.com/office/drawing/2014/main" id="{BF1CA0F9-0249-460D-933D-3BD267063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513" y="4471988"/>
            <a:ext cx="9017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Bytecode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compiler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2776" name="Rectangle 10">
            <a:extLst>
              <a:ext uri="{FF2B5EF4-FFF2-40B4-BE49-F238E27FC236}">
                <a16:creationId xmlns:a16="http://schemas.microsoft.com/office/drawing/2014/main" id="{FCF2BEF7-FD0D-45C0-88FC-8A6FEB63E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4471988"/>
            <a:ext cx="1143000" cy="598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2777" name="Text Box 11">
            <a:extLst>
              <a:ext uri="{FF2B5EF4-FFF2-40B4-BE49-F238E27FC236}">
                <a16:creationId xmlns:a16="http://schemas.microsoft.com/office/drawing/2014/main" id="{E65C7DC5-C40A-4767-95F3-9E8E2CAE8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4613275"/>
            <a:ext cx="8477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source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program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2778" name="Line 12">
            <a:extLst>
              <a:ext uri="{FF2B5EF4-FFF2-40B4-BE49-F238E27FC236}">
                <a16:creationId xmlns:a16="http://schemas.microsoft.com/office/drawing/2014/main" id="{D0DF109F-33A3-4D0D-B168-D642947C8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9688" y="4629150"/>
            <a:ext cx="11795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Text Box 13">
            <a:extLst>
              <a:ext uri="{FF2B5EF4-FFF2-40B4-BE49-F238E27FC236}">
                <a16:creationId xmlns:a16="http://schemas.microsoft.com/office/drawing/2014/main" id="{E7DF0EF3-DF45-4594-95D0-460DB4DE7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68947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bytecodes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2780" name="Text Box 14">
            <a:extLst>
              <a:ext uri="{FF2B5EF4-FFF2-40B4-BE49-F238E27FC236}">
                <a16:creationId xmlns:a16="http://schemas.microsoft.com/office/drawing/2014/main" id="{462031CF-4AD4-41F6-BB5F-BF3157C0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463" y="4471988"/>
            <a:ext cx="10112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Bytecode</a:t>
            </a:r>
            <a:b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</a:b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interpreter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2781" name="Line 15">
            <a:extLst>
              <a:ext uri="{FF2B5EF4-FFF2-40B4-BE49-F238E27FC236}">
                <a16:creationId xmlns:a16="http://schemas.microsoft.com/office/drawing/2014/main" id="{CCF923F3-7D80-4ACE-9C49-05C5967FA3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50704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Rectangle 16">
            <a:extLst>
              <a:ext uri="{FF2B5EF4-FFF2-40B4-BE49-F238E27FC236}">
                <a16:creationId xmlns:a16="http://schemas.microsoft.com/office/drawing/2014/main" id="{D965D34B-D245-4E8B-ACFC-7498F3D92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222875"/>
            <a:ext cx="1371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2783" name="Line 18">
            <a:extLst>
              <a:ext uri="{FF2B5EF4-FFF2-40B4-BE49-F238E27FC236}">
                <a16:creationId xmlns:a16="http://schemas.microsoft.com/office/drawing/2014/main" id="{C19A064E-A364-4EA9-A8C7-D211F4402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629150"/>
            <a:ext cx="1179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Line 19">
            <a:extLst>
              <a:ext uri="{FF2B5EF4-FFF2-40B4-BE49-F238E27FC236}">
                <a16:creationId xmlns:a16="http://schemas.microsoft.com/office/drawing/2014/main" id="{4CE88384-5822-4E04-8439-F963BAAA4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629150"/>
            <a:ext cx="1179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5" name="Text Box 20">
            <a:extLst>
              <a:ext uri="{FF2B5EF4-FFF2-40B4-BE49-F238E27FC236}">
                <a16:creationId xmlns:a16="http://schemas.microsoft.com/office/drawing/2014/main" id="{E598BBDF-4A76-40F6-8424-10964C79E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4608513"/>
            <a:ext cx="619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t>result</a:t>
            </a:r>
            <a:endParaRPr lang="en-US" altLang="en-US" sz="2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2786" name="Line 21">
            <a:extLst>
              <a:ext uri="{FF2B5EF4-FFF2-40B4-BE49-F238E27FC236}">
                <a16:creationId xmlns:a16="http://schemas.microsoft.com/office/drawing/2014/main" id="{30C22C27-81F0-4FA9-87C2-8F3FB0EDCD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50704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A78AF7A-7C2B-447A-8742-DE82BCAB4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GB" altLang="en-US"/>
              <a:t>Binding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B561276-F039-4D99-9951-281497EB6B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GB" altLang="en-US">
                <a:solidFill>
                  <a:schemeClr val="hlink"/>
                </a:solidFill>
              </a:rPr>
              <a:t>Binding</a:t>
            </a:r>
            <a:r>
              <a:rPr lang="en-GB" altLang="en-US"/>
              <a:t> = association between an object and a property of that object</a:t>
            </a:r>
          </a:p>
          <a:p>
            <a:pPr lvl="1" eaLnBrk="1" hangingPunct="1"/>
            <a:r>
              <a:rPr lang="en-GB" altLang="en-US"/>
              <a:t>Example: a variable and its type</a:t>
            </a:r>
          </a:p>
          <a:p>
            <a:pPr lvl="1" eaLnBrk="1" hangingPunct="1"/>
            <a:r>
              <a:rPr lang="en-GB" altLang="en-US"/>
              <a:t>Example: a variable and its value</a:t>
            </a:r>
          </a:p>
          <a:p>
            <a:pPr eaLnBrk="1" hangingPunct="1"/>
            <a:r>
              <a:rPr lang="en-GB" altLang="en-US"/>
              <a:t>A language element is bound to a property at the time that property is defined for it</a:t>
            </a:r>
          </a:p>
          <a:p>
            <a:pPr lvl="1" eaLnBrk="1" hangingPunct="1"/>
            <a:r>
              <a:rPr lang="en-GB" altLang="en-US">
                <a:solidFill>
                  <a:schemeClr val="hlink"/>
                </a:solidFill>
              </a:rPr>
              <a:t>Early binding</a:t>
            </a:r>
            <a:r>
              <a:rPr lang="en-GB" altLang="en-US"/>
              <a:t> takes place at compile-time</a:t>
            </a:r>
          </a:p>
          <a:p>
            <a:pPr lvl="1" eaLnBrk="1" hangingPunct="1"/>
            <a:r>
              <a:rPr lang="en-GB" altLang="en-US">
                <a:solidFill>
                  <a:schemeClr val="hlink"/>
                </a:solidFill>
              </a:rPr>
              <a:t>Late binding</a:t>
            </a:r>
            <a:r>
              <a:rPr lang="en-GB" altLang="en-US"/>
              <a:t> takes place at run-time</a:t>
            </a:r>
          </a:p>
        </p:txBody>
      </p:sp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3A361883-CCF7-490E-A961-C987B32151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t>slide </a:t>
            </a:r>
            <a:fld id="{47DC0A0F-30D2-44D7-8421-D01FEE3891E6}" type="slidenum">
              <a:rPr lang="en-US" altLang="en-US" sz="1200" smtClean="0">
                <a:solidFill>
                  <a:schemeClr val="bg2"/>
                </a:solidFill>
                <a:latin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24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2309063-04F7-4D8F-AA00-DFD79FD43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Compilers vs Interpreters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9166BD6-FA72-4D7A-AD69-E65FE6E23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8625" y="2590800"/>
            <a:ext cx="8229600" cy="3886200"/>
          </a:xfrm>
        </p:spPr>
        <p:txBody>
          <a:bodyPr/>
          <a:lstStyle/>
          <a:p>
            <a:pPr eaLnBrk="1" hangingPunct="1"/>
            <a:r>
              <a:rPr lang="en-US" altLang="en-US"/>
              <a:t>A compiler or an interpreter </a:t>
            </a:r>
            <a:r>
              <a:rPr lang="en-US" altLang="ko-KR" sz="2600">
                <a:ea typeface="Gulim" panose="020B0600000101010101" pitchFamily="34" charset="-127"/>
              </a:rPr>
              <a:t> </a:t>
            </a:r>
            <a:r>
              <a:rPr lang="en-US" altLang="ko-KR">
                <a:ea typeface="Gulim" panose="020B0600000101010101" pitchFamily="34" charset="-127"/>
              </a:rPr>
              <a:t>is a computer program (or set of programs) that </a:t>
            </a:r>
            <a:r>
              <a:rPr lang="en-US" altLang="en-US"/>
              <a:t>converts program written in high-level language into machine code understood by the computer </a:t>
            </a:r>
            <a:endParaRPr lang="en-US" altLang="ko-KR">
              <a:ea typeface="Gulim" panose="020B0600000101010101" pitchFamily="34" charset="-127"/>
            </a:endParaRPr>
          </a:p>
        </p:txBody>
      </p:sp>
      <p:sp>
        <p:nvSpPr>
          <p:cNvPr id="35844" name="Slide Number Placeholder 16">
            <a:extLst>
              <a:ext uri="{FF2B5EF4-FFF2-40B4-BE49-F238E27FC236}">
                <a16:creationId xmlns:a16="http://schemas.microsoft.com/office/drawing/2014/main" id="{DA4B5D02-871B-40B2-9151-C802CD2315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7ACA6DF6-7D2C-4C92-8B57-7203BC2EC5B6}" type="slidenum">
              <a:rPr lang="en-US" altLang="en-US" sz="1400" smtClean="0">
                <a:latin typeface="Times" panose="02020603050405020304" pitchFamily="18" charset="0"/>
                <a:ea typeface="MS PGothic" panose="020B0600070205080204" pitchFamily="34" charset="-128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</a:t>
            </a:fld>
            <a:endParaRPr lang="en-US" altLang="en-US" sz="1400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5845" name="Line 12">
            <a:extLst>
              <a:ext uri="{FF2B5EF4-FFF2-40B4-BE49-F238E27FC236}">
                <a16:creationId xmlns:a16="http://schemas.microsoft.com/office/drawing/2014/main" id="{164C1504-B301-4F50-B002-52F09D0F4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42672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39796CA-06B6-4AEA-9B3F-851C14661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33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/>
              <a:t>Compilers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955F7-1526-4191-8F83-26B4AB669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19200"/>
            <a:ext cx="8610600" cy="2974975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Scans the entire program and translates it as a whole into machine code.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Takes large amount of time to analyze the source code but the overall execution time is comparatively faster.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 Generates the error message only after scanning the whole program.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Programming language like C, C++ use compilers.</a:t>
            </a: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dirty="0"/>
              <a:t> 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2DE3F922-C8EA-4A21-8517-3F2E5747F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38" y="4194175"/>
            <a:ext cx="2438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Compiler</a:t>
            </a:r>
          </a:p>
        </p:txBody>
      </p:sp>
      <p:sp>
        <p:nvSpPr>
          <p:cNvPr id="36869" name="Line 5">
            <a:extLst>
              <a:ext uri="{FF2B5EF4-FFF2-40B4-BE49-F238E27FC236}">
                <a16:creationId xmlns:a16="http://schemas.microsoft.com/office/drawing/2014/main" id="{884C7375-8769-4D0C-AE11-37DB7DC3C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8638" y="4651375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Line 6">
            <a:extLst>
              <a:ext uri="{FF2B5EF4-FFF2-40B4-BE49-F238E27FC236}">
                <a16:creationId xmlns:a16="http://schemas.microsoft.com/office/drawing/2014/main" id="{C1BDC15D-D40C-4038-AC69-E32911DB0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5638" y="5108575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ED55CC76-738C-4DBB-841A-7306EA891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8" y="5565775"/>
            <a:ext cx="205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Error messages</a:t>
            </a:r>
          </a:p>
        </p:txBody>
      </p:sp>
      <p:sp>
        <p:nvSpPr>
          <p:cNvPr id="36872" name="Line 9">
            <a:extLst>
              <a:ext uri="{FF2B5EF4-FFF2-40B4-BE49-F238E27FC236}">
                <a16:creationId xmlns:a16="http://schemas.microsoft.com/office/drawing/2014/main" id="{B7C79906-E9BF-42DD-8DB1-3E051F7785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4838" y="4651375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Rectangle 10">
            <a:extLst>
              <a:ext uri="{FF2B5EF4-FFF2-40B4-BE49-F238E27FC236}">
                <a16:creationId xmlns:a16="http://schemas.microsoft.com/office/drawing/2014/main" id="{D6B77B92-5D34-469B-9E39-8001B9041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638" y="4194175"/>
            <a:ext cx="15240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Target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Program</a:t>
            </a:r>
          </a:p>
        </p:txBody>
      </p:sp>
      <p:sp>
        <p:nvSpPr>
          <p:cNvPr id="36874" name="Line 11">
            <a:extLst>
              <a:ext uri="{FF2B5EF4-FFF2-40B4-BE49-F238E27FC236}">
                <a16:creationId xmlns:a16="http://schemas.microsoft.com/office/drawing/2014/main" id="{E0652695-90E3-4373-8347-E4E326E83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4638" y="5108575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Text Box 13">
            <a:extLst>
              <a:ext uri="{FF2B5EF4-FFF2-40B4-BE49-F238E27FC236}">
                <a16:creationId xmlns:a16="http://schemas.microsoft.com/office/drawing/2014/main" id="{49C6E338-D100-433F-9BBC-E5D327E4B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3432175"/>
            <a:ext cx="828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Input</a:t>
            </a:r>
          </a:p>
        </p:txBody>
      </p:sp>
      <p:sp>
        <p:nvSpPr>
          <p:cNvPr id="36876" name="Text Box 14">
            <a:extLst>
              <a:ext uri="{FF2B5EF4-FFF2-40B4-BE49-F238E27FC236}">
                <a16:creationId xmlns:a16="http://schemas.microsoft.com/office/drawing/2014/main" id="{8A34769E-5ACE-4C41-BC9F-9ABA52AE4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438" y="5565775"/>
            <a:ext cx="1030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Output</a:t>
            </a:r>
          </a:p>
        </p:txBody>
      </p:sp>
      <p:sp>
        <p:nvSpPr>
          <p:cNvPr id="36877" name="Rectangle 10">
            <a:extLst>
              <a:ext uri="{FF2B5EF4-FFF2-40B4-BE49-F238E27FC236}">
                <a16:creationId xmlns:a16="http://schemas.microsoft.com/office/drawing/2014/main" id="{17826641-58E8-47BB-90BB-DAD3A186D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4194175"/>
            <a:ext cx="15240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Source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Program</a:t>
            </a:r>
          </a:p>
        </p:txBody>
      </p:sp>
      <p:sp>
        <p:nvSpPr>
          <p:cNvPr id="36878" name="Line 11">
            <a:extLst>
              <a:ext uri="{FF2B5EF4-FFF2-40B4-BE49-F238E27FC236}">
                <a16:creationId xmlns:a16="http://schemas.microsoft.com/office/drawing/2014/main" id="{2A5097EF-EDE2-4CA7-825F-8CD706E109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3050" y="3887788"/>
            <a:ext cx="1588" cy="306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A3E7548-7FB6-4D45-BCE3-285632F79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/>
              <a:t>C translator: compiler</a:t>
            </a:r>
          </a:p>
        </p:txBody>
      </p:sp>
      <p:pic>
        <p:nvPicPr>
          <p:cNvPr id="37891" name="Picture 3">
            <a:extLst>
              <a:ext uri="{FF2B5EF4-FFF2-40B4-BE49-F238E27FC236}">
                <a16:creationId xmlns:a16="http://schemas.microsoft.com/office/drawing/2014/main" id="{CF54EA4F-7DAE-45FB-A152-D436DA9B4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6788"/>
            <a:ext cx="9144000" cy="589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99355107-594B-493F-A1EC-D1768F520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Compilers (cont’d)</a:t>
            </a:r>
            <a:endParaRPr lang="en-GB" altLang="en-US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711B2378-7BB5-45AD-AD8F-2D4C830BE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700" y="1611313"/>
            <a:ext cx="8610600" cy="3886200"/>
          </a:xfrm>
        </p:spPr>
        <p:txBody>
          <a:bodyPr/>
          <a:lstStyle/>
          <a:p>
            <a:pPr eaLnBrk="1" hangingPunct="1"/>
            <a:r>
              <a:rPr lang="en-US" altLang="ko-KR">
                <a:ea typeface="Gulim" panose="020B0600000101010101" pitchFamily="34" charset="-127"/>
              </a:rPr>
              <a:t>The most common reason for wanting to transform source code is to create an  executable program. </a:t>
            </a:r>
            <a:endParaRPr lang="en-US" altLang="en-US">
              <a:ea typeface="Gulim" panose="020B0600000101010101" pitchFamily="34" charset="-127"/>
            </a:endParaRPr>
          </a:p>
          <a:p>
            <a:pPr eaLnBrk="1" hangingPunct="1"/>
            <a:r>
              <a:rPr lang="en-US" altLang="en-US"/>
              <a:t>To run a program, execute the compiler (and possibly an assembler) to translate the source program into a machine language program. </a:t>
            </a:r>
            <a:endParaRPr lang="en-GB" altLang="en-US"/>
          </a:p>
          <a:p>
            <a:pPr eaLnBrk="1" hangingPunct="1"/>
            <a:r>
              <a:rPr lang="en-US" altLang="en-US"/>
              <a:t>Execute the resulting machine language program, supplying appropriate input. </a:t>
            </a:r>
            <a:endParaRPr lang="en-GB" altLang="en-US"/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E8AEF45-0A06-4DC9-9F5D-B2EE27BA5F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33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/>
              <a:t>Interpreters </a:t>
            </a:r>
          </a:p>
        </p:txBody>
      </p:sp>
      <p:sp>
        <p:nvSpPr>
          <p:cNvPr id="39939" name="Rectangle 28">
            <a:extLst>
              <a:ext uri="{FF2B5EF4-FFF2-40B4-BE49-F238E27FC236}">
                <a16:creationId xmlns:a16="http://schemas.microsoft.com/office/drawing/2014/main" id="{2EC6B62A-09A8-4CA6-AF36-9257430CBC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1313" y="960438"/>
            <a:ext cx="8229600" cy="3306762"/>
          </a:xfrm>
        </p:spPr>
        <p:txBody>
          <a:bodyPr/>
          <a:lstStyle/>
          <a:p>
            <a:pPr eaLnBrk="1" hangingPunct="1"/>
            <a:r>
              <a:rPr lang="en-US" altLang="en-US" sz="2400"/>
              <a:t>Translates program one statement at a time</a:t>
            </a:r>
          </a:p>
          <a:p>
            <a:pPr eaLnBrk="1" hangingPunct="1"/>
            <a:r>
              <a:rPr lang="en-US" altLang="en-US" sz="2400"/>
              <a:t>Takes less amount of time to analyze the source code but the overall execution time is slower.</a:t>
            </a:r>
          </a:p>
          <a:p>
            <a:pPr eaLnBrk="1" hangingPunct="1"/>
            <a:r>
              <a:rPr lang="en-US" altLang="en-US" sz="2400"/>
              <a:t>Continues translating the program until the first error is met, in which case it stops.</a:t>
            </a:r>
          </a:p>
          <a:p>
            <a:pPr eaLnBrk="1" hangingPunct="1"/>
            <a:r>
              <a:rPr lang="en-US" altLang="en-US" sz="2400"/>
              <a:t>Programming language like Python, Ruby use interpreters.</a:t>
            </a:r>
          </a:p>
          <a:p>
            <a:pPr eaLnBrk="1" hangingPunct="1"/>
            <a:r>
              <a:rPr lang="en-US" altLang="en-US" sz="2400"/>
              <a:t>Oversimplified view:</a:t>
            </a:r>
          </a:p>
        </p:txBody>
      </p:sp>
      <p:sp>
        <p:nvSpPr>
          <p:cNvPr id="39940" name="Slide Number Placeholder 14">
            <a:extLst>
              <a:ext uri="{FF2B5EF4-FFF2-40B4-BE49-F238E27FC236}">
                <a16:creationId xmlns:a16="http://schemas.microsoft.com/office/drawing/2014/main" id="{A360ADCC-6A39-4D77-8946-7421B36810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038225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737BFEA6-EDF8-45CB-994F-3D0B5F64513F}" type="slidenum">
              <a:rPr lang="en-US" altLang="en-US" sz="1400" smtClean="0">
                <a:latin typeface="Times" panose="02020603050405020304" pitchFamily="18" charset="0"/>
                <a:ea typeface="MS PGothic" panose="020B0600070205080204" pitchFamily="34" charset="-128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29</a:t>
            </a:fld>
            <a:endParaRPr lang="en-US" altLang="en-US" sz="1400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603C5D52-D349-4A71-AF98-9299931D7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575" y="4583113"/>
            <a:ext cx="2438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Interpreter</a:t>
            </a:r>
          </a:p>
        </p:txBody>
      </p:sp>
      <p:sp>
        <p:nvSpPr>
          <p:cNvPr id="39942" name="Text Box 15">
            <a:extLst>
              <a:ext uri="{FF2B5EF4-FFF2-40B4-BE49-F238E27FC236}">
                <a16:creationId xmlns:a16="http://schemas.microsoft.com/office/drawing/2014/main" id="{E4C560B0-BD16-47AA-BDBF-B0435413A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513" y="5565775"/>
            <a:ext cx="82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Input</a:t>
            </a:r>
          </a:p>
        </p:txBody>
      </p:sp>
      <p:sp>
        <p:nvSpPr>
          <p:cNvPr id="39943" name="Text Box 16">
            <a:extLst>
              <a:ext uri="{FF2B5EF4-FFF2-40B4-BE49-F238E27FC236}">
                <a16:creationId xmlns:a16="http://schemas.microsoft.com/office/drawing/2014/main" id="{5F7D014A-96E5-449F-B924-01FBC160A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1600" y="4833938"/>
            <a:ext cx="1030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Output</a:t>
            </a:r>
          </a:p>
        </p:txBody>
      </p:sp>
      <p:sp>
        <p:nvSpPr>
          <p:cNvPr id="39944" name="Line 17">
            <a:extLst>
              <a:ext uri="{FF2B5EF4-FFF2-40B4-BE49-F238E27FC236}">
                <a16:creationId xmlns:a16="http://schemas.microsoft.com/office/drawing/2014/main" id="{4EFB1D79-2CA3-434E-88D6-498147F11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0163" y="4743450"/>
            <a:ext cx="12604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5" name="Line 18">
            <a:extLst>
              <a:ext uri="{FF2B5EF4-FFF2-40B4-BE49-F238E27FC236}">
                <a16:creationId xmlns:a16="http://schemas.microsoft.com/office/drawing/2014/main" id="{D7B7895D-FBAF-47E9-AFEA-FC20E0759C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4913" y="5246688"/>
            <a:ext cx="1363662" cy="547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6" name="Line 20">
            <a:extLst>
              <a:ext uri="{FF2B5EF4-FFF2-40B4-BE49-F238E27FC236}">
                <a16:creationId xmlns:a16="http://schemas.microsoft.com/office/drawing/2014/main" id="{B40DC5C1-ACA1-4DF2-A40A-6A073CF73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3800" y="5062538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7" name="Line 21">
            <a:extLst>
              <a:ext uri="{FF2B5EF4-FFF2-40B4-BE49-F238E27FC236}">
                <a16:creationId xmlns:a16="http://schemas.microsoft.com/office/drawing/2014/main" id="{1AE3A496-ECA2-4F95-B471-F7F0C466F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8088" y="5497513"/>
            <a:ext cx="0" cy="377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8" name="Text Box 22">
            <a:extLst>
              <a:ext uri="{FF2B5EF4-FFF2-40B4-BE49-F238E27FC236}">
                <a16:creationId xmlns:a16="http://schemas.microsoft.com/office/drawing/2014/main" id="{5F571353-F785-4B53-9219-C2BC37D62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776913"/>
            <a:ext cx="205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Error messages</a:t>
            </a:r>
          </a:p>
        </p:txBody>
      </p:sp>
      <p:sp>
        <p:nvSpPr>
          <p:cNvPr id="39949" name="Rectangle 10">
            <a:extLst>
              <a:ext uri="{FF2B5EF4-FFF2-40B4-BE49-F238E27FC236}">
                <a16:creationId xmlns:a16="http://schemas.microsoft.com/office/drawing/2014/main" id="{2B6B6F27-A77B-4438-BD24-3CB9FDE50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113" y="4346575"/>
            <a:ext cx="15240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Source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Program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FEDE9DF2-CA73-44B4-AB21-756B6BE63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1638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Interpreters (cont’d)</a:t>
            </a:r>
            <a:endParaRPr lang="en-GB" altLang="en-US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0C82C1BC-3DA3-47D0-ABE7-2E60E6F64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Accepts the source language program </a:t>
            </a:r>
            <a:r>
              <a:rPr lang="en-US" altLang="en-US" b="1"/>
              <a:t>and</a:t>
            </a:r>
            <a:r>
              <a:rPr lang="en-US" altLang="en-US"/>
              <a:t> the appropriate input</a:t>
            </a:r>
          </a:p>
          <a:p>
            <a:pPr eaLnBrk="1" hangingPunct="1"/>
            <a:r>
              <a:rPr lang="en-US" altLang="en-US"/>
              <a:t>Itself produces the output of the program.</a:t>
            </a:r>
            <a:endParaRPr lang="en-GB" altLang="en-US"/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6BFF1F09-773C-43B6-8595-EC286C7B1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Python translator: 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F946-4C0C-47CE-B3BC-0E1F7B98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8229600" cy="12192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Python command window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6B4ABB3C-12CC-44D1-84A3-70FD1D41D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8400"/>
            <a:ext cx="8686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FEA7722C-6F29-4381-84B9-DAD2BEE7C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991600" cy="1371600"/>
          </a:xfrm>
        </p:spPr>
        <p:txBody>
          <a:bodyPr/>
          <a:lstStyle/>
          <a:p>
            <a:pPr eaLnBrk="1" hangingPunct="1"/>
            <a:r>
              <a:rPr lang="en-US" altLang="en-US"/>
              <a:t>Interpreter as a part of compiler</a:t>
            </a:r>
            <a:endParaRPr lang="en-GB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E2E0DC5F-92E9-41DC-AA0B-E8F73C6E33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34400" cy="4267200"/>
          </a:xfrm>
        </p:spPr>
        <p:txBody>
          <a:bodyPr/>
          <a:lstStyle/>
          <a:p>
            <a:pPr eaLnBrk="1" hangingPunct="1"/>
            <a:r>
              <a:rPr lang="en-US" altLang="en-US"/>
              <a:t>In a compiler implementations</a:t>
            </a:r>
          </a:p>
          <a:p>
            <a:pPr eaLnBrk="1" hangingPunct="1"/>
            <a:r>
              <a:rPr lang="en-US" altLang="en-US"/>
              <a:t>The source code is compiled to a machine language for an idealized virtual machine</a:t>
            </a:r>
          </a:p>
          <a:p>
            <a:pPr eaLnBrk="1" hangingPunct="1"/>
            <a:r>
              <a:rPr lang="en-US" altLang="en-US"/>
              <a:t>The interpreter of accepts the codes and the input, produces the output. </a:t>
            </a:r>
          </a:p>
          <a:p>
            <a:pPr eaLnBrk="1" hangingPunct="1"/>
            <a:r>
              <a:rPr lang="en-US" altLang="en-US"/>
              <a:t>This technique is quite popular to make the compiler independent with the computer</a:t>
            </a:r>
            <a:endParaRPr lang="en-GB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10">
            <a:extLst>
              <a:ext uri="{FF2B5EF4-FFF2-40B4-BE49-F238E27FC236}">
                <a16:creationId xmlns:a16="http://schemas.microsoft.com/office/drawing/2014/main" id="{0CF9D10B-32A0-4A93-9545-29C979A13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8" y="3462338"/>
            <a:ext cx="455295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59" name="Rectangle 2">
            <a:extLst>
              <a:ext uri="{FF2B5EF4-FFF2-40B4-BE49-F238E27FC236}">
                <a16:creationId xmlns:a16="http://schemas.microsoft.com/office/drawing/2014/main" id="{6B6FD251-51F3-418E-A04B-40C6505D6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4000"/>
              <a:t>Compilers and Interpreters (cont’d)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385A31A4-C06E-445E-935B-C00A1FB490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68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Compiler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altLang="en-US" sz="1800" i="1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that translates code of a </a:t>
            </a:r>
            <a:r>
              <a:rPr lang="en-US" altLang="en-US" sz="1800" i="1">
                <a:latin typeface="Arial" panose="020B0604020202020204" pitchFamily="34" charset="0"/>
                <a:cs typeface="Arial" panose="020B0604020202020204" pitchFamily="34" charset="0"/>
              </a:rPr>
              <a:t>programming language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into </a:t>
            </a:r>
            <a:r>
              <a:rPr lang="en-US" altLang="en-US" sz="1800" i="1">
                <a:latin typeface="Arial" panose="020B0604020202020204" pitchFamily="34" charset="0"/>
                <a:cs typeface="Arial" panose="020B0604020202020204" pitchFamily="34" charset="0"/>
              </a:rPr>
              <a:t>machine code (assembly)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5DC9CBA3-CD62-48B2-AFC1-62B379BBF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38475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1600">
                <a:latin typeface="Arial" panose="020B0604020202020204" pitchFamily="34" charset="0"/>
              </a:rPr>
              <a:t>An </a:t>
            </a:r>
            <a:r>
              <a:rPr lang="en-US" altLang="en-US" sz="1600" b="1">
                <a:latin typeface="Arial" panose="020B0604020202020204" pitchFamily="34" charset="0"/>
              </a:rPr>
              <a:t>interpreter </a:t>
            </a:r>
            <a:r>
              <a:rPr lang="en-US" altLang="en-US" sz="1600">
                <a:latin typeface="Arial" panose="020B0604020202020204" pitchFamily="34" charset="0"/>
              </a:rPr>
              <a:t>translates some form of source code into a target representation that it can immediately execute and evaluate</a:t>
            </a:r>
          </a:p>
        </p:txBody>
      </p:sp>
      <p:sp>
        <p:nvSpPr>
          <p:cNvPr id="45062" name="Rectangle 7">
            <a:extLst>
              <a:ext uri="{FF2B5EF4-FFF2-40B4-BE49-F238E27FC236}">
                <a16:creationId xmlns:a16="http://schemas.microsoft.com/office/drawing/2014/main" id="{9587786D-4C24-48DC-ABAB-6F3666BA9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4543425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1400" b="1">
                <a:latin typeface="Arial" panose="020B0604020202020204" pitchFamily="34" charset="0"/>
              </a:rPr>
              <a:t>Modification of Interpreter</a:t>
            </a:r>
            <a:r>
              <a:rPr lang="en-US" altLang="en-US" sz="1400">
                <a:latin typeface="Arial" panose="020B0604020202020204" pitchFamily="34" charset="0"/>
              </a:rPr>
              <a:t> :a </a:t>
            </a:r>
            <a:r>
              <a:rPr lang="en-US" altLang="en-US" sz="1400" i="1">
                <a:latin typeface="Arial" panose="020B0604020202020204" pitchFamily="34" charset="0"/>
              </a:rPr>
              <a:t>program</a:t>
            </a:r>
            <a:r>
              <a:rPr lang="en-US" altLang="en-US" sz="1400">
                <a:latin typeface="Arial" panose="020B0604020202020204" pitchFamily="34" charset="0"/>
              </a:rPr>
              <a:t> that implements or simulates a </a:t>
            </a:r>
            <a:r>
              <a:rPr lang="en-US" altLang="en-US" sz="1400" i="1">
                <a:latin typeface="Arial" panose="020B0604020202020204" pitchFamily="34" charset="0"/>
              </a:rPr>
              <a:t>virtual machine</a:t>
            </a:r>
            <a:r>
              <a:rPr lang="en-US" altLang="en-US" sz="1400">
                <a:latin typeface="Arial" panose="020B0604020202020204" pitchFamily="34" charset="0"/>
              </a:rPr>
              <a:t> using the base set of instructions of a </a:t>
            </a:r>
            <a:r>
              <a:rPr lang="en-US" altLang="en-US" sz="1400" i="1">
                <a:latin typeface="Arial" panose="020B0604020202020204" pitchFamily="34" charset="0"/>
              </a:rPr>
              <a:t>programming language</a:t>
            </a:r>
            <a:r>
              <a:rPr lang="en-US" altLang="en-US" sz="1400">
                <a:latin typeface="Arial" panose="020B0604020202020204" pitchFamily="34" charset="0"/>
              </a:rPr>
              <a:t> as its </a:t>
            </a:r>
            <a:r>
              <a:rPr lang="en-US" altLang="en-US" sz="1400" i="1">
                <a:latin typeface="Arial" panose="020B0604020202020204" pitchFamily="34" charset="0"/>
              </a:rPr>
              <a:t>machine language</a:t>
            </a:r>
            <a:r>
              <a:rPr lang="en-US" altLang="en-US" sz="140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45063" name="Picture 9">
            <a:extLst>
              <a:ext uri="{FF2B5EF4-FFF2-40B4-BE49-F238E27FC236}">
                <a16:creationId xmlns:a16="http://schemas.microsoft.com/office/drawing/2014/main" id="{49D37991-DFA0-4BFE-BAB8-58F73550D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8" y="1905000"/>
            <a:ext cx="7286625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4" name="Picture 12">
            <a:extLst>
              <a:ext uri="{FF2B5EF4-FFF2-40B4-BE49-F238E27FC236}">
                <a16:creationId xmlns:a16="http://schemas.microsoft.com/office/drawing/2014/main" id="{6BAC3855-29C9-4435-9D11-DACE9B6C8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3" y="5153025"/>
            <a:ext cx="46386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22CF0BC-4F9D-4DC4-91C7-B45E48795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ko-KR" sz="4000">
                <a:ea typeface="Gulim" panose="020B0600000101010101" pitchFamily="34" charset="-127"/>
              </a:rPr>
              <a:t>Cousins of the compiler</a:t>
            </a:r>
            <a:endParaRPr lang="en-US" altLang="en-US" sz="4800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DB49FB4-0E8D-4D48-B3F7-D3E883911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1600200"/>
            <a:ext cx="7010400" cy="4648200"/>
          </a:xfrm>
        </p:spPr>
        <p:txBody>
          <a:bodyPr/>
          <a:lstStyle/>
          <a:p>
            <a:pPr eaLnBrk="1" hangingPunct="1"/>
            <a:r>
              <a:rPr lang="en-US" altLang="en-US"/>
              <a:t>Interpreter</a:t>
            </a:r>
          </a:p>
          <a:p>
            <a:pPr eaLnBrk="1" hangingPunct="1"/>
            <a:r>
              <a:rPr lang="en-US" altLang="en-US"/>
              <a:t>Assembler </a:t>
            </a:r>
          </a:p>
          <a:p>
            <a:pPr eaLnBrk="1" hangingPunct="1"/>
            <a:r>
              <a:rPr lang="en-US" altLang="en-US"/>
              <a:t>Linker </a:t>
            </a:r>
          </a:p>
          <a:p>
            <a:pPr eaLnBrk="1" hangingPunct="1"/>
            <a:r>
              <a:rPr lang="en-US" altLang="en-US"/>
              <a:t>Loader </a:t>
            </a:r>
          </a:p>
          <a:p>
            <a:pPr eaLnBrk="1" hangingPunct="1"/>
            <a:r>
              <a:rPr lang="en-US" altLang="en-US"/>
              <a:t>Preprocessor</a:t>
            </a:r>
          </a:p>
          <a:p>
            <a:pPr eaLnBrk="1" hangingPunct="1"/>
            <a:r>
              <a:rPr lang="en-US" altLang="en-US"/>
              <a:t>Editor </a:t>
            </a:r>
          </a:p>
          <a:p>
            <a:pPr eaLnBrk="1" hangingPunct="1"/>
            <a:r>
              <a:rPr lang="en-US" altLang="en-US"/>
              <a:t>Debugger </a:t>
            </a:r>
          </a:p>
          <a:p>
            <a:pPr eaLnBrk="1" hangingPunct="1"/>
            <a:r>
              <a:rPr lang="en-US" altLang="en-US"/>
              <a:t>Profiler </a:t>
            </a:r>
            <a:endParaRPr lang="en-US" altLang="ko-KR">
              <a:ea typeface="Gulim" panose="020B0600000101010101" pitchFamily="34" charset="-127"/>
            </a:endParaRPr>
          </a:p>
          <a:p>
            <a:pPr eaLnBrk="1" hangingPunct="1"/>
            <a:endParaRPr lang="en-US" altLang="ko-KR"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5F7AA3F-C61D-425F-BCFA-B15BDEC7D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613" y="1333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The context of a compiler in a language processor</a:t>
            </a:r>
          </a:p>
        </p:txBody>
      </p:sp>
      <p:sp>
        <p:nvSpPr>
          <p:cNvPr id="47107" name="Slide Number Placeholder 21">
            <a:extLst>
              <a:ext uri="{FF2B5EF4-FFF2-40B4-BE49-F238E27FC236}">
                <a16:creationId xmlns:a16="http://schemas.microsoft.com/office/drawing/2014/main" id="{BFE7ED7B-2CFE-4E82-913F-961A5EB1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42D4581-741F-428E-8AA4-84657AC45711}" type="slidenum">
              <a:rPr lang="en-US" altLang="en-US" sz="1400" smtClean="0">
                <a:latin typeface="Times" panose="02020603050405020304" pitchFamily="18" charset="0"/>
                <a:ea typeface="MS PGothic" panose="020B0600070205080204" pitchFamily="34" charset="-128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35</a:t>
            </a:fld>
            <a:endParaRPr lang="en-US" altLang="en-US" sz="1400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D3402796-2714-494D-BE2E-A26B550E8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297113"/>
            <a:ext cx="18288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Preprocessor</a:t>
            </a:r>
          </a:p>
        </p:txBody>
      </p:sp>
      <p:sp>
        <p:nvSpPr>
          <p:cNvPr id="47109" name="Line 6">
            <a:extLst>
              <a:ext uri="{FF2B5EF4-FFF2-40B4-BE49-F238E27FC236}">
                <a16:creationId xmlns:a16="http://schemas.microsoft.com/office/drawing/2014/main" id="{C1B3F8C8-CD41-44E2-8B7A-79F4C9F37D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5268913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Rectangle 7">
            <a:extLst>
              <a:ext uri="{FF2B5EF4-FFF2-40B4-BE49-F238E27FC236}">
                <a16:creationId xmlns:a16="http://schemas.microsoft.com/office/drawing/2014/main" id="{F299B0B2-ABAA-40B6-8A7B-DDD9335A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211513"/>
            <a:ext cx="18288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Compiler</a:t>
            </a:r>
          </a:p>
        </p:txBody>
      </p:sp>
      <p:sp>
        <p:nvSpPr>
          <p:cNvPr id="47111" name="Rectangle 8">
            <a:extLst>
              <a:ext uri="{FF2B5EF4-FFF2-40B4-BE49-F238E27FC236}">
                <a16:creationId xmlns:a16="http://schemas.microsoft.com/office/drawing/2014/main" id="{AE096909-E946-4097-A974-B65CC66B1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25913"/>
            <a:ext cx="2906713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Assembler/Interpreter</a:t>
            </a:r>
          </a:p>
        </p:txBody>
      </p:sp>
      <p:sp>
        <p:nvSpPr>
          <p:cNvPr id="47112" name="Rectangle 9">
            <a:extLst>
              <a:ext uri="{FF2B5EF4-FFF2-40B4-BE49-F238E27FC236}">
                <a16:creationId xmlns:a16="http://schemas.microsoft.com/office/drawing/2014/main" id="{7B3670CE-DBDA-4183-952F-AF388D2E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040313"/>
            <a:ext cx="18288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Linker+Loader</a:t>
            </a:r>
          </a:p>
        </p:txBody>
      </p:sp>
      <p:sp>
        <p:nvSpPr>
          <p:cNvPr id="47113" name="Text Box 10">
            <a:extLst>
              <a:ext uri="{FF2B5EF4-FFF2-40B4-BE49-F238E27FC236}">
                <a16:creationId xmlns:a16="http://schemas.microsoft.com/office/drawing/2014/main" id="{E5A3FDD5-8D1E-4C3B-B025-A44F2B863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458913"/>
            <a:ext cx="321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Skeletal Source Program</a:t>
            </a:r>
          </a:p>
        </p:txBody>
      </p:sp>
      <p:sp>
        <p:nvSpPr>
          <p:cNvPr id="47114" name="Text Box 11">
            <a:extLst>
              <a:ext uri="{FF2B5EF4-FFF2-40B4-BE49-F238E27FC236}">
                <a16:creationId xmlns:a16="http://schemas.microsoft.com/office/drawing/2014/main" id="{170BAC20-4644-4FAB-8E35-10637FD3C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754313"/>
            <a:ext cx="215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Source Program</a:t>
            </a:r>
          </a:p>
        </p:txBody>
      </p:sp>
      <p:sp>
        <p:nvSpPr>
          <p:cNvPr id="47115" name="Text Box 12">
            <a:extLst>
              <a:ext uri="{FF2B5EF4-FFF2-40B4-BE49-F238E27FC236}">
                <a16:creationId xmlns:a16="http://schemas.microsoft.com/office/drawing/2014/main" id="{FE0EECBC-2EB9-4807-9C26-1BF9B99D0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668713"/>
            <a:ext cx="3398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Target Assembly Program</a:t>
            </a:r>
          </a:p>
        </p:txBody>
      </p:sp>
      <p:sp>
        <p:nvSpPr>
          <p:cNvPr id="47116" name="Text Box 13">
            <a:extLst>
              <a:ext uri="{FF2B5EF4-FFF2-40B4-BE49-F238E27FC236}">
                <a16:creationId xmlns:a16="http://schemas.microsoft.com/office/drawing/2014/main" id="{CB75FFA9-F20C-467A-B866-1538B622B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583113"/>
            <a:ext cx="322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Relocatable Object Code</a:t>
            </a:r>
          </a:p>
        </p:txBody>
      </p:sp>
      <p:sp>
        <p:nvSpPr>
          <p:cNvPr id="47117" name="Text Box 14">
            <a:extLst>
              <a:ext uri="{FF2B5EF4-FFF2-40B4-BE49-F238E27FC236}">
                <a16:creationId xmlns:a16="http://schemas.microsoft.com/office/drawing/2014/main" id="{EEC028DF-EAE2-47F5-97B2-6E40BD851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878513"/>
            <a:ext cx="3144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Absolute Machine Code</a:t>
            </a:r>
          </a:p>
        </p:txBody>
      </p:sp>
      <p:sp>
        <p:nvSpPr>
          <p:cNvPr id="47118" name="Text Box 15">
            <a:extLst>
              <a:ext uri="{FF2B5EF4-FFF2-40B4-BE49-F238E27FC236}">
                <a16:creationId xmlns:a16="http://schemas.microsoft.com/office/drawing/2014/main" id="{87F04697-6080-44E0-B913-1DF9575A0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964113"/>
            <a:ext cx="3175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Libraries and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  <a:ea typeface="MS PGothic" panose="020B0600070205080204" pitchFamily="34" charset="-128"/>
              </a:rPr>
              <a:t>Relocatable Object Files</a:t>
            </a:r>
          </a:p>
        </p:txBody>
      </p:sp>
      <p:sp>
        <p:nvSpPr>
          <p:cNvPr id="47119" name="Line 16">
            <a:extLst>
              <a:ext uri="{FF2B5EF4-FFF2-40B4-BE49-F238E27FC236}">
                <a16:creationId xmlns:a16="http://schemas.microsoft.com/office/drawing/2014/main" id="{80ABB7DE-06D8-431D-903B-21500801B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49751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0" name="Line 21">
            <a:extLst>
              <a:ext uri="{FF2B5EF4-FFF2-40B4-BE49-F238E27FC236}">
                <a16:creationId xmlns:a16="http://schemas.microsoft.com/office/drawing/2014/main" id="{2F1CAC21-5468-4DA4-A4C0-655C1ABBCC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58311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1" name="Line 22">
            <a:extLst>
              <a:ext uri="{FF2B5EF4-FFF2-40B4-BE49-F238E27FC236}">
                <a16:creationId xmlns:a16="http://schemas.microsoft.com/office/drawing/2014/main" id="{58E18FD1-CA1B-4E3E-BF34-721F1F800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66871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Line 23">
            <a:extLst>
              <a:ext uri="{FF2B5EF4-FFF2-40B4-BE49-F238E27FC236}">
                <a16:creationId xmlns:a16="http://schemas.microsoft.com/office/drawing/2014/main" id="{9DE6CB81-C892-42E0-9E28-8E4F12348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75431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3" name="Line 24">
            <a:extLst>
              <a:ext uri="{FF2B5EF4-FFF2-40B4-BE49-F238E27FC236}">
                <a16:creationId xmlns:a16="http://schemas.microsoft.com/office/drawing/2014/main" id="{D5E69AB5-9BB5-4BF1-8E0A-15FE387D4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839913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2833</TotalTime>
  <Words>1596</Words>
  <Application>Microsoft Office PowerPoint</Application>
  <PresentationFormat>On-screen Show (4:3)</PresentationFormat>
  <Paragraphs>272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Calibri</vt:lpstr>
      <vt:lpstr>Arial</vt:lpstr>
      <vt:lpstr>Times New Roman</vt:lpstr>
      <vt:lpstr>Gulim</vt:lpstr>
      <vt:lpstr>Wingdings</vt:lpstr>
      <vt:lpstr>Symbol</vt:lpstr>
      <vt:lpstr>Tahoma</vt:lpstr>
      <vt:lpstr>MS PGothic</vt:lpstr>
      <vt:lpstr>Times</vt:lpstr>
      <vt:lpstr>SoICT-PPT-template-hoi-thao-online</vt:lpstr>
      <vt:lpstr>COMPILER CONSTRUCTION</vt:lpstr>
      <vt:lpstr>Why study compilers?</vt:lpstr>
      <vt:lpstr>More details about the course</vt:lpstr>
      <vt:lpstr>Course Outline </vt:lpstr>
      <vt:lpstr>Course Outline</vt:lpstr>
      <vt:lpstr>Textbooks</vt:lpstr>
      <vt:lpstr>Text books</vt:lpstr>
      <vt:lpstr>Unit 1.  Functions of  a Language Processor</vt:lpstr>
      <vt:lpstr>High Level Programming Languages</vt:lpstr>
      <vt:lpstr>The first and the second generation</vt:lpstr>
      <vt:lpstr>The Third Generation  </vt:lpstr>
      <vt:lpstr>The Fourth Generation</vt:lpstr>
      <vt:lpstr>The Fifth Generation</vt:lpstr>
      <vt:lpstr>Characteristics of high level languages</vt:lpstr>
      <vt:lpstr>Syntax and Semantics of Programming Languages </vt:lpstr>
      <vt:lpstr>Language Processors</vt:lpstr>
      <vt:lpstr>Language Translation</vt:lpstr>
      <vt:lpstr>Language Compilation</vt:lpstr>
      <vt:lpstr>Checks During Compilation</vt:lpstr>
      <vt:lpstr>Compilation Process</vt:lpstr>
      <vt:lpstr>Phases of Compilation</vt:lpstr>
      <vt:lpstr>Language Interpretation</vt:lpstr>
      <vt:lpstr>Bytecode Compilation</vt:lpstr>
      <vt:lpstr>Binding</vt:lpstr>
      <vt:lpstr>Compilers vs Interpreters</vt:lpstr>
      <vt:lpstr>Compilers</vt:lpstr>
      <vt:lpstr>C translator: compiler</vt:lpstr>
      <vt:lpstr>Compilers (cont’d)</vt:lpstr>
      <vt:lpstr>Interpreters </vt:lpstr>
      <vt:lpstr>Interpreters (cont’d)</vt:lpstr>
      <vt:lpstr>Python translator: interpreter</vt:lpstr>
      <vt:lpstr>Interpreter as a part of compiler</vt:lpstr>
      <vt:lpstr>Compilers and Interpreters (cont’d)</vt:lpstr>
      <vt:lpstr>Cousins of the compiler</vt:lpstr>
      <vt:lpstr>The context of a compiler in a language processor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256</cp:revision>
  <cp:lastPrinted>2017-08-28T05:08:49Z</cp:lastPrinted>
  <dcterms:created xsi:type="dcterms:W3CDTF">2008-08-10T02:45:21Z</dcterms:created>
  <dcterms:modified xsi:type="dcterms:W3CDTF">2021-01-19T14:26:33Z</dcterms:modified>
</cp:coreProperties>
</file>