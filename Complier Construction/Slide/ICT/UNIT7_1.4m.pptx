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notesMasterIdLst>
    <p:notesMasterId r:id="rId35"/>
  </p:notesMasterIdLst>
  <p:sldIdLst>
    <p:sldId id="358" r:id="rId2"/>
    <p:sldId id="363" r:id="rId3"/>
    <p:sldId id="458" r:id="rId4"/>
    <p:sldId id="362" r:id="rId5"/>
    <p:sldId id="388" r:id="rId6"/>
    <p:sldId id="389" r:id="rId7"/>
    <p:sldId id="392" r:id="rId8"/>
    <p:sldId id="391" r:id="rId9"/>
    <p:sldId id="390" r:id="rId10"/>
    <p:sldId id="367" r:id="rId11"/>
    <p:sldId id="385" r:id="rId12"/>
    <p:sldId id="386" r:id="rId13"/>
    <p:sldId id="387" r:id="rId14"/>
    <p:sldId id="384" r:id="rId15"/>
    <p:sldId id="457" r:id="rId16"/>
    <p:sldId id="459" r:id="rId17"/>
    <p:sldId id="460" r:id="rId18"/>
    <p:sldId id="454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1" r:id="rId30"/>
    <p:sldId id="382" r:id="rId31"/>
    <p:sldId id="455" r:id="rId32"/>
    <p:sldId id="456" r:id="rId33"/>
    <p:sldId id="3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  <a:srgbClr val="33CCCC"/>
    <a:srgbClr val="FF0000"/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53" autoAdjust="0"/>
    <p:restoredTop sz="94836" autoAdjust="0"/>
  </p:normalViewPr>
  <p:slideViewPr>
    <p:cSldViewPr>
      <p:cViewPr varScale="1">
        <p:scale>
          <a:sx n="48" d="100"/>
          <a:sy n="48" d="100"/>
        </p:scale>
        <p:origin x="963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F9DB153-8FB3-4072-9124-EC946DDC430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39D3199-E2E7-41EB-96C8-91B87AD68D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BEF908C-0252-4AB3-9F07-5E31AB2DDFE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F773ADB7-8319-4AD4-BFB1-274999D33F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7AC62E9A-D931-4161-A84C-01C789C1B5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D4B36AEE-C869-4EE5-8D70-52840EFAD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6295111-523B-452E-B32C-9F54A66216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>
            <a:extLst>
              <a:ext uri="{FF2B5EF4-FFF2-40B4-BE49-F238E27FC236}">
                <a16:creationId xmlns:a16="http://schemas.microsoft.com/office/drawing/2014/main" id="{C83DBDB8-E801-4328-A387-8325BB176D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3A76BF-8EB6-43B6-8D85-4F45CB95C563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A55D32F-6AE0-467B-8B60-2CD2DC37A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795BCAC-ACBD-47C3-BF4A-B8CC8834AC3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F098A9B-237B-4101-AA1E-678CFD50B84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61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57950" y="6141245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2350" y="6413501"/>
            <a:ext cx="1143000" cy="365125"/>
          </a:xfrm>
        </p:spPr>
        <p:txBody>
          <a:bodyPr/>
          <a:lstStyle/>
          <a:p>
            <a:pPr>
              <a:defRPr/>
            </a:pPr>
            <a:fld id="{DB38E4BE-AF6C-4ABB-A294-ACCEF0A162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11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D8E64-D7AA-4B2A-80E0-6FFAE013E86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97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BE9BC-7B4E-4F2E-BDC4-B2609E68A3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266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36FC76-A142-44C7-A6BF-5E1E9A79F4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074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EE7B80-105D-43BD-A848-5C9EC70A5B6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269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61E68D-7D6F-4400-A48A-7D15660353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1006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61E68D-7D6F-4400-A48A-7D15660353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29762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B9FFEC-692F-42A1-908F-FC705B2D84F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57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61E68D-7D6F-4400-A48A-7D15660353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090989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61E68D-7D6F-4400-A48A-7D15660353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687923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72D437-8C39-4089-B476-D2E71835E41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293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EE0EE1-F882-425D-AE9B-A606048A51F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387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B2CF45-F350-4CDE-899A-78BF38054F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205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1F45DF-51D4-4B84-8312-C9B1E5F4F3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31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5600"/>
            <a:ext cx="7886700" cy="4460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7750" y="6432551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C961E68D-7D6F-4400-A48A-7D15660353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492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ED5494E7-1308-4D54-96C4-615DFE20EE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848600" cy="1905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6700" dirty="0"/>
              <a:t>Unit 7</a:t>
            </a:r>
            <a:br>
              <a:rPr lang="en-US" altLang="en-US" sz="6700" dirty="0"/>
            </a:br>
            <a:r>
              <a:rPr lang="en-US" altLang="en-US" sz="6700" dirty="0"/>
              <a:t>Predictive Parsing</a:t>
            </a:r>
            <a:br>
              <a:rPr lang="en-US" altLang="en-US" sz="4600" dirty="0"/>
            </a:br>
            <a:endParaRPr lang="en-US" altLang="en-US" sz="4600" dirty="0"/>
          </a:p>
        </p:txBody>
      </p:sp>
      <p:sp>
        <p:nvSpPr>
          <p:cNvPr id="4098" name="Rectangle 18">
            <a:extLst>
              <a:ext uri="{FF2B5EF4-FFF2-40B4-BE49-F238E27FC236}">
                <a16:creationId xmlns:a16="http://schemas.microsoft.com/office/drawing/2014/main" id="{F47D5ACB-4903-4E2E-A1F9-479F44C5AB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4A7683-9553-46CB-9E42-C84B98819077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9964FC6C-F659-4939-8CEC-1FA04D3DF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Predictive Parsers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A96C6228-09FA-4FBF-82CA-25174B58F2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Parser can “predict” which production to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By looking at the next few tokens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No backtracking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Predictive parsers accept LL(k) grammars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L means “left-to-right” scan of input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L means “leftmost derivation”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k means “predict based on k tokens of lookahead”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 practice, LL(1) is used</a:t>
            </a:r>
          </a:p>
        </p:txBody>
      </p:sp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2CD377E5-D264-434B-9C68-34D240D5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C5B769-C9AE-4A86-AFC8-E729E10A5B3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95AFB6C-3C26-461F-9B5E-C56308829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6148" name="Rectangle 1">
            <a:extLst>
              <a:ext uri="{FF2B5EF4-FFF2-40B4-BE49-F238E27FC236}">
                <a16:creationId xmlns:a16="http://schemas.microsoft.com/office/drawing/2014/main" id="{2889C0D4-9D60-4FD1-B207-04A3230F39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554413"/>
            <a:ext cx="8229600" cy="739775"/>
          </a:xfrm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SzTx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accomplished using a</a:t>
            </a:r>
            <a:r>
              <a:rPr lang="en-US" alt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parsing table</a:t>
            </a:r>
            <a:r>
              <a:rPr lang="en-US" alt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  M 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 stack.</a:t>
            </a: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8F636221-E79F-4D5F-B491-4001A06EF7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C94E1B-687E-437A-8D9C-146126714D2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E9B81932-D4B6-4319-9708-B2877A1A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E5142B-34C6-434A-A023-0C1284B5082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995BA7B4-C97D-4175-BF91-D09318428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3600"/>
            <a:ext cx="80772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 T</a:t>
            </a:r>
            <a:r>
              <a:rPr lang="en-US" altLang="en-US" sz="2800" dirty="0"/>
              <a:t>he grammar </a:t>
            </a:r>
            <a:r>
              <a:rPr lang="en-US" altLang="en-US" sz="2800" dirty="0">
                <a:solidFill>
                  <a:srgbClr val="FF0000"/>
                </a:solidFill>
              </a:rPr>
              <a:t>must not be left recursive </a:t>
            </a:r>
            <a:r>
              <a:rPr lang="en-US" altLang="en-US" sz="2800" dirty="0"/>
              <a:t>and </a:t>
            </a:r>
            <a:r>
              <a:rPr lang="en-US" altLang="en-US" sz="2800" dirty="0">
                <a:solidFill>
                  <a:srgbClr val="FF0000"/>
                </a:solidFill>
              </a:rPr>
              <a:t>no</a:t>
            </a:r>
            <a:r>
              <a:rPr lang="en-US" altLang="en-US" sz="2800" dirty="0"/>
              <a:t> two right sides of a production have </a:t>
            </a:r>
            <a:r>
              <a:rPr lang="en-US" altLang="en-US" sz="2800" dirty="0">
                <a:solidFill>
                  <a:srgbClr val="FF0000"/>
                </a:solidFill>
              </a:rPr>
              <a:t>a common prefix.</a:t>
            </a:r>
            <a:endParaRPr lang="en-US" altLang="en-US" sz="2800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CEA1916-FACA-4CBC-B95D-25A0EBD15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3820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sz="4400" kern="0" dirty="0">
                <a:latin typeface="+mj-lt"/>
                <a:ea typeface="+mj-ea"/>
                <a:cs typeface="+mj-cs"/>
              </a:rPr>
              <a:t>A stringent condition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5B2E8C9-0F45-4F98-8A8C-649F8C15A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 Recursion</a:t>
            </a:r>
          </a:p>
        </p:txBody>
      </p:sp>
      <p:sp>
        <p:nvSpPr>
          <p:cNvPr id="8195" name="Slide Number Placeholder 2">
            <a:extLst>
              <a:ext uri="{FF2B5EF4-FFF2-40B4-BE49-F238E27FC236}">
                <a16:creationId xmlns:a16="http://schemas.microsoft.com/office/drawing/2014/main" id="{1FA8A694-D4F2-4910-849D-E6F2AC1D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6CD63F-86E0-4871-889C-5D53E43D77AC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C4CE815-E363-48FA-BD9A-228F8271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74676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 grammar is  </a:t>
            </a:r>
            <a:r>
              <a:rPr lang="en-US" altLang="en-US" sz="1800" b="1" i="1"/>
              <a:t>left recursive</a:t>
            </a:r>
            <a:r>
              <a:rPr lang="en-US" altLang="en-US" sz="1800"/>
              <a:t>  if it has a non-terminal A such that there is  a derivation.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800"/>
              <a:t>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 A </a:t>
            </a:r>
            <a:r>
              <a:rPr lang="en-US" altLang="en-US" sz="1800">
                <a:sym typeface="Symbol" panose="05050102010706020507" pitchFamily="18" charset="2"/>
              </a:rPr>
              <a:t> A	for some string 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Top-down parsing techniques </a:t>
            </a:r>
            <a:r>
              <a:rPr lang="en-US" altLang="en-US" sz="1800" b="1">
                <a:sym typeface="Symbol" panose="05050102010706020507" pitchFamily="18" charset="2"/>
              </a:rPr>
              <a:t>cannot</a:t>
            </a:r>
            <a:r>
              <a:rPr lang="en-US" altLang="en-US" sz="1800">
                <a:sym typeface="Symbol" panose="05050102010706020507" pitchFamily="18" charset="2"/>
              </a:rPr>
              <a:t> handle left-recursive grammars.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So, we have to convert our left-recursive grammar into an equivalent grammar which is not left-recursive.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The left-recursion may appear in a single step of the derivation (</a:t>
            </a:r>
            <a:r>
              <a:rPr lang="en-US" altLang="en-US" sz="1800" i="1">
                <a:sym typeface="Symbol" panose="05050102010706020507" pitchFamily="18" charset="2"/>
              </a:rPr>
              <a:t>immediate left-recursion</a:t>
            </a:r>
            <a:r>
              <a:rPr lang="en-US" altLang="en-US" sz="1800">
                <a:sym typeface="Symbol" panose="05050102010706020507" pitchFamily="18" charset="2"/>
              </a:rPr>
              <a:t>), or may appear in more than one step of     the derivation.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DB9D6126-70D6-47C4-B929-B8FD79636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Immediate Left-Recursion</a:t>
            </a:r>
          </a:p>
        </p:txBody>
      </p:sp>
      <p:sp>
        <p:nvSpPr>
          <p:cNvPr id="9219" name="Slide Number Placeholder 2">
            <a:extLst>
              <a:ext uri="{FF2B5EF4-FFF2-40B4-BE49-F238E27FC236}">
                <a16:creationId xmlns:a16="http://schemas.microsoft.com/office/drawing/2014/main" id="{69F352ED-98CE-4218-85D2-93E752E9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77255E-593E-49CC-8BA2-51E5964F2EC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9220" name="Text Box 3">
            <a:extLst>
              <a:ext uri="{FF2B5EF4-FFF2-40B4-BE49-F238E27FC236}">
                <a16:creationId xmlns:a16="http://schemas.microsoft.com/office/drawing/2014/main" id="{1BF8450E-F462-46AD-B0EF-6F90A844A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6529388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A  A  |       	where  does not start with A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</a:t>
            </a:r>
            <a:r>
              <a:rPr lang="en-US" altLang="en-US">
                <a:sym typeface="Symbol" panose="05050102010706020507" pitchFamily="18" charset="2"/>
              </a:rPr>
              <a:t></a:t>
            </a:r>
            <a:r>
              <a:rPr lang="en-US" altLang="en-US" sz="1800">
                <a:sym typeface="Symbol" panose="05050102010706020507" pitchFamily="18" charset="2"/>
              </a:rPr>
              <a:t>	eliminate immediate left recursion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A   A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A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  A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 |   	an equivalent grammar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54003321-5328-47EE-B4C5-EE8A02772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657600"/>
            <a:ext cx="148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 general,</a:t>
            </a:r>
          </a:p>
        </p:txBody>
      </p:sp>
      <p:sp>
        <p:nvSpPr>
          <p:cNvPr id="9222" name="Text Box 4">
            <a:extLst>
              <a:ext uri="{FF2B5EF4-FFF2-40B4-BE49-F238E27FC236}">
                <a16:creationId xmlns:a16="http://schemas.microsoft.com/office/drawing/2014/main" id="{DB6594B0-364D-4289-9EC0-5948A8D1B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14800"/>
            <a:ext cx="88550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A  A 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 | ... | A </a:t>
            </a:r>
            <a:r>
              <a:rPr lang="en-US" altLang="en-US" sz="1800" baseline="-25000">
                <a:sym typeface="Symbol" panose="05050102010706020507" pitchFamily="18" charset="2"/>
              </a:rPr>
              <a:t>m</a:t>
            </a:r>
            <a:r>
              <a:rPr lang="en-US" altLang="en-US" sz="1800">
                <a:sym typeface="Symbol" panose="05050102010706020507" pitchFamily="18" charset="2"/>
              </a:rPr>
              <a:t> | 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 | ... | </a:t>
            </a:r>
            <a:r>
              <a:rPr lang="en-US" altLang="en-US" sz="1800" baseline="-25000">
                <a:sym typeface="Symbol" panose="05050102010706020507" pitchFamily="18" charset="2"/>
              </a:rPr>
              <a:t>n</a:t>
            </a:r>
            <a:r>
              <a:rPr lang="en-US" altLang="en-US" sz="1800">
                <a:sym typeface="Symbol" panose="05050102010706020507" pitchFamily="18" charset="2"/>
              </a:rPr>
              <a:t> 	where 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 ... </a:t>
            </a:r>
            <a:r>
              <a:rPr lang="en-US" altLang="en-US" sz="1800" baseline="-25000">
                <a:sym typeface="Symbol" panose="05050102010706020507" pitchFamily="18" charset="2"/>
              </a:rPr>
              <a:t>n</a:t>
            </a:r>
            <a:r>
              <a:rPr lang="en-US" altLang="en-US" sz="1800">
                <a:sym typeface="Symbol" panose="05050102010706020507" pitchFamily="18" charset="2"/>
              </a:rPr>
              <a:t> do not start with A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</a:t>
            </a:r>
            <a:r>
              <a:rPr lang="en-US" altLang="en-US">
                <a:sym typeface="Symbol" panose="05050102010706020507" pitchFamily="18" charset="2"/>
              </a:rPr>
              <a:t></a:t>
            </a:r>
            <a:r>
              <a:rPr lang="en-US" altLang="en-US" sz="1800">
                <a:sym typeface="Symbol" panose="05050102010706020507" pitchFamily="18" charset="2"/>
              </a:rPr>
              <a:t>	eliminate immediate left recursion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A  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 A</a:t>
            </a:r>
            <a:r>
              <a:rPr lang="en-US" altLang="en-US" sz="1800" baseline="30000">
                <a:sym typeface="Symbol" panose="05050102010706020507" pitchFamily="18" charset="2"/>
              </a:rPr>
              <a:t>’  </a:t>
            </a:r>
            <a:r>
              <a:rPr lang="en-US" altLang="en-US" sz="1800">
                <a:sym typeface="Symbol" panose="05050102010706020507" pitchFamily="18" charset="2"/>
              </a:rPr>
              <a:t>| ... | </a:t>
            </a:r>
            <a:r>
              <a:rPr lang="en-US" altLang="en-US" sz="1800" baseline="-25000">
                <a:sym typeface="Symbol" panose="05050102010706020507" pitchFamily="18" charset="2"/>
              </a:rPr>
              <a:t>n</a:t>
            </a:r>
            <a:r>
              <a:rPr lang="en-US" altLang="en-US" sz="1800">
                <a:sym typeface="Symbol" panose="05050102010706020507" pitchFamily="18" charset="2"/>
              </a:rPr>
              <a:t> A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A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 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 A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 | ... | </a:t>
            </a:r>
            <a:r>
              <a:rPr lang="en-US" altLang="en-US" sz="1800" baseline="-25000">
                <a:sym typeface="Symbol" panose="05050102010706020507" pitchFamily="18" charset="2"/>
              </a:rPr>
              <a:t>m</a:t>
            </a:r>
            <a:r>
              <a:rPr lang="en-US" altLang="en-US" sz="1800">
                <a:sym typeface="Symbol" panose="05050102010706020507" pitchFamily="18" charset="2"/>
              </a:rPr>
              <a:t> A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 |  		an equivalent grammar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2">
            <a:extLst>
              <a:ext uri="{FF2B5EF4-FFF2-40B4-BE49-F238E27FC236}">
                <a16:creationId xmlns:a16="http://schemas.microsoft.com/office/drawing/2014/main" id="{15AB5CA9-BE94-406B-B901-3AC9ED8E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1D3BC9-015D-45D0-912A-C0966BABFC3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89E2C4-EE47-496E-B040-9F579C028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9372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400" kern="0">
                <a:latin typeface="+mj-lt"/>
                <a:ea typeface="+mj-ea"/>
                <a:cs typeface="+mj-cs"/>
              </a:rPr>
              <a:t>Left-Recursion -- Problem</a:t>
            </a:r>
            <a:endParaRPr lang="en-US" sz="44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E9296238-2550-4A4D-A5A2-C4EDF3E37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86391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/>
              <a:t>  A grammar cannot be immediately left-recursive, but it still can be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left-recursive.</a:t>
            </a:r>
          </a:p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/>
              <a:t>  By just eliminating the immediate left-recursion, we may not get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a grammar which is not left-recursive.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F90134EA-D3C8-4C7A-B793-39EF18439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24200"/>
            <a:ext cx="87582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S  Aa | b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A  Sc | d	This grammar is not immediately left-recursive,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		but it is still left-recursive.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</a:t>
            </a:r>
            <a:r>
              <a:rPr lang="en-US" altLang="en-US" sz="1800" u="sng">
                <a:sym typeface="Symbol" panose="05050102010706020507" pitchFamily="18" charset="2"/>
              </a:rPr>
              <a:t>S</a:t>
            </a:r>
            <a:r>
              <a:rPr lang="en-US" altLang="en-US" sz="1800">
                <a:sym typeface="Symbol" panose="05050102010706020507" pitchFamily="18" charset="2"/>
              </a:rPr>
              <a:t>  Aa  </a:t>
            </a:r>
            <a:r>
              <a:rPr lang="en-US" altLang="en-US" sz="1800" u="sng">
                <a:sym typeface="Symbol" panose="05050102010706020507" pitchFamily="18" charset="2"/>
              </a:rPr>
              <a:t>S</a:t>
            </a:r>
            <a:r>
              <a:rPr lang="en-US" altLang="en-US" sz="1800">
                <a:sym typeface="Symbol" panose="05050102010706020507" pitchFamily="18" charset="2"/>
              </a:rPr>
              <a:t>ca    	or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</a:t>
            </a:r>
            <a:r>
              <a:rPr lang="en-US" altLang="en-US" sz="1800" u="sng">
                <a:sym typeface="Symbol" panose="05050102010706020507" pitchFamily="18" charset="2"/>
              </a:rPr>
              <a:t>A</a:t>
            </a:r>
            <a:r>
              <a:rPr lang="en-US" altLang="en-US" sz="1800">
                <a:sym typeface="Symbol" panose="05050102010706020507" pitchFamily="18" charset="2"/>
              </a:rPr>
              <a:t>  Sc  </a:t>
            </a:r>
            <a:r>
              <a:rPr lang="en-US" altLang="en-US" sz="1800" u="sng">
                <a:sym typeface="Symbol" panose="05050102010706020507" pitchFamily="18" charset="2"/>
              </a:rPr>
              <a:t>A</a:t>
            </a:r>
            <a:r>
              <a:rPr lang="en-US" altLang="en-US" sz="1800">
                <a:sym typeface="Symbol" panose="05050102010706020507" pitchFamily="18" charset="2"/>
              </a:rPr>
              <a:t>ac 	causes to a left-recursion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sym typeface="Symbol" panose="05050102010706020507" pitchFamily="18" charset="2"/>
              </a:rPr>
              <a:t>  So, we have to eliminate all left-recursions from our grammar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2">
            <a:extLst>
              <a:ext uri="{FF2B5EF4-FFF2-40B4-BE49-F238E27FC236}">
                <a16:creationId xmlns:a16="http://schemas.microsoft.com/office/drawing/2014/main" id="{689608A7-74AE-4C55-ABD1-1BA73E59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1F4129-9A11-4C07-A5C5-AD25AD9E36C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A7CB6-7585-4009-95A5-C567F7869B9F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447800"/>
            <a:ext cx="9372600" cy="5105400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3200" kern="0" dirty="0">
                <a:latin typeface="+mn-lt"/>
              </a:rPr>
              <a:t>- </a:t>
            </a:r>
            <a:r>
              <a:rPr lang="en-US" sz="2000" kern="0" dirty="0">
                <a:latin typeface="+mn-lt"/>
              </a:rPr>
              <a:t>Arrange non-terminals in some order:  A</a:t>
            </a:r>
            <a:r>
              <a:rPr lang="en-US" sz="2000" kern="0" baseline="-25000" dirty="0">
                <a:latin typeface="+mn-lt"/>
              </a:rPr>
              <a:t>1</a:t>
            </a:r>
            <a:r>
              <a:rPr lang="en-US" sz="2000" kern="0" dirty="0">
                <a:latin typeface="+mn-lt"/>
              </a:rPr>
              <a:t> ... A</a:t>
            </a:r>
            <a:r>
              <a:rPr lang="en-US" sz="2000" kern="0" baseline="-25000" dirty="0">
                <a:latin typeface="+mn-lt"/>
              </a:rPr>
              <a:t>n</a:t>
            </a:r>
            <a:endParaRPr lang="en-US" sz="2000" kern="0" dirty="0">
              <a:latin typeface="+mn-lt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b="1" kern="0" dirty="0">
                <a:latin typeface="+mn-lt"/>
              </a:rPr>
              <a:t>- for</a:t>
            </a:r>
            <a:r>
              <a:rPr lang="en-US" sz="2000" kern="0" dirty="0">
                <a:latin typeface="+mn-lt"/>
              </a:rPr>
              <a:t>  </a:t>
            </a:r>
            <a:r>
              <a:rPr lang="en-US" sz="2000" kern="0" dirty="0" err="1">
                <a:latin typeface="+mn-lt"/>
              </a:rPr>
              <a:t>i</a:t>
            </a:r>
            <a:r>
              <a:rPr lang="en-US" sz="2000" kern="0" dirty="0">
                <a:latin typeface="+mn-lt"/>
              </a:rPr>
              <a:t>  </a:t>
            </a:r>
            <a:r>
              <a:rPr lang="en-US" sz="2000" b="1" kern="0" dirty="0">
                <a:latin typeface="+mn-lt"/>
                <a:sym typeface="Symbol" pitchFamily="18" charset="2"/>
              </a:rPr>
              <a:t>from</a:t>
            </a:r>
            <a:r>
              <a:rPr lang="en-US" sz="2000" kern="0" dirty="0">
                <a:latin typeface="+mn-lt"/>
                <a:sym typeface="Symbol" pitchFamily="18" charset="2"/>
              </a:rPr>
              <a:t>  1  </a:t>
            </a:r>
            <a:r>
              <a:rPr lang="en-US" sz="2000" b="1" kern="0" dirty="0">
                <a:latin typeface="+mn-lt"/>
                <a:sym typeface="Symbol" pitchFamily="18" charset="2"/>
              </a:rPr>
              <a:t>to </a:t>
            </a:r>
            <a:r>
              <a:rPr lang="en-US" sz="2000" kern="0" dirty="0">
                <a:latin typeface="+mn-lt"/>
                <a:sym typeface="Symbol" pitchFamily="18" charset="2"/>
              </a:rPr>
              <a:t> n  </a:t>
            </a:r>
            <a:r>
              <a:rPr lang="en-US" sz="2000" b="1" kern="0" dirty="0">
                <a:latin typeface="+mn-lt"/>
                <a:sym typeface="Symbol" pitchFamily="18" charset="2"/>
              </a:rPr>
              <a:t>do</a:t>
            </a:r>
            <a:r>
              <a:rPr lang="en-US" sz="2000" kern="0" dirty="0">
                <a:latin typeface="+mn-lt"/>
                <a:sym typeface="Symbol" pitchFamily="18" charset="2"/>
              </a:rPr>
              <a:t>  {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 - </a:t>
            </a:r>
            <a:r>
              <a:rPr lang="en-US" sz="2000" b="1" kern="0" dirty="0">
                <a:latin typeface="+mn-lt"/>
              </a:rPr>
              <a:t>for</a:t>
            </a:r>
            <a:r>
              <a:rPr lang="en-US" sz="2000" kern="0" dirty="0">
                <a:latin typeface="+mn-lt"/>
              </a:rPr>
              <a:t>  j </a:t>
            </a:r>
            <a:r>
              <a:rPr lang="en-US" sz="2000" b="1" kern="0" dirty="0">
                <a:latin typeface="+mn-lt"/>
                <a:sym typeface="Symbol" pitchFamily="18" charset="2"/>
              </a:rPr>
              <a:t>from</a:t>
            </a:r>
            <a:r>
              <a:rPr lang="en-US" sz="2000" kern="0" dirty="0">
                <a:latin typeface="+mn-lt"/>
                <a:sym typeface="Symbol" pitchFamily="18" charset="2"/>
              </a:rPr>
              <a:t> 1 </a:t>
            </a:r>
            <a:r>
              <a:rPr lang="en-US" sz="2000" b="1" kern="0" dirty="0">
                <a:latin typeface="+mn-lt"/>
                <a:sym typeface="Symbol" pitchFamily="18" charset="2"/>
              </a:rPr>
              <a:t>to</a:t>
            </a:r>
            <a:r>
              <a:rPr lang="en-US" sz="2000" kern="0" dirty="0">
                <a:latin typeface="+mn-lt"/>
                <a:sym typeface="Symbol" pitchFamily="18" charset="2"/>
              </a:rPr>
              <a:t> i-1 </a:t>
            </a:r>
            <a:r>
              <a:rPr lang="en-US" sz="2000" b="1" kern="0" dirty="0">
                <a:latin typeface="+mn-lt"/>
                <a:sym typeface="Symbol" pitchFamily="18" charset="2"/>
              </a:rPr>
              <a:t>do</a:t>
            </a:r>
            <a:r>
              <a:rPr lang="en-US" sz="2000" kern="0" dirty="0">
                <a:latin typeface="+mn-lt"/>
                <a:sym typeface="Symbol" pitchFamily="18" charset="2"/>
              </a:rPr>
              <a:t>  {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	replace each production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		A</a:t>
            </a:r>
            <a:r>
              <a:rPr lang="en-US" sz="2000" kern="0" baseline="-25000" dirty="0">
                <a:latin typeface="+mn-lt"/>
                <a:sym typeface="Symbol" pitchFamily="18" charset="2"/>
              </a:rPr>
              <a:t>i</a:t>
            </a:r>
            <a:r>
              <a:rPr lang="en-US" sz="2000" kern="0" dirty="0">
                <a:latin typeface="+mn-lt"/>
                <a:sym typeface="Symbol" pitchFamily="18" charset="2"/>
              </a:rPr>
              <a:t>  </a:t>
            </a:r>
            <a:r>
              <a:rPr lang="en-US" sz="2000" kern="0" dirty="0" err="1">
                <a:latin typeface="+mn-lt"/>
                <a:sym typeface="Symbol" pitchFamily="18" charset="2"/>
              </a:rPr>
              <a:t>A</a:t>
            </a:r>
            <a:r>
              <a:rPr lang="en-US" sz="2000" kern="0" baseline="-25000" dirty="0" err="1">
                <a:latin typeface="+mn-lt"/>
                <a:sym typeface="Symbol" pitchFamily="18" charset="2"/>
              </a:rPr>
              <a:t>j</a:t>
            </a:r>
            <a:r>
              <a:rPr lang="en-US" sz="2000" kern="0" dirty="0">
                <a:latin typeface="+mn-lt"/>
                <a:sym typeface="Symbol" pitchFamily="18" charset="2"/>
              </a:rPr>
              <a:t> 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		     by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		 A</a:t>
            </a:r>
            <a:r>
              <a:rPr lang="en-US" sz="2000" kern="0" baseline="-25000" dirty="0">
                <a:latin typeface="+mn-lt"/>
                <a:sym typeface="Symbol" pitchFamily="18" charset="2"/>
              </a:rPr>
              <a:t>i</a:t>
            </a:r>
            <a:r>
              <a:rPr lang="en-US" sz="2000" kern="0" dirty="0">
                <a:latin typeface="+mn-lt"/>
                <a:sym typeface="Symbol" pitchFamily="18" charset="2"/>
              </a:rPr>
              <a:t>  </a:t>
            </a:r>
            <a:r>
              <a:rPr lang="en-US" sz="2000" kern="0" baseline="-25000" dirty="0">
                <a:latin typeface="+mn-lt"/>
                <a:sym typeface="Symbol" pitchFamily="18" charset="2"/>
              </a:rPr>
              <a:t>1</a:t>
            </a:r>
            <a:r>
              <a:rPr lang="en-US" sz="2000" kern="0" dirty="0">
                <a:latin typeface="+mn-lt"/>
                <a:sym typeface="Symbol" pitchFamily="18" charset="2"/>
              </a:rPr>
              <a:t>  | ... | </a:t>
            </a:r>
            <a:r>
              <a:rPr lang="en-US" sz="2000" kern="0" baseline="-25000" dirty="0">
                <a:latin typeface="+mn-lt"/>
                <a:sym typeface="Symbol" pitchFamily="18" charset="2"/>
              </a:rPr>
              <a:t>k</a:t>
            </a:r>
            <a:r>
              <a:rPr lang="en-US" sz="2000" kern="0" dirty="0">
                <a:latin typeface="+mn-lt"/>
                <a:sym typeface="Symbol" pitchFamily="18" charset="2"/>
              </a:rPr>
              <a:t> 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		where </a:t>
            </a:r>
            <a:r>
              <a:rPr lang="en-US" sz="2000" kern="0" dirty="0" err="1">
                <a:latin typeface="+mn-lt"/>
                <a:sym typeface="Symbol" pitchFamily="18" charset="2"/>
              </a:rPr>
              <a:t>A</a:t>
            </a:r>
            <a:r>
              <a:rPr lang="en-US" sz="2000" kern="0" baseline="-25000" dirty="0" err="1">
                <a:latin typeface="+mn-lt"/>
                <a:sym typeface="Symbol" pitchFamily="18" charset="2"/>
              </a:rPr>
              <a:t>j</a:t>
            </a:r>
            <a:r>
              <a:rPr lang="en-US" sz="2000" kern="0" dirty="0">
                <a:latin typeface="+mn-lt"/>
                <a:sym typeface="Symbol" pitchFamily="18" charset="2"/>
              </a:rPr>
              <a:t>  </a:t>
            </a:r>
            <a:r>
              <a:rPr lang="en-US" sz="2000" kern="0" baseline="-25000" dirty="0">
                <a:latin typeface="+mn-lt"/>
                <a:sym typeface="Symbol" pitchFamily="18" charset="2"/>
              </a:rPr>
              <a:t>1</a:t>
            </a:r>
            <a:r>
              <a:rPr lang="en-US" sz="2000" kern="0" dirty="0">
                <a:latin typeface="+mn-lt"/>
                <a:sym typeface="Symbol" pitchFamily="18" charset="2"/>
              </a:rPr>
              <a:t> | ... | </a:t>
            </a:r>
            <a:r>
              <a:rPr lang="en-US" sz="2000" kern="0" baseline="-25000" dirty="0">
                <a:latin typeface="+mn-lt"/>
                <a:sym typeface="Symbol" pitchFamily="18" charset="2"/>
              </a:rPr>
              <a:t>k</a:t>
            </a:r>
            <a:r>
              <a:rPr lang="en-US" sz="2000" kern="0" dirty="0">
                <a:latin typeface="+mn-lt"/>
                <a:sym typeface="Symbol" pitchFamily="18" charset="2"/>
              </a:rPr>
              <a:t> 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  }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	- eliminate immediate left-recursions among A</a:t>
            </a:r>
            <a:r>
              <a:rPr lang="en-US" sz="2000" kern="0" baseline="-25000" dirty="0">
                <a:latin typeface="+mn-lt"/>
                <a:sym typeface="Symbol" pitchFamily="18" charset="2"/>
              </a:rPr>
              <a:t>i</a:t>
            </a:r>
            <a:r>
              <a:rPr lang="en-US" sz="2000" kern="0" dirty="0">
                <a:latin typeface="+mn-lt"/>
                <a:sym typeface="Symbol" pitchFamily="18" charset="2"/>
              </a:rPr>
              <a:t> productions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000" kern="0" dirty="0">
                <a:latin typeface="+mn-lt"/>
                <a:sym typeface="Symbol" pitchFamily="18" charset="2"/>
              </a:rPr>
              <a:t>}</a:t>
            </a: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/>
            </a:pPr>
            <a:endParaRPr lang="en-US" sz="2000" kern="0" dirty="0">
              <a:latin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F07DC5-E37B-4EAE-9EEB-02700F6AD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7200"/>
            <a:ext cx="9372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kern="0" dirty="0">
                <a:latin typeface="+mj-lt"/>
                <a:ea typeface="+mj-ea"/>
                <a:cs typeface="+mj-cs"/>
              </a:rPr>
              <a:t>Eliminate Left-Recursion -- Algorithm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2">
            <a:extLst>
              <a:ext uri="{FF2B5EF4-FFF2-40B4-BE49-F238E27FC236}">
                <a16:creationId xmlns:a16="http://schemas.microsoft.com/office/drawing/2014/main" id="{A384DA46-D777-48A8-80AD-69192DAE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0855B4-A87E-49E8-B928-F69AB559EA4C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128AF4-9274-41BA-B9A2-51F93F5A5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kern="0" dirty="0">
                <a:latin typeface="+mj-lt"/>
                <a:ea typeface="+mj-ea"/>
                <a:cs typeface="+mj-cs"/>
              </a:rPr>
              <a:t>Immediate Left-Recursion -- Example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6D966FB5-D1C3-47FE-A19A-6AB56C06E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295400"/>
            <a:ext cx="1916113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E  E+T  |  T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T  T*F  |  F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F  id  |  (E)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3798452A-91D6-407A-8699-C936479E1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505200"/>
            <a:ext cx="1965325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E  T E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endParaRPr lang="en-US" altLang="en-US" sz="1800" baseline="-25000">
              <a:sym typeface="Symbol" panose="05050102010706020507" pitchFamily="18" charset="2"/>
            </a:endParaRP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E</a:t>
            </a:r>
            <a:r>
              <a:rPr lang="en-US" altLang="en-US" sz="1800" baseline="30000">
                <a:sym typeface="Symbol" panose="05050102010706020507" pitchFamily="18" charset="2"/>
              </a:rPr>
              <a:t>’ </a:t>
            </a:r>
            <a:r>
              <a:rPr lang="en-US" altLang="en-US" sz="1800">
                <a:sym typeface="Symbol" panose="05050102010706020507" pitchFamily="18" charset="2"/>
              </a:rPr>
              <a:t> +T E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| 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T  F T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endParaRPr lang="en-US" altLang="en-US" sz="1800">
              <a:sym typeface="Symbol" panose="05050102010706020507" pitchFamily="18" charset="2"/>
            </a:endParaRP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T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 *F T</a:t>
            </a:r>
            <a:r>
              <a:rPr lang="en-US" altLang="en-US" sz="1800" baseline="30000">
                <a:sym typeface="Symbol" panose="05050102010706020507" pitchFamily="18" charset="2"/>
              </a:rPr>
              <a:t>’</a:t>
            </a:r>
            <a:r>
              <a:rPr lang="en-US" altLang="en-US" sz="1800">
                <a:sym typeface="Symbol" panose="05050102010706020507" pitchFamily="18" charset="2"/>
              </a:rPr>
              <a:t>  | </a:t>
            </a:r>
          </a:p>
          <a:p>
            <a:pPr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F  id  |  (E)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77D47E2F-FAC0-45FB-98A6-FAA9B3143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19400"/>
            <a:ext cx="5278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</a:t>
            </a:r>
            <a:r>
              <a:rPr lang="en-US" altLang="en-US" sz="1800">
                <a:sym typeface="Symbol" panose="05050102010706020507" pitchFamily="18" charset="2"/>
              </a:rPr>
              <a:t> 	eliminate immediate left recursion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3E1DFAD2-226F-45A5-95CF-868259A72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525" y="533400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Predictive Parsing and Left Factoring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AEBB1097-231A-490E-AF1B-434C4C0AE7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In the grammar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      E </a:t>
            </a:r>
            <a:r>
              <a:rPr lang="en-US" altLang="en-US" sz="2400">
                <a:sym typeface="Symbol" panose="05050102010706020507" pitchFamily="18" charset="2"/>
              </a:rPr>
              <a:t> T + E | 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     T  int  | int * T | ( E 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Hard to predict because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For T two productions start with 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For E it is not clear how to predict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 grammar must be </a:t>
            </a:r>
            <a:r>
              <a:rPr lang="en-US" altLang="en-US" sz="2800" u="sng"/>
              <a:t>left-factored</a:t>
            </a:r>
            <a:r>
              <a:rPr lang="en-US" altLang="en-US" sz="2800"/>
              <a:t> before use for predictive parsing</a:t>
            </a:r>
          </a:p>
        </p:txBody>
      </p:sp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E2A4E0CE-B6F6-40E9-A009-91C2B08B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37871F-B3F2-49DB-A49F-CFD158882C22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BD3344A-C57E-4BF1-BB40-9AE34061B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 Factoring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72417102-DFA2-44F7-A554-12532B0ABB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predictive parser (a top-down parser without backtracking) insists  that the grammar must be </a:t>
            </a:r>
            <a:r>
              <a:rPr lang="en-US" altLang="en-US" sz="2000" i="1"/>
              <a:t>left-factored</a:t>
            </a:r>
            <a:r>
              <a:rPr lang="en-US" altLang="en-US" sz="2000"/>
              <a:t>.</a:t>
            </a:r>
          </a:p>
          <a:p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	grammar </a:t>
            </a:r>
            <a:r>
              <a:rPr lang="en-US" altLang="en-US" sz="2000">
                <a:sym typeface="Wingdings" panose="05000000000000000000" pitchFamily="2" charset="2"/>
              </a:rPr>
              <a:t> a new equivalent grammar suitable for predictive parsing</a:t>
            </a:r>
          </a:p>
          <a:p>
            <a:pPr>
              <a:buFontTx/>
              <a:buNone/>
            </a:pPr>
            <a:endParaRPr lang="en-US" altLang="en-US" sz="2000"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US" altLang="en-US" sz="2000">
                <a:sym typeface="Wingdings" panose="05000000000000000000" pitchFamily="2" charset="2"/>
              </a:rPr>
              <a:t>If_stmt </a:t>
            </a:r>
            <a:r>
              <a:rPr lang="en-US" altLang="en-US" sz="2000">
                <a:sym typeface="Symbol" panose="05050102010706020507" pitchFamily="18" charset="2"/>
              </a:rPr>
              <a:t> </a:t>
            </a: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altLang="en-US" sz="2000">
                <a:sym typeface="Symbol" panose="05050102010706020507" pitchFamily="18" charset="2"/>
              </a:rPr>
              <a:t>  expr  </a:t>
            </a: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altLang="en-US" sz="2000">
                <a:sym typeface="Symbol" panose="05050102010706020507" pitchFamily="18" charset="2"/>
              </a:rPr>
              <a:t>  stmt  </a:t>
            </a: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else</a:t>
            </a:r>
            <a:r>
              <a:rPr lang="en-US" altLang="en-US" sz="2000">
                <a:sym typeface="Symbol" panose="05050102010706020507" pitchFamily="18" charset="2"/>
              </a:rPr>
              <a:t>  stmt    |</a:t>
            </a:r>
          </a:p>
          <a:p>
            <a:pPr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 </a:t>
            </a: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if</a:t>
            </a:r>
            <a:r>
              <a:rPr lang="en-US" altLang="en-US" sz="2000">
                <a:sym typeface="Symbol" panose="05050102010706020507" pitchFamily="18" charset="2"/>
              </a:rPr>
              <a:t>  expr  </a:t>
            </a: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then</a:t>
            </a:r>
            <a:r>
              <a:rPr lang="en-US" altLang="en-US" sz="2000">
                <a:sym typeface="Symbol" panose="05050102010706020507" pitchFamily="18" charset="2"/>
              </a:rPr>
              <a:t>  stmt </a:t>
            </a:r>
          </a:p>
          <a:p>
            <a:pPr>
              <a:buFontTx/>
              <a:buNone/>
            </a:pPr>
            <a:endParaRPr lang="en-US" altLang="en-US" sz="2000">
              <a:sym typeface="Symbol" panose="05050102010706020507" pitchFamily="18" charset="2"/>
            </a:endParaRPr>
          </a:p>
          <a:p>
            <a:r>
              <a:rPr lang="en-US" altLang="en-US" sz="2000"/>
              <a:t>when we see  </a:t>
            </a:r>
            <a:r>
              <a:rPr lang="en-US" altLang="en-US" sz="2000">
                <a:latin typeface="Courier New" panose="02070309020205020404" pitchFamily="49" charset="0"/>
              </a:rPr>
              <a:t>if</a:t>
            </a:r>
            <a:r>
              <a:rPr lang="en-US" altLang="en-US" sz="2000"/>
              <a:t>, we cannot now which production rule to choose to  re-write </a:t>
            </a:r>
            <a:r>
              <a:rPr lang="en-US" altLang="en-US" sz="2000" i="1"/>
              <a:t>stmt</a:t>
            </a:r>
            <a:r>
              <a:rPr lang="en-US" altLang="en-US" sz="2000"/>
              <a:t> in the derivation.</a:t>
            </a:r>
          </a:p>
          <a:p>
            <a:endParaRPr lang="en-US" altLang="en-US" sz="2000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56BFC37D-8B27-43E2-BD56-589063DC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CBF6FB-7EC9-4C05-969E-8F5B7248281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422E774-8C39-4EC9-AB71-68B42DD76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 Factoring (con’d)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46CBFC8-6F7E-4953-9BD3-79B0DCBD06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In general,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/>
              <a:t>	A </a:t>
            </a:r>
            <a:r>
              <a:rPr lang="en-US" altLang="en-US" sz="2000">
                <a:sym typeface="Symbol" panose="05050102010706020507" pitchFamily="18" charset="2"/>
              </a:rPr>
              <a:t>  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 |   </a:t>
            </a:r>
            <a:r>
              <a:rPr lang="en-US" altLang="en-US" sz="2000" baseline="-25000">
                <a:sym typeface="Symbol" panose="05050102010706020507" pitchFamily="18" charset="2"/>
              </a:rPr>
              <a:t>2</a:t>
            </a:r>
            <a:r>
              <a:rPr lang="en-US" altLang="en-US" sz="2000">
                <a:sym typeface="Symbol" panose="05050102010706020507" pitchFamily="18" charset="2"/>
              </a:rPr>
              <a:t> 	where  is non-empty and the first symbols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				of 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and </a:t>
            </a:r>
            <a:r>
              <a:rPr lang="en-US" altLang="en-US" sz="2000" baseline="-25000">
                <a:sym typeface="Symbol" panose="05050102010706020507" pitchFamily="18" charset="2"/>
              </a:rPr>
              <a:t>2</a:t>
            </a:r>
            <a:r>
              <a:rPr lang="en-US" altLang="en-US" sz="2000">
                <a:sym typeface="Symbol" panose="05050102010706020507" pitchFamily="18" charset="2"/>
              </a:rPr>
              <a:t> (if they have one)are different.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when processing  we cannot know whether expand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		A to 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   or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		A to </a:t>
            </a:r>
            <a:r>
              <a:rPr lang="en-US" altLang="en-US" sz="2000" baseline="-25000">
                <a:sym typeface="Symbol" panose="05050102010706020507" pitchFamily="18" charset="2"/>
              </a:rPr>
              <a:t>2</a:t>
            </a:r>
            <a:r>
              <a:rPr lang="en-US" altLang="en-US" sz="2000">
                <a:sym typeface="Symbol" panose="05050102010706020507" pitchFamily="18" charset="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But, if we re-write the grammar as follows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		 </a:t>
            </a:r>
            <a:r>
              <a:rPr lang="en-US" altLang="en-US" sz="2000"/>
              <a:t>A </a:t>
            </a:r>
            <a:r>
              <a:rPr lang="en-US" altLang="en-US" sz="2000">
                <a:sym typeface="Symbol" panose="05050102010706020507" pitchFamily="18" charset="2"/>
              </a:rPr>
              <a:t>  A</a:t>
            </a:r>
            <a:r>
              <a:rPr lang="en-US" altLang="en-US" sz="2000" baseline="30000">
                <a:sym typeface="Symbol" panose="05050102010706020507" pitchFamily="18" charset="2"/>
              </a:rPr>
              <a:t>’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aseline="30000">
                <a:sym typeface="Symbol" panose="05050102010706020507" pitchFamily="18" charset="2"/>
              </a:rPr>
              <a:t>		 </a:t>
            </a:r>
            <a:r>
              <a:rPr lang="en-US" altLang="en-US" sz="2000">
                <a:sym typeface="Symbol" panose="05050102010706020507" pitchFamily="18" charset="2"/>
              </a:rPr>
              <a:t>A’  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 |   </a:t>
            </a:r>
            <a:r>
              <a:rPr lang="en-US" altLang="en-US" sz="2000" baseline="-25000">
                <a:sym typeface="Symbol" panose="05050102010706020507" pitchFamily="18" charset="2"/>
              </a:rPr>
              <a:t>2</a:t>
            </a:r>
            <a:r>
              <a:rPr lang="en-US" altLang="en-US" sz="2000">
                <a:sym typeface="Symbol" panose="05050102010706020507" pitchFamily="18" charset="2"/>
              </a:rPr>
              <a:t> 	so, we can immediately expand A to A</a:t>
            </a:r>
            <a:r>
              <a:rPr lang="en-US" altLang="en-US" sz="2000" baseline="30000">
                <a:sym typeface="Symbol" panose="05050102010706020507" pitchFamily="18" charset="2"/>
              </a:rPr>
              <a:t>’</a:t>
            </a:r>
          </a:p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970FFFCD-534D-4E94-91B7-11CFB0B0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5D7E3B-EF71-45A5-86C1-D517880B96F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2580507-D745-4DA5-8E29-968475E81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Left factoring algorithm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07EFF0D3-25C6-4269-9EF3-2DE4FAE067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For each non-terminal A with two or more alternatives (production rules) with a common non-empty prefix, let say</a:t>
            </a:r>
          </a:p>
          <a:p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		 A </a:t>
            </a:r>
            <a:r>
              <a:rPr lang="en-US" altLang="en-US" sz="2000">
                <a:sym typeface="Symbol" panose="05050102010706020507" pitchFamily="18" charset="2"/>
              </a:rPr>
              <a:t>  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| ... | </a:t>
            </a:r>
            <a:r>
              <a:rPr lang="en-US" altLang="en-US" sz="2000" baseline="-25000">
                <a:sym typeface="Symbol" panose="05050102010706020507" pitchFamily="18" charset="2"/>
              </a:rPr>
              <a:t>n </a:t>
            </a:r>
            <a:r>
              <a:rPr lang="en-US" altLang="en-US" sz="2000">
                <a:sym typeface="Symbol" panose="05050102010706020507" pitchFamily="18" charset="2"/>
              </a:rPr>
              <a:t> |  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| ... | </a:t>
            </a:r>
            <a:r>
              <a:rPr lang="en-US" altLang="en-US" sz="2000" baseline="-25000">
                <a:sym typeface="Symbol" panose="05050102010706020507" pitchFamily="18" charset="2"/>
              </a:rPr>
              <a:t>m</a:t>
            </a:r>
            <a:r>
              <a:rPr lang="en-US" altLang="en-US" sz="200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altLang="en-US" sz="200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convert it into</a:t>
            </a:r>
          </a:p>
          <a:p>
            <a:pPr>
              <a:buFontTx/>
              <a:buNone/>
            </a:pPr>
            <a:endParaRPr lang="en-US" altLang="en-US" sz="200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</a:t>
            </a:r>
            <a:r>
              <a:rPr lang="en-US" altLang="en-US" sz="2000"/>
              <a:t>A </a:t>
            </a:r>
            <a:r>
              <a:rPr lang="en-US" altLang="en-US" sz="2000">
                <a:sym typeface="Symbol" panose="05050102010706020507" pitchFamily="18" charset="2"/>
              </a:rPr>
              <a:t>  A</a:t>
            </a:r>
            <a:r>
              <a:rPr lang="en-US" altLang="en-US" sz="2000" baseline="30000">
                <a:sym typeface="Symbol" panose="05050102010706020507" pitchFamily="18" charset="2"/>
              </a:rPr>
              <a:t>’</a:t>
            </a:r>
            <a:r>
              <a:rPr lang="en-US" altLang="en-US" sz="2000">
                <a:sym typeface="Symbol" panose="05050102010706020507" pitchFamily="18" charset="2"/>
              </a:rPr>
              <a:t> |  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| ... | </a:t>
            </a:r>
            <a:r>
              <a:rPr lang="en-US" altLang="en-US" sz="2000" baseline="-25000">
                <a:sym typeface="Symbol" panose="05050102010706020507" pitchFamily="18" charset="2"/>
              </a:rPr>
              <a:t>m</a:t>
            </a:r>
            <a:r>
              <a:rPr lang="en-US" altLang="en-US" sz="200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A</a:t>
            </a:r>
            <a:r>
              <a:rPr lang="en-US" altLang="en-US" sz="2000" baseline="30000">
                <a:sym typeface="Symbol" panose="05050102010706020507" pitchFamily="18" charset="2"/>
              </a:rPr>
              <a:t>’ </a:t>
            </a:r>
            <a:r>
              <a:rPr lang="en-US" altLang="en-US" sz="2000">
                <a:sym typeface="Symbol" panose="05050102010706020507" pitchFamily="18" charset="2"/>
              </a:rPr>
              <a:t> </a:t>
            </a:r>
            <a:r>
              <a:rPr lang="en-US" altLang="en-US" sz="2000" baseline="-25000">
                <a:sym typeface="Symbol" panose="05050102010706020507" pitchFamily="18" charset="2"/>
              </a:rPr>
              <a:t>1</a:t>
            </a:r>
            <a:r>
              <a:rPr lang="en-US" altLang="en-US" sz="2000">
                <a:sym typeface="Symbol" panose="05050102010706020507" pitchFamily="18" charset="2"/>
              </a:rPr>
              <a:t> | ... | </a:t>
            </a:r>
            <a:r>
              <a:rPr lang="en-US" altLang="en-US" sz="2000" baseline="-25000">
                <a:sym typeface="Symbol" panose="05050102010706020507" pitchFamily="18" charset="2"/>
              </a:rPr>
              <a:t>n </a:t>
            </a:r>
            <a:endParaRPr lang="en-US" altLang="en-US" sz="200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8DBB2C7-09E2-4621-8E34-3EBF7D53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D4DDD5-9B6A-4FF9-A3A2-254B93F1634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8C8261E-92E7-4513-BA31-1A3859606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543800" cy="1143000"/>
          </a:xfrm>
          <a:noFill/>
        </p:spPr>
        <p:txBody>
          <a:bodyPr/>
          <a:lstStyle/>
          <a:p>
            <a:r>
              <a:rPr lang="en-US" altLang="en-US"/>
              <a:t>Left Factoring example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B0A79ED5-0C0A-4E24-8CA8-935135EEF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610600" cy="4087813"/>
          </a:xfrm>
          <a:noFill/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000" dirty="0"/>
              <a:t>S --&gt; if E then S | if E then S else S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3000" dirty="0"/>
              <a:t>can be rewritten as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600" dirty="0"/>
              <a:t>S --&gt; if E then S </a:t>
            </a:r>
            <a:r>
              <a:rPr lang="en-US" altLang="en-US" sz="2600" dirty="0" err="1"/>
              <a:t>S</a:t>
            </a:r>
            <a:r>
              <a:rPr lang="en-US" altLang="en-US" sz="2600" dirty="0"/>
              <a:t>’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600" dirty="0"/>
              <a:t>S’ --&gt; else S | </a:t>
            </a:r>
            <a:r>
              <a:rPr lang="en-US" altLang="en-US" sz="2600" dirty="0">
                <a:sym typeface="Symbol" panose="05050102010706020507" pitchFamily="18" charset="2"/>
              </a:rPr>
              <a:t></a:t>
            </a:r>
            <a:r>
              <a:rPr lang="en-US" altLang="en-US" sz="2600" dirty="0"/>
              <a:t>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3000" dirty="0"/>
              <a:t>In KPL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CCCC99"/>
              </a:buClr>
              <a:buFont typeface="Wingdings" panose="05000000000000000000" pitchFamily="2" charset="2"/>
              <a:buNone/>
            </a:pP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IfSt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::= KW_IF Condition KW_THEN Statement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ElseSt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CCCC99"/>
              </a:buClr>
              <a:buFont typeface="Arial" panose="020B0604020202020204" pitchFamily="34" charset="0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CCCC99"/>
              </a:buClr>
              <a:buFont typeface="Arial" panose="020B0604020202020204" pitchFamily="34" charset="0"/>
              <a:buNone/>
            </a:pP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ElseSt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::= KW_ELSE Statement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CCCC99"/>
              </a:buClr>
              <a:buFont typeface="Arial" panose="020B0604020202020204" pitchFamily="34" charset="0"/>
              <a:buNone/>
            </a:pP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ElseSt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::= </a:t>
            </a:r>
            <a:r>
              <a:rPr lang="en-US" altLang="en-US" b="1" dirty="0">
                <a:solidFill>
                  <a:srgbClr val="000000"/>
                </a:solidFill>
                <a:latin typeface="Symbol" panose="05050102010706020507" pitchFamily="18" charset="2"/>
              </a:rPr>
              <a:t>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168A53A-1A67-43B4-A610-480D7C58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220788"/>
            <a:ext cx="830580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D2BCF6B-160C-4823-8EE9-9ACB1F5D9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763000" cy="1371600"/>
          </a:xfrm>
        </p:spPr>
        <p:txBody>
          <a:bodyPr/>
          <a:lstStyle/>
          <a:p>
            <a:r>
              <a:rPr lang="en-US" altLang="en-US"/>
              <a:t>(Non recursive) Predictive parser</a:t>
            </a: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25F01DE9-2D55-489A-9D2F-C03EB91B9D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40407D-AD90-4B60-BF17-76E682D807C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0EEF1CF0-219B-43D7-98E5-10BDA7701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828800"/>
            <a:ext cx="58197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EBF2E5D-3CA6-484E-9719-35D1B3514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Parsing table M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FE4915F-D4E5-4C27-8C17-169E815C5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</a:pP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indicates which production to use if the top of the stack is a nonterminal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current token is equal to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that case we pop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stack and we push all the rhs symbols of the production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in reverse order. 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a special symbol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>
                <a:solidFill>
                  <a:srgbClr val="000000"/>
                </a:solidFill>
                <a:latin typeface="Arial Unicode MS"/>
              </a:rPr>
              <a:t>$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denote the end of file. Let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 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the start symbol</a:t>
            </a:r>
          </a:p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F8F1E858-288C-4023-85A3-4902466EF5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F72E2E-22FD-4F24-A1DC-A7963AFA2D5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1BB64CF-2553-4008-9B36-C9D751556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843"/>
            <a:ext cx="7886700" cy="612378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Non recursive Predictive Parser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92610211-A538-4527-AC29-D4EB594F59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759221"/>
            <a:ext cx="8610600" cy="533955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The input contains the string to be parsed, followed by $ (EOF)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The stack contains a sequence of grammar symbols, preceded by #, the bottom-of-stack marker.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Initially the stack contains the start symbol of the grammar preceded by $.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The parsing table is a two dimensional array M[</a:t>
            </a:r>
            <a:r>
              <a:rPr lang="en-US" altLang="en-US" dirty="0" err="1"/>
              <a:t>A,a</a:t>
            </a:r>
            <a:r>
              <a:rPr lang="en-US" altLang="en-US" dirty="0"/>
              <a:t>], where A is a nonterminal, and a is a terminal or the symbol $.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      -   The parser is controlled by a program that behaves as follows: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     -  The program determines </a:t>
            </a:r>
            <a:r>
              <a:rPr lang="en-US" altLang="en-US" i="1" dirty="0"/>
              <a:t>X</a:t>
            </a:r>
            <a:r>
              <a:rPr lang="en-US" altLang="en-US" dirty="0"/>
              <a:t>, the symbol on top of the stack, and a, the current input symbol.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    -   These two symbols determine the action of the parser.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        There are three possibilities: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  1. If </a:t>
            </a:r>
            <a:r>
              <a:rPr lang="en-US" altLang="en-US" i="1" dirty="0"/>
              <a:t>X</a:t>
            </a:r>
            <a:r>
              <a:rPr lang="en-US" altLang="en-US" dirty="0"/>
              <a:t> = a = $, the parser halts and announces successful completion of parsing.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  2. If </a:t>
            </a:r>
            <a:r>
              <a:rPr lang="en-US" altLang="en-US" i="1" dirty="0"/>
              <a:t>X</a:t>
            </a:r>
            <a:r>
              <a:rPr lang="en-US" altLang="en-US" dirty="0"/>
              <a:t> = a ≠ $, the parser pops </a:t>
            </a:r>
            <a:r>
              <a:rPr lang="en-US" altLang="en-US" i="1" dirty="0"/>
              <a:t>X</a:t>
            </a:r>
            <a:r>
              <a:rPr lang="en-US" altLang="en-US" dirty="0"/>
              <a:t> off the stack and advances the input pointer to the next input symbol.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  3. If </a:t>
            </a:r>
            <a:r>
              <a:rPr lang="en-US" altLang="en-US" i="1" dirty="0"/>
              <a:t>X</a:t>
            </a:r>
            <a:r>
              <a:rPr lang="en-US" altLang="en-US" dirty="0"/>
              <a:t> is a nonterminal, the program consults entry M[</a:t>
            </a:r>
            <a:r>
              <a:rPr lang="en-US" altLang="en-US" i="1" dirty="0" err="1"/>
              <a:t>X</a:t>
            </a:r>
            <a:r>
              <a:rPr lang="en-US" altLang="en-US" dirty="0" err="1"/>
              <a:t>,a</a:t>
            </a:r>
            <a:r>
              <a:rPr lang="en-US" altLang="en-US" dirty="0"/>
              <a:t>] of the parsing table M. This entry will be either an X-production of the grammar or an error entry.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 If M[</a:t>
            </a:r>
            <a:r>
              <a:rPr lang="en-US" altLang="en-US" i="1" dirty="0" err="1"/>
              <a:t>X</a:t>
            </a:r>
            <a:r>
              <a:rPr lang="en-US" altLang="en-US" dirty="0" err="1"/>
              <a:t>,a</a:t>
            </a:r>
            <a:r>
              <a:rPr lang="en-US" altLang="en-US" dirty="0"/>
              <a:t>] = {</a:t>
            </a:r>
            <a:r>
              <a:rPr lang="en-US" altLang="en-US" i="1" dirty="0"/>
              <a:t>X</a:t>
            </a:r>
            <a:r>
              <a:rPr lang="en-US" altLang="en-US" dirty="0"/>
              <a:t> → </a:t>
            </a:r>
            <a:r>
              <a:rPr lang="en-US" altLang="en-US" i="1" dirty="0"/>
              <a:t>UVW</a:t>
            </a:r>
            <a:r>
              <a:rPr lang="en-US" altLang="en-US" dirty="0"/>
              <a:t>}, the parser replaces </a:t>
            </a:r>
            <a:r>
              <a:rPr lang="en-US" altLang="en-US" i="1" dirty="0"/>
              <a:t>X</a:t>
            </a:r>
            <a:r>
              <a:rPr lang="en-US" altLang="en-US" dirty="0"/>
              <a:t> on top of the stack by </a:t>
            </a:r>
            <a:r>
              <a:rPr lang="en-US" altLang="en-US" i="1" dirty="0"/>
              <a:t>WVU</a:t>
            </a:r>
            <a:r>
              <a:rPr lang="en-US" altLang="en-US" dirty="0"/>
              <a:t> (with </a:t>
            </a:r>
            <a:r>
              <a:rPr lang="en-US" altLang="en-US" i="1" dirty="0"/>
              <a:t>U</a:t>
            </a:r>
            <a:r>
              <a:rPr lang="en-US" altLang="en-US" dirty="0"/>
              <a:t> on top).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dirty="0"/>
              <a:t>  If M[</a:t>
            </a:r>
            <a:r>
              <a:rPr lang="en-US" altLang="en-US" i="1" dirty="0" err="1"/>
              <a:t>X</a:t>
            </a:r>
            <a:r>
              <a:rPr lang="en-US" altLang="en-US" dirty="0" err="1"/>
              <a:t>,a</a:t>
            </a:r>
            <a:r>
              <a:rPr lang="en-US" altLang="en-US" dirty="0"/>
              <a:t>] = error, the parser calls an error recovery routine.</a:t>
            </a: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C8EC85DD-7134-4734-A453-B6858A06D9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8B646B-1FD3-4822-9060-33AF165182F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33B39D87-5E62-4CD6-B25D-BC602F9C7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00050"/>
            <a:ext cx="8991600" cy="1371600"/>
          </a:xfrm>
        </p:spPr>
        <p:txBody>
          <a:bodyPr/>
          <a:lstStyle/>
          <a:p>
            <a:pPr eaLnBrk="1" hangingPunct="1"/>
            <a:r>
              <a:rPr lang="en-US" altLang="en-US" sz="4000"/>
              <a:t>Parsing table for grammar S</a:t>
            </a:r>
            <a:r>
              <a:rPr lang="en-US" altLang="en-US" sz="4000">
                <a:sym typeface="Symbol" panose="05050102010706020507" pitchFamily="18" charset="2"/>
              </a:rPr>
              <a:t> aSb|c</a:t>
            </a:r>
            <a:endParaRPr lang="en-US" altLang="en-US" sz="4000"/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0CFC69B6-F0FB-432B-B9F3-D5845FC1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40080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fld id="{C1ED728A-CF31-4FD9-A67C-33BE61C79EF2}" type="slidenum">
              <a:rPr lang="en-US" altLang="en-US" sz="1400" smtClean="0">
                <a:cs typeface="Arial" panose="020B0604020202020204" pitchFamily="34" charset="0"/>
              </a:rPr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>
              <a:cs typeface="Arial" panose="020B0604020202020204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55ADC3B-01D8-46C6-891E-ED3985B3DCDE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590800"/>
          <a:ext cx="6096000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 </a:t>
                      </a:r>
                      <a:r>
                        <a:rPr lang="en-US" altLang="en-US" sz="1800" dirty="0"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US" altLang="en-US" sz="1800" dirty="0" err="1">
                          <a:sym typeface="Symbol" panose="05050102010706020507" pitchFamily="18" charset="2"/>
                        </a:rPr>
                        <a:t>aSb</a:t>
                      </a:r>
                      <a:r>
                        <a:rPr lang="en-US" altLang="en-US" sz="1800" dirty="0">
                          <a:sym typeface="Symbol" panose="05050102010706020507" pitchFamily="18" charset="2"/>
                        </a:rPr>
                        <a:t> </a:t>
                      </a:r>
                      <a:endParaRPr lang="en-US" sz="1800" dirty="0"/>
                    </a:p>
                  </a:txBody>
                  <a:tcPr marT="45733" marB="45733"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 </a:t>
                      </a:r>
                      <a:r>
                        <a:rPr lang="en-US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 c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33" marB="45733"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Push</a:t>
                      </a:r>
                    </a:p>
                  </a:txBody>
                  <a:tcPr marT="45733" marB="4573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Push</a:t>
                      </a:r>
                    </a:p>
                  </a:txBody>
                  <a:tcPr marT="45733" marB="4573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Push</a:t>
                      </a:r>
                    </a:p>
                  </a:txBody>
                  <a:tcPr marT="45733" marB="4573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#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Error</a:t>
                      </a:r>
                    </a:p>
                  </a:txBody>
                  <a:tcPr marT="45733" marB="45733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Accept</a:t>
                      </a:r>
                    </a:p>
                  </a:txBody>
                  <a:tcPr marT="45733" marB="45733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94FC80CA-BE37-4A1B-904D-8368698E5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LL(1) Parsing Tables. Errors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DD02629-2678-4D03-B5F5-BFE1709C55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Yellow entries indicate error situations</a:t>
            </a:r>
          </a:p>
          <a:p>
            <a:pPr lvl="1" eaLnBrk="1" hangingPunct="1"/>
            <a:r>
              <a:rPr lang="en-US" altLang="en-US"/>
              <a:t>Consider the [S,b] entry</a:t>
            </a:r>
          </a:p>
          <a:p>
            <a:pPr lvl="1" eaLnBrk="1" hangingPunct="1"/>
            <a:r>
              <a:rPr lang="en-US" altLang="en-US"/>
              <a:t>“There is no way to derive a string starting with b from non-terminal S</a:t>
            </a:r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39BEDB2A-B6E3-40AA-A2E5-BB6B8E22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B2FF23-6B53-4296-81EB-B040A58C199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32604313-D4EA-446A-9984-0E1630C45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Parsing Tables</a:t>
            </a:r>
          </a:p>
        </p:txBody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087B0614-6BA0-4C42-8FC2-69E9FEACA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Method similar to recursive descent, except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For each non-terminal 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We look at the next token 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And chose the production shown at [S,a]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We use a stack to keep track of pending non-terminals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We reject when we encounter an error state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We accept when we encounter end-of-input  	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DF3915B8-28C1-4D91-AFD9-FE2714CD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C67596-F6EE-4391-867A-3B1D9115DAA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67E81014-AF17-41A9-A63F-CA8F925A95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LL(1) Parsing Algorithm</a:t>
            </a:r>
          </a:p>
        </p:txBody>
      </p:sp>
      <p:sp>
        <p:nvSpPr>
          <p:cNvPr id="25604" name="Text Box 3">
            <a:extLst>
              <a:ext uri="{FF2B5EF4-FFF2-40B4-BE49-F238E27FC236}">
                <a16:creationId xmlns:a16="http://schemas.microsoft.com/office/drawing/2014/main" id="{477D49B7-0A16-4399-957B-2271C1E0D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7775575" cy="38862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</a:rPr>
              <a:t>initialize stack = &lt;S #&gt;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</a:rPr>
              <a:t>repeat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</a:rPr>
              <a:t>   case stack of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</a:rPr>
              <a:t>      &lt;X, rest&gt;  : if T[X,*next] = T </a:t>
            </a: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2000">
                <a:latin typeface="Verdana" panose="020B0604030504040204" pitchFamily="34" charset="0"/>
              </a:rPr>
              <a:t>Y</a:t>
            </a:r>
            <a:r>
              <a:rPr lang="en-US" altLang="en-US" sz="2000" baseline="-25000">
                <a:latin typeface="Verdana" panose="020B0604030504040204" pitchFamily="34" charset="0"/>
              </a:rPr>
              <a:t>1</a:t>
            </a:r>
            <a:r>
              <a:rPr lang="en-US" altLang="en-US" sz="2000">
                <a:latin typeface="Verdana" panose="020B0604030504040204" pitchFamily="34" charset="0"/>
              </a:rPr>
              <a:t>…Y</a:t>
            </a:r>
            <a:r>
              <a:rPr lang="en-US" altLang="en-US" sz="2000" baseline="-25000">
                <a:latin typeface="Verdana" panose="020B0604030504040204" pitchFamily="34" charset="0"/>
              </a:rPr>
              <a:t>n</a:t>
            </a:r>
            <a:endParaRPr lang="en-US" altLang="en-US" sz="200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</a:rPr>
              <a:t>                            then stack </a:t>
            </a: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 &lt;Y</a:t>
            </a:r>
            <a:r>
              <a:rPr lang="en-US" altLang="en-US" sz="2000" baseline="-25000">
                <a:latin typeface="Verdan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… Y</a:t>
            </a:r>
            <a:r>
              <a:rPr lang="en-US" altLang="en-US" sz="2000" baseline="-25000">
                <a:latin typeface="Verdana" panose="020B060403050404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 rest&gt;;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                            else  error ();   //X-nonterminal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      &lt;t, rest&gt;   : if t == *next ++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                            then  stack  &lt;rest&gt;;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                            else error (); //X-nonterminal</a:t>
            </a:r>
            <a:endParaRPr lang="en-US" altLang="en-US" sz="200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</a:rPr>
              <a:t>until stack == &lt; &gt;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>
                <a:latin typeface="Verdana" panose="020B0604030504040204" pitchFamily="34" charset="0"/>
              </a:rPr>
              <a:t>//*next refers to the symbol to be checked </a:t>
            </a:r>
            <a:endParaRPr lang="en-US" altLang="en-US" sz="2400">
              <a:latin typeface="Verdana" panose="020B0604030504040204" pitchFamily="34" charset="0"/>
            </a:endParaRPr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B4E1545F-76B7-480B-9420-C524FB58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990C3D-A9C9-45F2-A4F6-82D98B395F0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02738F5D-6048-4BC3-86E7-8E9CDC677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4000"/>
              <a:t>LL(1) Parsing Example for aacbb</a:t>
            </a:r>
          </a:p>
        </p:txBody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5E1C5F57-94E2-4F0F-BF68-EE93144E3F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u="sng"/>
              <a:t>Stack                        Input                            Action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S#                           aacbb$                      S </a:t>
            </a: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 aSb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aSb#                       aacbb$                      push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Sb#                         acbb$                        S </a:t>
            </a: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 aSb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aSbb#                     acbb$                        push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Sbb#                       cbb$                          S </a:t>
            </a:r>
            <a:r>
              <a:rPr lang="en-US" altLang="en-US" sz="2000">
                <a:latin typeface="Verdana" panose="020B0604030504040204" pitchFamily="34" charset="0"/>
                <a:sym typeface="Symbol" panose="05050102010706020507" pitchFamily="18" charset="2"/>
              </a:rPr>
              <a:t> c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cbb#                        cbb$                          push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bb#                          bb$                            push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b#                            b$                              push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#                              $                                ACCEPT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8D356786-DE00-4B07-B856-791F4191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469B6E-27BE-43F5-B41E-B57760630004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03CC7FB0-59C2-44C9-A6CD-7E230377B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Constructing Parsing Tables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17AC2C0-6C26-485F-A0A7-2E92ADE09D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LL(1) languages are those defined by a parsing table for the LL(1)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No table entry can be multiply defined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We want to generate parsing tables from CFG</a:t>
            </a:r>
          </a:p>
        </p:txBody>
      </p:sp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6861516D-3249-4B14-A4BA-704DF260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1BE626-C56D-4623-B9DD-A2B22030CBE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193D5DE6-7686-4131-9851-35066F1A4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Constructing Parsing Tables </a:t>
            </a:r>
            <a:r>
              <a:rPr lang="en-US" altLang="en-US" sz="3600"/>
              <a:t>(Cont.)</a:t>
            </a: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4C3C48E1-4B59-4CED-84FA-368EC90884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If </a:t>
            </a:r>
            <a:r>
              <a:rPr lang="en-US" altLang="en-US" sz="2800">
                <a:solidFill>
                  <a:schemeClr val="accent2"/>
                </a:solidFill>
              </a:rPr>
              <a:t>A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800">
                <a:solidFill>
                  <a:schemeClr val="accent2"/>
                </a:solidFill>
              </a:rPr>
              <a:t>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800">
                <a:sym typeface="Symbol" panose="05050102010706020507" pitchFamily="18" charset="2"/>
              </a:rPr>
              <a:t>, where in the line of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 we place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800">
                <a:sym typeface="Symbol" panose="05050102010706020507" pitchFamily="18" charset="2"/>
              </a:rPr>
              <a:t> 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ym typeface="Symbol" panose="05050102010706020507" pitchFamily="18" charset="2"/>
              </a:rPr>
              <a:t>In the column of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t</a:t>
            </a:r>
            <a:r>
              <a:rPr lang="en-US" altLang="en-US" sz="2800">
                <a:sym typeface="Symbol" panose="05050102010706020507" pitchFamily="18" charset="2"/>
              </a:rPr>
              <a:t> (t is a terminal) where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t</a:t>
            </a:r>
            <a:r>
              <a:rPr lang="en-US" altLang="en-US" sz="2800">
                <a:sym typeface="Symbol" panose="05050102010706020507" pitchFamily="18" charset="2"/>
              </a:rPr>
              <a:t> can start a string derived from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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 </a:t>
            </a:r>
            <a:r>
              <a:rPr lang="en-US" altLang="en-US" sz="2400" baseline="30000">
                <a:sym typeface="Symbol" panose="05050102010706020507" pitchFamily="18" charset="2"/>
              </a:rPr>
              <a:t>*</a:t>
            </a:r>
            <a:r>
              <a:rPr lang="en-US" altLang="en-US" sz="2400">
                <a:sym typeface="Symbol" panose="05050102010706020507" pitchFamily="18" charset="2"/>
              </a:rPr>
              <a:t> t 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We say that t  First()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ym typeface="Symbol" panose="05050102010706020507" pitchFamily="18" charset="2"/>
              </a:rPr>
              <a:t>In the column of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t</a:t>
            </a:r>
            <a:r>
              <a:rPr lang="en-US" altLang="en-US" sz="2800">
                <a:sym typeface="Symbol" panose="05050102010706020507" pitchFamily="18" charset="2"/>
              </a:rPr>
              <a:t> if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800">
                <a:sym typeface="Symbol" panose="05050102010706020507" pitchFamily="18" charset="2"/>
              </a:rPr>
              <a:t> is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800">
                <a:sym typeface="Symbol" panose="05050102010706020507" pitchFamily="18" charset="2"/>
              </a:rPr>
              <a:t> and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t</a:t>
            </a:r>
            <a:r>
              <a:rPr lang="en-US" altLang="en-US" sz="2800">
                <a:sym typeface="Symbol" panose="05050102010706020507" pitchFamily="18" charset="2"/>
              </a:rPr>
              <a:t> can follow an </a:t>
            </a: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S </a:t>
            </a:r>
            <a:r>
              <a:rPr lang="en-US" altLang="en-US" sz="2400" baseline="30000">
                <a:sym typeface="Symbol" panose="05050102010706020507" pitchFamily="18" charset="2"/>
              </a:rPr>
              <a:t>*</a:t>
            </a:r>
            <a:r>
              <a:rPr lang="en-US" altLang="en-US" sz="2400">
                <a:sym typeface="Symbol" panose="05050102010706020507" pitchFamily="18" charset="2"/>
              </a:rPr>
              <a:t>  A t 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We say t  Follow(A)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ACE48881-AB6B-4017-BF85-34981659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C1EA26-31DA-4B47-84AC-4F69BC36A29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B1457114-1460-4AA4-A4EF-D75706E7D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Computing First Sets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9FF47353-2660-4651-86D2-3A10DED38A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Definition:    </a:t>
            </a:r>
            <a:r>
              <a:rPr lang="en-US" altLang="en-US" sz="2400">
                <a:solidFill>
                  <a:srgbClr val="FF0000"/>
                </a:solidFill>
              </a:rPr>
              <a:t>First(X) = { t | X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 t}  { | </a:t>
            </a:r>
            <a:r>
              <a:rPr lang="en-US" altLang="en-US" sz="2400">
                <a:solidFill>
                  <a:srgbClr val="FF0000"/>
                </a:solidFill>
              </a:rPr>
              <a:t>X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 }</a:t>
            </a: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Algorithm sketch :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400">
                <a:sym typeface="Symbol" panose="05050102010706020507" pitchFamily="18" charset="2"/>
              </a:rPr>
              <a:t>for all terminals t do  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First(X) </a:t>
            </a: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 { t } //if X is terminal t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400">
                <a:sym typeface="Symbol" panose="05050102010706020507" pitchFamily="18" charset="2"/>
              </a:rPr>
              <a:t>for each production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X   </a:t>
            </a:r>
            <a:r>
              <a:rPr lang="en-US" altLang="en-US" sz="2400">
                <a:sym typeface="Symbol" panose="05050102010706020507" pitchFamily="18" charset="2"/>
              </a:rPr>
              <a:t>do  First(X) </a:t>
            </a:r>
            <a:r>
              <a:rPr lang="en-US" altLang="en-US" sz="2400">
                <a:sym typeface="Wingdings" panose="05000000000000000000" pitchFamily="2" charset="2"/>
              </a:rPr>
              <a:t> </a:t>
            </a: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{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400">
                <a:sym typeface="Wingdings" panose="05000000000000000000" pitchFamily="2" charset="2"/>
              </a:rPr>
              <a:t>}</a:t>
            </a:r>
            <a:endParaRPr lang="en-US" altLang="en-US" sz="240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400">
                <a:sym typeface="Symbol" panose="05050102010706020507" pitchFamily="18" charset="2"/>
              </a:rPr>
              <a:t>if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X  A</a:t>
            </a:r>
            <a:r>
              <a:rPr lang="en-US" altLang="en-U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 … A</a:t>
            </a:r>
            <a:r>
              <a:rPr lang="en-US" altLang="en-U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   </a:t>
            </a:r>
            <a:r>
              <a:rPr lang="en-US" altLang="en-US" sz="2400">
                <a:sym typeface="Symbol" panose="05050102010706020507" pitchFamily="18" charset="2"/>
              </a:rPr>
              <a:t>and 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  First(A</a:t>
            </a:r>
            <a:r>
              <a:rPr lang="en-US" altLang="en-U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en-US" sz="2400">
                <a:sym typeface="Symbol" panose="05050102010706020507" pitchFamily="18" charset="2"/>
              </a:rPr>
              <a:t> 1  i  n  do</a:t>
            </a:r>
          </a:p>
          <a:p>
            <a:pPr marL="914400" lvl="1" indent="-4572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2000">
                <a:sym typeface="Symbol" panose="05050102010706020507" pitchFamily="18" charset="2"/>
              </a:rPr>
              <a:t>add First()  to  First(X) 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400">
                <a:sym typeface="Symbol" panose="05050102010706020507" pitchFamily="18" charset="2"/>
              </a:rPr>
              <a:t>for each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X  A</a:t>
            </a:r>
            <a:r>
              <a:rPr lang="en-US" altLang="en-U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 … A</a:t>
            </a:r>
            <a:r>
              <a:rPr lang="en-US" altLang="en-U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s.t. 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  First(A</a:t>
            </a:r>
            <a:r>
              <a:rPr lang="en-US" altLang="en-US" sz="2400" baseline="-2500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>
                <a:solidFill>
                  <a:srgbClr val="FF0000"/>
                </a:solidFill>
                <a:sym typeface="Symbol" panose="05050102010706020507" pitchFamily="18" charset="2"/>
              </a:rPr>
              <a:t>), </a:t>
            </a:r>
            <a:r>
              <a:rPr lang="en-US" altLang="en-US" sz="2400">
                <a:sym typeface="Symbol" panose="05050102010706020507" pitchFamily="18" charset="2"/>
              </a:rPr>
              <a:t>1  i  n do</a:t>
            </a:r>
          </a:p>
          <a:p>
            <a:pPr marL="914400" lvl="1" indent="-4572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2000">
                <a:sym typeface="Symbol" panose="05050102010706020507" pitchFamily="18" charset="2"/>
              </a:rPr>
              <a:t>add  to First(X) 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400">
                <a:sym typeface="Symbol" panose="05050102010706020507" pitchFamily="18" charset="2"/>
              </a:rPr>
              <a:t>repeat steps 4 &amp; 5 until no First set can be grown</a:t>
            </a:r>
          </a:p>
        </p:txBody>
      </p:sp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AD33C78D-92D0-493D-B006-E07D9C78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12774D-CCB3-48F3-93A4-CB171127F81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7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7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7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4709513-00A7-4A98-95B0-420570E29E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 Sets. Example</a:t>
            </a:r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E7829A65-6A22-410F-B7DE-1B42DC6E42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38115"/>
            <a:ext cx="8229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Recall the grammar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    E </a:t>
            </a:r>
            <a:r>
              <a:rPr lang="en-US" altLang="en-US" sz="2400" dirty="0">
                <a:sym typeface="Symbol" panose="05050102010706020507" pitchFamily="18" charset="2"/>
              </a:rPr>
              <a:t> T E’                        T  FT’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E’  + E |                    T’  *F | 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F ( E ) | int                   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First sets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      </a:t>
            </a:r>
            <a:r>
              <a:rPr lang="en-US" altLang="en-US" sz="2400" dirty="0">
                <a:sym typeface="Symbol" panose="05050102010706020507" pitchFamily="18" charset="2"/>
              </a:rPr>
              <a:t>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dirty="0">
                <a:sym typeface="Symbol" panose="05050102010706020507" pitchFamily="18" charset="2"/>
              </a:rPr>
              <a:t> ) = { </a:t>
            </a:r>
            <a:r>
              <a:rPr lang="en-US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dirty="0">
                <a:sym typeface="Symbol" panose="05050102010706020507" pitchFamily="18" charset="2"/>
              </a:rPr>
              <a:t> }     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ym typeface="Symbol" panose="05050102010706020507" pitchFamily="18" charset="2"/>
              </a:rPr>
              <a:t> ) = First (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n-US" altLang="en-US" sz="2400" dirty="0">
                <a:sym typeface="Symbol" panose="05050102010706020507" pitchFamily="18" charset="2"/>
              </a:rPr>
              <a:t>) = {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 dirty="0">
                <a:sym typeface="Symbol" panose="05050102010706020507" pitchFamily="18" charset="2"/>
              </a:rPr>
              <a:t>,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 ( 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dirty="0">
                <a:sym typeface="Symbol" panose="05050102010706020507" pitchFamily="18" charset="2"/>
              </a:rPr>
              <a:t> ) = {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) </a:t>
            </a:r>
            <a:r>
              <a:rPr lang="en-US" altLang="en-US" sz="2400" dirty="0">
                <a:sym typeface="Symbol" panose="05050102010706020507" pitchFamily="18" charset="2"/>
              </a:rPr>
              <a:t>}     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 ) = {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 dirty="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 dirty="0">
                <a:sym typeface="Symbol" panose="05050102010706020507" pitchFamily="18" charset="2"/>
              </a:rPr>
              <a:t>) = {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 dirty="0">
                <a:sym typeface="Symbol" panose="05050102010706020507" pitchFamily="18" charset="2"/>
              </a:rPr>
              <a:t> } 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E’</a:t>
            </a:r>
            <a:r>
              <a:rPr lang="en-US" altLang="en-US" sz="2400" dirty="0">
                <a:sym typeface="Symbol" panose="05050102010706020507" pitchFamily="18" charset="2"/>
              </a:rPr>
              <a:t> ) = {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dirty="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sym typeface="Symbol" panose="05050102010706020507" pitchFamily="18" charset="2"/>
              </a:rPr>
              <a:t> ) = {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sym typeface="Symbol" panose="05050102010706020507" pitchFamily="18" charset="2"/>
              </a:rPr>
              <a:t> }   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T’</a:t>
            </a:r>
            <a:r>
              <a:rPr lang="en-US" altLang="en-US" sz="2400" dirty="0">
                <a:sym typeface="Symbol" panose="05050102010706020507" pitchFamily="18" charset="2"/>
              </a:rPr>
              <a:t>) = {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dirty="0">
                <a:sym typeface="Symbol" panose="05050102010706020507" pitchFamily="18" charset="2"/>
              </a:rPr>
              <a:t>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 First(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400" dirty="0">
                <a:sym typeface="Symbol" panose="05050102010706020507" pitchFamily="18" charset="2"/>
              </a:rPr>
              <a:t> ) = { 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400" dirty="0">
                <a:sym typeface="Symbol" panose="05050102010706020507" pitchFamily="18" charset="2"/>
              </a:rPr>
              <a:t> }</a:t>
            </a:r>
            <a:r>
              <a:rPr lang="en-US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  <a:endParaRPr lang="en-US" altLang="en-US" sz="2800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1EDE0D16-9C2C-4362-BA9D-EE4F30C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395EEC-61E4-4464-9DBC-A368F7D8FEE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8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8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8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8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8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8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3E0D342A-31C9-4CA7-AFDE-1653F1FE0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Computing Follow Sets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5CA67868-2EA2-465C-B03C-8DC7BA25EF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Definition: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</a:rPr>
              <a:t>          Follow(X) = { t | </a:t>
            </a:r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S </a:t>
            </a:r>
            <a:r>
              <a:rPr lang="en-US" alt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  X t </a:t>
            </a:r>
            <a:r>
              <a:rPr lang="en-US" altLang="en-US" sz="2800">
                <a:solidFill>
                  <a:srgbClr val="FF0000"/>
                </a:solidFill>
              </a:rPr>
              <a:t> }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Intuition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If S is the start symbol then </a:t>
            </a:r>
            <a:r>
              <a:rPr lang="en-US" altLang="en-US" sz="2400"/>
              <a:t>$ </a:t>
            </a:r>
            <a:r>
              <a:rPr lang="en-US" altLang="en-US" sz="2400">
                <a:sym typeface="Symbol" panose="05050102010706020507" pitchFamily="18" charset="2"/>
              </a:rPr>
              <a:t> Follow(S)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If X </a:t>
            </a:r>
            <a:r>
              <a:rPr lang="en-US" altLang="en-US" sz="2400">
                <a:sym typeface="Symbol" panose="05050102010706020507" pitchFamily="18" charset="2"/>
              </a:rPr>
              <a:t> A B then First(B)  Follow(A) and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                             Follow(X)  Follow(B)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Also if B </a:t>
            </a:r>
            <a:r>
              <a:rPr lang="en-US" altLang="en-US" sz="2400" baseline="30000">
                <a:sym typeface="Symbol" panose="05050102010706020507" pitchFamily="18" charset="2"/>
              </a:rPr>
              <a:t>*</a:t>
            </a:r>
            <a:r>
              <a:rPr lang="en-US" altLang="en-US" sz="2400">
                <a:sym typeface="Symbol" panose="05050102010706020507" pitchFamily="18" charset="2"/>
              </a:rPr>
              <a:t>  then Follow(X)  Follow(A)</a:t>
            </a:r>
          </a:p>
        </p:txBody>
      </p:sp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A43022F7-0AA0-49E3-B7EB-51A3DF75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F74308-13D2-49A3-BBA8-FF007FBD4D4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 bldLvl="2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C2E8499F-EC89-4530-B779-9B0063674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Computing Follow Sets (Cont.)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F38FF587-507E-4F29-A923-042951843B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Algorithm sketch:</a:t>
            </a: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800">
                <a:solidFill>
                  <a:schemeClr val="accent2"/>
                </a:solidFill>
                <a:sym typeface="Symbol" panose="05050102010706020507" pitchFamily="18" charset="2"/>
              </a:rPr>
              <a:t>Follow(S)  </a:t>
            </a:r>
            <a:r>
              <a:rPr lang="en-US" altLang="en-US" sz="2800">
                <a:solidFill>
                  <a:schemeClr val="accent2"/>
                </a:solidFill>
                <a:sym typeface="Wingdings" panose="05000000000000000000" pitchFamily="2" charset="2"/>
              </a:rPr>
              <a:t> { $ }</a:t>
            </a:r>
            <a:endParaRPr lang="en-US" altLang="en-US" sz="280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800"/>
              <a:t>For each production </a:t>
            </a:r>
            <a:r>
              <a:rPr lang="en-US" altLang="en-US" sz="2800">
                <a:sym typeface="Symbol" panose="05050102010706020507" pitchFamily="18" charset="2"/>
              </a:rPr>
              <a:t>A   X  </a:t>
            </a:r>
            <a:endParaRPr lang="en-US" altLang="en-US" sz="2800"/>
          </a:p>
          <a:p>
            <a:pPr marL="914400" lvl="1" indent="-4572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2400">
                <a:sym typeface="Symbol" panose="05050102010706020507" pitchFamily="18" charset="2"/>
              </a:rPr>
              <a:t>add  First() - {}  to  Follow(X) 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 sz="2800">
                <a:sym typeface="Symbol" panose="05050102010706020507" pitchFamily="18" charset="2"/>
              </a:rPr>
              <a:t>For each A   X  where   First() </a:t>
            </a:r>
          </a:p>
          <a:p>
            <a:pPr marL="914400" lvl="1" indent="-457200"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2400">
                <a:sym typeface="Symbol" panose="05050102010706020507" pitchFamily="18" charset="2"/>
              </a:rPr>
              <a:t>add  Follow(A)  to  Follow(X)</a:t>
            </a:r>
          </a:p>
          <a:p>
            <a:pPr marL="533400" indent="-533400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800">
                <a:sym typeface="Symbol" panose="05050102010706020507" pitchFamily="18" charset="2"/>
              </a:rPr>
              <a:t>repeat step(s) 2, 3 until no Follow set grows</a:t>
            </a: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9753DFFE-BBF5-4393-B848-BE3495A9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AD7A38-7D58-4780-AC55-95AF07B0CE12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D596D79C-C6E9-4880-94EF-89619B3511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Follow Sets. Example</a:t>
            </a:r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1F0FF555-789B-4348-ABAB-7B0267D30B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Recall the grammar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E </a:t>
            </a:r>
            <a:r>
              <a:rPr lang="en-US" altLang="en-US" sz="2000">
                <a:sym typeface="Symbol" panose="05050102010706020507" pitchFamily="18" charset="2"/>
              </a:rPr>
              <a:t> T E’                        T  FT’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    E’  + E |                    T’  *F | 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    F ( E ) | int                    </a:t>
            </a:r>
          </a:p>
          <a:p>
            <a:pPr eaLnBrk="1" hangingPunct="1"/>
            <a:r>
              <a:rPr lang="en-US" altLang="en-US" sz="2400">
                <a:sym typeface="Symbol" panose="05050102010706020507" pitchFamily="18" charset="2"/>
              </a:rPr>
              <a:t>Follow sets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>
                <a:sym typeface="Symbol" panose="05050102010706020507" pitchFamily="18" charset="2"/>
              </a:rPr>
              <a:t> ) = {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>
                <a:sym typeface="Symbol" panose="05050102010706020507" pitchFamily="18" charset="2"/>
              </a:rPr>
              <a:t> }  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en-US" sz="2400">
                <a:sym typeface="Symbol" panose="05050102010706020507" pitchFamily="18" charset="2"/>
              </a:rPr>
              <a:t> ) = {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lang="en-US" altLang="en-US" sz="2400">
                <a:sym typeface="Symbol" panose="05050102010706020507" pitchFamily="18" charset="2"/>
              </a:rPr>
              <a:t>}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>
                <a:sym typeface="Symbol" panose="05050102010706020507" pitchFamily="18" charset="2"/>
              </a:rPr>
              <a:t> ) = {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en-US" sz="2400">
                <a:sym typeface="Symbol" panose="05050102010706020507" pitchFamily="18" charset="2"/>
              </a:rPr>
              <a:t> }   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E </a:t>
            </a:r>
            <a:r>
              <a:rPr lang="en-US" altLang="en-US" sz="2400">
                <a:sym typeface="Symbol" panose="05050102010706020507" pitchFamily="18" charset="2"/>
              </a:rPr>
              <a:t>) = {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$</a:t>
            </a:r>
            <a:r>
              <a:rPr lang="en-US" altLang="en-US" sz="2400">
                <a:sym typeface="Symbol" panose="05050102010706020507" pitchFamily="18" charset="2"/>
              </a:rPr>
              <a:t>}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E’</a:t>
            </a:r>
            <a:r>
              <a:rPr lang="en-US" altLang="en-US" sz="2400">
                <a:sym typeface="Symbol" panose="05050102010706020507" pitchFamily="18" charset="2"/>
              </a:rPr>
              <a:t> ) = {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$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 }    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T </a:t>
            </a:r>
            <a:r>
              <a:rPr lang="en-US" altLang="en-US" sz="2400">
                <a:sym typeface="Symbol" panose="05050102010706020507" pitchFamily="18" charset="2"/>
              </a:rPr>
              <a:t>) = {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$</a:t>
            </a:r>
            <a:r>
              <a:rPr lang="en-US" altLang="en-US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>
                <a:sym typeface="Symbol" panose="05050102010706020507" pitchFamily="18" charset="2"/>
              </a:rPr>
              <a:t> ) = {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$</a:t>
            </a:r>
            <a:r>
              <a:rPr lang="en-US" altLang="en-US" sz="2400">
                <a:sym typeface="Symbol" panose="05050102010706020507" pitchFamily="18" charset="2"/>
              </a:rPr>
              <a:t>} 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T’</a:t>
            </a:r>
            <a:r>
              <a:rPr lang="en-US" altLang="en-US" sz="2400">
                <a:sym typeface="Symbol" panose="05050102010706020507" pitchFamily="18" charset="2"/>
              </a:rPr>
              <a:t> ) = {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$</a:t>
            </a:r>
            <a:r>
              <a:rPr lang="en-US" altLang="en-US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ym typeface="Symbol" panose="05050102010706020507" pitchFamily="18" charset="2"/>
              </a:rPr>
              <a:t>    Follow(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int</a:t>
            </a:r>
            <a:r>
              <a:rPr lang="en-US" altLang="en-US" sz="2400">
                <a:sym typeface="Symbol" panose="05050102010706020507" pitchFamily="18" charset="2"/>
              </a:rPr>
              <a:t>) = {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$</a:t>
            </a:r>
            <a:r>
              <a:rPr lang="en-US" altLang="en-US" sz="2400">
                <a:sym typeface="Symbol" panose="05050102010706020507" pitchFamily="18" charset="2"/>
              </a:rPr>
              <a:t>}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</a:p>
        </p:txBody>
      </p:sp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06892C43-FADB-432E-BB65-8E1A2E4F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D1E0C3-E59B-4D6F-A701-BC1C229C7F3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1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1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1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1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ED88F2AB-224F-4614-83F9-394B84D27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842"/>
            <a:ext cx="821055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Constructing LL(1) Parsing Tables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842E0F11-A5E8-4F19-8F54-DE50803A9A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Construct a parsing table T for CFG G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For each production  </a:t>
            </a:r>
            <a:r>
              <a:rPr lang="en-US" altLang="en-US" sz="2800">
                <a:solidFill>
                  <a:srgbClr val="FF0000"/>
                </a:solidFill>
              </a:rPr>
              <a:t>A </a:t>
            </a:r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  </a:t>
            </a:r>
            <a:r>
              <a:rPr lang="en-US" altLang="en-US" sz="2800">
                <a:sym typeface="Symbol" panose="05050102010706020507" pitchFamily="18" charset="2"/>
              </a:rPr>
              <a:t>in G do: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For each terminal t </a:t>
            </a:r>
            <a:r>
              <a:rPr lang="en-US" altLang="en-US" sz="2400">
                <a:sym typeface="Symbol" panose="05050102010706020507" pitchFamily="18" charset="2"/>
              </a:rPr>
              <a:t> First() 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T[A, t] = 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If   First(), for each </a:t>
            </a:r>
            <a:r>
              <a:rPr lang="en-US" altLang="en-US" sz="2400"/>
              <a:t>t </a:t>
            </a:r>
            <a:r>
              <a:rPr lang="en-US" altLang="en-US" sz="2400">
                <a:sym typeface="Symbol" panose="05050102010706020507" pitchFamily="18" charset="2"/>
              </a:rPr>
              <a:t> Follow(A) 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T[A, t] = 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If   First() and $  Follow(A) 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T[A, $] = 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	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795ADFB0-9909-4C22-BCC2-E46A4FF3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77778A-912A-4106-B6C4-ABD19EA9019B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2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2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2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2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build="p" bldLvl="2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FCD1F48B-86B7-4F80-AC14-44D67E0BE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16EACB5-9FA5-4D4E-BB1A-8CC352FDD7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17780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Grammar G:</a:t>
            </a:r>
            <a:br>
              <a:rPr lang="en-US" altLang="en-US" sz="2800" dirty="0"/>
            </a:b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40873CC2-95C5-4A71-8773-A0F24178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40080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fld id="{44D5BFCC-1588-48F8-B44F-903488296EFA}" type="slidenum">
              <a:rPr lang="en-US" altLang="en-US" sz="1400" smtClean="0">
                <a:cs typeface="Arial" panose="020B0604020202020204" pitchFamily="34" charset="0"/>
              </a:rPr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5B06F254-2252-407B-B0E2-90AEE0478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588" y="2179638"/>
            <a:ext cx="1555234" cy="193899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ETE'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E'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TE'|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TFT'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T'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FT'|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F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|int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4353FB12-5055-4871-9AB8-1A9F7DCF8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64130"/>
            <a:ext cx="838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possible to implement a predictive parser for 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DAB6BFB8-441E-41AF-9053-68FF93503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Parsing table</a:t>
            </a:r>
          </a:p>
        </p:txBody>
      </p:sp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9E4BC6EF-8E0E-4EC6-958B-D0543878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40080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fld id="{42D81DC8-FC35-4B2E-8E86-81F4FE15409B}" type="slidenum">
              <a:rPr lang="en-US" altLang="en-US" sz="1400" smtClean="0">
                <a:cs typeface="Arial" panose="020B0604020202020204" pitchFamily="34" charset="0"/>
              </a:rPr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D02FAE7A-AB6A-4424-B8AA-78DB97C12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" y="1846263"/>
            <a:ext cx="45397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E'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T'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E790FC19-C934-47ED-BA69-E42758075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68" y="1524000"/>
            <a:ext cx="1148071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E'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TE'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T'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Push</a:t>
            </a:r>
          </a:p>
        </p:txBody>
      </p:sp>
      <p:sp>
        <p:nvSpPr>
          <p:cNvPr id="36870" name="Text Box 5">
            <a:extLst>
              <a:ext uri="{FF2B5EF4-FFF2-40B4-BE49-F238E27FC236}">
                <a16:creationId xmlns:a16="http://schemas.microsoft.com/office/drawing/2014/main" id="{5BA64ED6-4978-4F98-8AE7-0B157E3C1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306" y="1524000"/>
            <a:ext cx="1154483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T'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FT’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Push</a:t>
            </a:r>
          </a:p>
        </p:txBody>
      </p:sp>
      <p:sp>
        <p:nvSpPr>
          <p:cNvPr id="36871" name="Text Box 6">
            <a:extLst>
              <a:ext uri="{FF2B5EF4-FFF2-40B4-BE49-F238E27FC236}">
                <a16:creationId xmlns:a16="http://schemas.microsoft.com/office/drawing/2014/main" id="{C54961CF-BCE4-4C92-ABA0-46CACD0B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611" y="1524000"/>
            <a:ext cx="95571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TE'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TFT'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F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Push </a:t>
            </a:r>
          </a:p>
        </p:txBody>
      </p:sp>
      <p:sp>
        <p:nvSpPr>
          <p:cNvPr id="36872" name="Text Box 7">
            <a:extLst>
              <a:ext uri="{FF2B5EF4-FFF2-40B4-BE49-F238E27FC236}">
                <a16:creationId xmlns:a16="http://schemas.microsoft.com/office/drawing/2014/main" id="{C3D98B2A-6D8F-4B08-9318-4421353AE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3650" y="1524000"/>
            <a:ext cx="753732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E'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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T'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Push</a:t>
            </a:r>
          </a:p>
        </p:txBody>
      </p:sp>
      <p:sp>
        <p:nvSpPr>
          <p:cNvPr id="36873" name="Line 8">
            <a:extLst>
              <a:ext uri="{FF2B5EF4-FFF2-40B4-BE49-F238E27FC236}">
                <a16:creationId xmlns:a16="http://schemas.microsoft.com/office/drawing/2014/main" id="{F9497010-8252-4A32-847A-E56077E2B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5" y="19050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22D2064D-CC30-496C-806E-67EACAED2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9335" y="1447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Line 10">
            <a:extLst>
              <a:ext uri="{FF2B5EF4-FFF2-40B4-BE49-F238E27FC236}">
                <a16:creationId xmlns:a16="http://schemas.microsoft.com/office/drawing/2014/main" id="{E0673771-DF24-4FE8-839A-8B15FC6A9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935" y="1447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Line 11">
            <a:extLst>
              <a:ext uri="{FF2B5EF4-FFF2-40B4-BE49-F238E27FC236}">
                <a16:creationId xmlns:a16="http://schemas.microsoft.com/office/drawing/2014/main" id="{B60EE650-66EE-44EB-B3ED-CC158574C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2535" y="1447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7" name="Line 12">
            <a:extLst>
              <a:ext uri="{FF2B5EF4-FFF2-40B4-BE49-F238E27FC236}">
                <a16:creationId xmlns:a16="http://schemas.microsoft.com/office/drawing/2014/main" id="{2BB4C2A4-96AD-4285-989A-F15274ECB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5535" y="1447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Line 13">
            <a:extLst>
              <a:ext uri="{FF2B5EF4-FFF2-40B4-BE49-F238E27FC236}">
                <a16:creationId xmlns:a16="http://schemas.microsoft.com/office/drawing/2014/main" id="{FBD15F48-82F6-463D-B6C0-E0D4A36DE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6135" y="1447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Text Box 14">
            <a:extLst>
              <a:ext uri="{FF2B5EF4-FFF2-40B4-BE49-F238E27FC236}">
                <a16:creationId xmlns:a16="http://schemas.microsoft.com/office/drawing/2014/main" id="{CB0C75EC-B026-42FF-A4D3-552E8C3F9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211" y="1524000"/>
            <a:ext cx="95571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TE'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TFT'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F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Push</a:t>
            </a:r>
          </a:p>
        </p:txBody>
      </p:sp>
      <p:sp>
        <p:nvSpPr>
          <p:cNvPr id="36880" name="Text Box 15">
            <a:extLst>
              <a:ext uri="{FF2B5EF4-FFF2-40B4-BE49-F238E27FC236}">
                <a16:creationId xmlns:a16="http://schemas.microsoft.com/office/drawing/2014/main" id="{058B467C-C3AF-4926-9FD8-BAC2F4577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885" y="1524000"/>
            <a:ext cx="909638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E'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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T'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omic Sans MS" panose="030F0702030302020204" pitchFamily="66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Accept</a:t>
            </a:r>
          </a:p>
        </p:txBody>
      </p:sp>
      <p:sp>
        <p:nvSpPr>
          <p:cNvPr id="36881" name="Line 16">
            <a:extLst>
              <a:ext uri="{FF2B5EF4-FFF2-40B4-BE49-F238E27FC236}">
                <a16:creationId xmlns:a16="http://schemas.microsoft.com/office/drawing/2014/main" id="{F19EBFCD-ECBF-4DB8-9DE2-580F2DD71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9135" y="1447800"/>
            <a:ext cx="0" cy="388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2" name="Rectangle 17">
            <a:extLst>
              <a:ext uri="{FF2B5EF4-FFF2-40B4-BE49-F238E27FC236}">
                <a16:creationId xmlns:a16="http://schemas.microsoft.com/office/drawing/2014/main" id="{35E3891A-C02E-42F0-8519-6F7CD5DEF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5" y="1447800"/>
            <a:ext cx="7467600" cy="3886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B1A4013E-0A7B-411E-923C-645719ED1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Notes on LL(1) </a:t>
            </a:r>
            <a:br>
              <a:rPr lang="en-US" altLang="en-US" sz="4000"/>
            </a:br>
            <a:r>
              <a:rPr lang="en-US" altLang="en-US" sz="4000"/>
              <a:t>Parsing Tables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D867398-E5F0-426A-8AC8-FBD73C36B5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If any entry is multiply defined then G is not LL(1)</a:t>
            </a:r>
          </a:p>
          <a:p>
            <a:pPr lvl="1" eaLnBrk="1" hangingPunct="1"/>
            <a:r>
              <a:rPr lang="en-US" altLang="en-US" sz="2400"/>
              <a:t>If G is ambiguous</a:t>
            </a:r>
          </a:p>
          <a:p>
            <a:pPr lvl="1" eaLnBrk="1" hangingPunct="1"/>
            <a:r>
              <a:rPr lang="en-US" altLang="en-US" sz="2400"/>
              <a:t>If G is left recursive</a:t>
            </a:r>
          </a:p>
          <a:p>
            <a:pPr lvl="1" eaLnBrk="1" hangingPunct="1"/>
            <a:r>
              <a:rPr lang="en-US" altLang="en-US" sz="2400"/>
              <a:t>If G is not left-factored</a:t>
            </a:r>
            <a:endParaRPr lang="en-US" altLang="en-US" sz="2400" u="sng"/>
          </a:p>
          <a:p>
            <a:pPr eaLnBrk="1" hangingPunct="1"/>
            <a:r>
              <a:rPr lang="en-US" altLang="en-US" sz="2800"/>
              <a:t>Most </a:t>
            </a:r>
            <a:r>
              <a:rPr lang="en-US" altLang="en-US" sz="2800">
                <a:solidFill>
                  <a:srgbClr val="FF0000"/>
                </a:solidFill>
              </a:rPr>
              <a:t>programming language</a:t>
            </a:r>
            <a:r>
              <a:rPr lang="en-US" altLang="en-US" sz="2800"/>
              <a:t> grammars are not LL(1)</a:t>
            </a:r>
          </a:p>
          <a:p>
            <a:pPr eaLnBrk="1" hangingPunct="1"/>
            <a:r>
              <a:rPr lang="en-US" altLang="en-US" sz="2800"/>
              <a:t>There are tools that build LL(1) tables</a:t>
            </a:r>
          </a:p>
        </p:txBody>
      </p:sp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948B9C7F-3CD7-4380-B102-806CBF7D6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8CF4F6-1D54-4C79-8B10-4EF9286BA6C5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3763</TotalTime>
  <Words>2575</Words>
  <Application>Microsoft Office PowerPoint</Application>
  <PresentationFormat>On-screen Show (4:3)</PresentationFormat>
  <Paragraphs>393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Wingdings</vt:lpstr>
      <vt:lpstr>Arial Black</vt:lpstr>
      <vt:lpstr>Times New Roman</vt:lpstr>
      <vt:lpstr>Symbol</vt:lpstr>
      <vt:lpstr>Courier New</vt:lpstr>
      <vt:lpstr>Arial Unicode MS</vt:lpstr>
      <vt:lpstr>Verdana</vt:lpstr>
      <vt:lpstr>Comic Sans MS</vt:lpstr>
      <vt:lpstr>SoICT-PPT-template-hoi-thao-online</vt:lpstr>
      <vt:lpstr>Unit 7 Predictive Parsing </vt:lpstr>
      <vt:lpstr>Predictive Parsers</vt:lpstr>
      <vt:lpstr>PowerPoint Presentation</vt:lpstr>
      <vt:lpstr>PowerPoint Presentation</vt:lpstr>
      <vt:lpstr>Left Recursion</vt:lpstr>
      <vt:lpstr>Immediate Left-Recursion</vt:lpstr>
      <vt:lpstr>PowerPoint Presentation</vt:lpstr>
      <vt:lpstr>PowerPoint Presentation</vt:lpstr>
      <vt:lpstr>PowerPoint Presentation</vt:lpstr>
      <vt:lpstr>Predictive Parsing and Left Factoring</vt:lpstr>
      <vt:lpstr>Left Factoring</vt:lpstr>
      <vt:lpstr>Left Factoring (con’d)</vt:lpstr>
      <vt:lpstr>Left factoring algorithm</vt:lpstr>
      <vt:lpstr>Left Factoring example</vt:lpstr>
      <vt:lpstr>(Non recursive) Predictive parser</vt:lpstr>
      <vt:lpstr>Parsing table M</vt:lpstr>
      <vt:lpstr>Non recursive Predictive Parser</vt:lpstr>
      <vt:lpstr>Parsing table for grammar S aSb|c</vt:lpstr>
      <vt:lpstr>LL(1) Parsing Tables. Errors</vt:lpstr>
      <vt:lpstr>Using Parsing Tables</vt:lpstr>
      <vt:lpstr>LL(1) Parsing Algorithm</vt:lpstr>
      <vt:lpstr>LL(1) Parsing Example for aacbb</vt:lpstr>
      <vt:lpstr>Constructing Parsing Tables</vt:lpstr>
      <vt:lpstr>Constructing Parsing Tables (Cont.)</vt:lpstr>
      <vt:lpstr>Computing First Sets</vt:lpstr>
      <vt:lpstr>First Sets. Example</vt:lpstr>
      <vt:lpstr>Computing Follow Sets</vt:lpstr>
      <vt:lpstr>Computing Follow Sets (Cont.)</vt:lpstr>
      <vt:lpstr>Follow Sets. Example</vt:lpstr>
      <vt:lpstr>Constructing LL(1) Parsing Tables</vt:lpstr>
      <vt:lpstr>Example</vt:lpstr>
      <vt:lpstr>Parsing table</vt:lpstr>
      <vt:lpstr>Notes on LL(1)  Parsing Tables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367</cp:revision>
  <cp:lastPrinted>2020-10-26T17:04:43Z</cp:lastPrinted>
  <dcterms:created xsi:type="dcterms:W3CDTF">2008-08-10T02:45:21Z</dcterms:created>
  <dcterms:modified xsi:type="dcterms:W3CDTF">2021-01-19T16:42:09Z</dcterms:modified>
</cp:coreProperties>
</file>