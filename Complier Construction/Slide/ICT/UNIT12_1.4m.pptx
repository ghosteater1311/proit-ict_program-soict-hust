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20"/>
  </p:notesMasterIdLst>
  <p:sldIdLst>
    <p:sldId id="354" r:id="rId2"/>
    <p:sldId id="371" r:id="rId3"/>
    <p:sldId id="378" r:id="rId4"/>
    <p:sldId id="401" r:id="rId5"/>
    <p:sldId id="402" r:id="rId6"/>
    <p:sldId id="403" r:id="rId7"/>
    <p:sldId id="404" r:id="rId8"/>
    <p:sldId id="412" r:id="rId9"/>
    <p:sldId id="406" r:id="rId10"/>
    <p:sldId id="407" r:id="rId11"/>
    <p:sldId id="408" r:id="rId12"/>
    <p:sldId id="409" r:id="rId13"/>
    <p:sldId id="410" r:id="rId14"/>
    <p:sldId id="411" r:id="rId15"/>
    <p:sldId id="413" r:id="rId16"/>
    <p:sldId id="414" r:id="rId17"/>
    <p:sldId id="415" r:id="rId18"/>
    <p:sldId id="416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61" autoAdjust="0"/>
    <p:restoredTop sz="99012" autoAdjust="0"/>
  </p:normalViewPr>
  <p:slideViewPr>
    <p:cSldViewPr>
      <p:cViewPr varScale="1">
        <p:scale>
          <a:sx n="52" d="100"/>
          <a:sy n="52" d="100"/>
        </p:scale>
        <p:origin x="939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12B891F2-7D91-4191-B894-A937060A5C9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DC5063C-BCCA-409C-94E9-581629CBFEF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59878C09-9C65-436E-9F51-AE348EE51BA0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A09EBCE5-13CE-4B9A-902D-D72174925DB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EEDB6E36-A950-4EBA-80E2-2D92086618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BC6F9510-EB22-4823-9A92-839EE7C644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7A785A3-53CB-477C-A167-8270E975AEA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48EDC71B-AB70-4ED5-ACFD-0AFDA460D1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DED15C-1968-474D-91BF-F5081ED6EDE3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5A35B9CD-77E2-4A66-92BE-C64A620ABECB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43000" y="684213"/>
            <a:ext cx="4572000" cy="3429000"/>
          </a:xfrm>
          <a:ln w="12700" cap="flat">
            <a:solidFill>
              <a:schemeClr val="tx1"/>
            </a:solidFill>
          </a:ln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1CB0DFB0-1188-4688-90E7-C4327CFD7A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2813" y="4341813"/>
            <a:ext cx="5032375" cy="41179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490" tIns="46745" rIns="93490" bIns="46745"/>
          <a:lstStyle/>
          <a:p>
            <a:pPr eaLnBrk="1" hangingPunct="1"/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7D70FBAB-36AB-4D1C-9CE5-9D9AF07F2C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7551BE5A-9733-4ED6-9F12-EC983751600C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>
                <a:buFont typeface="Wingdings" panose="05000000000000000000" pitchFamily="2" charset="2"/>
                <a:buNone/>
              </a:pPr>
              <a:t>4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3555" name="Rectangle 1">
            <a:extLst>
              <a:ext uri="{FF2B5EF4-FFF2-40B4-BE49-F238E27FC236}">
                <a16:creationId xmlns:a16="http://schemas.microsoft.com/office/drawing/2014/main" id="{E096BF24-8C52-4F8F-B28F-9ABDAC17DD0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971E1765-68DD-4054-A3C3-AEBB6DDF249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17DE9BB0-362F-4BF4-9108-B15DE5824F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2D108158-2ECC-4282-8754-BD09C9AE7C38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>
                <a:buFont typeface="Wingdings" panose="05000000000000000000" pitchFamily="2" charset="2"/>
                <a:buNone/>
              </a:pPr>
              <a:t>5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0F35EEB7-0750-4565-9B67-CA8482693F0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298962F3-5DD7-4DC8-BBCC-635DD67D807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1FFA9E21-6324-438F-9440-3082879A53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8B32CBB0-FE8B-4D33-A597-7D791F0EB5A4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>
                <a:buFont typeface="Wingdings" panose="05000000000000000000" pitchFamily="2" charset="2"/>
                <a:buNone/>
              </a:pPr>
              <a:t>6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5603" name="Rectangle 1">
            <a:extLst>
              <a:ext uri="{FF2B5EF4-FFF2-40B4-BE49-F238E27FC236}">
                <a16:creationId xmlns:a16="http://schemas.microsoft.com/office/drawing/2014/main" id="{E6713190-61C9-4A34-953C-83F0298FD76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9D450382-268D-4936-8E67-E82F025E79E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84326A2D-5C6D-4968-83E3-65C93FF159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FA0865FA-F25E-4786-B868-3BCD8D3072E2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>
                <a:buFont typeface="Wingdings" panose="05000000000000000000" pitchFamily="2" charset="2"/>
                <a:buNone/>
              </a:pPr>
              <a:t>7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6627" name="Rectangle 1">
            <a:extLst>
              <a:ext uri="{FF2B5EF4-FFF2-40B4-BE49-F238E27FC236}">
                <a16:creationId xmlns:a16="http://schemas.microsoft.com/office/drawing/2014/main" id="{55B00991-0B76-4131-B9AB-8BCC077CF37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3069C614-3943-40B5-91EA-87872D487EB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0FE7D9CF-5478-4381-9E98-DE9ACCB029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6625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36625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36625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36625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36625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36625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B1302A3-EA4D-4102-8097-55B3117EEE90}" type="slidenum">
              <a:rPr lang="en-US" altLang="en-US" sz="1200">
                <a:latin typeface="Calibri" panose="020F0502020204030204" pitchFamily="34" charset="0"/>
                <a:cs typeface="Arial" panose="020B0604020202020204" pitchFamily="34" charset="0"/>
              </a:rPr>
              <a:pPr/>
              <a:t>8</a:t>
            </a:fld>
            <a:endParaRPr lang="en-US" altLang="en-US" sz="120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7651" name="Rectangle 7">
            <a:extLst>
              <a:ext uri="{FF2B5EF4-FFF2-40B4-BE49-F238E27FC236}">
                <a16:creationId xmlns:a16="http://schemas.microsoft.com/office/drawing/2014/main" id="{45FFFEC4-BFA5-46F0-B5FE-1FFEA5A0C1A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89992" tIns="46796" rIns="89992" bIns="46796" anchor="b"/>
          <a:lstStyle>
            <a:lvl1pPr defTabSz="482600">
              <a:tabLst>
                <a:tab pos="765175" algn="l"/>
                <a:tab pos="1530350" algn="l"/>
                <a:tab pos="22955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82600">
              <a:tabLst>
                <a:tab pos="765175" algn="l"/>
                <a:tab pos="1530350" algn="l"/>
                <a:tab pos="22955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82600">
              <a:tabLst>
                <a:tab pos="765175" algn="l"/>
                <a:tab pos="1530350" algn="l"/>
                <a:tab pos="22955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82600">
              <a:tabLst>
                <a:tab pos="765175" algn="l"/>
                <a:tab pos="1530350" algn="l"/>
                <a:tab pos="22955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82600">
              <a:tabLst>
                <a:tab pos="765175" algn="l"/>
                <a:tab pos="1530350" algn="l"/>
                <a:tab pos="22955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82600" eaLnBrk="0" fontAlgn="base" hangingPunct="0">
              <a:spcBef>
                <a:spcPct val="0"/>
              </a:spcBef>
              <a:spcAft>
                <a:spcPct val="0"/>
              </a:spcAft>
              <a:tabLst>
                <a:tab pos="765175" algn="l"/>
                <a:tab pos="1530350" algn="l"/>
                <a:tab pos="22955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82600" eaLnBrk="0" fontAlgn="base" hangingPunct="0">
              <a:spcBef>
                <a:spcPct val="0"/>
              </a:spcBef>
              <a:spcAft>
                <a:spcPct val="0"/>
              </a:spcAft>
              <a:tabLst>
                <a:tab pos="765175" algn="l"/>
                <a:tab pos="1530350" algn="l"/>
                <a:tab pos="22955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82600" eaLnBrk="0" fontAlgn="base" hangingPunct="0">
              <a:spcBef>
                <a:spcPct val="0"/>
              </a:spcBef>
              <a:spcAft>
                <a:spcPct val="0"/>
              </a:spcAft>
              <a:tabLst>
                <a:tab pos="765175" algn="l"/>
                <a:tab pos="1530350" algn="l"/>
                <a:tab pos="22955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82600" eaLnBrk="0" fontAlgn="base" hangingPunct="0">
              <a:spcBef>
                <a:spcPct val="0"/>
              </a:spcBef>
              <a:spcAft>
                <a:spcPct val="0"/>
              </a:spcAft>
              <a:tabLst>
                <a:tab pos="765175" algn="l"/>
                <a:tab pos="1530350" algn="l"/>
                <a:tab pos="22955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buClr>
                <a:srgbClr val="000000"/>
              </a:buClr>
              <a:buSzPct val="45000"/>
            </a:pPr>
            <a:fld id="{DF70143A-3CC5-448F-91B5-1487EBD71FAC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Clr>
                  <a:srgbClr val="000000"/>
                </a:buClr>
                <a:buSzPct val="45000"/>
              </a:pPr>
              <a:t>8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7652" name="Rectangle 1">
            <a:extLst>
              <a:ext uri="{FF2B5EF4-FFF2-40B4-BE49-F238E27FC236}">
                <a16:creationId xmlns:a16="http://schemas.microsoft.com/office/drawing/2014/main" id="{3FAC8CBD-479B-4F83-8980-908B8644150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3" name="Rectangle 2">
            <a:extLst>
              <a:ext uri="{FF2B5EF4-FFF2-40B4-BE49-F238E27FC236}">
                <a16:creationId xmlns:a16="http://schemas.microsoft.com/office/drawing/2014/main" id="{6C11FB00-B0DE-4D19-9361-03569F29319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992" tIns="46796" rIns="89992" bIns="46796" anchor="ctr"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6658D4FB-B5F8-48F4-82A8-FD17B178A4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47A6FAF8-BD49-4784-832D-64A8321AE40D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>
                <a:buFont typeface="Wingdings" panose="05000000000000000000" pitchFamily="2" charset="2"/>
                <a:buNone/>
              </a:pPr>
              <a:t>9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8675" name="Rectangle 1">
            <a:extLst>
              <a:ext uri="{FF2B5EF4-FFF2-40B4-BE49-F238E27FC236}">
                <a16:creationId xmlns:a16="http://schemas.microsoft.com/office/drawing/2014/main" id="{0B79821E-BEAC-4336-BD6C-4B228E0AA8E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EB8E17F7-6F09-4E28-8E5A-D712598C54C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5BE4A84E-96E0-4A4A-A05D-135622B19C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337ED0CE-2ABE-42B5-88F0-7E37FCF48418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>
                <a:buFont typeface="Wingdings" panose="05000000000000000000" pitchFamily="2" charset="2"/>
                <a:buNone/>
              </a:pPr>
              <a:t>10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300D6668-6723-4FFD-9DDC-60861A273BB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5FCD2129-C915-4371-AE67-E5E433A8822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D0772DA9-6C54-413E-AC80-0BF8CC6E7D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764FD64B-50A4-4933-B9FB-5FEB64D9BCD8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>
                <a:buFont typeface="Wingdings" panose="05000000000000000000" pitchFamily="2" charset="2"/>
                <a:buNone/>
              </a:pPr>
              <a:t>11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0723" name="Rectangle 1">
            <a:extLst>
              <a:ext uri="{FF2B5EF4-FFF2-40B4-BE49-F238E27FC236}">
                <a16:creationId xmlns:a16="http://schemas.microsoft.com/office/drawing/2014/main" id="{F6842F1A-3D80-488B-9472-26F47CBC0CB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50341E29-22AA-4E7C-9B74-041ACC84052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7AD09C5F-8B6B-4DD6-8992-7BEEFC192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A7A9FD0E-DE37-452D-87B5-1B18D7654E3C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>
                <a:buFont typeface="Wingdings" panose="05000000000000000000" pitchFamily="2" charset="2"/>
                <a:buNone/>
              </a:pPr>
              <a:t>12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65E42379-35E1-4F09-97C9-63753314CA8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BF49355F-B420-4B9C-9A18-1115EFC4381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85F6A8CA-9E12-4FF4-A6CA-DBF8F524F1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628DCD6B-2CD4-435A-94AC-FB3DBDAF62B8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>
                <a:buFont typeface="Wingdings" panose="05000000000000000000" pitchFamily="2" charset="2"/>
                <a:buNone/>
              </a:pPr>
              <a:t>13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2771" name="Rectangle 1">
            <a:extLst>
              <a:ext uri="{FF2B5EF4-FFF2-40B4-BE49-F238E27FC236}">
                <a16:creationId xmlns:a16="http://schemas.microsoft.com/office/drawing/2014/main" id="{C45A4356-8EAF-42C9-9372-FAF57757C07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9E82916B-81F1-4837-B00D-F0D8786ADAD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D00C936-F7B0-4DEF-AA15-EF8EE47BAC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fld id="{D357B930-9CAF-4227-80B9-18DE8FF74AD0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>
                <a:buFont typeface="Wingdings" panose="05000000000000000000" pitchFamily="2" charset="2"/>
                <a:buNone/>
              </a:pPr>
              <a:t>14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3795" name="Rectangle 1">
            <a:extLst>
              <a:ext uri="{FF2B5EF4-FFF2-40B4-BE49-F238E27FC236}">
                <a16:creationId xmlns:a16="http://schemas.microsoft.com/office/drawing/2014/main" id="{2251E8D9-6260-4CBE-9D17-5349B056EF2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A45D2B66-6220-4C6F-B84C-30A72DD7C46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BE05919D-CE20-4FB1-96D4-DC8057D62ED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buSzPct val="45000"/>
              <a:buFont typeface="Wingdings" panose="05000000000000000000" pitchFamily="2" charset="2"/>
              <a:buNone/>
            </a:pPr>
            <a:fld id="{5C2F192F-0501-4DFB-A8A1-86A52938E576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SzPct val="45000"/>
                <a:buFont typeface="Wingdings" panose="05000000000000000000" pitchFamily="2" charset="2"/>
                <a:buNone/>
              </a:pPr>
              <a:t>15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4819" name="Rectangle 1">
            <a:extLst>
              <a:ext uri="{FF2B5EF4-FFF2-40B4-BE49-F238E27FC236}">
                <a16:creationId xmlns:a16="http://schemas.microsoft.com/office/drawing/2014/main" id="{E8735485-E9D7-4386-A4DC-09F3B09475D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6062797A-C89E-4056-BBF2-A4DAF8C670B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E4722249-70B0-44D6-B1F4-96319EF08F8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buSzPct val="45000"/>
              <a:buFont typeface="Wingdings" panose="05000000000000000000" pitchFamily="2" charset="2"/>
              <a:buNone/>
            </a:pPr>
            <a:fld id="{8F1655E4-A952-4C24-B678-E7EB461E18B6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SzPct val="45000"/>
                <a:buFont typeface="Wingdings" panose="05000000000000000000" pitchFamily="2" charset="2"/>
                <a:buNone/>
              </a:pPr>
              <a:t>16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5843" name="Rectangle 1">
            <a:extLst>
              <a:ext uri="{FF2B5EF4-FFF2-40B4-BE49-F238E27FC236}">
                <a16:creationId xmlns:a16="http://schemas.microsoft.com/office/drawing/2014/main" id="{4CF576A5-0E82-4A61-9E15-CD31041B187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4" name="Rectangle 2">
            <a:extLst>
              <a:ext uri="{FF2B5EF4-FFF2-40B4-BE49-F238E27FC236}">
                <a16:creationId xmlns:a16="http://schemas.microsoft.com/office/drawing/2014/main" id="{59D3C70A-A081-4EEC-8BDF-266FD1EEEE9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D2AFD310-203C-4A6B-AC97-7473867A0ED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buSzPct val="45000"/>
              <a:buFont typeface="Wingdings" panose="05000000000000000000" pitchFamily="2" charset="2"/>
              <a:buNone/>
            </a:pPr>
            <a:fld id="{D0543A06-2B12-40DB-9933-1EB98F552C84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SzPct val="45000"/>
                <a:buFont typeface="Wingdings" panose="05000000000000000000" pitchFamily="2" charset="2"/>
                <a:buNone/>
              </a:pPr>
              <a:t>17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6867" name="Rectangle 1">
            <a:extLst>
              <a:ext uri="{FF2B5EF4-FFF2-40B4-BE49-F238E27FC236}">
                <a16:creationId xmlns:a16="http://schemas.microsoft.com/office/drawing/2014/main" id="{E3921F11-90E0-4C8D-BFD8-034CDB66B4F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A643C558-EBA3-4F54-BB25-844501B664C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979C4739-9F28-40B6-B63B-163CD9D6C48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4613" y="8685213"/>
            <a:ext cx="29702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buSzPct val="45000"/>
              <a:buFont typeface="Wingdings" panose="05000000000000000000" pitchFamily="2" charset="2"/>
              <a:buNone/>
            </a:pPr>
            <a:fld id="{CF0868C6-666A-49C6-86BE-DB7DEDC816CC}" type="slidenum">
              <a:rPr lang="vi-VN" altLang="en-US" sz="1200">
                <a:solidFill>
                  <a:srgbClr val="0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pPr algn="r" eaLnBrk="1" hangingPunct="1">
                <a:buSzPct val="45000"/>
                <a:buFont typeface="Wingdings" panose="05000000000000000000" pitchFamily="2" charset="2"/>
                <a:buNone/>
              </a:pPr>
              <a:t>18</a:t>
            </a:fld>
            <a:endParaRPr lang="vi-VN" altLang="en-US" sz="1200">
              <a:solidFill>
                <a:srgbClr val="000000"/>
              </a:solidFill>
              <a:latin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37891" name="Rectangle 1">
            <a:extLst>
              <a:ext uri="{FF2B5EF4-FFF2-40B4-BE49-F238E27FC236}">
                <a16:creationId xmlns:a16="http://schemas.microsoft.com/office/drawing/2014/main" id="{29DFB6AA-4FCD-4E69-BFBC-87105A9907D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7892" name="Rectangle 2">
            <a:extLst>
              <a:ext uri="{FF2B5EF4-FFF2-40B4-BE49-F238E27FC236}">
                <a16:creationId xmlns:a16="http://schemas.microsoft.com/office/drawing/2014/main" id="{84EF883E-5777-41AE-85AE-195211214E1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388CBDAC-DDF3-4BF5-B0B9-EFD40EF9AA10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ECF0E764-795A-463B-9E90-9B6B32C9302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474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6842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3851"/>
            <a:ext cx="78867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57950" y="6141245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fld id="{C2EC5948-60AF-48A3-9544-6787ADDDF24B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2350" y="6413501"/>
            <a:ext cx="1143000" cy="365125"/>
          </a:xfrm>
        </p:spPr>
        <p:txBody>
          <a:bodyPr/>
          <a:lstStyle/>
          <a:p>
            <a:fld id="{A2DB6217-9062-42A1-BC3A-CF00F8A3A9B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152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BE30057-9159-4FBB-8595-0725DEA11108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B5EC-A113-4E9F-8ABC-F415340ACA9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5368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A70D2FA-6925-4DB9-A996-40BA3CE2B652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A12118-B0A6-4663-9686-7EA6574B46D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09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00ED440-61AB-43D7-8E61-D5742BD7D89E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09FEBA-2761-46D0-A650-1ECB6722F88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1819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23E79B-76BD-4E46-B283-1F005EDDA327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C4806-DA66-4A10-A907-0BD7A514609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3867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1781176"/>
            <a:ext cx="2711450" cy="4244974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F9368E-B3CB-49B9-AA90-9402D821878E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6F1E-FF09-4E5E-905E-F442533A770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011732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F9368E-B3CB-49B9-AA90-9402D821878E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6F1E-FF09-4E5E-905E-F442533A770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97464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A42BE5-4BF6-41D1-9368-11F4AC9F259A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7D88C-09BD-4475-AED2-1004DF52166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72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F9368E-B3CB-49B9-AA90-9402D821878E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6F1E-FF09-4E5E-905E-F442533A770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277522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BF9368E-B3CB-49B9-AA90-9402D821878E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46F1E-FF09-4E5E-905E-F442533A770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853993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EDEED35-9777-4B3F-A644-727DE689D9B4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83B418-0E7F-484B-B625-EC610DDE883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1150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B780E21-5C08-4965-8F3B-0670CF2BDE18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545B3-05C3-4502-887C-4BBB605BBEA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9326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46C2B9C-D0E8-4EEB-9C4F-CB28D29CD7C4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C6DCF-65BF-4DE0-B8EC-07E0C777DA2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3278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5D5929B-7C18-4F3F-9F67-165BDF46B004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24575C-7BCB-4146-9F05-AAF834097533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2277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5557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625600"/>
            <a:ext cx="7886700" cy="4460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97750" y="6121400"/>
            <a:ext cx="1117600" cy="2762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DBF9368E-B3CB-49B9-AA90-9402D821878E}" type="datetime3">
              <a:rPr lang="en-US" smtClean="0"/>
              <a:pPr>
                <a:defRPr/>
              </a:pPr>
              <a:t>19 January 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87850" y="6432550"/>
            <a:ext cx="300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97750" y="6432551"/>
            <a:ext cx="111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FC46F1E-FF09-4E5E-905E-F442533A770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543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>
            <a:extLst>
              <a:ext uri="{FF2B5EF4-FFF2-40B4-BE49-F238E27FC236}">
                <a16:creationId xmlns:a16="http://schemas.microsoft.com/office/drawing/2014/main" id="{1ACA8CD5-77B7-4971-B24E-78FCC82828B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1524000"/>
            <a:ext cx="6400800" cy="3429000"/>
          </a:xfrm>
        </p:spPr>
        <p:txBody>
          <a:bodyPr/>
          <a:lstStyle/>
          <a:p>
            <a:pPr eaLnBrk="1" hangingPunct="1"/>
            <a:endParaRPr lang="en-GB" altLang="en-US" dirty="0"/>
          </a:p>
          <a:p>
            <a:pPr eaLnBrk="1" hangingPunct="1"/>
            <a:r>
              <a:rPr lang="en-GB" altLang="en-US" sz="4800" dirty="0">
                <a:solidFill>
                  <a:schemeClr val="bg1"/>
                </a:solidFill>
              </a:rPr>
              <a:t>Unit 13</a:t>
            </a:r>
          </a:p>
          <a:p>
            <a:pPr eaLnBrk="1" hangingPunct="1"/>
            <a:r>
              <a:rPr lang="en-GB" altLang="en-US" sz="5400" dirty="0">
                <a:solidFill>
                  <a:schemeClr val="bg1"/>
                </a:solidFill>
              </a:rPr>
              <a:t>Code Generation</a:t>
            </a:r>
          </a:p>
          <a:p>
            <a:pPr eaLnBrk="1" hangingPunct="1"/>
            <a:endParaRPr lang="en-US" altLang="en-US" sz="4300" dirty="0"/>
          </a:p>
        </p:txBody>
      </p:sp>
      <p:sp>
        <p:nvSpPr>
          <p:cNvPr id="3074" name="Rectangle 18">
            <a:extLst>
              <a:ext uri="{FF2B5EF4-FFF2-40B4-BE49-F238E27FC236}">
                <a16:creationId xmlns:a16="http://schemas.microsoft.com/office/drawing/2014/main" id="{42235AA0-188B-4C84-ABC6-983984076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932B22-D287-4108-B39D-E66A13316085}" type="slidenum">
              <a:rPr lang="en-US" altLang="en-US" sz="1200">
                <a:latin typeface="Arial Black" panose="020B0A04020102020204" pitchFamily="34" charset="0"/>
              </a:rPr>
              <a:pPr/>
              <a:t>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96EE6F6C-596E-4606-B7F8-F6448F55B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90600"/>
            <a:ext cx="8686800" cy="1311275"/>
          </a:xfrm>
          <a:prstGeom prst="rect">
            <a:avLst/>
          </a:prstGeom>
          <a:noFill/>
          <a:ln>
            <a:noFill/>
          </a:ln>
          <a:effectLst>
            <a:outerShdw dist="254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4000">
              <a:latin typeface="Bodoni Bk BT" pitchFamily="18" charset="0"/>
            </a:endParaRPr>
          </a:p>
          <a:p>
            <a:pPr algn="ctr"/>
            <a:endParaRPr lang="en-US" altLang="en-US" sz="4000">
              <a:latin typeface="Bodoni Bk BT" pitchFamily="18" charset="0"/>
            </a:endParaRPr>
          </a:p>
        </p:txBody>
      </p:sp>
    </p:spTree>
  </p:cSld>
  <p:clrMapOvr>
    <a:masterClrMapping/>
  </p:clrMapOvr>
  <p:transition advTm="50000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66C46250-D1D6-4061-8519-96D7639BB2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 execution by KPL</a:t>
            </a:r>
          </a:p>
        </p:txBody>
      </p:sp>
      <p:sp>
        <p:nvSpPr>
          <p:cNvPr id="4098" name="Slide Number Placeholder 4">
            <a:extLst>
              <a:ext uri="{FF2B5EF4-FFF2-40B4-BE49-F238E27FC236}">
                <a16:creationId xmlns:a16="http://schemas.microsoft.com/office/drawing/2014/main" id="{FE77E3AB-8250-4569-B92B-C4FA6512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77F2EA5-2BB1-49C0-BBB7-C20A0141D0A6}" type="slidenum">
              <a:rPr lang="en-US" altLang="en-US" sz="1200">
                <a:latin typeface="Arial Black" panose="020B0A04020102020204" pitchFamily="34" charset="0"/>
              </a:rPr>
              <a:pPr/>
              <a:t>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CAAE3543-B442-4C42-AE46-CC7C660F3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24138"/>
            <a:ext cx="8458200" cy="309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E567003B-B5E6-46AE-99FE-3F8E2B4D3F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/>
              <a:t>Input of Code Generator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F5321699-2826-4457-AA54-7AB0F3D3C6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1371600"/>
          </a:xfrm>
        </p:spPr>
        <p:txBody>
          <a:bodyPr/>
          <a:lstStyle/>
          <a:p>
            <a:pPr eaLnBrk="1" hangingPunct="1"/>
            <a:r>
              <a:rPr lang="en-US" altLang="en-US"/>
              <a:t>Immediate code</a:t>
            </a:r>
          </a:p>
          <a:p>
            <a:pPr eaLnBrk="1" hangingPunct="1"/>
            <a:r>
              <a:rPr lang="en-US" altLang="en-US"/>
              <a:t>Source code</a:t>
            </a:r>
          </a:p>
          <a:p>
            <a:pPr eaLnBrk="1" hangingPunct="1"/>
            <a:endParaRPr lang="en-US" altLang="en-US"/>
          </a:p>
        </p:txBody>
      </p:sp>
      <p:sp>
        <p:nvSpPr>
          <p:cNvPr id="5122" name="Slide Number Placeholder 4">
            <a:extLst>
              <a:ext uri="{FF2B5EF4-FFF2-40B4-BE49-F238E27FC236}">
                <a16:creationId xmlns:a16="http://schemas.microsoft.com/office/drawing/2014/main" id="{B48A12ED-A81C-496C-BF78-3AFB82D6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D80A36-CAE6-425C-A207-01EE10424D16}" type="slidenum">
              <a:rPr lang="en-US" altLang="en-US" sz="1200">
                <a:latin typeface="Arial Black" panose="020B0A04020102020204" pitchFamily="34" charset="0"/>
              </a:rPr>
              <a:pPr/>
              <a:t>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5125" name="Rectangle 4">
            <a:extLst>
              <a:ext uri="{FF2B5EF4-FFF2-40B4-BE49-F238E27FC236}">
                <a16:creationId xmlns:a16="http://schemas.microsoft.com/office/drawing/2014/main" id="{E583FD9F-018B-44E0-9413-939895AEF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4290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400"/>
              <a:t>Output of Code Generator</a:t>
            </a:r>
          </a:p>
        </p:txBody>
      </p:sp>
      <p:sp>
        <p:nvSpPr>
          <p:cNvPr id="5126" name="Rectangle 5">
            <a:extLst>
              <a:ext uri="{FF2B5EF4-FFF2-40B4-BE49-F238E27FC236}">
                <a16:creationId xmlns:a16="http://schemas.microsoft.com/office/drawing/2014/main" id="{B18C7DD0-02B7-4329-A9A2-6F1D9F5A6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267200"/>
            <a:ext cx="82296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/>
              <a:t>Machine (executable) code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/>
              <a:t>Assembly code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en-US" sz="3200" b="1" i="1">
                <a:solidFill>
                  <a:srgbClr val="FF3300"/>
                </a:solidFill>
              </a:rPr>
              <a:t>Intermediate code for a virtual machine</a:t>
            </a:r>
          </a:p>
          <a:p>
            <a:pPr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endParaRPr lang="en-US" altLang="en-US" sz="3200" b="1" i="1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>
            <a:extLst>
              <a:ext uri="{FF2B5EF4-FFF2-40B4-BE49-F238E27FC236}">
                <a16:creationId xmlns:a16="http://schemas.microsoft.com/office/drawing/2014/main" id="{19BF208E-33C2-44EB-A650-61BA2AF0D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7AB14D63-1400-44A0-8B6E-7ABE7E85F9E0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4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CAC96EA3-80D2-428C-A2B8-5B975B3C7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Stack calculator</a:t>
            </a: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4E978366-3094-4C2B-83FA-F5B78200A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05000"/>
            <a:ext cx="76962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985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700">
                <a:solidFill>
                  <a:srgbClr val="000000"/>
                </a:solidFill>
                <a:cs typeface="Arial" panose="020B0604020202020204" pitchFamily="34" charset="0"/>
              </a:rPr>
              <a:t>Stack calculator is a computing system</a:t>
            </a:r>
          </a:p>
          <a:p>
            <a:pPr lvl="1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200">
                <a:solidFill>
                  <a:srgbClr val="000000"/>
                </a:solidFill>
                <a:cs typeface="Arial" panose="020B0604020202020204" pitchFamily="34" charset="0"/>
              </a:rPr>
              <a:t>Using stack to store intermediate results during computation process.</a:t>
            </a:r>
          </a:p>
          <a:p>
            <a:pPr lvl="1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200">
                <a:solidFill>
                  <a:srgbClr val="000000"/>
                </a:solidFill>
                <a:cs typeface="Arial" panose="020B0604020202020204" pitchFamily="34" charset="0"/>
              </a:rPr>
              <a:t>Simple organization</a:t>
            </a:r>
          </a:p>
          <a:p>
            <a:pPr lvl="1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200">
                <a:solidFill>
                  <a:srgbClr val="000000"/>
                </a:solidFill>
                <a:cs typeface="Arial" panose="020B0604020202020204" pitchFamily="34" charset="0"/>
              </a:rPr>
              <a:t>Simple instruction set</a:t>
            </a:r>
          </a:p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600">
                <a:solidFill>
                  <a:srgbClr val="000000"/>
                </a:solidFill>
                <a:cs typeface="Arial" panose="020B0604020202020204" pitchFamily="34" charset="0"/>
              </a:rPr>
              <a:t>Stack calculator consists of 2 memory areas</a:t>
            </a:r>
          </a:p>
          <a:p>
            <a:pPr lvl="1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200">
                <a:solidFill>
                  <a:srgbClr val="000000"/>
                </a:solidFill>
                <a:cs typeface="Arial" panose="020B0604020202020204" pitchFamily="34" charset="0"/>
              </a:rPr>
              <a:t>Code buffer: containing execution code corresponding to source program</a:t>
            </a:r>
          </a:p>
          <a:p>
            <a:pPr lvl="1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200">
                <a:solidFill>
                  <a:srgbClr val="000000"/>
                </a:solidFill>
                <a:cs typeface="Arial" panose="020B0604020202020204" pitchFamily="34" charset="0"/>
              </a:rPr>
              <a:t>Stack: storing intermediate results</a:t>
            </a:r>
          </a:p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</a:pPr>
            <a:endParaRPr lang="en-US" altLang="en-US" sz="27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>
            <a:extLst>
              <a:ext uri="{FF2B5EF4-FFF2-40B4-BE49-F238E27FC236}">
                <a16:creationId xmlns:a16="http://schemas.microsoft.com/office/drawing/2014/main" id="{8543D83F-F3F2-4B8A-A024-587795C508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D4691109-557C-4F87-82A9-5168ABAF6BE6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5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171" name="Text Box 3">
            <a:extLst>
              <a:ext uri="{FF2B5EF4-FFF2-40B4-BE49-F238E27FC236}">
                <a16:creationId xmlns:a16="http://schemas.microsoft.com/office/drawing/2014/main" id="{0942ABB9-AF0D-49B7-B71A-E356E2DF3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Stack calculator</a:t>
            </a:r>
          </a:p>
        </p:txBody>
      </p:sp>
      <p:sp>
        <p:nvSpPr>
          <p:cNvPr id="7172" name="Rectangle 5">
            <a:extLst>
              <a:ext uri="{FF2B5EF4-FFF2-40B4-BE49-F238E27FC236}">
                <a16:creationId xmlns:a16="http://schemas.microsoft.com/office/drawing/2014/main" id="{E511E523-D681-4B25-A154-173F3D525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362200"/>
            <a:ext cx="1447800" cy="3048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JMP 2</a:t>
            </a:r>
          </a:p>
        </p:txBody>
      </p:sp>
      <p:sp>
        <p:nvSpPr>
          <p:cNvPr id="7173" name="Rectangle 6">
            <a:extLst>
              <a:ext uri="{FF2B5EF4-FFF2-40B4-BE49-F238E27FC236}">
                <a16:creationId xmlns:a16="http://schemas.microsoft.com/office/drawing/2014/main" id="{CF82A98B-936A-4582-A3DD-9102DCB5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667000"/>
            <a:ext cx="1447800" cy="3048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INC 4</a:t>
            </a:r>
          </a:p>
        </p:txBody>
      </p:sp>
      <p:sp>
        <p:nvSpPr>
          <p:cNvPr id="7174" name="Rectangle 7">
            <a:extLst>
              <a:ext uri="{FF2B5EF4-FFF2-40B4-BE49-F238E27FC236}">
                <a16:creationId xmlns:a16="http://schemas.microsoft.com/office/drawing/2014/main" id="{5F003DBB-E130-462E-A1DB-F4F1EB6EC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2971800"/>
            <a:ext cx="1447800" cy="3048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LA 0,4</a:t>
            </a:r>
          </a:p>
        </p:txBody>
      </p:sp>
      <p:sp>
        <p:nvSpPr>
          <p:cNvPr id="7175" name="Rectangle 8">
            <a:extLst>
              <a:ext uri="{FF2B5EF4-FFF2-40B4-BE49-F238E27FC236}">
                <a16:creationId xmlns:a16="http://schemas.microsoft.com/office/drawing/2014/main" id="{E13260F7-6F9D-40F0-A790-2406DE307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276600"/>
            <a:ext cx="1447800" cy="3048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LC 1</a:t>
            </a:r>
          </a:p>
        </p:txBody>
      </p:sp>
      <p:sp>
        <p:nvSpPr>
          <p:cNvPr id="7176" name="Rectangle 9">
            <a:extLst>
              <a:ext uri="{FF2B5EF4-FFF2-40B4-BE49-F238E27FC236}">
                <a16:creationId xmlns:a16="http://schemas.microsoft.com/office/drawing/2014/main" id="{FCD76A16-BC37-40C6-924F-F69BC8E21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581400"/>
            <a:ext cx="1447800" cy="3048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ST</a:t>
            </a:r>
          </a:p>
        </p:txBody>
      </p:sp>
      <p:sp>
        <p:nvSpPr>
          <p:cNvPr id="7177" name="Rectangle 10">
            <a:extLst>
              <a:ext uri="{FF2B5EF4-FFF2-40B4-BE49-F238E27FC236}">
                <a16:creationId xmlns:a16="http://schemas.microsoft.com/office/drawing/2014/main" id="{01BA8943-EDEC-4EDC-83F3-DD89796C8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886200"/>
            <a:ext cx="1447800" cy="1676400"/>
          </a:xfrm>
          <a:prstGeom prst="rect">
            <a:avLst/>
          </a:prstGeom>
          <a:solidFill>
            <a:srgbClr val="00B8FF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1800"/>
          </a:p>
        </p:txBody>
      </p:sp>
      <p:sp>
        <p:nvSpPr>
          <p:cNvPr id="7178" name="Rectangle 11">
            <a:extLst>
              <a:ext uri="{FF2B5EF4-FFF2-40B4-BE49-F238E27FC236}">
                <a16:creationId xmlns:a16="http://schemas.microsoft.com/office/drawing/2014/main" id="{EFD73C09-3DE2-457E-B750-E1B8CA89D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362200"/>
            <a:ext cx="1447800" cy="3048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RV</a:t>
            </a:r>
          </a:p>
        </p:txBody>
      </p:sp>
      <p:sp>
        <p:nvSpPr>
          <p:cNvPr id="7179" name="Rectangle 12">
            <a:extLst>
              <a:ext uri="{FF2B5EF4-FFF2-40B4-BE49-F238E27FC236}">
                <a16:creationId xmlns:a16="http://schemas.microsoft.com/office/drawing/2014/main" id="{62B1FB66-E872-4533-A72C-E666D45D5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667000"/>
            <a:ext cx="1447800" cy="3048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DL</a:t>
            </a:r>
          </a:p>
        </p:txBody>
      </p:sp>
      <p:sp>
        <p:nvSpPr>
          <p:cNvPr id="7180" name="Rectangle 13">
            <a:extLst>
              <a:ext uri="{FF2B5EF4-FFF2-40B4-BE49-F238E27FC236}">
                <a16:creationId xmlns:a16="http://schemas.microsoft.com/office/drawing/2014/main" id="{D5A0F85D-864C-4A75-9D69-601962BA4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2971800"/>
            <a:ext cx="1447800" cy="3048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RA</a:t>
            </a:r>
          </a:p>
        </p:txBody>
      </p:sp>
      <p:sp>
        <p:nvSpPr>
          <p:cNvPr id="7181" name="Rectangle 14">
            <a:extLst>
              <a:ext uri="{FF2B5EF4-FFF2-40B4-BE49-F238E27FC236}">
                <a16:creationId xmlns:a16="http://schemas.microsoft.com/office/drawing/2014/main" id="{F601CF61-67EF-4CFC-A679-55FBADA40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276600"/>
            <a:ext cx="1447800" cy="3048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SL</a:t>
            </a:r>
          </a:p>
        </p:txBody>
      </p:sp>
      <p:sp>
        <p:nvSpPr>
          <p:cNvPr id="7182" name="Rectangle 15">
            <a:extLst>
              <a:ext uri="{FF2B5EF4-FFF2-40B4-BE49-F238E27FC236}">
                <a16:creationId xmlns:a16="http://schemas.microsoft.com/office/drawing/2014/main" id="{F27F95D6-357B-4276-AC1E-BB187103D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581400"/>
            <a:ext cx="1447800" cy="3048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P1</a:t>
            </a:r>
          </a:p>
        </p:txBody>
      </p:sp>
      <p:sp>
        <p:nvSpPr>
          <p:cNvPr id="7183" name="Rectangle 16">
            <a:extLst>
              <a:ext uri="{FF2B5EF4-FFF2-40B4-BE49-F238E27FC236}">
                <a16:creationId xmlns:a16="http://schemas.microsoft.com/office/drawing/2014/main" id="{1DF28D74-C119-4B6F-9F00-6B70A95CB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3886200"/>
            <a:ext cx="1447800" cy="3048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P2</a:t>
            </a:r>
          </a:p>
        </p:txBody>
      </p:sp>
      <p:sp>
        <p:nvSpPr>
          <p:cNvPr id="7184" name="Rectangle 17">
            <a:extLst>
              <a:ext uri="{FF2B5EF4-FFF2-40B4-BE49-F238E27FC236}">
                <a16:creationId xmlns:a16="http://schemas.microsoft.com/office/drawing/2014/main" id="{38215B00-4AD7-4C97-AE47-F504811E6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191000"/>
            <a:ext cx="1447800" cy="3048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V1</a:t>
            </a:r>
          </a:p>
        </p:txBody>
      </p:sp>
      <p:sp>
        <p:nvSpPr>
          <p:cNvPr id="7185" name="Rectangle 18">
            <a:extLst>
              <a:ext uri="{FF2B5EF4-FFF2-40B4-BE49-F238E27FC236}">
                <a16:creationId xmlns:a16="http://schemas.microsoft.com/office/drawing/2014/main" id="{067EFE87-0DB2-4A39-B89E-9C9C34AE0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495800"/>
            <a:ext cx="1447800" cy="3048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V2</a:t>
            </a:r>
          </a:p>
        </p:txBody>
      </p:sp>
      <p:sp>
        <p:nvSpPr>
          <p:cNvPr id="7186" name="Rectangle 19">
            <a:extLst>
              <a:ext uri="{FF2B5EF4-FFF2-40B4-BE49-F238E27FC236}">
                <a16:creationId xmlns:a16="http://schemas.microsoft.com/office/drawing/2014/main" id="{83BF5D5B-D0B7-4F17-BF19-64A8804F5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800600"/>
            <a:ext cx="1447800" cy="3048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1800"/>
              <a:t>tmp1</a:t>
            </a:r>
          </a:p>
        </p:txBody>
      </p:sp>
      <p:sp>
        <p:nvSpPr>
          <p:cNvPr id="7187" name="Rectangle 20">
            <a:extLst>
              <a:ext uri="{FF2B5EF4-FFF2-40B4-BE49-F238E27FC236}">
                <a16:creationId xmlns:a16="http://schemas.microsoft.com/office/drawing/2014/main" id="{5F97D2AE-B462-4638-A341-BF9CF790D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5105400"/>
            <a:ext cx="1447800" cy="304800"/>
          </a:xfrm>
          <a:prstGeom prst="rect">
            <a:avLst/>
          </a:prstGeom>
          <a:solidFill>
            <a:srgbClr val="FFFF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1800"/>
          </a:p>
        </p:txBody>
      </p:sp>
      <p:sp>
        <p:nvSpPr>
          <p:cNvPr id="7188" name="TextBox 21">
            <a:extLst>
              <a:ext uri="{FF2B5EF4-FFF2-40B4-BE49-F238E27FC236}">
                <a16:creationId xmlns:a16="http://schemas.microsoft.com/office/drawing/2014/main" id="{EEFFA828-410A-48A5-B4A1-F01296C17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905000"/>
            <a:ext cx="1385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cs typeface="Arial" panose="020B0604020202020204" pitchFamily="34" charset="0"/>
              </a:rPr>
              <a:t>Code buffer</a:t>
            </a:r>
          </a:p>
        </p:txBody>
      </p:sp>
      <p:sp>
        <p:nvSpPr>
          <p:cNvPr id="7189" name="TextBox 22">
            <a:extLst>
              <a:ext uri="{FF2B5EF4-FFF2-40B4-BE49-F238E27FC236}">
                <a16:creationId xmlns:a16="http://schemas.microsoft.com/office/drawing/2014/main" id="{BB8BB130-6A20-4F6A-B5BD-6D20BC7E1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1905000"/>
            <a:ext cx="762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cs typeface="Arial" panose="020B0604020202020204" pitchFamily="34" charset="0"/>
              </a:rPr>
              <a:t>Stack</a:t>
            </a:r>
          </a:p>
        </p:txBody>
      </p:sp>
      <p:sp>
        <p:nvSpPr>
          <p:cNvPr id="7190" name="TextBox 23">
            <a:extLst>
              <a:ext uri="{FF2B5EF4-FFF2-40B4-BE49-F238E27FC236}">
                <a16:creationId xmlns:a16="http://schemas.microsoft.com/office/drawing/2014/main" id="{31DC05B3-920E-4BCC-96B1-2645A1EDB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667000"/>
            <a:ext cx="504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cs typeface="Arial" panose="020B0604020202020204" pitchFamily="34" charset="0"/>
              </a:rPr>
              <a:t>PC</a:t>
            </a:r>
          </a:p>
        </p:txBody>
      </p:sp>
      <p:sp>
        <p:nvSpPr>
          <p:cNvPr id="7191" name="TextBox 24">
            <a:extLst>
              <a:ext uri="{FF2B5EF4-FFF2-40B4-BE49-F238E27FC236}">
                <a16:creationId xmlns:a16="http://schemas.microsoft.com/office/drawing/2014/main" id="{157CAFBA-9593-44A6-8077-2C52DB94E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4800" y="2286000"/>
            <a:ext cx="338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cs typeface="Arial" panose="020B0604020202020204" pitchFamily="34" charset="0"/>
              </a:rPr>
              <a:t>B</a:t>
            </a:r>
          </a:p>
        </p:txBody>
      </p:sp>
      <p:sp>
        <p:nvSpPr>
          <p:cNvPr id="7192" name="TextBox 25">
            <a:extLst>
              <a:ext uri="{FF2B5EF4-FFF2-40B4-BE49-F238E27FC236}">
                <a16:creationId xmlns:a16="http://schemas.microsoft.com/office/drawing/2014/main" id="{3739EFFC-CF33-439A-A735-59810C500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0" y="4800600"/>
            <a:ext cx="3238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cs typeface="Arial" panose="020B0604020202020204" pitchFamily="34" charset="0"/>
              </a:rPr>
              <a:t>T</a:t>
            </a:r>
          </a:p>
        </p:txBody>
      </p:sp>
      <p:cxnSp>
        <p:nvCxnSpPr>
          <p:cNvPr id="7193" name="Straight Arrow Connector 27">
            <a:extLst>
              <a:ext uri="{FF2B5EF4-FFF2-40B4-BE49-F238E27FC236}">
                <a16:creationId xmlns:a16="http://schemas.microsoft.com/office/drawing/2014/main" id="{B1F8C561-C982-4C5C-A44D-A4B0C40B3B17}"/>
              </a:ext>
            </a:extLst>
          </p:cNvPr>
          <p:cNvCxnSpPr>
            <a:cxnSpLocks noChangeShapeType="1"/>
            <a:endCxn id="7173" idx="1"/>
          </p:cNvCxnSpPr>
          <p:nvPr/>
        </p:nvCxnSpPr>
        <p:spPr bwMode="auto">
          <a:xfrm>
            <a:off x="1447800" y="2819400"/>
            <a:ext cx="76200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4" name="Straight Arrow Connector 29">
            <a:extLst>
              <a:ext uri="{FF2B5EF4-FFF2-40B4-BE49-F238E27FC236}">
                <a16:creationId xmlns:a16="http://schemas.microsoft.com/office/drawing/2014/main" id="{849980E0-2AE4-4B68-A0D3-EA4D4C80527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858000" y="2438400"/>
            <a:ext cx="1066800" cy="1111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95" name="Straight Arrow Connector 31">
            <a:extLst>
              <a:ext uri="{FF2B5EF4-FFF2-40B4-BE49-F238E27FC236}">
                <a16:creationId xmlns:a16="http://schemas.microsoft.com/office/drawing/2014/main" id="{311DB2AA-B4E6-493A-A68A-3769ADBE6F5D}"/>
              </a:ext>
            </a:extLst>
          </p:cNvPr>
          <p:cNvCxnSpPr>
            <a:cxnSpLocks noChangeShapeType="1"/>
            <a:stCxn id="7192" idx="1"/>
            <a:endCxn id="7186" idx="3"/>
          </p:cNvCxnSpPr>
          <p:nvPr/>
        </p:nvCxnSpPr>
        <p:spPr bwMode="auto">
          <a:xfrm flipH="1" flipV="1">
            <a:off x="6858000" y="4953000"/>
            <a:ext cx="1143000" cy="317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96" name="Line 30">
            <a:extLst>
              <a:ext uri="{FF2B5EF4-FFF2-40B4-BE49-F238E27FC236}">
                <a16:creationId xmlns:a16="http://schemas.microsoft.com/office/drawing/2014/main" id="{32EDFCF1-E07E-433A-BE71-5A6E5760C2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2743200"/>
            <a:ext cx="0" cy="220980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7" name="TextBox 25">
            <a:extLst>
              <a:ext uri="{FF2B5EF4-FFF2-40B4-BE49-F238E27FC236}">
                <a16:creationId xmlns:a16="http://schemas.microsoft.com/office/drawing/2014/main" id="{AD106A54-5994-4C9A-9AD3-EB002B46FE83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4022725" y="3641726"/>
            <a:ext cx="149383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cs typeface="Arial" panose="020B0604020202020204" pitchFamily="34" charset="0"/>
              </a:rPr>
              <a:t>T </a:t>
            </a:r>
            <a:r>
              <a:rPr lang="en-US" altLang="en-US" sz="1800">
                <a:cs typeface="Arial" panose="020B0604020202020204" pitchFamily="34" charset="0"/>
                <a:sym typeface="Symbol" panose="05050102010706020507" pitchFamily="18" charset="2"/>
              </a:rPr>
              <a:t>increases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1A2522FE-0825-4E80-9332-B7B7E0A26D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83B34BA9-F60E-4767-916B-AAD55BAC1EAA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6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B8BAB8FC-5023-438E-8655-31D38D681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Stack calculator</a:t>
            </a:r>
          </a:p>
        </p:txBody>
      </p:sp>
      <p:sp>
        <p:nvSpPr>
          <p:cNvPr id="8196" name="Text Box 4">
            <a:extLst>
              <a:ext uri="{FF2B5EF4-FFF2-40B4-BE49-F238E27FC236}">
                <a16:creationId xmlns:a16="http://schemas.microsoft.com/office/drawing/2014/main" id="{1B010367-9836-4972-B3E5-C3DA40F4D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05000"/>
            <a:ext cx="76962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985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700">
                <a:solidFill>
                  <a:srgbClr val="000000"/>
                </a:solidFill>
                <a:cs typeface="Arial" panose="020B0604020202020204" pitchFamily="34" charset="0"/>
              </a:rPr>
              <a:t>Registers</a:t>
            </a:r>
          </a:p>
          <a:p>
            <a:pPr lvl="1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700">
                <a:solidFill>
                  <a:srgbClr val="000000"/>
                </a:solidFill>
                <a:cs typeface="Arial" panose="020B0604020202020204" pitchFamily="34" charset="0"/>
              </a:rPr>
              <a:t>PC (program counter): pointing to currently being executed instruction on Code buffer</a:t>
            </a:r>
          </a:p>
          <a:p>
            <a:pPr lvl="1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700">
                <a:solidFill>
                  <a:srgbClr val="000000"/>
                </a:solidFill>
                <a:cs typeface="Arial" panose="020B0604020202020204" pitchFamily="34" charset="0"/>
              </a:rPr>
              <a:t>B (base): pointing to the base address of data area of active block on Stack. Local varialbes are accessed via B</a:t>
            </a:r>
          </a:p>
          <a:p>
            <a:pPr lvl="1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700">
                <a:solidFill>
                  <a:srgbClr val="000000"/>
                </a:solidFill>
                <a:cs typeface="Arial" panose="020B0604020202020204" pitchFamily="34" charset="0"/>
              </a:rPr>
              <a:t>T (top): pointing to Stack’s top element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822A3D27-EF32-45EE-8D8E-AE35DE80D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B560A4EC-A8DA-4777-9C07-DF818FFE6D56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7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739B2CDB-FBBD-4381-AB11-6E7AA0914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Stack calculator</a:t>
            </a:r>
          </a:p>
        </p:txBody>
      </p:sp>
      <p:sp>
        <p:nvSpPr>
          <p:cNvPr id="9220" name="Text Box 4">
            <a:extLst>
              <a:ext uri="{FF2B5EF4-FFF2-40B4-BE49-F238E27FC236}">
                <a16:creationId xmlns:a16="http://schemas.microsoft.com/office/drawing/2014/main" id="{C0EF1C55-0C1C-4844-BF00-C9C5219674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2296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985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57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29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>
                <a:solidFill>
                  <a:srgbClr val="800000"/>
                </a:solidFill>
                <a:cs typeface="Arial" panose="020B0604020202020204" pitchFamily="34" charset="0"/>
              </a:rPr>
              <a:t>Activation record / Stack frame</a:t>
            </a:r>
            <a:endParaRPr lang="en-US" altLang="en-US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t>Is the memory area allocated to every function, procedure and the main program when it is activated (becoming active block)</a:t>
            </a:r>
          </a:p>
          <a:p>
            <a:pPr lvl="2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t>Storing parameters’ values</a:t>
            </a:r>
          </a:p>
          <a:p>
            <a:pPr lvl="2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t>Storing local variables’s values</a:t>
            </a:r>
          </a:p>
          <a:p>
            <a:pPr lvl="2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t>Other information</a:t>
            </a:r>
          </a:p>
          <a:p>
            <a:pPr lvl="3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>
                <a:cs typeface="Arial" panose="020B0604020202020204" pitchFamily="34" charset="0"/>
              </a:rPr>
              <a:t>Return value – RV</a:t>
            </a:r>
          </a:p>
          <a:p>
            <a:pPr lvl="3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t>Dynamic link – DL</a:t>
            </a:r>
          </a:p>
          <a:p>
            <a:pPr lvl="3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t>Return address – RA</a:t>
            </a:r>
          </a:p>
          <a:p>
            <a:pPr lvl="3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t>Static link – SL</a:t>
            </a:r>
          </a:p>
          <a:p>
            <a:pPr lvl="1"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>
                <a:solidFill>
                  <a:srgbClr val="000000"/>
                </a:solidFill>
                <a:cs typeface="Arial" panose="020B0604020202020204" pitchFamily="34" charset="0"/>
              </a:rPr>
              <a:t>A function/procedure may have several Stack frames on Stack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2">
            <a:extLst>
              <a:ext uri="{FF2B5EF4-FFF2-40B4-BE49-F238E27FC236}">
                <a16:creationId xmlns:a16="http://schemas.microsoft.com/office/drawing/2014/main" id="{7F1FBA8A-AC91-4211-8372-D8EEC7FAD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10000" y="6356350"/>
            <a:ext cx="2895600" cy="3651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fld id="{DF0B0CAA-D1C6-4109-9739-B71EC2FF4CD5}" type="slidenum">
              <a:rPr lang="en-US" altLang="en-US" sz="1800"/>
              <a:pPr algn="l"/>
              <a:t>8</a:t>
            </a:fld>
            <a:endParaRPr lang="en-US" altLang="en-US" sz="1800"/>
          </a:p>
        </p:txBody>
      </p:sp>
      <p:sp>
        <p:nvSpPr>
          <p:cNvPr id="10243" name="Text Box 3">
            <a:extLst>
              <a:ext uri="{FF2B5EF4-FFF2-40B4-BE49-F238E27FC236}">
                <a16:creationId xmlns:a16="http://schemas.microsoft.com/office/drawing/2014/main" id="{00791D20-9286-440A-8E4E-32AC6A6FC0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SzPct val="100000"/>
              <a:buFont typeface="Arial Black" panose="020B0A04020102020204" pitchFamily="34" charset="0"/>
              <a:buNone/>
            </a:pPr>
            <a:r>
              <a:rPr lang="en-US" altLang="en-US" sz="3600">
                <a:cs typeface="Arial" panose="020B0604020202020204" pitchFamily="34" charset="0"/>
              </a:rPr>
              <a:t>Stack Calculator</a:t>
            </a:r>
          </a:p>
        </p:txBody>
      </p:sp>
      <p:sp>
        <p:nvSpPr>
          <p:cNvPr id="10244" name="Rectangle 28">
            <a:extLst>
              <a:ext uri="{FF2B5EF4-FFF2-40B4-BE49-F238E27FC236}">
                <a16:creationId xmlns:a16="http://schemas.microsoft.com/office/drawing/2014/main" id="{3B501F86-B520-4A96-A1E0-83130502C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238" y="1828800"/>
            <a:ext cx="1447800" cy="304800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…</a:t>
            </a:r>
          </a:p>
        </p:txBody>
      </p:sp>
      <p:sp>
        <p:nvSpPr>
          <p:cNvPr id="10245" name="Rectangle 30">
            <a:extLst>
              <a:ext uri="{FF2B5EF4-FFF2-40B4-BE49-F238E27FC236}">
                <a16:creationId xmlns:a16="http://schemas.microsoft.com/office/drawing/2014/main" id="{3BF64800-5D8E-41C3-8302-12953A04D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0825" y="2133600"/>
            <a:ext cx="1447800" cy="1524000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RV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DL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RA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SL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Param I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Local a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…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33" name="Folded Corner 32">
            <a:extLst>
              <a:ext uri="{FF2B5EF4-FFF2-40B4-BE49-F238E27FC236}">
                <a16:creationId xmlns:a16="http://schemas.microsoft.com/office/drawing/2014/main" id="{CC4AE47F-A4EB-4131-890D-F2901D70C3E9}"/>
              </a:ext>
            </a:extLst>
          </p:cNvPr>
          <p:cNvSpPr/>
          <p:nvPr/>
        </p:nvSpPr>
        <p:spPr bwMode="auto">
          <a:xfrm>
            <a:off x="762000" y="1828800"/>
            <a:ext cx="3657600" cy="4343400"/>
          </a:xfrm>
          <a:prstGeom prst="foldedCorner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Procedure P(I : integer);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a : integer;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Function Q;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x : char;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Begin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	  …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return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End;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Procedure R(X: integer);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y : char;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Begin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…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y = Call Q;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  …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End;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Begin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Call R(1);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  …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  End;</a:t>
            </a:r>
          </a:p>
          <a:p>
            <a:pPr defTabSz="457200"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en-US" dirty="0">
                <a:latin typeface="Courier New" pitchFamily="49" charset="0"/>
                <a:cs typeface="Courier New" pitchFamily="49" charset="0"/>
              </a:rPr>
              <a:t>…</a:t>
            </a:r>
          </a:p>
        </p:txBody>
      </p:sp>
      <p:sp>
        <p:nvSpPr>
          <p:cNvPr id="10247" name="Rectangle 33">
            <a:extLst>
              <a:ext uri="{FF2B5EF4-FFF2-40B4-BE49-F238E27FC236}">
                <a16:creationId xmlns:a16="http://schemas.microsoft.com/office/drawing/2014/main" id="{1F56D768-D950-4384-B9BF-3B4E29BE7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2413" y="3657600"/>
            <a:ext cx="1447800" cy="1295400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RV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DL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RA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SL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param x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Local y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…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US" altLang="en-US"/>
          </a:p>
        </p:txBody>
      </p:sp>
      <p:sp>
        <p:nvSpPr>
          <p:cNvPr id="10248" name="Rectangle 34">
            <a:extLst>
              <a:ext uri="{FF2B5EF4-FFF2-40B4-BE49-F238E27FC236}">
                <a16:creationId xmlns:a16="http://schemas.microsoft.com/office/drawing/2014/main" id="{4219B3EE-CC63-4646-95B4-C9A6C9848E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4953000"/>
            <a:ext cx="1447800" cy="1371600"/>
          </a:xfrm>
          <a:prstGeom prst="rect">
            <a:avLst/>
          </a:prstGeom>
          <a:solidFill>
            <a:srgbClr val="FFFF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RV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DL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RA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/>
              <a:t>SL</a:t>
            </a:r>
          </a:p>
          <a:p>
            <a:pPr algn="ctr">
              <a:buClr>
                <a:srgbClr val="000000"/>
              </a:buClr>
              <a:buSzPct val="100000"/>
            </a:pPr>
            <a:r>
              <a:rPr lang="en-US" altLang="en-US"/>
              <a:t>Local x</a:t>
            </a:r>
          </a:p>
          <a:p>
            <a:pPr algn="ctr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US" altLang="en-US"/>
          </a:p>
        </p:txBody>
      </p:sp>
      <p:cxnSp>
        <p:nvCxnSpPr>
          <p:cNvPr id="10249" name="Straight Connector 51">
            <a:extLst>
              <a:ext uri="{FF2B5EF4-FFF2-40B4-BE49-F238E27FC236}">
                <a16:creationId xmlns:a16="http://schemas.microsoft.com/office/drawing/2014/main" id="{E7ADEC0A-2DCF-4E4F-8040-021520814F4C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5753894" y="3923506"/>
            <a:ext cx="3581400" cy="1588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0" name="Right Brace 66">
            <a:extLst>
              <a:ext uri="{FF2B5EF4-FFF2-40B4-BE49-F238E27FC236}">
                <a16:creationId xmlns:a16="http://schemas.microsoft.com/office/drawing/2014/main" id="{96D9BB8F-9ECD-44D8-A206-2ED6570B716A}"/>
              </a:ext>
            </a:extLst>
          </p:cNvPr>
          <p:cNvSpPr>
            <a:spLocks/>
          </p:cNvSpPr>
          <p:nvPr/>
        </p:nvSpPr>
        <p:spPr bwMode="auto">
          <a:xfrm>
            <a:off x="7621588" y="4953000"/>
            <a:ext cx="228600" cy="1295400"/>
          </a:xfrm>
          <a:prstGeom prst="rightBrace">
            <a:avLst>
              <a:gd name="adj1" fmla="val 8343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0251" name="Right Brace 67">
            <a:extLst>
              <a:ext uri="{FF2B5EF4-FFF2-40B4-BE49-F238E27FC236}">
                <a16:creationId xmlns:a16="http://schemas.microsoft.com/office/drawing/2014/main" id="{88AC4465-EAA5-4E0C-BCD3-6CD349BEB051}"/>
              </a:ext>
            </a:extLst>
          </p:cNvPr>
          <p:cNvSpPr>
            <a:spLocks/>
          </p:cNvSpPr>
          <p:nvPr/>
        </p:nvSpPr>
        <p:spPr bwMode="auto">
          <a:xfrm>
            <a:off x="7621588" y="3657600"/>
            <a:ext cx="228600" cy="1295400"/>
          </a:xfrm>
          <a:prstGeom prst="rightBrace">
            <a:avLst>
              <a:gd name="adj1" fmla="val 8343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0252" name="Right Brace 68">
            <a:extLst>
              <a:ext uri="{FF2B5EF4-FFF2-40B4-BE49-F238E27FC236}">
                <a16:creationId xmlns:a16="http://schemas.microsoft.com/office/drawing/2014/main" id="{51066AC0-CF41-4623-8C21-E2B78B075CD7}"/>
              </a:ext>
            </a:extLst>
          </p:cNvPr>
          <p:cNvSpPr>
            <a:spLocks/>
          </p:cNvSpPr>
          <p:nvPr/>
        </p:nvSpPr>
        <p:spPr bwMode="auto">
          <a:xfrm>
            <a:off x="7621588" y="2133600"/>
            <a:ext cx="228600" cy="15240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10253" name="TextBox 69">
            <a:extLst>
              <a:ext uri="{FF2B5EF4-FFF2-40B4-BE49-F238E27FC236}">
                <a16:creationId xmlns:a16="http://schemas.microsoft.com/office/drawing/2014/main" id="{F29A2B8A-EF75-4EF5-A51F-EF4AC87152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3988" y="2743200"/>
            <a:ext cx="987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>
                <a:cs typeface="Arial" panose="020B0604020202020204" pitchFamily="34" charset="0"/>
              </a:rPr>
              <a:t>P frame</a:t>
            </a:r>
          </a:p>
        </p:txBody>
      </p:sp>
      <p:sp>
        <p:nvSpPr>
          <p:cNvPr id="10254" name="TextBox 70">
            <a:extLst>
              <a:ext uri="{FF2B5EF4-FFF2-40B4-BE49-F238E27FC236}">
                <a16:creationId xmlns:a16="http://schemas.microsoft.com/office/drawing/2014/main" id="{238EC4E6-E45A-460B-838C-6B36C8182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1775" y="4114800"/>
            <a:ext cx="10048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>
                <a:cs typeface="Arial" panose="020B0604020202020204" pitchFamily="34" charset="0"/>
              </a:rPr>
              <a:t>R frame</a:t>
            </a:r>
          </a:p>
        </p:txBody>
      </p:sp>
      <p:sp>
        <p:nvSpPr>
          <p:cNvPr id="10255" name="TextBox 71">
            <a:extLst>
              <a:ext uri="{FF2B5EF4-FFF2-40B4-BE49-F238E27FC236}">
                <a16:creationId xmlns:a16="http://schemas.microsoft.com/office/drawing/2014/main" id="{3B83C487-E974-4E9C-B79E-DA96C34FFC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4313" y="5486400"/>
            <a:ext cx="10191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45720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000000"/>
              </a:buClr>
              <a:buSzPct val="100000"/>
              <a:buFont typeface="Arial" panose="020B0604020202020204" pitchFamily="34" charset="0"/>
              <a:buNone/>
            </a:pPr>
            <a:r>
              <a:rPr lang="en-US" altLang="en-US">
                <a:cs typeface="Arial" panose="020B0604020202020204" pitchFamily="34" charset="0"/>
              </a:rPr>
              <a:t>Q frame</a:t>
            </a:r>
          </a:p>
        </p:txBody>
      </p:sp>
      <p:cxnSp>
        <p:nvCxnSpPr>
          <p:cNvPr id="10256" name="Straight Connector 57">
            <a:extLst>
              <a:ext uri="{FF2B5EF4-FFF2-40B4-BE49-F238E27FC236}">
                <a16:creationId xmlns:a16="http://schemas.microsoft.com/office/drawing/2014/main" id="{E9EE2870-82DB-4B82-9C27-690A6BB839F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3963194" y="4876006"/>
            <a:ext cx="1447800" cy="230188"/>
          </a:xfrm>
          <a:prstGeom prst="line">
            <a:avLst/>
          </a:prstGeom>
          <a:noFill/>
          <a:ln w="952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7" name="Straight Arrow Connector 73">
            <a:extLst>
              <a:ext uri="{FF2B5EF4-FFF2-40B4-BE49-F238E27FC236}">
                <a16:creationId xmlns:a16="http://schemas.microsoft.com/office/drawing/2014/main" id="{A5F584CC-CE63-4379-A73C-D491AA01682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600200" y="4646613"/>
            <a:ext cx="2971800" cy="1587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8" name="Straight Connector 55">
            <a:extLst>
              <a:ext uri="{FF2B5EF4-FFF2-40B4-BE49-F238E27FC236}">
                <a16:creationId xmlns:a16="http://schemas.microsoft.com/office/drawing/2014/main" id="{9248F9EC-40B8-404D-97F4-C4976A0A926A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800600" y="5562600"/>
            <a:ext cx="1066800" cy="1588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59" name="Straight Connector 49">
            <a:extLst>
              <a:ext uri="{FF2B5EF4-FFF2-40B4-BE49-F238E27FC236}">
                <a16:creationId xmlns:a16="http://schemas.microsoft.com/office/drawing/2014/main" id="{A330366F-FEDF-4677-9501-59C8F7FFE99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72200" y="5715000"/>
            <a:ext cx="1371600" cy="1588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0" name="Straight Arrow Connector 53">
            <a:extLst>
              <a:ext uri="{FF2B5EF4-FFF2-40B4-BE49-F238E27FC236}">
                <a16:creationId xmlns:a16="http://schemas.microsoft.com/office/drawing/2014/main" id="{7D862801-D3E7-40C1-93EA-3AA78D94B214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6781800" y="2133600"/>
            <a:ext cx="762000" cy="15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1" name="Straight Arrow Connector 47">
            <a:extLst>
              <a:ext uri="{FF2B5EF4-FFF2-40B4-BE49-F238E27FC236}">
                <a16:creationId xmlns:a16="http://schemas.microsoft.com/office/drawing/2014/main" id="{E1A0D4F0-C162-448B-838C-CF5A7EE071D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6781800" y="3657600"/>
            <a:ext cx="381000" cy="1588"/>
          </a:xfrm>
          <a:prstGeom prst="straightConnector1">
            <a:avLst/>
          </a:prstGeom>
          <a:noFill/>
          <a:ln w="9525" algn="ctr">
            <a:solidFill>
              <a:srgbClr val="FF0000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2" name="Straight Connector 41">
            <a:extLst>
              <a:ext uri="{FF2B5EF4-FFF2-40B4-BE49-F238E27FC236}">
                <a16:creationId xmlns:a16="http://schemas.microsoft.com/office/drawing/2014/main" id="{65429489-5EB0-4C17-9E49-F5F2303A892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172200" y="5334000"/>
            <a:ext cx="990600" cy="1588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3" name="Straight Connector 43">
            <a:extLst>
              <a:ext uri="{FF2B5EF4-FFF2-40B4-BE49-F238E27FC236}">
                <a16:creationId xmlns:a16="http://schemas.microsoft.com/office/drawing/2014/main" id="{BA2919BE-1C84-4BEE-92AA-B6F161AC3CE1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6325394" y="4495006"/>
            <a:ext cx="1676400" cy="1588"/>
          </a:xfrm>
          <a:prstGeom prst="line">
            <a:avLst/>
          </a:prstGeom>
          <a:noFill/>
          <a:ln w="952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64" name="Line 25">
            <a:extLst>
              <a:ext uri="{FF2B5EF4-FFF2-40B4-BE49-F238E27FC236}">
                <a16:creationId xmlns:a16="http://schemas.microsoft.com/office/drawing/2014/main" id="{8D17767A-17BF-47EF-ADD5-7D6517C8D2F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648200"/>
            <a:ext cx="2286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10265" name="Straight Arrow Connector 65">
            <a:extLst>
              <a:ext uri="{FF2B5EF4-FFF2-40B4-BE49-F238E27FC236}">
                <a16:creationId xmlns:a16="http://schemas.microsoft.com/office/drawing/2014/main" id="{EBD70A49-954A-4B1F-975E-8DCEDEF5682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572000" y="2132013"/>
            <a:ext cx="762000" cy="1587"/>
          </a:xfrm>
          <a:prstGeom prst="straightConnector1">
            <a:avLst/>
          </a:prstGeom>
          <a:noFill/>
          <a:ln w="9525" algn="ctr">
            <a:solidFill>
              <a:srgbClr val="0000FF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6" name="Straight Connector 63">
            <a:extLst>
              <a:ext uri="{FF2B5EF4-FFF2-40B4-BE49-F238E27FC236}">
                <a16:creationId xmlns:a16="http://schemas.microsoft.com/office/drawing/2014/main" id="{7740C741-9C9B-467B-A29A-B3CFCF3D7D7B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3391694" y="3313906"/>
            <a:ext cx="2362200" cy="1588"/>
          </a:xfrm>
          <a:prstGeom prst="line">
            <a:avLst/>
          </a:prstGeom>
          <a:noFill/>
          <a:ln w="952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7" name="Straight Connector 57">
            <a:extLst>
              <a:ext uri="{FF2B5EF4-FFF2-40B4-BE49-F238E27FC236}">
                <a16:creationId xmlns:a16="http://schemas.microsoft.com/office/drawing/2014/main" id="{B74E2EB8-1838-4399-A619-4DFDCEF2C6FF}"/>
              </a:ext>
            </a:extLst>
          </p:cNvPr>
          <p:cNvCxnSpPr>
            <a:cxnSpLocks noChangeShapeType="1"/>
          </p:cNvCxnSpPr>
          <p:nvPr/>
        </p:nvCxnSpPr>
        <p:spPr bwMode="auto">
          <a:xfrm rot="5400000" flipH="1" flipV="1">
            <a:off x="3848894" y="3085306"/>
            <a:ext cx="1905000" cy="1588"/>
          </a:xfrm>
          <a:prstGeom prst="line">
            <a:avLst/>
          </a:prstGeom>
          <a:noFill/>
          <a:ln w="952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8" name="Straight Connector 55">
            <a:extLst>
              <a:ext uri="{FF2B5EF4-FFF2-40B4-BE49-F238E27FC236}">
                <a16:creationId xmlns:a16="http://schemas.microsoft.com/office/drawing/2014/main" id="{23AC8422-EB65-408D-B92A-D7E40262BE4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800600" y="4037013"/>
            <a:ext cx="1066800" cy="1587"/>
          </a:xfrm>
          <a:prstGeom prst="line">
            <a:avLst/>
          </a:prstGeom>
          <a:noFill/>
          <a:ln w="952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69" name="Straight Connector 55">
            <a:extLst>
              <a:ext uri="{FF2B5EF4-FFF2-40B4-BE49-F238E27FC236}">
                <a16:creationId xmlns:a16="http://schemas.microsoft.com/office/drawing/2014/main" id="{D6B076AB-547C-49FB-B662-B83233C4807C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800600" y="4265613"/>
            <a:ext cx="1066800" cy="1587"/>
          </a:xfrm>
          <a:prstGeom prst="line">
            <a:avLst/>
          </a:prstGeom>
          <a:noFill/>
          <a:ln w="952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0" name="Straight Connector 61">
            <a:extLst>
              <a:ext uri="{FF2B5EF4-FFF2-40B4-BE49-F238E27FC236}">
                <a16:creationId xmlns:a16="http://schemas.microsoft.com/office/drawing/2014/main" id="{CE23FC67-7DC2-4B01-B3C3-4D019032CCE7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>
            <a:off x="4572000" y="4495800"/>
            <a:ext cx="1295400" cy="1588"/>
          </a:xfrm>
          <a:prstGeom prst="line">
            <a:avLst/>
          </a:prstGeom>
          <a:noFill/>
          <a:ln w="9525" algn="ctr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271" name="Straight Arrow Connector 76">
            <a:extLst>
              <a:ext uri="{FF2B5EF4-FFF2-40B4-BE49-F238E27FC236}">
                <a16:creationId xmlns:a16="http://schemas.microsoft.com/office/drawing/2014/main" id="{744164CD-C5E3-44B8-ADC0-E823ACF0E8A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524000" y="5713413"/>
            <a:ext cx="3048000" cy="1587"/>
          </a:xfrm>
          <a:prstGeom prst="straightConnector1">
            <a:avLst/>
          </a:prstGeom>
          <a:noFill/>
          <a:ln w="9525" algn="ctr">
            <a:solidFill>
              <a:srgbClr val="0000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>
            <a:extLst>
              <a:ext uri="{FF2B5EF4-FFF2-40B4-BE49-F238E27FC236}">
                <a16:creationId xmlns:a16="http://schemas.microsoft.com/office/drawing/2014/main" id="{36D92DCD-59CB-4025-8404-90C2BEEA7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916E6E10-B772-4C9D-BD3C-3CD9AEB83817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9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48A1E299-838F-40DD-9F51-139997F3BA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Stack calculator</a:t>
            </a:r>
          </a:p>
        </p:txBody>
      </p:sp>
      <p:sp>
        <p:nvSpPr>
          <p:cNvPr id="11268" name="Text Box 4">
            <a:extLst>
              <a:ext uri="{FF2B5EF4-FFF2-40B4-BE49-F238E27FC236}">
                <a16:creationId xmlns:a16="http://schemas.microsoft.com/office/drawing/2014/main" id="{45AA08E5-72F6-454E-A3FE-660BAE39B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05000"/>
            <a:ext cx="7696200" cy="403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RV (return value): stores return value of a function</a:t>
            </a:r>
          </a:p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DL (dynamic link): is the base address of caller’s Stack frame. DL is used to recover caller’s context when the callee ends.</a:t>
            </a:r>
          </a:p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RA (return address): address of caller’s instruction that would be executed when callee ends.</a:t>
            </a:r>
          </a:p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SL (static link): base address of outer’s Stack frame. SL is useful when we track non-local variables.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>
            <a:extLst>
              <a:ext uri="{FF2B5EF4-FFF2-40B4-BE49-F238E27FC236}">
                <a16:creationId xmlns:a16="http://schemas.microsoft.com/office/drawing/2014/main" id="{1798ADC1-CEDE-45A8-9F95-F4AB0207A4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089378E5-DFF8-4920-AB92-CB0FD1A69367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10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2291" name="Text Box 3">
            <a:extLst>
              <a:ext uri="{FF2B5EF4-FFF2-40B4-BE49-F238E27FC236}">
                <a16:creationId xmlns:a16="http://schemas.microsoft.com/office/drawing/2014/main" id="{BC56002A-D572-4AAB-8920-C7F69EA35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Stack calculator</a:t>
            </a:r>
          </a:p>
        </p:txBody>
      </p:sp>
      <p:sp>
        <p:nvSpPr>
          <p:cNvPr id="12292" name="Text Box 4">
            <a:extLst>
              <a:ext uri="{FF2B5EF4-FFF2-40B4-BE49-F238E27FC236}">
                <a16:creationId xmlns:a16="http://schemas.microsoft.com/office/drawing/2014/main" id="{3BDA677C-0709-405B-B55D-0F1BB89600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050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Instruction set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C5B55A-A2D5-488C-A382-1D1712B2F98A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2362200"/>
          <a:ext cx="7543800" cy="3657600"/>
        </p:xfrm>
        <a:graphic>
          <a:graphicData uri="http://schemas.openxmlformats.org/drawingml/2006/table">
            <a:tbl>
              <a:tblPr/>
              <a:tblGrid>
                <a:gridCol w="1389063">
                  <a:extLst>
                    <a:ext uri="{9D8B030D-6E8A-4147-A177-3AD203B41FA5}">
                      <a16:colId xmlns:a16="http://schemas.microsoft.com/office/drawing/2014/main" val="1521002417"/>
                    </a:ext>
                  </a:extLst>
                </a:gridCol>
                <a:gridCol w="1544637">
                  <a:extLst>
                    <a:ext uri="{9D8B030D-6E8A-4147-A177-3AD203B41FA5}">
                      <a16:colId xmlns:a16="http://schemas.microsoft.com/office/drawing/2014/main" val="1373201930"/>
                    </a:ext>
                  </a:extLst>
                </a:gridCol>
                <a:gridCol w="4610100">
                  <a:extLst>
                    <a:ext uri="{9D8B030D-6E8A-4147-A177-3AD203B41FA5}">
                      <a16:colId xmlns:a16="http://schemas.microsoft.com/office/drawing/2014/main" val="4101894728"/>
                    </a:ext>
                  </a:extLst>
                </a:gridCol>
              </a:tblGrid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 Address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t:=t+1;  s[t]:=base(p)+q;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096440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LV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S PGothic" panose="020B0600070205080204" pitchFamily="34" charset="-128"/>
                        <a:ea typeface="MS Mincho" panose="02020609040205080304" pitchFamily="49" charset="-128"/>
                        <a:cs typeface="MS PGothic" panose="020B0600070205080204" pitchFamily="34" charset="-128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 Value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t:=t+1;  s[t]:=s[base(p)+q];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505124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LC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 Constant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t:=t+1;  s[t]:=q;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679318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Load Indirect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s[t]:=s[s[t]];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424797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Increment 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t:=t+q;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4864281"/>
                  </a:ext>
                </a:extLst>
              </a:tr>
              <a:tr h="609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DCT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Decrement 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t:=t-q;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anose="020406040505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938241"/>
                  </a:ext>
                </a:extLst>
              </a:tr>
            </a:tbl>
          </a:graphicData>
        </a:graphic>
      </p:graphicFrame>
      <p:grpSp>
        <p:nvGrpSpPr>
          <p:cNvPr id="12323" name="Group 41">
            <a:extLst>
              <a:ext uri="{FF2B5EF4-FFF2-40B4-BE49-F238E27FC236}">
                <a16:creationId xmlns:a16="http://schemas.microsoft.com/office/drawing/2014/main" id="{EE09754A-2787-45E8-A498-1F22B303F5BA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905000"/>
            <a:ext cx="1828800" cy="381000"/>
            <a:chOff x="2256" y="1200"/>
            <a:chExt cx="1152" cy="240"/>
          </a:xfrm>
        </p:grpSpPr>
        <p:sp>
          <p:nvSpPr>
            <p:cNvPr id="12324" name="Rectangle 38">
              <a:extLst>
                <a:ext uri="{FF2B5EF4-FFF2-40B4-BE49-F238E27FC236}">
                  <a16:creationId xmlns:a16="http://schemas.microsoft.com/office/drawing/2014/main" id="{AFAD3FA9-799A-43E5-B900-CC02357853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op</a:t>
              </a:r>
            </a:p>
          </p:txBody>
        </p:sp>
        <p:sp>
          <p:nvSpPr>
            <p:cNvPr id="12325" name="Rectangle 39">
              <a:extLst>
                <a:ext uri="{FF2B5EF4-FFF2-40B4-BE49-F238E27FC236}">
                  <a16:creationId xmlns:a16="http://schemas.microsoft.com/office/drawing/2014/main" id="{63878C21-3797-482F-9796-8813E5E9B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p</a:t>
              </a:r>
            </a:p>
          </p:txBody>
        </p:sp>
        <p:sp>
          <p:nvSpPr>
            <p:cNvPr id="12326" name="Rectangle 40">
              <a:extLst>
                <a:ext uri="{FF2B5EF4-FFF2-40B4-BE49-F238E27FC236}">
                  <a16:creationId xmlns:a16="http://schemas.microsoft.com/office/drawing/2014/main" id="{EE73BBAF-E5D3-47FA-A150-0E2E3FE5C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q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>
            <a:extLst>
              <a:ext uri="{FF2B5EF4-FFF2-40B4-BE49-F238E27FC236}">
                <a16:creationId xmlns:a16="http://schemas.microsoft.com/office/drawing/2014/main" id="{5B64D116-89FD-4FF8-B105-2CB54A576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BA2E1A63-2283-4D9C-A275-BCD79839194F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11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A7754C5F-4096-43F3-B1F9-F42F25D85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Stack calculator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2AB4873-7C83-4C56-8494-5F9986CF7A00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2362200"/>
          <a:ext cx="7543800" cy="3911600"/>
        </p:xfrm>
        <a:graphic>
          <a:graphicData uri="http://schemas.openxmlformats.org/drawingml/2006/table">
            <a:tbl>
              <a:tblPr/>
              <a:tblGrid>
                <a:gridCol w="138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J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Jump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pc:=q;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FJ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False Jump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if  s[t]=0  then  pc:=q;  t:=t-1;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HL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Halt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Halt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ST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Store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s[s[t-1]]:=s[t];  t:=t-2;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CALL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Call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s[t+2]:=b;  s[t+3]:=pc;  s[t+4]:=base(p);  b:=t+1;  pc:=q;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EP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Exit Procedure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t:=b-1;  pc:=s[b+2];  b:=s[b+1];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EF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Exit Function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t:=b;  pc:=s[b+2];  b:=s[b+1];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350" name="Text Box 4">
            <a:extLst>
              <a:ext uri="{FF2B5EF4-FFF2-40B4-BE49-F238E27FC236}">
                <a16:creationId xmlns:a16="http://schemas.microsoft.com/office/drawing/2014/main" id="{33EDB4A3-284C-4475-B7FD-95BB29323F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050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Instruction set</a:t>
            </a:r>
          </a:p>
        </p:txBody>
      </p:sp>
      <p:grpSp>
        <p:nvGrpSpPr>
          <p:cNvPr id="13351" name="Group 45">
            <a:extLst>
              <a:ext uri="{FF2B5EF4-FFF2-40B4-BE49-F238E27FC236}">
                <a16:creationId xmlns:a16="http://schemas.microsoft.com/office/drawing/2014/main" id="{D532AAB8-1115-4468-9F82-B8D3B706B979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905000"/>
            <a:ext cx="1828800" cy="381000"/>
            <a:chOff x="2256" y="1200"/>
            <a:chExt cx="1152" cy="240"/>
          </a:xfrm>
        </p:grpSpPr>
        <p:sp>
          <p:nvSpPr>
            <p:cNvPr id="13352" name="Rectangle 46">
              <a:extLst>
                <a:ext uri="{FF2B5EF4-FFF2-40B4-BE49-F238E27FC236}">
                  <a16:creationId xmlns:a16="http://schemas.microsoft.com/office/drawing/2014/main" id="{B0AAD212-7510-42F0-AC88-210D0327B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op</a:t>
              </a:r>
            </a:p>
          </p:txBody>
        </p:sp>
        <p:sp>
          <p:nvSpPr>
            <p:cNvPr id="13353" name="Rectangle 47">
              <a:extLst>
                <a:ext uri="{FF2B5EF4-FFF2-40B4-BE49-F238E27FC236}">
                  <a16:creationId xmlns:a16="http://schemas.microsoft.com/office/drawing/2014/main" id="{1F61465C-10CE-4120-8415-2EF922B4A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p</a:t>
              </a:r>
            </a:p>
          </p:txBody>
        </p:sp>
        <p:sp>
          <p:nvSpPr>
            <p:cNvPr id="13354" name="Rectangle 48">
              <a:extLst>
                <a:ext uri="{FF2B5EF4-FFF2-40B4-BE49-F238E27FC236}">
                  <a16:creationId xmlns:a16="http://schemas.microsoft.com/office/drawing/2014/main" id="{155FE05F-8695-4E7C-B2B9-91D90A151F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q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>
            <a:extLst>
              <a:ext uri="{FF2B5EF4-FFF2-40B4-BE49-F238E27FC236}">
                <a16:creationId xmlns:a16="http://schemas.microsoft.com/office/drawing/2014/main" id="{0F9568A6-E46D-42D9-B3C5-D9ACB6F1F5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3C95EAAA-7747-4AD5-9F75-D4F00E889BBE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12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8C90147D-D5EB-4FA8-9748-05F99EC0A0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Stack calculator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5707160-B737-4922-86DE-8A942214DF44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2362200"/>
          <a:ext cx="7543800" cy="27940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389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0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RC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Read Character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read one character into s[s[t]];  t:=t-1;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RI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Read Integer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read integer to s[s[t]];  t:=t-1;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WRC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Write Character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write one character from s[t];  t:=t-1;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WRI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Write Integer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write integer from s[t];  t:=t-1;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WLN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New Line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Century"/>
                          <a:ea typeface="MS Mincho"/>
                          <a:cs typeface="Times New Roman"/>
                        </a:rPr>
                        <a:t>CR &amp; LF</a:t>
                      </a:r>
                      <a:endParaRPr lang="en-US" sz="1800" kern="100" dirty="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366" name="Text Box 4">
            <a:extLst>
              <a:ext uri="{FF2B5EF4-FFF2-40B4-BE49-F238E27FC236}">
                <a16:creationId xmlns:a16="http://schemas.microsoft.com/office/drawing/2014/main" id="{CC273A2F-77A9-431E-A453-8D9D03A5D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050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Instruction set</a:t>
            </a:r>
          </a:p>
        </p:txBody>
      </p:sp>
      <p:grpSp>
        <p:nvGrpSpPr>
          <p:cNvPr id="14367" name="Group 37">
            <a:extLst>
              <a:ext uri="{FF2B5EF4-FFF2-40B4-BE49-F238E27FC236}">
                <a16:creationId xmlns:a16="http://schemas.microsoft.com/office/drawing/2014/main" id="{190EBFBA-029A-49F5-BAE3-370A6FCF0D08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905000"/>
            <a:ext cx="1828800" cy="381000"/>
            <a:chOff x="2256" y="1200"/>
            <a:chExt cx="1152" cy="240"/>
          </a:xfrm>
        </p:grpSpPr>
        <p:sp>
          <p:nvSpPr>
            <p:cNvPr id="14368" name="Rectangle 38">
              <a:extLst>
                <a:ext uri="{FF2B5EF4-FFF2-40B4-BE49-F238E27FC236}">
                  <a16:creationId xmlns:a16="http://schemas.microsoft.com/office/drawing/2014/main" id="{73945ADF-8180-4836-AE5B-D8C801845B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op</a:t>
              </a:r>
            </a:p>
          </p:txBody>
        </p:sp>
        <p:sp>
          <p:nvSpPr>
            <p:cNvPr id="14369" name="Rectangle 39">
              <a:extLst>
                <a:ext uri="{FF2B5EF4-FFF2-40B4-BE49-F238E27FC236}">
                  <a16:creationId xmlns:a16="http://schemas.microsoft.com/office/drawing/2014/main" id="{A71743B7-74F4-472C-9C34-D88FC9A18C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p</a:t>
              </a:r>
            </a:p>
          </p:txBody>
        </p:sp>
        <p:sp>
          <p:nvSpPr>
            <p:cNvPr id="14370" name="Rectangle 40">
              <a:extLst>
                <a:ext uri="{FF2B5EF4-FFF2-40B4-BE49-F238E27FC236}">
                  <a16:creationId xmlns:a16="http://schemas.microsoft.com/office/drawing/2014/main" id="{35BC9C87-C5F3-4708-9302-BED2B5D55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q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7038C59E-8037-4A93-B96F-8D7FCBADC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30E263D4-6725-493E-B7EB-AA2BFC8957AC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13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363" name="Text Box 3">
            <a:extLst>
              <a:ext uri="{FF2B5EF4-FFF2-40B4-BE49-F238E27FC236}">
                <a16:creationId xmlns:a16="http://schemas.microsoft.com/office/drawing/2014/main" id="{2D70BB83-8332-48BD-9796-2451B8F93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Stack calculator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51662B-2D0A-4588-B008-C4A927EEEF04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2362200"/>
          <a:ext cx="7543800" cy="36576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389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3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0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AD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Add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t:=t-1;  s[t]:=s[t]+s[t+1];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SB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Subtract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t:=t-1;  s[t]:=s[t]-s[t+1];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ML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Multiply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t:=t-1;  s[t]:=s[t]*s[t+1];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DV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Divide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t:=t-1;  s[t]:=s[t]/s[t+1];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NEG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Negative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s[t]:=-s[t];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CV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latin typeface="Century"/>
                          <a:ea typeface="MS Mincho"/>
                          <a:cs typeface="Times New Roman"/>
                        </a:rPr>
                        <a:t>Copy Top of Stack</a:t>
                      </a:r>
                      <a:endParaRPr lang="en-US" sz="1800" kern="10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tc>
                  <a:txBody>
                    <a:bodyPr/>
                    <a:lstStyle/>
                    <a:p>
                      <a:pPr marL="0" marR="0" algn="jus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Century"/>
                          <a:ea typeface="MS Mincho"/>
                          <a:cs typeface="Times New Roman"/>
                        </a:rPr>
                        <a:t>s[t+1]:=s[t];  t:=t+1;</a:t>
                      </a:r>
                      <a:endParaRPr lang="en-US" sz="1800" kern="100" dirty="0">
                        <a:latin typeface="Century"/>
                        <a:ea typeface="MS Mincho"/>
                        <a:cs typeface="Times New Roman"/>
                      </a:endParaRPr>
                    </a:p>
                  </a:txBody>
                  <a:tcPr marL="18288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394" name="Text Box 4">
            <a:extLst>
              <a:ext uri="{FF2B5EF4-FFF2-40B4-BE49-F238E27FC236}">
                <a16:creationId xmlns:a16="http://schemas.microsoft.com/office/drawing/2014/main" id="{EECAB0CA-30C0-42DB-872A-C2D7AA218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050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Instruction set</a:t>
            </a:r>
          </a:p>
        </p:txBody>
      </p:sp>
      <p:grpSp>
        <p:nvGrpSpPr>
          <p:cNvPr id="15395" name="Group 41">
            <a:extLst>
              <a:ext uri="{FF2B5EF4-FFF2-40B4-BE49-F238E27FC236}">
                <a16:creationId xmlns:a16="http://schemas.microsoft.com/office/drawing/2014/main" id="{CB5698F7-703F-458E-B136-722A2B4463F7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905000"/>
            <a:ext cx="1828800" cy="381000"/>
            <a:chOff x="2256" y="1200"/>
            <a:chExt cx="1152" cy="240"/>
          </a:xfrm>
        </p:grpSpPr>
        <p:sp>
          <p:nvSpPr>
            <p:cNvPr id="15396" name="Rectangle 42">
              <a:extLst>
                <a:ext uri="{FF2B5EF4-FFF2-40B4-BE49-F238E27FC236}">
                  <a16:creationId xmlns:a16="http://schemas.microsoft.com/office/drawing/2014/main" id="{388BDBA5-8841-4DAF-B58A-6EC817836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op</a:t>
              </a:r>
            </a:p>
          </p:txBody>
        </p:sp>
        <p:sp>
          <p:nvSpPr>
            <p:cNvPr id="15397" name="Rectangle 43">
              <a:extLst>
                <a:ext uri="{FF2B5EF4-FFF2-40B4-BE49-F238E27FC236}">
                  <a16:creationId xmlns:a16="http://schemas.microsoft.com/office/drawing/2014/main" id="{D1198515-D302-4ED8-906D-0EFEFC7AA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p</a:t>
              </a:r>
            </a:p>
          </p:txBody>
        </p:sp>
        <p:sp>
          <p:nvSpPr>
            <p:cNvPr id="15398" name="Rectangle 44">
              <a:extLst>
                <a:ext uri="{FF2B5EF4-FFF2-40B4-BE49-F238E27FC236}">
                  <a16:creationId xmlns:a16="http://schemas.microsoft.com/office/drawing/2014/main" id="{CA77BFAE-D1E5-48B4-810F-CC65D390F1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q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54140995-63CB-478E-B00B-C6F7363D35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A9BBF3FE-4009-42A3-BD3B-F154D6B03446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14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EDF049A3-36CC-4439-B25D-A496A7F17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Stack calculator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80217F-55D5-45D1-A545-346175B73EE6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2362200"/>
          <a:ext cx="7543800" cy="3657600"/>
        </p:xfrm>
        <a:graphic>
          <a:graphicData uri="http://schemas.openxmlformats.org/drawingml/2006/table">
            <a:tbl>
              <a:tblPr/>
              <a:tblGrid>
                <a:gridCol w="1389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1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EQ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Equal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t:=t-1;  if s[t] = s[t+1] then s[t]:=1 else s[t]:=0;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NE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Not Equal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t:=t-1;  if s[t] </a:t>
                      </a:r>
                      <a:r>
                        <a:rPr kumimoji="0" lang="en-US" altLang="ja-JP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!</a:t>
                      </a: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= s[t+1] then s[t]:=1 else s[t]:=0;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GT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Greater Than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t:=t-1;  if s[t] &gt; s[t+1] then s[t]:=1 else s[t]:=0;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LT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Less Than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t:=t-1;  if s[t] &lt; s[t+1] then s[t]:=1 else s[t]:=0;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GE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Greater or Equal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t:=t-1;  if s[t] &gt;= s[t+1] then s[t]:=1 else s[t]:=0;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LE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Less or Equal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entury" pitchFamily="18" charset="0"/>
                          <a:ea typeface="MS Mincho" pitchFamily="49" charset="-128"/>
                          <a:cs typeface="Times New Roman" pitchFamily="18" charset="0"/>
                        </a:rPr>
                        <a:t>t:=t-1;  if s[t] &lt;= s[t+1] then s[t]:=1 else s[t]:=0;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entury" pitchFamily="18" charset="0"/>
                        <a:ea typeface="MS Mincho" pitchFamily="49" charset="-128"/>
                        <a:cs typeface="Times New Roman" pitchFamily="18" charset="0"/>
                      </a:endParaRPr>
                    </a:p>
                  </a:txBody>
                  <a:tcPr marL="182880" marR="0" marT="0" marB="0" anchor="ctr" horzOverflow="overflow">
                    <a:lnL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D2D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418" name="Text Box 4">
            <a:extLst>
              <a:ext uri="{FF2B5EF4-FFF2-40B4-BE49-F238E27FC236}">
                <a16:creationId xmlns:a16="http://schemas.microsoft.com/office/drawing/2014/main" id="{03DB8D5F-22DB-418B-9D07-859D75D47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050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675"/>
              </a:spcBef>
              <a:buSzPct val="70000"/>
              <a:buFont typeface="Wingdings" panose="05000000000000000000" pitchFamily="2" charset="2"/>
              <a:buChar char=""/>
            </a:pPr>
            <a:r>
              <a:rPr lang="en-US" altLang="en-US" sz="2400">
                <a:solidFill>
                  <a:srgbClr val="000000"/>
                </a:solidFill>
                <a:cs typeface="Arial" panose="020B0604020202020204" pitchFamily="34" charset="0"/>
              </a:rPr>
              <a:t>Instruction set</a:t>
            </a:r>
          </a:p>
        </p:txBody>
      </p:sp>
      <p:grpSp>
        <p:nvGrpSpPr>
          <p:cNvPr id="16419" name="Group 41">
            <a:extLst>
              <a:ext uri="{FF2B5EF4-FFF2-40B4-BE49-F238E27FC236}">
                <a16:creationId xmlns:a16="http://schemas.microsoft.com/office/drawing/2014/main" id="{41184CF2-9008-4488-B21F-C7AC3E7533EF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905000"/>
            <a:ext cx="1828800" cy="381000"/>
            <a:chOff x="2256" y="1200"/>
            <a:chExt cx="1152" cy="240"/>
          </a:xfrm>
        </p:grpSpPr>
        <p:sp>
          <p:nvSpPr>
            <p:cNvPr id="16420" name="Rectangle 42">
              <a:extLst>
                <a:ext uri="{FF2B5EF4-FFF2-40B4-BE49-F238E27FC236}">
                  <a16:creationId xmlns:a16="http://schemas.microsoft.com/office/drawing/2014/main" id="{FE9F7E68-8C98-4E47-82F2-8926E1BEA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op</a:t>
              </a:r>
            </a:p>
          </p:txBody>
        </p:sp>
        <p:sp>
          <p:nvSpPr>
            <p:cNvPr id="16421" name="Rectangle 43">
              <a:extLst>
                <a:ext uri="{FF2B5EF4-FFF2-40B4-BE49-F238E27FC236}">
                  <a16:creationId xmlns:a16="http://schemas.microsoft.com/office/drawing/2014/main" id="{01109E87-34E4-4FE0-96E2-590B67099A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0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p</a:t>
              </a:r>
            </a:p>
          </p:txBody>
        </p:sp>
        <p:sp>
          <p:nvSpPr>
            <p:cNvPr id="16422" name="Rectangle 44">
              <a:extLst>
                <a:ext uri="{FF2B5EF4-FFF2-40B4-BE49-F238E27FC236}">
                  <a16:creationId xmlns:a16="http://schemas.microsoft.com/office/drawing/2014/main" id="{F9803F67-6A29-47EF-B920-13CA1058C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200"/>
              <a:ext cx="384" cy="240"/>
            </a:xfrm>
            <a:prstGeom prst="rect">
              <a:avLst/>
            </a:prstGeom>
            <a:solidFill>
              <a:srgbClr val="00B8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en-US" sz="1800"/>
                <a:t>q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1">
            <a:extLst>
              <a:ext uri="{FF2B5EF4-FFF2-40B4-BE49-F238E27FC236}">
                <a16:creationId xmlns:a16="http://schemas.microsoft.com/office/drawing/2014/main" id="{CE2438BB-56AE-47EE-8116-3CE0227499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Generate code for ASSIGN statement</a:t>
            </a:r>
          </a:p>
        </p:txBody>
      </p:sp>
      <p:sp>
        <p:nvSpPr>
          <p:cNvPr id="17411" name="Text Box 2">
            <a:extLst>
              <a:ext uri="{FF2B5EF4-FFF2-40B4-BE49-F238E27FC236}">
                <a16:creationId xmlns:a16="http://schemas.microsoft.com/office/drawing/2014/main" id="{96739338-507E-4900-9A97-226A78B747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05000"/>
            <a:ext cx="7696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775"/>
              </a:spcBef>
              <a:buSzPct val="70000"/>
            </a:pPr>
            <a:r>
              <a:rPr lang="en-US" alt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 := exp</a:t>
            </a:r>
            <a:endParaRPr lang="en-US" altLang="en-US" sz="3200" b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DBD926EC-8E90-459B-9B7E-4AB2D880AC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1E10B84D-C167-40FA-B0C1-F2B80C2F48CE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15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" name="Folded Corner 5">
            <a:extLst>
              <a:ext uri="{FF2B5EF4-FFF2-40B4-BE49-F238E27FC236}">
                <a16:creationId xmlns:a16="http://schemas.microsoft.com/office/drawing/2014/main" id="{A6DF641D-4847-405F-907D-49B31B802B7B}"/>
              </a:ext>
            </a:extLst>
          </p:cNvPr>
          <p:cNvSpPr/>
          <p:nvPr/>
        </p:nvSpPr>
        <p:spPr bwMode="auto">
          <a:xfrm>
            <a:off x="685800" y="2667000"/>
            <a:ext cx="7772400" cy="3200400"/>
          </a:xfrm>
          <a:prstGeom prst="foldedCorner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&lt;code of l-value v&gt;  // load address of v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&lt;code of exp&gt;        // load value of of exp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ST                   </a:t>
            </a:r>
          </a:p>
          <a:p>
            <a:pPr>
              <a:defRPr/>
            </a:pPr>
            <a:endParaRPr lang="en-US" sz="180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>
            <a:extLst>
              <a:ext uri="{FF2B5EF4-FFF2-40B4-BE49-F238E27FC236}">
                <a16:creationId xmlns:a16="http://schemas.microsoft.com/office/drawing/2014/main" id="{0D09C65D-FF70-4D2A-ACD3-989A04CB0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Generate code for IF statement</a:t>
            </a:r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92DEFC03-7A36-41F5-8F67-263737DD12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752600"/>
            <a:ext cx="7696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775"/>
              </a:spcBef>
              <a:buSzPct val="70000"/>
            </a:pPr>
            <a:r>
              <a:rPr lang="en-US" alt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&lt;cond&gt; Then statement;</a:t>
            </a:r>
            <a:endParaRPr lang="en-US" altLang="en-US" sz="3200" b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8436" name="Text Box 4">
            <a:extLst>
              <a:ext uri="{FF2B5EF4-FFF2-40B4-BE49-F238E27FC236}">
                <a16:creationId xmlns:a16="http://schemas.microsoft.com/office/drawing/2014/main" id="{72DA9297-696F-4FA9-8F35-D96C54375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30CF0FE0-7C85-4F89-B07A-EFA9B4616D3F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16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" name="Folded Corner 5">
            <a:extLst>
              <a:ext uri="{FF2B5EF4-FFF2-40B4-BE49-F238E27FC236}">
                <a16:creationId xmlns:a16="http://schemas.microsoft.com/office/drawing/2014/main" id="{6A9BD86E-9195-4E51-A6B9-4E2AFD5BDB60}"/>
              </a:ext>
            </a:extLst>
          </p:cNvPr>
          <p:cNvSpPr/>
          <p:nvPr/>
        </p:nvSpPr>
        <p:spPr bwMode="auto">
          <a:xfrm>
            <a:off x="685800" y="2286000"/>
            <a:ext cx="8077200" cy="1524000"/>
          </a:xfrm>
          <a:prstGeom prst="foldedCorner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&lt;code of cond&gt;     // load value of condition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FJ L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&lt;code of statement&gt;  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L: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…                  </a:t>
            </a:r>
          </a:p>
        </p:txBody>
      </p:sp>
      <p:sp>
        <p:nvSpPr>
          <p:cNvPr id="18438" name="Text Box 2">
            <a:extLst>
              <a:ext uri="{FF2B5EF4-FFF2-40B4-BE49-F238E27FC236}">
                <a16:creationId xmlns:a16="http://schemas.microsoft.com/office/drawing/2014/main" id="{943D9FFA-144D-42A9-BA92-6B8516971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733800"/>
            <a:ext cx="7696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775"/>
              </a:spcBef>
              <a:buSzPct val="70000"/>
            </a:pPr>
            <a:r>
              <a:rPr lang="en-US" alt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&lt;cond&gt; Then st1 Else st2;</a:t>
            </a:r>
            <a:endParaRPr lang="en-US" altLang="en-US" sz="3200" b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8" name="Folded Corner 7">
            <a:extLst>
              <a:ext uri="{FF2B5EF4-FFF2-40B4-BE49-F238E27FC236}">
                <a16:creationId xmlns:a16="http://schemas.microsoft.com/office/drawing/2014/main" id="{A702C074-F211-4055-9D0F-E5E4D46800EF}"/>
              </a:ext>
            </a:extLst>
          </p:cNvPr>
          <p:cNvSpPr/>
          <p:nvPr/>
        </p:nvSpPr>
        <p:spPr bwMode="auto">
          <a:xfrm>
            <a:off x="685800" y="4267200"/>
            <a:ext cx="8077200" cy="2209800"/>
          </a:xfrm>
          <a:prstGeom prst="foldedCorner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&lt;code of cond&gt;     // load value of condition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FJ L1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&lt;code of st1&gt; 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J L2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L1: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&lt;code of st2&gt;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L2: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…                  </a:t>
            </a: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1">
            <a:extLst>
              <a:ext uri="{FF2B5EF4-FFF2-40B4-BE49-F238E27FC236}">
                <a16:creationId xmlns:a16="http://schemas.microsoft.com/office/drawing/2014/main" id="{35B3E65E-1563-43A9-882B-4170F26EE2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Generate code for WHILE statement</a:t>
            </a:r>
          </a:p>
        </p:txBody>
      </p:sp>
      <p:sp>
        <p:nvSpPr>
          <p:cNvPr id="19459" name="Text Box 2">
            <a:extLst>
              <a:ext uri="{FF2B5EF4-FFF2-40B4-BE49-F238E27FC236}">
                <a16:creationId xmlns:a16="http://schemas.microsoft.com/office/drawing/2014/main" id="{FF2AE593-C1D9-4FBD-B64E-8C9D5AC02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905000"/>
            <a:ext cx="7696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775"/>
              </a:spcBef>
              <a:buSzPct val="70000"/>
            </a:pPr>
            <a:r>
              <a:rPr lang="en-US" altLang="en-US" sz="32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&lt;cond&gt; Do statement</a:t>
            </a:r>
            <a:endParaRPr lang="en-US" altLang="en-US" sz="3200" b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0F25F850-F8F4-46B3-BA66-05AD27032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ADD09CAF-D3BD-4A9F-9FFA-1E36D7243D89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17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" name="Folded Corner 5">
            <a:extLst>
              <a:ext uri="{FF2B5EF4-FFF2-40B4-BE49-F238E27FC236}">
                <a16:creationId xmlns:a16="http://schemas.microsoft.com/office/drawing/2014/main" id="{F5468F74-8A6E-46A3-96AD-7D62FC5B23D8}"/>
              </a:ext>
            </a:extLst>
          </p:cNvPr>
          <p:cNvSpPr/>
          <p:nvPr/>
        </p:nvSpPr>
        <p:spPr bwMode="auto">
          <a:xfrm>
            <a:off x="685800" y="2667000"/>
            <a:ext cx="8077200" cy="3581400"/>
          </a:xfrm>
          <a:prstGeom prst="foldedCorner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L1: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&lt;code of cond&gt; // load value of condition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FJ L2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&lt;code of statement&gt;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J L1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L2:</a:t>
            </a:r>
          </a:p>
          <a:p>
            <a:pPr>
              <a:defRPr/>
            </a:pPr>
            <a:r>
              <a:rPr lang="en-US" sz="1800">
                <a:latin typeface="Courier New" pitchFamily="49" charset="0"/>
                <a:cs typeface="Courier New" pitchFamily="49" charset="0"/>
              </a:rPr>
              <a:t>  …                   </a:t>
            </a:r>
          </a:p>
          <a:p>
            <a:pPr>
              <a:defRPr/>
            </a:pPr>
            <a:endParaRPr lang="en-US" sz="180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>
            <a:extLst>
              <a:ext uri="{FF2B5EF4-FFF2-40B4-BE49-F238E27FC236}">
                <a16:creationId xmlns:a16="http://schemas.microsoft.com/office/drawing/2014/main" id="{CC8763DA-9759-48C6-A990-EB074BAE1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"/>
            <a:ext cx="76962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b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rgbClr val="336666"/>
              </a:buClr>
              <a:buFont typeface="Arial Black" panose="020B0A04020102020204" pitchFamily="34" charset="0"/>
              <a:buNone/>
            </a:pPr>
            <a:r>
              <a:rPr lang="en-US" altLang="en-US" sz="3300">
                <a:solidFill>
                  <a:srgbClr val="336666"/>
                </a:solidFill>
                <a:cs typeface="Arial" panose="020B0604020202020204" pitchFamily="34" charset="0"/>
              </a:rPr>
              <a:t>Generate code for FOR statement</a:t>
            </a:r>
          </a:p>
        </p:txBody>
      </p:sp>
      <p:sp>
        <p:nvSpPr>
          <p:cNvPr id="20483" name="Text Box 2">
            <a:extLst>
              <a:ext uri="{FF2B5EF4-FFF2-40B4-BE49-F238E27FC236}">
                <a16:creationId xmlns:a16="http://schemas.microsoft.com/office/drawing/2014/main" id="{F1F97886-0FD3-4E00-832B-0AEA3DF26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1189038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marL="341313" indent="-341313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ts val="775"/>
              </a:spcBef>
              <a:buSzPct val="70000"/>
            </a:pPr>
            <a:r>
              <a:rPr lang="en-US" altLang="en-US" sz="28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 v := exp1 to exp2 do statement</a:t>
            </a:r>
            <a:endParaRPr lang="en-US" altLang="en-US" sz="2800" b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16D73D26-1106-47DE-A14E-5BA5BBE7E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6400800"/>
            <a:ext cx="1600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01F6EDA8-BD72-4DC9-A2D1-4FF7A74CAA44}" type="slidenum">
              <a:rPr lang="vi-VN" altLang="en-US">
                <a:solidFill>
                  <a:srgbClr val="000000"/>
                </a:solidFill>
                <a:cs typeface="Arial" panose="020B0604020202020204" pitchFamily="34" charset="0"/>
              </a:rPr>
              <a:pPr algn="ctr" eaLnBrk="1" hangingPunct="1"/>
              <a:t>18</a:t>
            </a:fld>
            <a:endParaRPr lang="vi-VN" altLang="en-US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" name="Folded Corner 5">
            <a:extLst>
              <a:ext uri="{FF2B5EF4-FFF2-40B4-BE49-F238E27FC236}">
                <a16:creationId xmlns:a16="http://schemas.microsoft.com/office/drawing/2014/main" id="{1E35640F-AF07-46D1-83DC-8A298F39E6EF}"/>
              </a:ext>
            </a:extLst>
          </p:cNvPr>
          <p:cNvSpPr/>
          <p:nvPr/>
        </p:nvSpPr>
        <p:spPr bwMode="auto">
          <a:xfrm>
            <a:off x="635000" y="1828800"/>
            <a:ext cx="8077200" cy="4572000"/>
          </a:xfrm>
          <a:prstGeom prst="foldedCorner">
            <a:avLst/>
          </a:prstGeom>
          <a:solidFill>
            <a:schemeClr val="bg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&lt;code of l-value v&gt;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CV   // copy top of stack – duplicate address of v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&lt;code of exp1&gt;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ST   // store original value of v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L1: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CV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LI   // get value of v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&lt;code of exp2&gt;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LE 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FJ L2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&lt;code of statement&gt;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CV;CV;LI;LC 1;AD;ST;  // increase v’s value by 1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J L1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L2: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DCT 1</a:t>
            </a:r>
          </a:p>
          <a:p>
            <a:pPr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  …</a:t>
            </a:r>
          </a:p>
          <a:p>
            <a:pPr>
              <a:defRPr/>
            </a:pP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oICT-PPT-template-hoi-thao-onlin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SoICT-PPT-template-hoi-thao-online</Template>
  <TotalTime>2549</TotalTime>
  <Words>1320</Words>
  <Application>Microsoft Office PowerPoint</Application>
  <PresentationFormat>On-screen Show (4:3)</PresentationFormat>
  <Paragraphs>304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0" baseType="lpstr">
      <vt:lpstr>Arial</vt:lpstr>
      <vt:lpstr>Wingdings</vt:lpstr>
      <vt:lpstr>Arial Black</vt:lpstr>
      <vt:lpstr>Times New Roman</vt:lpstr>
      <vt:lpstr>Bodoni Bk BT</vt:lpstr>
      <vt:lpstr>Symbol</vt:lpstr>
      <vt:lpstr>Courier New</vt:lpstr>
      <vt:lpstr>Century</vt:lpstr>
      <vt:lpstr>MS Mincho</vt:lpstr>
      <vt:lpstr>MS PGothic</vt:lpstr>
      <vt:lpstr>Calibri</vt:lpstr>
      <vt:lpstr>SoICT-PPT-template-hoi-thao-online</vt:lpstr>
      <vt:lpstr>PowerPoint Presentation</vt:lpstr>
      <vt:lpstr>Program execution by KPL</vt:lpstr>
      <vt:lpstr>Input of Code Generator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Tel 0915 152 158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COSTRUCTION</dc:title>
  <dc:creator>huongnt</dc:creator>
  <cp:lastModifiedBy>Nguyen Thi Thu Huong</cp:lastModifiedBy>
  <cp:revision>261</cp:revision>
  <dcterms:created xsi:type="dcterms:W3CDTF">2008-08-10T02:45:21Z</dcterms:created>
  <dcterms:modified xsi:type="dcterms:W3CDTF">2021-01-19T14:21:46Z</dcterms:modified>
</cp:coreProperties>
</file>