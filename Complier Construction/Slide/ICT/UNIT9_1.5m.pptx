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18"/>
  </p:notesMasterIdLst>
  <p:sldIdLst>
    <p:sldId id="351" r:id="rId2"/>
    <p:sldId id="349" r:id="rId3"/>
    <p:sldId id="371" r:id="rId4"/>
    <p:sldId id="372" r:id="rId5"/>
    <p:sldId id="373" r:id="rId6"/>
    <p:sldId id="374" r:id="rId7"/>
    <p:sldId id="375" r:id="rId8"/>
    <p:sldId id="355" r:id="rId9"/>
    <p:sldId id="357" r:id="rId10"/>
    <p:sldId id="376" r:id="rId11"/>
    <p:sldId id="377" r:id="rId12"/>
    <p:sldId id="362" r:id="rId13"/>
    <p:sldId id="367" r:id="rId14"/>
    <p:sldId id="365" r:id="rId15"/>
    <p:sldId id="378" r:id="rId16"/>
    <p:sldId id="37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1" autoAdjust="0"/>
    <p:restoredTop sz="94660"/>
  </p:normalViewPr>
  <p:slideViewPr>
    <p:cSldViewPr>
      <p:cViewPr varScale="1">
        <p:scale>
          <a:sx n="48" d="100"/>
          <a:sy n="48" d="100"/>
        </p:scale>
        <p:origin x="1443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BD3DDDC7-2E33-4913-9BCA-D4CEB5200AC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F5EB74C-E480-4122-B426-16016A941F7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F630035-59B6-45EA-BFE6-A144782B622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DD75A69D-F94D-4984-A064-50A47A232F1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E9CF2AFE-CC8C-4805-9247-B6127C7D34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12B469C0-0078-4FD8-BB9A-95B8F5BC68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8F0EEC7-E24F-4255-B60E-25166106F6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3C6C5409-5BA8-4371-B5E2-730D22FA51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1F0B23-FC8B-4B0A-9D8B-819774867437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8195" name="Rectangle 1">
            <a:extLst>
              <a:ext uri="{FF2B5EF4-FFF2-40B4-BE49-F238E27FC236}">
                <a16:creationId xmlns:a16="http://schemas.microsoft.com/office/drawing/2014/main" id="{6EB2A89C-C994-4538-AEFB-E2B9D59C4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BDA8E595-B61D-4DD6-BE2F-053E3A4D7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206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ACE5DA6A-6416-49A1-91C1-0A328E20C8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C8A784-7CE8-4CBB-A86E-4BCEB4A8F5E5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0243" name="Rectangle 1">
            <a:extLst>
              <a:ext uri="{FF2B5EF4-FFF2-40B4-BE49-F238E27FC236}">
                <a16:creationId xmlns:a16="http://schemas.microsoft.com/office/drawing/2014/main" id="{EAB5B3F8-8208-4E77-ABEF-01440D9ABA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F8A9B27B-0717-4CBC-8C21-38137224A3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206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AB744112-BFD0-41D9-84D7-E2DB785323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794CE16-E5B2-4F9D-8912-317A27CB7C29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2291" name="Rectangle 1">
            <a:extLst>
              <a:ext uri="{FF2B5EF4-FFF2-40B4-BE49-F238E27FC236}">
                <a16:creationId xmlns:a16="http://schemas.microsoft.com/office/drawing/2014/main" id="{17F3E98B-2347-4EC3-AFF6-B61BC534C4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7F26105E-6D0E-4421-AE65-0F528E171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206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6B4B7A1D-950A-43F7-84A3-859B02F12F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8A6A42-5162-49D0-8DC8-7362F0F06F51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4339" name="Rectangle 1">
            <a:extLst>
              <a:ext uri="{FF2B5EF4-FFF2-40B4-BE49-F238E27FC236}">
                <a16:creationId xmlns:a16="http://schemas.microsoft.com/office/drawing/2014/main" id="{D8CAD496-51EA-411E-965B-77EA5124E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solidFill>
            <a:srgbClr val="FFFFFF"/>
          </a:solidFill>
          <a:ln/>
        </p:spPr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6BBA193C-3BE1-40CB-98AD-B0A5D57ED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206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F0EEC7-E24F-4255-B60E-25166106F626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0321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A0091A21-B1F0-4425-8DF5-5525DF587BB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6748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57950" y="6141245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2350" y="6413501"/>
            <a:ext cx="1143000" cy="365125"/>
          </a:xfrm>
        </p:spPr>
        <p:txBody>
          <a:bodyPr/>
          <a:lstStyle/>
          <a:p>
            <a:pPr>
              <a:defRPr/>
            </a:pPr>
            <a:fld id="{6CF1C15C-062D-407C-8A9A-4F34CECC8D5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4182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DFD6B-7C99-4C71-BB16-8CB9CEBFE25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446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EC2180-0841-47F0-A889-72B904230A2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812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DAB6D9-AECE-406F-A6EF-FD232E0573F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04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54A62-6363-452C-B67E-0E4EFFDC192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9499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53973-4CE9-4103-9755-D337A3E93F5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284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53973-4CE9-4103-9755-D337A3E93F5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9675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BA7CA-AFAB-4CE8-BA1D-AFB29959A1C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0410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53973-4CE9-4103-9755-D337A3E93F5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0487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53973-4CE9-4103-9755-D337A3E93F5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903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A014EB-9839-4DA7-B080-3D497BCD1A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845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CF47AF-F034-45F0-B5A7-6EE97A35134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1999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81084-BC98-419A-8F71-5B04403E9B3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3552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3C91F-B2BC-49DF-858C-BFE52B4A1DD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1202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5557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625600"/>
            <a:ext cx="7886700" cy="4460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7750" y="6432551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5CE53973-4CE9-4103-9755-D337A3E93F5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301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A975C7C7-7703-49C1-AAD2-B4189E1E6C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19100" y="1981200"/>
            <a:ext cx="8305800" cy="2387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Unit 9. </a:t>
            </a:r>
            <a:br>
              <a:rPr lang="en-US" altLang="en-US" dirty="0"/>
            </a:br>
            <a:r>
              <a:rPr lang="en-US" altLang="en-US" dirty="0"/>
              <a:t>Recursive descent parsing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58B1F64-9C20-44AC-BFDC-D63E92C27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Characteristics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C2DCFB8-C4C5-4F00-8E5E-7246ED44C1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3384550"/>
          </a:xfrm>
        </p:spPr>
        <p:txBody>
          <a:bodyPr/>
          <a:lstStyle/>
          <a:p>
            <a:pPr eaLnBrk="1" hangingPunct="1"/>
            <a:r>
              <a:rPr lang="en-US" altLang="en-US"/>
              <a:t>Used to parse LL(1) language</a:t>
            </a:r>
          </a:p>
          <a:p>
            <a:pPr eaLnBrk="1" hangingPunct="1"/>
            <a:r>
              <a:rPr lang="en-US" altLang="en-US"/>
              <a:t>Can be extended for parsing LL(k) grammars, but algorithms are complicated</a:t>
            </a:r>
          </a:p>
          <a:p>
            <a:pPr eaLnBrk="1" hangingPunct="1"/>
            <a:r>
              <a:rPr lang="en-US" altLang="en-US"/>
              <a:t>Parsing non LL(k) grammars can cause infinite loops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921EEFF4-F3EA-45A9-94EC-47B64281B7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Recursive-descent parsing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CFA7708-1E46-4591-B133-EA0B8A2C2E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rmAutofit lnSpcReduction="10000"/>
          </a:bodyPr>
          <a:lstStyle/>
          <a:p>
            <a:r>
              <a:rPr lang="en-US" altLang="en-US" sz="2400"/>
              <a:t>A top-down parsing method </a:t>
            </a:r>
          </a:p>
          <a:p>
            <a:r>
              <a:rPr lang="en-US" altLang="en-US" sz="2400"/>
              <a:t>The term </a:t>
            </a:r>
            <a:r>
              <a:rPr lang="en-US" altLang="en-US" sz="2400" i="1"/>
              <a:t>descent</a:t>
            </a:r>
            <a:r>
              <a:rPr lang="en-US" altLang="en-US" sz="2400"/>
              <a:t> refers to the direction in which the parse tree is traversed (or built).</a:t>
            </a:r>
          </a:p>
          <a:p>
            <a:r>
              <a:rPr lang="en-US" altLang="en-US" sz="2400"/>
              <a:t>Use a set of </a:t>
            </a:r>
            <a:r>
              <a:rPr lang="en-US" altLang="en-US" sz="2400" i="1"/>
              <a:t>mutually recursive</a:t>
            </a:r>
            <a:r>
              <a:rPr lang="en-US" altLang="en-US" sz="2400"/>
              <a:t> procedures (one procedure for each nonterminal symbol)</a:t>
            </a:r>
          </a:p>
          <a:p>
            <a:pPr lvl="1"/>
            <a:r>
              <a:rPr lang="en-US" altLang="en-US" sz="2400"/>
              <a:t>Start the parsing process by calling the procedure that corresponds to the start symbol</a:t>
            </a:r>
          </a:p>
          <a:p>
            <a:pPr lvl="1"/>
            <a:r>
              <a:rPr lang="en-US" altLang="en-US" sz="2400"/>
              <a:t>Each production becomes one branch in procedure for its LHS</a:t>
            </a:r>
          </a:p>
          <a:p>
            <a:r>
              <a:rPr lang="en-US" altLang="en-US" sz="2400"/>
              <a:t>We consider a special type of recursive-descent parsing called predictive parsing</a:t>
            </a:r>
          </a:p>
          <a:p>
            <a:pPr lvl="1"/>
            <a:r>
              <a:rPr lang="en-US" altLang="en-US" sz="2400"/>
              <a:t>Use a lookahead symbol to decide which production to use</a:t>
            </a:r>
          </a:p>
          <a:p>
            <a:pPr lvl="1">
              <a:buFontTx/>
              <a:buNone/>
            </a:pPr>
            <a:endParaRPr lang="en-US" altLang="en-US"/>
          </a:p>
        </p:txBody>
      </p:sp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32370606-0DE1-4C1D-BFB4-113DF144F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C3024DBB-EC89-4795-B9B4-837A80A8C4D9}" type="slidenum">
              <a:rPr lang="en-US" altLang="en-US" sz="12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1">
            <a:extLst>
              <a:ext uri="{FF2B5EF4-FFF2-40B4-BE49-F238E27FC236}">
                <a16:creationId xmlns:a16="http://schemas.microsoft.com/office/drawing/2014/main" id="{EC095414-4F28-4501-BA33-A0C227612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6400800" cy="642938"/>
          </a:xfrm>
        </p:spPr>
        <p:txBody>
          <a:bodyPr>
            <a:normAutofit fontScale="90000"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Recursive Descent Parsing</a:t>
            </a: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1F4FD521-3A2D-4021-B322-E91BEED2D4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7700" y="1158081"/>
            <a:ext cx="7848600" cy="4876800"/>
          </a:xfrm>
        </p:spPr>
        <p:txBody>
          <a:bodyPr/>
          <a:lstStyle/>
          <a:p>
            <a:pPr marL="341313" indent="-341313">
              <a:lnSpc>
                <a:spcPct val="90000"/>
              </a:lnSpc>
              <a:buFont typeface="Times New Roman" panose="02020603050405020304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For every BNF rule (production) of the form</a:t>
            </a:r>
            <a:br>
              <a:rPr lang="en-US" altLang="en-US" sz="2400" dirty="0"/>
            </a:br>
            <a:br>
              <a:rPr lang="en-US" altLang="en-US" sz="2400" dirty="0"/>
            </a:br>
            <a:r>
              <a:rPr lang="en-US" altLang="en-US" sz="2400" dirty="0"/>
              <a:t>	&lt;phrase1&gt; </a:t>
            </a:r>
            <a:r>
              <a:rPr lang="en-US" altLang="en-US" sz="2400" dirty="0">
                <a:latin typeface="Wingdings" panose="05000000000000000000" pitchFamily="2" charset="2"/>
              </a:rPr>
              <a:t></a:t>
            </a:r>
            <a:r>
              <a:rPr lang="en-US" altLang="en-US" sz="2400" dirty="0"/>
              <a:t> E</a:t>
            </a:r>
            <a:br>
              <a:rPr lang="en-US" altLang="en-US" sz="2400" dirty="0"/>
            </a:br>
            <a:br>
              <a:rPr lang="en-US" altLang="en-US" sz="2400" dirty="0"/>
            </a:br>
            <a:r>
              <a:rPr lang="en-US" altLang="en-US" sz="2400" dirty="0"/>
              <a:t>the parser defines a function to parse phrase1 whose body is to parse the rule E</a:t>
            </a:r>
            <a:br>
              <a:rPr lang="en-US" altLang="en-US" sz="2400" dirty="0"/>
            </a:br>
            <a:br>
              <a:rPr lang="en-US" altLang="en-US" sz="2400" dirty="0">
                <a:latin typeface="Bitstream Vera Sans Mono"/>
              </a:rPr>
            </a:br>
            <a:r>
              <a:rPr lang="en-US" altLang="en-US" sz="2400" dirty="0">
                <a:latin typeface="Bitstream Vera Sans Mono"/>
              </a:rPr>
              <a:t>	void compilePhrase1( )</a:t>
            </a:r>
            <a:br>
              <a:rPr lang="en-US" altLang="en-US" sz="2400" dirty="0">
                <a:latin typeface="Bitstream Vera Sans Mono"/>
              </a:rPr>
            </a:br>
            <a:r>
              <a:rPr lang="en-US" altLang="en-US" sz="2400" dirty="0">
                <a:latin typeface="Bitstream Vera Sans Mono"/>
              </a:rPr>
              <a:t>	{   /* parse the rule E */    }</a:t>
            </a:r>
            <a:br>
              <a:rPr lang="en-US" altLang="en-US" sz="2400" dirty="0"/>
            </a:br>
            <a:endParaRPr lang="en-US" altLang="en-US" sz="2400" dirty="0"/>
          </a:p>
          <a:p>
            <a:pPr marL="341313" indent="-341313">
              <a:lnSpc>
                <a:spcPct val="90000"/>
              </a:lnSpc>
              <a:buFont typeface="Times New Roman" panose="02020603050405020304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Where E consists of a sequence of non-terminal and terminal symbols	</a:t>
            </a:r>
          </a:p>
          <a:p>
            <a:pPr marL="341313" indent="-341313">
              <a:lnSpc>
                <a:spcPct val="90000"/>
              </a:lnSpc>
              <a:buFont typeface="Times New Roman" panose="02020603050405020304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/>
              <a:t>Requires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>
                <a:solidFill>
                  <a:srgbClr val="C5000B"/>
                </a:solidFill>
              </a:rPr>
              <a:t>no left recursion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/>
              <a:t>in the grammar.</a:t>
            </a:r>
          </a:p>
        </p:txBody>
      </p:sp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42DAEFF4-5635-41A8-A6BD-3462FFF8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5CE6C676-6DE9-4BCE-9DAE-EF57A7E1417A}" type="slidenum">
              <a:rPr lang="en-US" altLang="en-US" sz="12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29C42BF5-73AE-4DE2-9C8D-977E00CBA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1"/>
            <a:ext cx="7696200" cy="90963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Parsing a rule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407E0EED-497E-4281-85A6-7407522583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208088"/>
            <a:ext cx="8143875" cy="5367337"/>
          </a:xfrm>
        </p:spPr>
        <p:txBody>
          <a:bodyPr/>
          <a:lstStyle/>
          <a:p>
            <a:pPr marL="341313" indent="-341313">
              <a:buFont typeface="Times New Roman" panose="02020603050405020304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/>
              <a:t>A sequence of non-terminal and terminal symbols,</a:t>
            </a:r>
            <a:br>
              <a:rPr lang="en-US" altLang="en-US" sz="2000"/>
            </a:br>
            <a:r>
              <a:rPr lang="en-US" altLang="en-US" sz="2000"/>
              <a:t>	 Y</a:t>
            </a:r>
            <a:r>
              <a:rPr lang="en-US" altLang="en-US" sz="2000" baseline="-25000"/>
              <a:t>1</a:t>
            </a:r>
            <a:r>
              <a:rPr lang="en-US" altLang="en-US" sz="2000"/>
              <a:t> Y</a:t>
            </a:r>
            <a:r>
              <a:rPr lang="en-US" altLang="en-US" sz="2000" baseline="-25000"/>
              <a:t>2</a:t>
            </a:r>
            <a:r>
              <a:rPr lang="en-US" altLang="en-US" sz="2000"/>
              <a:t> Y</a:t>
            </a:r>
            <a:r>
              <a:rPr lang="en-US" altLang="en-US" sz="2000" baseline="-25000"/>
              <a:t>3</a:t>
            </a:r>
            <a:r>
              <a:rPr lang="en-US" altLang="en-US" sz="2000"/>
              <a:t> … Y</a:t>
            </a:r>
            <a:r>
              <a:rPr lang="en-US" altLang="en-US" sz="2000" baseline="-25000"/>
              <a:t>n </a:t>
            </a:r>
            <a:br>
              <a:rPr lang="en-US" altLang="en-US" sz="2000" baseline="-25000"/>
            </a:br>
            <a:r>
              <a:rPr lang="en-US" altLang="en-US" sz="2000"/>
              <a:t>is recognized by parsing each symbol in turn</a:t>
            </a:r>
          </a:p>
          <a:p>
            <a:pPr marL="341313" indent="-341313">
              <a:buFont typeface="Times New Roman" panose="02020603050405020304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/>
              <a:t>For each non-terminal symbol, Y, call the corresponding parse function </a:t>
            </a:r>
            <a:r>
              <a:rPr lang="en-US" altLang="en-US" sz="2000">
                <a:latin typeface="Bitstream Vera Sans Mono"/>
              </a:rPr>
              <a:t>compileY</a:t>
            </a:r>
          </a:p>
          <a:p>
            <a:pPr marL="341313" indent="-341313">
              <a:buFont typeface="Times New Roman" panose="02020603050405020304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/>
              <a:t>For each terminal symbol, y, call a function</a:t>
            </a:r>
            <a:br>
              <a:rPr lang="en-US" altLang="en-US" sz="2000"/>
            </a:br>
            <a:r>
              <a:rPr lang="en-US" altLang="en-US" sz="2000"/>
              <a:t>	eat</a:t>
            </a:r>
            <a:r>
              <a:rPr lang="en-US" altLang="en-US" sz="2000">
                <a:latin typeface="Bitstream Vera Sans Mono"/>
              </a:rPr>
              <a:t>(y)</a:t>
            </a:r>
            <a:br>
              <a:rPr lang="en-US" altLang="en-US" sz="2000"/>
            </a:br>
            <a:r>
              <a:rPr lang="en-US" altLang="en-US" sz="2000"/>
              <a:t>that will check if y is the next symbol in the source program</a:t>
            </a:r>
          </a:p>
          <a:p>
            <a:pPr marL="741363" lvl="1" indent="-284163">
              <a:buFont typeface="Times New Roman" panose="02020603050405020304" pitchFamily="18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/>
              <a:t>The terminal symbols are the token types from the lexical analyzer</a:t>
            </a:r>
          </a:p>
          <a:p>
            <a:pPr marL="741363" lvl="1" indent="-284163">
              <a:buFont typeface="Times New Roman" panose="02020603050405020304" pitchFamily="18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/>
              <a:t>If the variable currentsymbol always contains the next token:</a:t>
            </a:r>
          </a:p>
          <a:p>
            <a:pPr marL="741363" lvl="1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>
                <a:latin typeface="Bitstream Vera Sans Mono"/>
              </a:rPr>
              <a:t>    eat(y):</a:t>
            </a:r>
            <a:br>
              <a:rPr lang="en-US" altLang="en-US" sz="2000">
                <a:latin typeface="Bitstream Vera Sans Mono"/>
              </a:rPr>
            </a:br>
            <a:r>
              <a:rPr lang="en-US" altLang="en-US" sz="2000">
                <a:latin typeface="Bitstream Vera Sans Mono"/>
              </a:rPr>
              <a:t>         if (currentsymbol == y)</a:t>
            </a:r>
          </a:p>
          <a:p>
            <a:pPr marL="741363" lvl="1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>
                <a:latin typeface="Bitstream Vera Sans Mono"/>
              </a:rPr>
              <a:t>         then getNextToken()</a:t>
            </a:r>
          </a:p>
          <a:p>
            <a:pPr marL="741363" lvl="1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>
                <a:latin typeface="Bitstream Vera Sans Mono"/>
              </a:rPr>
              <a:t>         else SyntaxError()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">
            <a:extLst>
              <a:ext uri="{FF2B5EF4-FFF2-40B4-BE49-F238E27FC236}">
                <a16:creationId xmlns:a16="http://schemas.microsoft.com/office/drawing/2014/main" id="{D807AE2C-6DB7-46EC-93F9-C05E1371C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593725"/>
            <a:ext cx="7696200" cy="6429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dirty="0"/>
              <a:t>Simple parse function example</a:t>
            </a: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38885C29-430E-4C14-95F1-9D090EDF30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06354"/>
            <a:ext cx="7924800" cy="4876800"/>
          </a:xfrm>
        </p:spPr>
        <p:txBody>
          <a:bodyPr>
            <a:normAutofit lnSpcReduction="10000"/>
          </a:bodyPr>
          <a:lstStyle/>
          <a:p>
            <a:pPr marL="341313" indent="-341313"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/>
              <a:t>Suppose that there was a grammar rule</a:t>
            </a:r>
            <a:br>
              <a:rPr lang="en-US" sz="2400" dirty="0"/>
            </a:br>
            <a:r>
              <a:rPr lang="en-US" sz="2400" b="1" dirty="0" err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Prog</a:t>
            </a: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::= KW_PROGRAM </a:t>
            </a:r>
            <a:r>
              <a:rPr lang="en-US" sz="2400" b="1" dirty="0" err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Ident</a:t>
            </a: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SB_SEMICOLON Block SB_PERIOD</a:t>
            </a:r>
            <a:endParaRPr lang="en-US" sz="2400" dirty="0"/>
          </a:p>
          <a:p>
            <a:pPr marL="341313" indent="-341313"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/>
              <a:t>Then the function for par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compileProgram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(void)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eat(KW_PROGRAM);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eat(TK_IDENT);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eat(SB_SEMICOLON);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compileBlock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eat(SB_PERIOD);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372CFE0F-0686-46E3-8E97-8F0AA12B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DB24E8B-132C-4ADB-8FE7-758F80FD13C0}" type="slidenum">
              <a:rPr lang="en-US" altLang="en-US" sz="12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1">
            <a:extLst>
              <a:ext uri="{FF2B5EF4-FFF2-40B4-BE49-F238E27FC236}">
                <a16:creationId xmlns:a16="http://schemas.microsoft.com/office/drawing/2014/main" id="{BEDE6285-4425-40A2-9941-1940E0CC02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3900" y="136525"/>
            <a:ext cx="7696200" cy="642938"/>
          </a:xfrm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Look-Ahead</a:t>
            </a: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EFC72237-9F86-4E50-AEEA-B908AECC83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9220200" cy="5418138"/>
          </a:xfrm>
        </p:spPr>
        <p:txBody>
          <a:bodyPr>
            <a:normAutofit fontScale="92500" lnSpcReduction="20000"/>
          </a:bodyPr>
          <a:lstStyle/>
          <a:p>
            <a:pPr marL="341313" indent="-341313"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000" dirty="0"/>
              <a:t>In general, one non-terminal may have more than one production, so more than one function should be written to parse that non-terminal.</a:t>
            </a:r>
          </a:p>
          <a:p>
            <a:pPr marL="341313" indent="-341313">
              <a:buFont typeface="Times New Roman" pitchFamily="18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000" dirty="0"/>
              <a:t>Instead, we insist that we can decide which rule to parse just by looking ahead one symbol in the input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BasicType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::= KW_INTEGER | KW_CHAR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Then </a:t>
            </a:r>
            <a:r>
              <a:rPr lang="en-US" sz="2000" dirty="0" err="1"/>
              <a:t>compileBasicType</a:t>
            </a:r>
            <a:r>
              <a:rPr lang="en-US" sz="2000" dirty="0"/>
              <a:t> can have the form</a:t>
            </a:r>
            <a:br>
              <a:rPr lang="en-US" sz="2000" dirty="0"/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 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KW_INTEGER: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eat(KW_INTEGER);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KW_CHAR: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eat(KW_CHAR);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default: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error(ERR_INVALIDBASICTYPE,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lineNo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colNo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52D14F81-5968-4393-8F18-9BBBBEC3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20996F00-6561-471C-B748-05A8E73F33AB}" type="slidenum">
              <a:rPr lang="en-US" altLang="en-US" sz="12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8B71366-8801-4CFD-8448-FD661B6AC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991600" cy="1371600"/>
          </a:xfrm>
        </p:spPr>
        <p:txBody>
          <a:bodyPr/>
          <a:lstStyle/>
          <a:p>
            <a:pPr eaLnBrk="1" hangingPunct="1"/>
            <a:r>
              <a:rPr lang="en-US" altLang="en-US"/>
              <a:t>KPL Parser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080761D-93BB-42CF-9D27-FBF72D3368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229600" cy="3886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Can be built using BNF rules or syntax diagrams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Use syntax diagrams: consists of 13 functions, each function for a syntax diagram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Use BNF rules: consist of approximate 50 functions, each function for a variable (non-terminal symbol)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006B8E6-11BB-4C42-B477-F0CE76BC4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08513" y="457200"/>
            <a:ext cx="4343400" cy="1371600"/>
          </a:xfrm>
        </p:spPr>
        <p:txBody>
          <a:bodyPr/>
          <a:lstStyle/>
          <a:p>
            <a:pPr algn="ctr" eaLnBrk="1" hangingPunct="1"/>
            <a:r>
              <a:rPr lang="en-US" altLang="en-US" sz="4000"/>
              <a:t>Compile factor function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9E518A1-BB39-4F2D-B26A-EC7C6F194C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0213" y="609600"/>
            <a:ext cx="8229600" cy="2819400"/>
          </a:xfrm>
        </p:spPr>
        <p:txBody>
          <a:bodyPr>
            <a:normAutofit fontScale="250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//Follow rules of slide 19 unit 8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5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compileFactor</a:t>
            </a: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switch (</a:t>
            </a:r>
            <a:r>
              <a:rPr lang="en-US" altLang="en-US" sz="5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5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TK_NUMBER: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eat(TK_NUMBER);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TK_CHAR: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eat(TK_CHAR);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TK_IDENT: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eat(TK_IDENT);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switch (</a:t>
            </a:r>
            <a:r>
              <a:rPr lang="en-US" altLang="en-US" sz="5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5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case SB_LSEL: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5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compileIndexes</a:t>
            </a: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case SB_LPAR: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5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compileArguments</a:t>
            </a: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default: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388" name="TextBox 1">
            <a:extLst>
              <a:ext uri="{FF2B5EF4-FFF2-40B4-BE49-F238E27FC236}">
                <a16:creationId xmlns:a16="http://schemas.microsoft.com/office/drawing/2014/main" id="{26C2AE49-4C41-45F2-9E3D-97390F44B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388" y="2362200"/>
            <a:ext cx="44196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case SB_LPAR: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eat(SB_LPAR);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compileExpression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eat(SB_RPAR);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default: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error(ERR_INVALIDFACTOR, </a:t>
            </a:r>
            <a:r>
              <a:rPr lang="en-GB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lineNo</a:t>
            </a: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alt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colNo</a:t>
            </a:r>
            <a:r>
              <a:rPr lang="en-GB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12E3A5FD-81D7-4176-B3AA-C1AE866F7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BNF </a:t>
            </a:r>
            <a:r>
              <a:rPr lang="en-US" altLang="en-US" sz="4000" dirty="0">
                <a:solidFill>
                  <a:srgbClr val="000000"/>
                </a:solidFill>
              </a:rPr>
              <a:t>Rules for term</a:t>
            </a:r>
            <a:endParaRPr lang="en-GB" altLang="en-US" sz="4000" dirty="0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64C6F319-700F-4370-9D14-A48C288E70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9916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82) Term ::= Factor Term2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83) Term2 ::= SB_TIMES Factor Term2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Courier New" panose="02070309020205020404" pitchFamily="49" charset="0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84) Term2 ::= SB_SLASH Factor Term2</a:t>
            </a:r>
          </a:p>
          <a:p>
            <a:pPr eaLnBrk="1" hangingPunct="1">
              <a:lnSpc>
                <a:spcPct val="80000"/>
              </a:lnSpc>
              <a:spcBef>
                <a:spcPts val="350"/>
              </a:spcBef>
              <a:buClr>
                <a:srgbClr val="CCCC99"/>
              </a:buClr>
              <a:buSzPct val="70000"/>
              <a:buFont typeface="Arial" panose="020B0604020202020204" pitchFamily="34" charset="0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85) Term2 ::= </a:t>
            </a:r>
            <a:r>
              <a:rPr lang="en-US" altLang="en-US" b="1" dirty="0">
                <a:solidFill>
                  <a:srgbClr val="0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</a:t>
            </a:r>
          </a:p>
          <a:p>
            <a:endParaRPr lang="en-GB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FB014FC-6287-44F3-B119-734FB4C939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89560"/>
            <a:ext cx="4724400" cy="1371600"/>
          </a:xfrm>
        </p:spPr>
        <p:txBody>
          <a:bodyPr/>
          <a:lstStyle/>
          <a:p>
            <a:r>
              <a:rPr lang="en-US" altLang="en-US" sz="3600" dirty="0" err="1"/>
              <a:t>compileTerm</a:t>
            </a:r>
            <a:r>
              <a:rPr lang="en-US" altLang="en-US" sz="3600" dirty="0"/>
              <a:t> and </a:t>
            </a:r>
            <a:br>
              <a:rPr lang="en-US" altLang="en-US" sz="3600" dirty="0"/>
            </a:br>
            <a:r>
              <a:rPr lang="en-US" altLang="en-US" sz="3600" dirty="0"/>
              <a:t>compileTerm2 functions</a:t>
            </a:r>
            <a:endParaRPr lang="en-GB" altLang="en-US" sz="3600" dirty="0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4B4AA21D-41D1-4A9E-BB36-BDF652CF33E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81000" y="1802130"/>
            <a:ext cx="4038600" cy="4724400"/>
          </a:xfrm>
        </p:spPr>
        <p:txBody>
          <a:bodyPr>
            <a:normAutofit fontScale="625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compileTerm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compileFactor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compileTerm2();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compileTerm2(void)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switch (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SB_TIMES: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eat(SB_TIMES);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compileFactor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compileTerm2();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SB_SLASH: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eat(SB_SLASH);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compileFactor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compileTerm2();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</p:txBody>
      </p:sp>
      <p:sp>
        <p:nvSpPr>
          <p:cNvPr id="18436" name="Content Placeholder 3">
            <a:extLst>
              <a:ext uri="{FF2B5EF4-FFF2-40B4-BE49-F238E27FC236}">
                <a16:creationId xmlns:a16="http://schemas.microsoft.com/office/drawing/2014/main" id="{643AD447-2B82-4C20-A291-5449E56411C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648200" y="381000"/>
            <a:ext cx="4038600" cy="5867400"/>
          </a:xfrm>
        </p:spPr>
        <p:txBody>
          <a:bodyPr>
            <a:normAutofit fontScale="625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000" dirty="0"/>
              <a:t>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check the FOLLOW set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SB_PLUS: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SB_MINUS: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KW_TO: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KW_DO: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SB_RPAR: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SB_COMMA: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SB_EQ: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SB_NEQ: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SB_LE: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SB_LT: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SB_GE: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SB_GT: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SB_RSEL: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SB_SEMICOLON: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KW_END: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KW_ELSE: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KW_THEN: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default: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error(ERR_INVALIDTERM, </a:t>
            </a:r>
            <a:r>
              <a:rPr lang="en-GB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lineNo</a:t>
            </a:r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colNo</a:t>
            </a:r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BDC98DF-6E5D-436F-AE30-71A46A759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153400" cy="762000"/>
          </a:xfrm>
        </p:spPr>
        <p:txBody>
          <a:bodyPr/>
          <a:lstStyle/>
          <a:p>
            <a:pPr algn="ctr" eaLnBrk="1" hangingPunct="1"/>
            <a:r>
              <a:rPr lang="en-US" altLang="en-US" sz="4000"/>
              <a:t>CompileTerm function (Use SD)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9F3EA1D-5605-4358-91F3-30BBFD907E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6629400" cy="2895600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8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compileTerm</a:t>
            </a: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8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8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compileFactor</a:t>
            </a: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while(</a:t>
            </a:r>
            <a:r>
              <a:rPr lang="en-US" sz="8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8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== SB_TIMES || </a:t>
            </a:r>
            <a:r>
              <a:rPr lang="en-US" sz="8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8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SB_SLASH)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{switch (</a:t>
            </a:r>
            <a:r>
              <a:rPr lang="en-US" sz="8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8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SB_TIMES: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eat(SB_TIMES);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compileFactor</a:t>
            </a: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SB_SLASH: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eat(SB_SLASH);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8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8000" dirty="0"/>
              <a:t>}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8000" dirty="0"/>
              <a:t>}</a:t>
            </a:r>
            <a:endParaRPr lang="en-US" sz="2000" dirty="0"/>
          </a:p>
        </p:txBody>
      </p:sp>
      <p:pic>
        <p:nvPicPr>
          <p:cNvPr id="19460" name="Picture 5">
            <a:extLst>
              <a:ext uri="{FF2B5EF4-FFF2-40B4-BE49-F238E27FC236}">
                <a16:creationId xmlns:a16="http://schemas.microsoft.com/office/drawing/2014/main" id="{53FD0E34-57B6-496D-A357-BDDB79402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629150"/>
            <a:ext cx="45339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80EE5EE-EF2A-4F6F-96BC-7D78229C8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5200"/>
              <a:t>Statement</a:t>
            </a:r>
          </a:p>
        </p:txBody>
      </p:sp>
      <p:sp>
        <p:nvSpPr>
          <p:cNvPr id="20483" name="TextBox 1">
            <a:extLst>
              <a:ext uri="{FF2B5EF4-FFF2-40B4-BE49-F238E27FC236}">
                <a16:creationId xmlns:a16="http://schemas.microsoft.com/office/drawing/2014/main" id="{29510805-A48A-4322-BCA6-D925ED333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828800"/>
            <a:ext cx="6129337" cy="296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49) Statement ::= 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AssignSt</a:t>
            </a:r>
            <a:endParaRPr lang="en-US" altLang="en-US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50) Statement ::= 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CallSt</a:t>
            </a:r>
            <a:endParaRPr lang="en-US" altLang="en-US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51) Statement ::= 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GroupSt</a:t>
            </a:r>
            <a:endParaRPr lang="en-US" altLang="en-US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52) Statement ::= 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IfSt</a:t>
            </a:r>
            <a:endParaRPr lang="en-US" altLang="en-US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53) Statement ::= 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WhileSt</a:t>
            </a:r>
            <a:endParaRPr lang="en-US" altLang="en-US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54) Statement ::= 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ForSt</a:t>
            </a:r>
            <a:endParaRPr lang="en-US" altLang="en-US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CC99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55) Statement ::= </a:t>
            </a:r>
            <a:r>
              <a:rPr lang="en-US" altLang="en-US" sz="1800" b="1" dirty="0">
                <a:solidFill>
                  <a:srgbClr val="000000"/>
                </a:solidFill>
                <a:latin typeface="Symbol" panose="05050102010706020507" pitchFamily="18" charset="2"/>
              </a:rPr>
              <a:t></a:t>
            </a:r>
            <a:endParaRPr lang="en-US" altLang="en-US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29F39F4-E2E5-4584-8B84-5628232BC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930" y="152400"/>
            <a:ext cx="8229600" cy="60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err="1"/>
              <a:t>compileStatement</a:t>
            </a:r>
            <a:r>
              <a:rPr lang="en-US" altLang="en-US" sz="3600" dirty="0"/>
              <a:t> function (using BNF)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C6F5984-77CA-4C6E-962A-07B0D4EA4CD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1930" y="838200"/>
            <a:ext cx="4038600" cy="3886200"/>
          </a:xfrm>
        </p:spPr>
        <p:txBody>
          <a:bodyPr>
            <a:normAutofit fontScale="250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compileStatement</a:t>
            </a: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switch (</a:t>
            </a:r>
            <a:r>
              <a:rPr lang="en-US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TK_IDENT: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compileAssignSt</a:t>
            </a: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KW_CALL: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compileCallSt</a:t>
            </a: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KW_BEGIN: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compileGroupSt</a:t>
            </a: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KW_IF: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compileIfSt</a:t>
            </a: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KW_WHILE: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compileWhileSt</a:t>
            </a: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KW_FOR: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compileForSt</a:t>
            </a: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CC63B8A0-6461-4D1D-AD02-888558213E4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3810000" y="838200"/>
            <a:ext cx="4724400" cy="3657600"/>
          </a:xfrm>
        </p:spPr>
        <p:txBody>
          <a:bodyPr>
            <a:normAutofit fontScale="250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GB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// </a:t>
            </a:r>
            <a:r>
              <a:rPr lang="en-GB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EmptySt</a:t>
            </a:r>
            <a:r>
              <a:rPr lang="en-GB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needs to check FOLLOW tokens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case SB_SEMICOLON: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KW_END: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KW_ELSE: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Error occurs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default: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error(ERR_INVALIDSTATEMENT, </a:t>
            </a:r>
            <a:r>
              <a:rPr lang="en-GB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GB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lineNo</a:t>
            </a:r>
            <a:r>
              <a:rPr lang="en-GB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GB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altLang="en-US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colNo</a:t>
            </a:r>
            <a:r>
              <a:rPr lang="en-GB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AE9DC4CD-79BB-4833-B80A-8F9F70FDA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Syntax diagram for statement</a:t>
            </a:r>
            <a:endParaRPr lang="en-GB" altLang="en-US"/>
          </a:p>
        </p:txBody>
      </p:sp>
      <p:pic>
        <p:nvPicPr>
          <p:cNvPr id="22531" name="Picture 4">
            <a:extLst>
              <a:ext uri="{FF2B5EF4-FFF2-40B4-BE49-F238E27FC236}">
                <a16:creationId xmlns:a16="http://schemas.microsoft.com/office/drawing/2014/main" id="{63E788C4-42A9-4B52-B2AA-E43A43EF0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5" t="27849" r="22824" b="27118"/>
          <a:stretch>
            <a:fillRect/>
          </a:stretch>
        </p:blipFill>
        <p:spPr bwMode="auto">
          <a:xfrm>
            <a:off x="914400" y="1458279"/>
            <a:ext cx="6858000" cy="445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40FE127-3F38-4B8E-9062-00CAEFE912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83820"/>
            <a:ext cx="83820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dirty="0" err="1"/>
              <a:t>compileStatement</a:t>
            </a:r>
            <a:r>
              <a:rPr lang="en-US" altLang="en-US" sz="3600" dirty="0"/>
              <a:t> function (using SD)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FB2FC8D-369B-4F0F-B1B1-07DF3B6C258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0" y="647700"/>
            <a:ext cx="4777740" cy="3810000"/>
          </a:xfrm>
        </p:spPr>
        <p:txBody>
          <a:bodyPr>
            <a:normAutofit fontScale="250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compileStatement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switch (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TK_IDENT: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eat(TK_IDENT);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while (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==SB_LSEL)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{eat(SB_LSEL);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compileExpression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eat(SB_RSEL);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eat(SB_ASSIGN);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compileExpression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4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KW_CALL: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eat(KW_CALL);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eat(TK_IDENT);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== SB_LPAR)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eat(SB_LPAR);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compileExpression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tokenType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== SB_COMMA)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{eat (SB_COMMA);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compileExpression</a:t>
            </a: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eat(SB_RPAR);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Check FOLLOW set …………….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break;</a:t>
            </a:r>
            <a:endParaRPr lang="en-US" altLang="en-US" sz="4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7B2C414D-FE5D-40FF-982A-455ACFDA8D7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038600" y="617220"/>
            <a:ext cx="5029200" cy="3992880"/>
          </a:xfrm>
        </p:spPr>
        <p:txBody>
          <a:bodyPr>
            <a:normAutofit fontScale="250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GB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4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KW_BEGIN:……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4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KW_IF:……..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4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KW_WHILE:………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4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 KW_FOR:……….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altLang="en-US" sz="4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altLang="en-US" sz="4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EmptySt</a:t>
            </a:r>
            <a:r>
              <a:rPr lang="en-GB" altLang="en-US" sz="4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needs to check FOLLOW tokens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SB_SEMICOLON: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KW_END: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case KW_ELSE: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Error occurs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default: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error(ERR_INVALIDSTATEMENT, </a:t>
            </a:r>
            <a:r>
              <a:rPr lang="en-GB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GB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lineNo</a:t>
            </a:r>
            <a:r>
              <a:rPr lang="en-GB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lookAhead</a:t>
            </a:r>
            <a:r>
              <a:rPr lang="en-GB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altLang="en-US" sz="4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colNo</a:t>
            </a:r>
            <a:r>
              <a:rPr lang="en-GB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5865</TotalTime>
  <Words>1479</Words>
  <Application>Microsoft Office PowerPoint</Application>
  <PresentationFormat>On-screen Show (4:3)</PresentationFormat>
  <Paragraphs>245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Wingdings</vt:lpstr>
      <vt:lpstr>Arial Black</vt:lpstr>
      <vt:lpstr>Times New Roman</vt:lpstr>
      <vt:lpstr>Bitstream Vera Sans Mono</vt:lpstr>
      <vt:lpstr>Courier New</vt:lpstr>
      <vt:lpstr>Symbol</vt:lpstr>
      <vt:lpstr>SoICT-PPT-template-hoi-thao-online</vt:lpstr>
      <vt:lpstr>Unit 9.  Recursive descent parsing</vt:lpstr>
      <vt:lpstr>Characteristics</vt:lpstr>
      <vt:lpstr>Recursive-descent parsing</vt:lpstr>
      <vt:lpstr>Recursive Descent Parsing</vt:lpstr>
      <vt:lpstr>Parsing a rule</vt:lpstr>
      <vt:lpstr>Simple parse function example</vt:lpstr>
      <vt:lpstr>Look-Ahead</vt:lpstr>
      <vt:lpstr>KPL Parser</vt:lpstr>
      <vt:lpstr>Compile factor function</vt:lpstr>
      <vt:lpstr>BNF Rules for term</vt:lpstr>
      <vt:lpstr>compileTerm and  compileTerm2 functions</vt:lpstr>
      <vt:lpstr>CompileTerm function (Use SD)</vt:lpstr>
      <vt:lpstr>Statement</vt:lpstr>
      <vt:lpstr>compileStatement function (using BNF)</vt:lpstr>
      <vt:lpstr>Syntax diagram for statement</vt:lpstr>
      <vt:lpstr>compileStatement function (using SD)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262</cp:revision>
  <dcterms:created xsi:type="dcterms:W3CDTF">2008-08-10T02:45:21Z</dcterms:created>
  <dcterms:modified xsi:type="dcterms:W3CDTF">2021-01-19T16:07:09Z</dcterms:modified>
</cp:coreProperties>
</file>