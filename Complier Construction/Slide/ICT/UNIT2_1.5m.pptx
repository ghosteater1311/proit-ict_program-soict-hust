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5" r:id="rId1"/>
  </p:sldMasterIdLst>
  <p:notesMasterIdLst>
    <p:notesMasterId r:id="rId25"/>
  </p:notesMasterIdLst>
  <p:sldIdLst>
    <p:sldId id="355" r:id="rId2"/>
    <p:sldId id="358" r:id="rId3"/>
    <p:sldId id="359" r:id="rId4"/>
    <p:sldId id="261" r:id="rId5"/>
    <p:sldId id="360" r:id="rId6"/>
    <p:sldId id="354" r:id="rId7"/>
    <p:sldId id="378" r:id="rId8"/>
    <p:sldId id="379" r:id="rId9"/>
    <p:sldId id="362" r:id="rId10"/>
    <p:sldId id="363" r:id="rId11"/>
    <p:sldId id="365" r:id="rId12"/>
    <p:sldId id="364" r:id="rId13"/>
    <p:sldId id="366" r:id="rId14"/>
    <p:sldId id="367" r:id="rId15"/>
    <p:sldId id="368" r:id="rId16"/>
    <p:sldId id="369" r:id="rId17"/>
    <p:sldId id="370" r:id="rId18"/>
    <p:sldId id="371" r:id="rId19"/>
    <p:sldId id="372" r:id="rId20"/>
    <p:sldId id="373" r:id="rId21"/>
    <p:sldId id="375" r:id="rId22"/>
    <p:sldId id="376" r:id="rId23"/>
    <p:sldId id="377" r:id="rId24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86" autoAdjust="0"/>
    <p:restoredTop sz="91815" autoAdjust="0"/>
  </p:normalViewPr>
  <p:slideViewPr>
    <p:cSldViewPr>
      <p:cViewPr varScale="1">
        <p:scale>
          <a:sx n="48" d="100"/>
          <a:sy n="48" d="100"/>
        </p:scale>
        <p:origin x="1104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04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60E137C-6EBA-408F-AAF8-B340C66BDD6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8F447C7B-266F-4A19-89B7-B37BE3F9265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B1E6144D-F431-494C-81EC-F429D38A0A76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1636D6ED-6C39-449D-A2C7-4D234B55258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04DC6579-4020-412F-A0E2-99FB6AE379C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546D6B90-C15D-4B20-AF1D-278B443A53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3FD10EB-32C2-473F-9D55-DD81CF72B57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6EE8DE52-1E98-4C6F-9D69-41A8363B69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AB9605B5-8675-4ECA-9D8B-D80394905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en-US">
                <a:latin typeface="Arial" panose="020B0604020202020204" pitchFamily="34" charset="0"/>
              </a:rPr>
              <a:t>Parse tree show the concrete syntax (how tokens are grouped together)</a:t>
            </a:r>
          </a:p>
          <a:p>
            <a:r>
              <a:rPr lang="en-GB" altLang="en-US">
                <a:latin typeface="Arial" panose="020B0604020202020204" pitchFamily="34" charset="0"/>
              </a:rPr>
              <a:t>the tree initially constructed by the parser</a:t>
            </a:r>
          </a:p>
          <a:p>
            <a:r>
              <a:rPr lang="en-GB" altLang="en-US">
                <a:latin typeface="Arial" panose="020B0604020202020204" pitchFamily="34" charset="0"/>
              </a:rPr>
              <a:t>Abstract tree show the semantically significant structure</a:t>
            </a:r>
          </a:p>
          <a:p>
            <a:r>
              <a:rPr lang="en-GB" altLang="en-US">
                <a:latin typeface="Arial" panose="020B0604020202020204" pitchFamily="34" charset="0"/>
              </a:rPr>
              <a:t>the tree returned by the parser and manipulated by type checker</a:t>
            </a:r>
          </a:p>
          <a:p>
            <a:r>
              <a:rPr lang="en-GB" altLang="en-US" b="1">
                <a:latin typeface="Arial" panose="020B0604020202020204" pitchFamily="34" charset="0"/>
              </a:rPr>
              <a:t>The structure of trees</a:t>
            </a:r>
          </a:p>
          <a:p>
            <a:r>
              <a:rPr lang="en-GB" altLang="en-US">
                <a:latin typeface="Arial" panose="020B0604020202020204" pitchFamily="34" charset="0"/>
              </a:rPr>
              <a:t>Parse tree:</a:t>
            </a:r>
          </a:p>
          <a:p>
            <a:r>
              <a:rPr lang="en-GB" altLang="en-US">
                <a:latin typeface="Arial" panose="020B0604020202020204" pitchFamily="34" charset="0"/>
              </a:rPr>
              <a:t>nodes: </a:t>
            </a:r>
            <a:r>
              <a:rPr lang="en-GB" altLang="en-US" b="1">
                <a:latin typeface="Arial" panose="020B0604020202020204" pitchFamily="34" charset="0"/>
              </a:rPr>
              <a:t>nonterminals</a:t>
            </a:r>
            <a:r>
              <a:rPr lang="en-GB" altLang="en-US">
                <a:latin typeface="Arial" panose="020B0604020202020204" pitchFamily="34" charset="0"/>
              </a:rPr>
              <a:t> (= </a:t>
            </a:r>
            <a:r>
              <a:rPr lang="en-GB" altLang="en-US" b="1">
                <a:latin typeface="Arial" panose="020B0604020202020204" pitchFamily="34" charset="0"/>
              </a:rPr>
              <a:t>syntactic categories</a:t>
            </a:r>
            <a:r>
              <a:rPr lang="en-GB" altLang="en-US">
                <a:latin typeface="Arial" panose="020B0604020202020204" pitchFamily="34" charset="0"/>
              </a:rPr>
              <a:t>)</a:t>
            </a:r>
          </a:p>
          <a:p>
            <a:r>
              <a:rPr lang="en-GB" altLang="en-US">
                <a:latin typeface="Arial" panose="020B0604020202020204" pitchFamily="34" charset="0"/>
              </a:rPr>
              <a:t>leaves: </a:t>
            </a:r>
            <a:r>
              <a:rPr lang="en-GB" altLang="en-US" b="1">
                <a:latin typeface="Arial" panose="020B0604020202020204" pitchFamily="34" charset="0"/>
              </a:rPr>
              <a:t>terminals</a:t>
            </a:r>
            <a:r>
              <a:rPr lang="en-GB" altLang="en-US">
                <a:latin typeface="Arial" panose="020B0604020202020204" pitchFamily="34" charset="0"/>
              </a:rPr>
              <a:t> (= </a:t>
            </a:r>
            <a:r>
              <a:rPr lang="en-GB" altLang="en-US" b="1">
                <a:latin typeface="Arial" panose="020B0604020202020204" pitchFamily="34" charset="0"/>
              </a:rPr>
              <a:t>tokens</a:t>
            </a:r>
            <a:r>
              <a:rPr lang="en-GB" altLang="en-US">
                <a:latin typeface="Arial" panose="020B0604020202020204" pitchFamily="34" charset="0"/>
              </a:rPr>
              <a:t>)</a:t>
            </a:r>
          </a:p>
          <a:p>
            <a:r>
              <a:rPr lang="en-GB" altLang="en-US">
                <a:latin typeface="Arial" panose="020B0604020202020204" pitchFamily="34" charset="0"/>
              </a:rPr>
              <a:t>Abstract tree:</a:t>
            </a:r>
          </a:p>
          <a:p>
            <a:r>
              <a:rPr lang="en-GB" altLang="en-US">
                <a:latin typeface="Arial" panose="020B0604020202020204" pitchFamily="34" charset="0"/>
              </a:rPr>
              <a:t>nodes: </a:t>
            </a:r>
            <a:r>
              <a:rPr lang="en-GB" altLang="en-US" b="1">
                <a:latin typeface="Arial" panose="020B0604020202020204" pitchFamily="34" charset="0"/>
              </a:rPr>
              <a:t>constructor functions</a:t>
            </a:r>
            <a:endParaRPr lang="en-GB" altLang="en-US">
              <a:latin typeface="Arial" panose="020B0604020202020204" pitchFamily="34" charset="0"/>
            </a:endParaRPr>
          </a:p>
          <a:p>
            <a:r>
              <a:rPr lang="en-GB" altLang="en-US">
                <a:latin typeface="Arial" panose="020B0604020202020204" pitchFamily="34" charset="0"/>
              </a:rPr>
              <a:t>leaves: atoms (= zero-place constructor functions)</a:t>
            </a:r>
          </a:p>
          <a:p>
            <a:r>
              <a:rPr lang="en-GB" altLang="en-US" b="1">
                <a:latin typeface="Arial" panose="020B0604020202020204" pitchFamily="34" charset="0"/>
              </a:rPr>
              <a:t>The definition and construction of trees</a:t>
            </a:r>
          </a:p>
          <a:p>
            <a:r>
              <a:rPr lang="en-GB" altLang="en-US">
                <a:latin typeface="Arial" panose="020B0604020202020204" pitchFamily="34" charset="0"/>
              </a:rPr>
              <a:t>Parse trees are defined by </a:t>
            </a:r>
            <a:r>
              <a:rPr lang="en-GB" altLang="en-US" b="1">
                <a:latin typeface="Arial" panose="020B0604020202020204" pitchFamily="34" charset="0"/>
              </a:rPr>
              <a:t>context-free grammars</a:t>
            </a:r>
            <a:endParaRPr lang="en-GB" altLang="en-US">
              <a:latin typeface="Arial" panose="020B0604020202020204" pitchFamily="34" charset="0"/>
            </a:endParaRPr>
          </a:p>
          <a:p>
            <a:r>
              <a:rPr lang="en-GB" altLang="en-US">
                <a:latin typeface="Arial" panose="020B0604020202020204" pitchFamily="34" charset="0"/>
              </a:rPr>
              <a:t>Exp ::= Exp "+" Exp ; Exp ::= "2" ; Exp ::= "3" ; </a:t>
            </a:r>
          </a:p>
          <a:p>
            <a:r>
              <a:rPr lang="en-GB" altLang="en-US">
                <a:latin typeface="Arial" panose="020B0604020202020204" pitchFamily="34" charset="0"/>
              </a:rPr>
              <a:t>Abstract trees are defined by </a:t>
            </a:r>
            <a:r>
              <a:rPr lang="en-GB" altLang="en-US" b="1">
                <a:latin typeface="Arial" panose="020B0604020202020204" pitchFamily="34" charset="0"/>
              </a:rPr>
              <a:t>constructor type signatures</a:t>
            </a:r>
            <a:endParaRPr lang="en-GB" altLang="en-US">
              <a:latin typeface="Arial" panose="020B0604020202020204" pitchFamily="34" charset="0"/>
            </a:endParaRPr>
          </a:p>
          <a:p>
            <a:r>
              <a:rPr lang="en-GB" altLang="en-US">
                <a:latin typeface="Arial" panose="020B0604020202020204" pitchFamily="34" charset="0"/>
              </a:rPr>
              <a:t>plus : (Exp, Exp) -&gt; Exp 2 : Exp 3 : Exp </a:t>
            </a:r>
          </a:p>
          <a:p>
            <a:r>
              <a:rPr lang="en-GB" altLang="en-US" b="1">
                <a:latin typeface="Arial" panose="020B0604020202020204" pitchFamily="34" charset="0"/>
              </a:rPr>
              <a:t>From concrete to abstract syntax</a:t>
            </a:r>
          </a:p>
          <a:p>
            <a:r>
              <a:rPr lang="en-GB" altLang="en-US">
                <a:latin typeface="Arial" panose="020B0604020202020204" pitchFamily="34" charset="0"/>
              </a:rPr>
              <a:t>1. Give a name (= label) to each rule:</a:t>
            </a:r>
          </a:p>
          <a:p>
            <a:r>
              <a:rPr lang="en-GB" altLang="en-US">
                <a:latin typeface="Arial" panose="020B0604020202020204" pitchFamily="34" charset="0"/>
              </a:rPr>
              <a:t>Exp ::= Exp "+" Exp ==&gt; plus. Exp ::= Exp "+" Exp </a:t>
            </a:r>
          </a:p>
          <a:p>
            <a:r>
              <a:rPr lang="en-GB" altLang="en-US">
                <a:latin typeface="Arial" panose="020B0604020202020204" pitchFamily="34" charset="0"/>
              </a:rPr>
              <a:t>2. Ignore terminals (= tokens, in quotes):</a:t>
            </a:r>
          </a:p>
          <a:p>
            <a:r>
              <a:rPr lang="en-GB" altLang="en-US">
                <a:latin typeface="Arial" panose="020B0604020202020204" pitchFamily="34" charset="0"/>
              </a:rPr>
              <a:t>plus .Exp ::= Exp "+" Exp ==&gt; plus. Exp ::= Exp Exp </a:t>
            </a:r>
          </a:p>
          <a:p>
            <a:r>
              <a:rPr lang="en-GB" altLang="en-US">
                <a:latin typeface="Arial" panose="020B0604020202020204" pitchFamily="34" charset="0"/>
              </a:rPr>
              <a:t>3. Treat label as constructor name, LHS (left-hand-side) as value type, RHS as argument types:</a:t>
            </a:r>
          </a:p>
          <a:p>
            <a:r>
              <a:rPr lang="en-GB" altLang="en-US">
                <a:latin typeface="Arial" panose="020B0604020202020204" pitchFamily="34" charset="0"/>
              </a:rPr>
              <a:t>plus. Exp ::= Exp Exp ==&gt; plus : (Exp, Exp) -&gt; Exp</a:t>
            </a:r>
          </a:p>
          <a:p>
            <a:endParaRPr lang="en-GB" altLang="en-US">
              <a:latin typeface="Arial" panose="020B0604020202020204" pitchFamily="34" charset="0"/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89C344FB-12D4-4385-A102-850D7DEC8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5CC3D3C-EA10-4E65-9D77-9978B7089AF5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0BD0E3FE-B181-4E67-842F-604FA99A35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F31B9049-B4F8-4E13-8400-46986368FB3C}" type="slidenum">
              <a:rPr lang="en-US" altLang="en-US" smtClean="0">
                <a:latin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EADB98-2BFE-4701-8A4B-12BEBE6678D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1144588" y="687388"/>
            <a:ext cx="4568825" cy="3427412"/>
          </a:xfrm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CBFA919E-7EC2-42E0-A342-257553F25D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5F960-14AE-4E77-B3CC-4AE2B1D47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DEA90-0502-4FF3-86E9-B860AD3D8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164E8-4133-4D9B-AA35-F3324A2C2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F1137858-BF86-4CE5-A283-AA961491F7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8550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6842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3851"/>
            <a:ext cx="7886700" cy="44831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BD6FC-B8DD-4082-A3D0-6591339C4B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57950" y="6142038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927DD8D-1CFE-4450-AEAE-4F0EDB522D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372350" y="6413500"/>
            <a:ext cx="11430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A8DDE3-3D66-48FD-99B3-FAA635481C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1011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23966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3227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0226B-5914-463A-9764-D0F94D5C7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7E5C2-4197-4843-8CCF-6C473F9A8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057CB-ACD1-48CD-9BBF-35D512367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32DD6A-1EC0-45A8-9E28-54AFBF93BA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81530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5AD7C28-88E3-4A02-8ABE-B01F7E6B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2178A58-B9B5-4AB1-9517-0D770C25A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06E1917-DF90-4EBD-80C8-0D6775F8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765F4-3AE8-4E08-9825-2ADBF7C1CF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0496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24B9DDC-F205-42AD-9902-FD50D5939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99A70FB-7E4D-4C8C-9C9A-474A6A23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45C51E6-D572-4CF6-8DA1-067088FF7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1E09A-5CC5-47D7-A925-5A2343F4DB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23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E12E32AE-2258-4327-9427-12D653C7C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61D5224-720C-4183-BE00-1C1BCAB99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4954C5F-3E57-49DE-908A-7144406A3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702A04-4411-44A1-93DB-076C9939C23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8161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00" y="1781176"/>
            <a:ext cx="2711450" cy="4244974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9854A0-CEC1-45DB-BF73-07B17520A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B13098-E45E-44AE-82D9-02AF76271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1EA74B-FD2A-48FC-A847-4451964FF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5DEC2E-5717-4470-A54B-0736BAE5BA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111786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97DDD8-F534-475F-A63B-5A9C639CBC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56B750-DBF1-4EFC-814A-33042515B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6DD76-66F3-4F9F-9AC3-137D531C8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6276A2-6E24-4A9D-AE6A-EF7A7F24C5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2521369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B0791A6-B22A-4F87-8F93-91430D2BD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7F96661-2202-4902-B8C1-B09103A7E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8FD56A3-CCA8-425B-AA27-D32C50D4D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4962E2-DB47-4423-A7C6-1C43B03E1F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7593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1329DAA-6E7B-4722-9B13-F037C3C1B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71E8A9-F2C1-4B77-AD29-163848964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7E36D-FA4E-495E-8B05-7422A9B07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1DE51-1208-423A-8932-0675A87A768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577911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2971E3-6592-4719-9F14-2FCBF41BC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407DBD-FBA6-472A-8375-FDD2CEB93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B8480B-2133-466A-8A0E-47D049536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E367CED-F460-4F11-987D-2F0E053BB0F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3690753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A8AE0F6-7574-4DD2-9981-79B8C6259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ED2B4C0-6D02-40FA-B8A6-4325F7B40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CDEBD0D-F25D-4CE8-A60B-E288A0412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F1DA57-312F-443C-B187-1CED681769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24973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CN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46493656-A865-404E-A2DA-713A7F0A3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F2F4554-2B6C-4E73-A8B3-00A805143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06521FE-C0BE-4058-BD6A-49BCBE91B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78AC9C-D833-45D0-8E49-DA00ECEFBB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07026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8EE2B-FD92-4DD5-977E-46E6534D6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3B783-8774-4263-819E-ED10597C4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958B8-4F8E-49DB-81D6-FC5CD4FF9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A63C94-11F7-4CF4-BDBB-3969EA97F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18747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394D9-E1D5-4678-94BE-2A52F79C5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6B313-D19A-43C8-B5DE-CC8FB3D82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DE0213-8CFC-4A90-90D1-43D1E725C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00BF0C-74DA-41AE-A18E-F2C9A163CA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94359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7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04C82F4-9DBD-4EE9-AAF6-321FE10965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5557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  <a:endParaRPr lang="en-US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30BC0CF9-0874-428B-A06D-7404676879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625600"/>
            <a:ext cx="7886700" cy="446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311AA4-7B88-43BE-892E-11F904678F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97750" y="6121400"/>
            <a:ext cx="1117600" cy="276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9D6FE-E41B-4EFD-8CDC-EB9AE0E5E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7850" y="6432550"/>
            <a:ext cx="300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7710F-4946-46BF-B330-9BF984F8A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397750" y="6432550"/>
            <a:ext cx="1117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F9A138F-6028-4831-BB3A-1F21AA186F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08" r:id="rId3"/>
    <p:sldLayoutId id="2147483809" r:id="rId4"/>
    <p:sldLayoutId id="2147483810" r:id="rId5"/>
    <p:sldLayoutId id="2147483811" r:id="rId6"/>
    <p:sldLayoutId id="2147483819" r:id="rId7"/>
    <p:sldLayoutId id="2147483820" r:id="rId8"/>
    <p:sldLayoutId id="2147483812" r:id="rId9"/>
    <p:sldLayoutId id="2147483821" r:id="rId10"/>
    <p:sldLayoutId id="2147483822" r:id="rId11"/>
    <p:sldLayoutId id="2147483813" r:id="rId12"/>
    <p:sldLayoutId id="2147483814" r:id="rId13"/>
    <p:sldLayoutId id="2147483815" r:id="rId14"/>
    <p:sldLayoutId id="2147483816" r:id="rId15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A0314740-975D-4A1B-8AA1-8C3929F8B77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5400" dirty="0"/>
              <a:t>Unit 2.</a:t>
            </a:r>
            <a:br>
              <a:rPr lang="en-US" altLang="en-US" sz="5400" dirty="0"/>
            </a:br>
            <a:r>
              <a:rPr lang="en-US" altLang="en-US" sz="5400" dirty="0"/>
              <a:t>The phases of a Compiler</a:t>
            </a:r>
          </a:p>
        </p:txBody>
      </p:sp>
      <p:sp>
        <p:nvSpPr>
          <p:cNvPr id="9219" name="Rectangle 18">
            <a:extLst>
              <a:ext uri="{FF2B5EF4-FFF2-40B4-BE49-F238E27FC236}">
                <a16:creationId xmlns:a16="http://schemas.microsoft.com/office/drawing/2014/main" id="{1150E87F-D60A-4061-8EF0-89461FB482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12E3E6BF-9939-4DC7-A248-5E91A27A4F6B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2662F09-DE58-43B0-9A13-AC6E11F7CB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686800" cy="1371600"/>
          </a:xfrm>
        </p:spPr>
        <p:txBody>
          <a:bodyPr/>
          <a:lstStyle/>
          <a:p>
            <a:pPr eaLnBrk="1" hangingPunct="1"/>
            <a:r>
              <a:rPr lang="en-US" altLang="ja-JP" sz="4000">
                <a:ea typeface="MS PGothic" panose="020B0600070205080204" pitchFamily="34" charset="-128"/>
              </a:rPr>
              <a:t>Main phases of a compiler</a:t>
            </a:r>
            <a:r>
              <a:rPr lang="en-US" altLang="ja-JP" sz="4800">
                <a:ea typeface="MS PGothic" panose="020B0600070205080204" pitchFamily="34" charset="-128"/>
              </a:rPr>
              <a:t> </a:t>
            </a:r>
            <a:endParaRPr lang="en-US" altLang="en-US" sz="4800">
              <a:ea typeface="MS PGothic" panose="020B0600070205080204" pitchFamily="34" charset="-128"/>
            </a:endParaRPr>
          </a:p>
        </p:txBody>
      </p:sp>
      <p:sp>
        <p:nvSpPr>
          <p:cNvPr id="10243" name="Slide Number Placeholder 4">
            <a:extLst>
              <a:ext uri="{FF2B5EF4-FFF2-40B4-BE49-F238E27FC236}">
                <a16:creationId xmlns:a16="http://schemas.microsoft.com/office/drawing/2014/main" id="{6FA9CF81-2D36-433E-AD6A-997F7F34FE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37F7B9EE-6FE9-4B6A-AE33-988E999DDB4E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10244" name="Picture 5">
            <a:extLst>
              <a:ext uri="{FF2B5EF4-FFF2-40B4-BE49-F238E27FC236}">
                <a16:creationId xmlns:a16="http://schemas.microsoft.com/office/drawing/2014/main" id="{B226368C-45AC-42EF-8FE8-4259697979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828800"/>
            <a:ext cx="8077200" cy="281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B0AD5C3-20EC-4736-B62A-50E62D81F1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Phases of a compiler 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90530A8E-B7DB-40A4-B62D-957D021677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algn="just" eaLnBrk="1" hangingPunct="1"/>
            <a:r>
              <a:rPr lang="en-US" altLang="en-US"/>
              <a:t>Lexical Analysis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US"/>
              <a:t>	Stream of characters making up the source  program is read from left to right and grouped into tokens (sequences of characters having a collective meaning) </a:t>
            </a:r>
          </a:p>
          <a:p>
            <a:pPr algn="just" eaLnBrk="1" hangingPunct="1"/>
            <a:r>
              <a:rPr lang="en-US" altLang="en-US"/>
              <a:t>Syntax Analysis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r>
              <a:rPr lang="en-US" altLang="en-US"/>
              <a:t>	Group the tokens of the source program into grammatical phrases that are used by the compiler to synthesize output</a:t>
            </a:r>
          </a:p>
        </p:txBody>
      </p:sp>
      <p:sp>
        <p:nvSpPr>
          <p:cNvPr id="11268" name="Slide Number Placeholder 4">
            <a:extLst>
              <a:ext uri="{FF2B5EF4-FFF2-40B4-BE49-F238E27FC236}">
                <a16:creationId xmlns:a16="http://schemas.microsoft.com/office/drawing/2014/main" id="{D462F234-50E4-4902-84BE-E0AE22264C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E3AF137F-B503-4D0B-A888-666222EF2482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54BC052-CC7C-4449-BCBD-1F078AE345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phases of a compiler 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0D88465E-6D14-493E-A8FC-F7AF502FAF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algn="just" eaLnBrk="1" hangingPunct="1"/>
            <a:r>
              <a:rPr lang="en-US" altLang="en-US"/>
              <a:t>Semantic Analysis: Check the source program for semantic errors and gather type information for the subsequent code generation part.</a:t>
            </a:r>
          </a:p>
          <a:p>
            <a:pPr algn="just" eaLnBrk="1" hangingPunct="1"/>
            <a:r>
              <a:rPr lang="en-US" altLang="en-US"/>
              <a:t>Intermediate Code Generation: Generate an intermediate representation as a program for an abstract machine.</a:t>
            </a:r>
          </a:p>
        </p:txBody>
      </p:sp>
      <p:sp>
        <p:nvSpPr>
          <p:cNvPr id="12292" name="Slide Number Placeholder 4">
            <a:extLst>
              <a:ext uri="{FF2B5EF4-FFF2-40B4-BE49-F238E27FC236}">
                <a16:creationId xmlns:a16="http://schemas.microsoft.com/office/drawing/2014/main" id="{B83A8DA0-81DE-47DA-BAB2-A641196F5C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103EA1E0-444C-4361-BAAB-0C2B9056853D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4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F1A9691A-D255-4A91-91BF-79F86B80A3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phases of a compiler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38C40F6F-D0B0-4E43-A127-B96953ED25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algn="just" eaLnBrk="1" hangingPunct="1"/>
            <a:r>
              <a:rPr lang="en-US" altLang="en-US"/>
              <a:t>Code optimization : Improve the intermediate code so that faster running code will result</a:t>
            </a:r>
          </a:p>
          <a:p>
            <a:pPr algn="just" eaLnBrk="1" hangingPunct="1"/>
            <a:r>
              <a:rPr lang="en-US" altLang="en-US"/>
              <a:t>Code generation: Generation of target code, consisting normally of relocatable machine code or assembly code</a:t>
            </a:r>
          </a:p>
          <a:p>
            <a:pPr algn="just" eaLnBrk="1" hangingPunct="1"/>
            <a:endParaRPr lang="en-US" altLang="en-US"/>
          </a:p>
        </p:txBody>
      </p:sp>
      <p:sp>
        <p:nvSpPr>
          <p:cNvPr id="13316" name="Slide Number Placeholder 4">
            <a:extLst>
              <a:ext uri="{FF2B5EF4-FFF2-40B4-BE49-F238E27FC236}">
                <a16:creationId xmlns:a16="http://schemas.microsoft.com/office/drawing/2014/main" id="{175C6DCD-E5A8-4599-B57A-CEE503861A4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D82E8494-2BBE-4841-85A5-66638379CD45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4">
            <a:extLst>
              <a:ext uri="{FF2B5EF4-FFF2-40B4-BE49-F238E27FC236}">
                <a16:creationId xmlns:a16="http://schemas.microsoft.com/office/drawing/2014/main" id="{7DFF2862-19C2-4902-BC77-D832D915FE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E10431F6-E425-4CD9-8017-C95D0B2D7609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117DFFEE-A2AA-4D24-8C05-03A657263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2362200"/>
            <a:ext cx="25908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 sz="3600">
                <a:solidFill>
                  <a:schemeClr val="tx2"/>
                </a:solidFill>
                <a:latin typeface="Arial" panose="020B0604020202020204" pitchFamily="34" charset="0"/>
              </a:rPr>
              <a:t>Translation of a statement</a:t>
            </a:r>
          </a:p>
        </p:txBody>
      </p:sp>
      <p:pic>
        <p:nvPicPr>
          <p:cNvPr id="14340" name="Picture 1">
            <a:extLst>
              <a:ext uri="{FF2B5EF4-FFF2-40B4-BE49-F238E27FC236}">
                <a16:creationId xmlns:a16="http://schemas.microsoft.com/office/drawing/2014/main" id="{90D13E57-15BE-49E5-8DEC-7D14893AC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113" y="215900"/>
            <a:ext cx="2833687" cy="647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3">
            <a:extLst>
              <a:ext uri="{FF2B5EF4-FFF2-40B4-BE49-F238E27FC236}">
                <a16:creationId xmlns:a16="http://schemas.microsoft.com/office/drawing/2014/main" id="{298C8BE9-5FA6-4AC2-B625-93AA003AD4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7425" y="2743200"/>
            <a:ext cx="2990850" cy="1133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13443" name="Group 131">
            <a:extLst>
              <a:ext uri="{FF2B5EF4-FFF2-40B4-BE49-F238E27FC236}">
                <a16:creationId xmlns:a16="http://schemas.microsoft.com/office/drawing/2014/main" id="{2E21D35A-A6BC-475A-8F59-DDA5B212614F}"/>
              </a:ext>
            </a:extLst>
          </p:cNvPr>
          <p:cNvGraphicFramePr>
            <a:graphicFrameLocks noGrp="1"/>
          </p:cNvGraphicFramePr>
          <p:nvPr/>
        </p:nvGraphicFramePr>
        <p:xfrm>
          <a:off x="17463" y="1352550"/>
          <a:ext cx="8991600" cy="5167313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3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phase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  <a:ea typeface="MS PGothic" pitchFamily="34" charset="-128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Output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  <a:ea typeface="MS PGothic" pitchFamily="34" charset="-128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Sample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  <a:ea typeface="MS PGothic" pitchFamily="34" charset="-128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30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Programmer (source code producer)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  <a:ea typeface="MS PGothic" pitchFamily="34" charset="-128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Source string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Position:= </a:t>
                      </a:r>
                      <a:r>
                        <a:rPr kumimoji="0" 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inition</a:t>
                      </a:r>
                      <a:r>
                        <a:rPr kumimoji="0" 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 * rate + 60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1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Scanner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 (performs </a:t>
                      </a:r>
                      <a:r>
                        <a:rPr kumimoji="0" lang="en-US" sz="16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lexical analyzer</a:t>
                      </a: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)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Token string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position’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, 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‘:=’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, 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‘</a:t>
                      </a:r>
                      <a:r>
                        <a:rPr kumimoji="0" lang="en-US" sz="12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inition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’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, 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‘+’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, 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‘60’</a:t>
                      </a: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MS PGothic" pitchFamily="34" charset="-128"/>
                        </a:rPr>
                        <a:t>, </a:t>
                      </a:r>
                      <a:b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</a:b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And </a:t>
                      </a:r>
                      <a:r>
                        <a:rPr kumimoji="0" lang="en-US" sz="12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symbol table</a:t>
                      </a: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 with identifier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985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Parser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 (performs</a:t>
                      </a: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 syntax analysis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 based on the grammar of the programming language)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Parse tree or abstract syntax tree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Semantic analyzer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 (type checking,  etc)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Annotated parse tree or abstract syntax tree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MS PGothic" pitchFamily="34" charset="-128"/>
                        </a:rPr>
                        <a:t>Convert integer (60) to real 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9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Intermediate code generator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  <a:ea typeface="MS PGothic" pitchFamily="34" charset="-128"/>
                      </a:endParaRP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Three-address code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717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Optimizer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Three-address code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itchFamily="49" charset="0"/>
                        <a:ea typeface="MS PGothic" pitchFamily="34" charset="-128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99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Code generator</a:t>
                      </a:r>
                    </a:p>
                  </a:txBody>
                  <a:tcPr marT="45724" marB="4572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"/>
                          <a:ea typeface="MS PGothic" pitchFamily="34" charset="-128"/>
                        </a:rPr>
                        <a:t>Assembly code</a:t>
                      </a: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"/>
                        <a:ea typeface="MS PGothic" pitchFamily="34" charset="-128"/>
                      </a:endParaRPr>
                    </a:p>
                  </a:txBody>
                  <a:tcPr marT="45724" marB="4572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401" name="Rectangle 2">
            <a:extLst>
              <a:ext uri="{FF2B5EF4-FFF2-40B4-BE49-F238E27FC236}">
                <a16:creationId xmlns:a16="http://schemas.microsoft.com/office/drawing/2014/main" id="{3F21A4A7-D664-49BD-B2E0-34C0CCF3D3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0" y="609600"/>
            <a:ext cx="8153400" cy="533400"/>
          </a:xfrm>
        </p:spPr>
        <p:txBody>
          <a:bodyPr/>
          <a:lstStyle/>
          <a:p>
            <a:pPr eaLnBrk="1" hangingPunct="1"/>
            <a:r>
              <a:rPr lang="en-US" altLang="en-US" sz="3200"/>
              <a:t>Details of the phases of a Compiler</a:t>
            </a:r>
          </a:p>
        </p:txBody>
      </p:sp>
      <p:sp>
        <p:nvSpPr>
          <p:cNvPr id="15402" name="Slide Number Placeholder 46">
            <a:extLst>
              <a:ext uri="{FF2B5EF4-FFF2-40B4-BE49-F238E27FC236}">
                <a16:creationId xmlns:a16="http://schemas.microsoft.com/office/drawing/2014/main" id="{04CAA2E8-2061-4D9D-BF44-40331BC8D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342C3D6A-A53C-48E5-B4EE-9B05193A542B}" type="slidenum">
              <a:rPr lang="en-US" altLang="en-US" sz="1400" smtClean="0">
                <a:latin typeface="Times" panose="02020603050405020304" pitchFamily="18" charset="0"/>
                <a:ea typeface="MS PGothic" panose="020B0600070205080204" pitchFamily="34" charset="-128"/>
              </a:rPr>
              <a:pPr algn="l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7</a:t>
            </a:fld>
            <a:endParaRPr lang="en-US" altLang="en-US" sz="1400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  <p:pic>
        <p:nvPicPr>
          <p:cNvPr id="15403" name="Picture 4">
            <a:extLst>
              <a:ext uri="{FF2B5EF4-FFF2-40B4-BE49-F238E27FC236}">
                <a16:creationId xmlns:a16="http://schemas.microsoft.com/office/drawing/2014/main" id="{A077FD3A-F078-4224-A920-FA02D7A18D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4648200"/>
            <a:ext cx="1476375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404" name="Picture 5">
            <a:extLst>
              <a:ext uri="{FF2B5EF4-FFF2-40B4-BE49-F238E27FC236}">
                <a16:creationId xmlns:a16="http://schemas.microsoft.com/office/drawing/2014/main" id="{C395C693-B7A2-43D6-BE6E-DC46FAB858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0625" y="5822950"/>
            <a:ext cx="1038225" cy="65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405" name="Picture 6">
            <a:extLst>
              <a:ext uri="{FF2B5EF4-FFF2-40B4-BE49-F238E27FC236}">
                <a16:creationId xmlns:a16="http://schemas.microsoft.com/office/drawing/2014/main" id="{E90CEC30-CA97-4628-90A2-B7CAADC2F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5850" y="5305425"/>
            <a:ext cx="1247775" cy="32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8F68532D-DF7B-4F30-80C9-2B19EE3A80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The Grouping of phases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1E8C9ED-26DE-4A45-AA14-6CFBC19B68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eaLnBrk="1" hangingPunct="1"/>
            <a:r>
              <a:rPr lang="en-US" altLang="en-US"/>
              <a:t>Compiler </a:t>
            </a:r>
            <a:r>
              <a:rPr lang="en-US" altLang="en-US" i="1"/>
              <a:t>front</a:t>
            </a:r>
            <a:r>
              <a:rPr lang="en-US" altLang="en-US"/>
              <a:t> and </a:t>
            </a:r>
            <a:r>
              <a:rPr lang="en-US" altLang="en-US" i="1"/>
              <a:t>back ends</a:t>
            </a:r>
            <a:r>
              <a:rPr lang="en-US" altLang="en-US"/>
              <a:t>:</a:t>
            </a:r>
          </a:p>
          <a:p>
            <a:pPr lvl="1" eaLnBrk="1" hangingPunct="1"/>
            <a:r>
              <a:rPr lang="en-US" altLang="en-US"/>
              <a:t>Front end: </a:t>
            </a:r>
            <a:r>
              <a:rPr lang="en-US" altLang="en-US" i="1"/>
              <a:t>analysis</a:t>
            </a:r>
            <a:r>
              <a:rPr lang="en-US" altLang="en-US"/>
              <a:t> (</a:t>
            </a:r>
            <a:r>
              <a:rPr lang="en-US" altLang="en-US" i="1"/>
              <a:t>machine independent</a:t>
            </a:r>
            <a:r>
              <a:rPr lang="en-US" altLang="en-US"/>
              <a:t>)</a:t>
            </a:r>
          </a:p>
          <a:p>
            <a:pPr lvl="1" eaLnBrk="1" hangingPunct="1"/>
            <a:r>
              <a:rPr lang="en-US" altLang="en-US"/>
              <a:t>Back end: </a:t>
            </a:r>
            <a:r>
              <a:rPr lang="en-US" altLang="en-US" i="1"/>
              <a:t>synthesis</a:t>
            </a:r>
            <a:r>
              <a:rPr lang="en-US" altLang="en-US"/>
              <a:t> (</a:t>
            </a:r>
            <a:r>
              <a:rPr lang="en-US" altLang="en-US" i="1"/>
              <a:t>machine dependent</a:t>
            </a:r>
            <a:r>
              <a:rPr lang="en-US" altLang="en-US"/>
              <a:t>)</a:t>
            </a:r>
          </a:p>
          <a:p>
            <a:pPr eaLnBrk="1" hangingPunct="1"/>
            <a:r>
              <a:rPr lang="en-US" altLang="en-US"/>
              <a:t>Compiler </a:t>
            </a:r>
            <a:r>
              <a:rPr lang="en-US" altLang="en-US" i="1"/>
              <a:t>passes:</a:t>
            </a:r>
            <a:endParaRPr lang="en-US" altLang="en-US"/>
          </a:p>
          <a:p>
            <a:pPr lvl="1" eaLnBrk="1" hangingPunct="1"/>
            <a:r>
              <a:rPr lang="en-US" altLang="en-US"/>
              <a:t>A collection of parts is done only once (</a:t>
            </a:r>
            <a:r>
              <a:rPr lang="en-US" altLang="en-US" i="1"/>
              <a:t>single pass</a:t>
            </a:r>
            <a:r>
              <a:rPr lang="en-US" altLang="en-US"/>
              <a:t>) or multiple times (</a:t>
            </a:r>
            <a:r>
              <a:rPr lang="en-US" altLang="en-US" i="1"/>
              <a:t>multi pass</a:t>
            </a:r>
            <a:r>
              <a:rPr lang="en-US" altLang="en-US"/>
              <a:t>)</a:t>
            </a:r>
          </a:p>
          <a:p>
            <a:pPr lvl="2" eaLnBrk="1" hangingPunct="1"/>
            <a:r>
              <a:rPr lang="en-US" altLang="en-US"/>
              <a:t>Single pass: usually requires everything to be defined before being used in source program</a:t>
            </a:r>
          </a:p>
          <a:p>
            <a:pPr lvl="2" eaLnBrk="1" hangingPunct="1"/>
            <a:r>
              <a:rPr lang="en-US" altLang="en-US"/>
              <a:t>Multi pass: compiler may have to keep entire program representation in memory</a:t>
            </a:r>
          </a:p>
        </p:txBody>
      </p:sp>
      <p:sp>
        <p:nvSpPr>
          <p:cNvPr id="17412" name="Slide Number Placeholder 5">
            <a:extLst>
              <a:ext uri="{FF2B5EF4-FFF2-40B4-BE49-F238E27FC236}">
                <a16:creationId xmlns:a16="http://schemas.microsoft.com/office/drawing/2014/main" id="{821D309B-63DB-4E1E-AD5D-64315864E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0F19AA95-E2A9-4380-981F-6CCAAEDEC5D7}" type="slidenum">
              <a:rPr lang="en-US" altLang="en-US" sz="1400" smtClean="0">
                <a:latin typeface="Times" panose="02020603050405020304" pitchFamily="18" charset="0"/>
                <a:ea typeface="MS PGothic" panose="020B0600070205080204" pitchFamily="34" charset="-128"/>
              </a:rPr>
              <a:pPr algn="l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8</a:t>
            </a:fld>
            <a:endParaRPr lang="en-US" altLang="en-US" sz="1400">
              <a:latin typeface="Times" panose="02020603050405020304" pitchFamily="18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FD731558-DBBD-46BD-8BE4-F368B8770E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Phase 1:Lexical Analysis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F001F33D-C8B4-421D-80C1-CFE87C3652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eaLnBrk="1" hangingPunct="1"/>
            <a:r>
              <a:rPr lang="en-US" altLang="en-US"/>
              <a:t>Scanner: Converts the stream of input characters into a stream of tokens that becomes the input to the following phase (parsing)</a:t>
            </a:r>
          </a:p>
          <a:p>
            <a:pPr eaLnBrk="1" hangingPunct="1"/>
            <a:r>
              <a:rPr lang="en-US" altLang="en-US"/>
              <a:t>Tasks of a scanner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/>
              <a:t>Group characters into tokens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/>
              <a:t>	Token: the syntax unit                                                                              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en-US"/>
              <a:t>Categorization of tokens.</a:t>
            </a:r>
          </a:p>
          <a:p>
            <a:pPr eaLnBrk="1" hangingPunct="1"/>
            <a:r>
              <a:rPr lang="en-US" altLang="en-US"/>
              <a:t>Token types: Identifier, Number, Character constant, operators…..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18436" name="Slide Number Placeholder 4">
            <a:extLst>
              <a:ext uri="{FF2B5EF4-FFF2-40B4-BE49-F238E27FC236}">
                <a16:creationId xmlns:a16="http://schemas.microsoft.com/office/drawing/2014/main" id="{E4690A47-80E0-44D8-B967-4F52CEA252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B0FC5565-06B1-4C80-A977-43C8C01F6FA2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9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E1B7E5A-891C-4637-8FA6-FBA93BD90E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Phase 2: Parsing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FF29363-63A7-4DA7-820B-CD5264A424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eaLnBrk="1" hangingPunct="1"/>
            <a:r>
              <a:rPr lang="en-US" altLang="en-US"/>
              <a:t>The process of determining if a string of token can be generated by a grammar</a:t>
            </a:r>
          </a:p>
          <a:p>
            <a:pPr eaLnBrk="1" hangingPunct="1"/>
            <a:r>
              <a:rPr lang="en-US" altLang="en-US"/>
              <a:t>Is executed by a parser</a:t>
            </a:r>
          </a:p>
        </p:txBody>
      </p:sp>
      <p:sp>
        <p:nvSpPr>
          <p:cNvPr id="19460" name="Slide Number Placeholder 4">
            <a:extLst>
              <a:ext uri="{FF2B5EF4-FFF2-40B4-BE49-F238E27FC236}">
                <a16:creationId xmlns:a16="http://schemas.microsoft.com/office/drawing/2014/main" id="{A54287AE-4559-4A0E-9821-89C2FCA43E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42160AC4-8837-4BE8-BCC2-4AA392F68A12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8A2A6E16-DA96-4994-BDA6-8690FEC88B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phase 2: Parsing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C1F495D-AE05-427C-B40C-407798BD93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eaLnBrk="1" hangingPunct="1"/>
            <a:r>
              <a:rPr lang="en-US" altLang="en-US"/>
              <a:t>Output of a parser: </a:t>
            </a:r>
          </a:p>
          <a:p>
            <a:pPr lvl="1" eaLnBrk="1" hangingPunct="1"/>
            <a:r>
              <a:rPr lang="en-US" altLang="en-US"/>
              <a:t>Parse tree (if any)</a:t>
            </a:r>
          </a:p>
          <a:p>
            <a:pPr lvl="1" eaLnBrk="1" hangingPunct="1"/>
            <a:r>
              <a:rPr lang="en-US" altLang="en-US"/>
              <a:t>Error Message (otherwise)</a:t>
            </a:r>
          </a:p>
          <a:p>
            <a:pPr eaLnBrk="1" hangingPunct="1"/>
            <a:r>
              <a:rPr lang="en-US" altLang="en-US"/>
              <a:t>If a parse tree is built succesfully, the program is grammatically  correct</a:t>
            </a:r>
          </a:p>
        </p:txBody>
      </p:sp>
      <p:sp>
        <p:nvSpPr>
          <p:cNvPr id="20484" name="Slide Number Placeholder 4">
            <a:extLst>
              <a:ext uri="{FF2B5EF4-FFF2-40B4-BE49-F238E27FC236}">
                <a16:creationId xmlns:a16="http://schemas.microsoft.com/office/drawing/2014/main" id="{C2E702B5-DFFA-442D-9027-DD96B7E453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F3B8E259-D3B7-4468-A57E-EA80FB605C75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F52E7AA0-9202-44B1-A88D-3C8022156D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pPr eaLnBrk="1" hangingPunct="1"/>
            <a:r>
              <a:rPr lang="en-US" altLang="en-US" sz="3600"/>
              <a:t>Parse tree of statement a = b + c</a:t>
            </a:r>
          </a:p>
        </p:txBody>
      </p:sp>
      <p:sp>
        <p:nvSpPr>
          <p:cNvPr id="21507" name="Slide Number Placeholder 4">
            <a:extLst>
              <a:ext uri="{FF2B5EF4-FFF2-40B4-BE49-F238E27FC236}">
                <a16:creationId xmlns:a16="http://schemas.microsoft.com/office/drawing/2014/main" id="{31D48951-21AF-450C-9824-816F20C4AF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B131312E-8346-4FE2-B9F6-5DE7D46A3E19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21508" name="Picture 5">
            <a:extLst>
              <a:ext uri="{FF2B5EF4-FFF2-40B4-BE49-F238E27FC236}">
                <a16:creationId xmlns:a16="http://schemas.microsoft.com/office/drawing/2014/main" id="{45516A58-4FD7-47D7-B15F-124847A19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763" y="1600200"/>
            <a:ext cx="6800850" cy="407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DAC2834-1026-4DB3-ADAE-B6E4BDB6A3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457200"/>
            <a:ext cx="9144000" cy="838200"/>
          </a:xfrm>
        </p:spPr>
        <p:txBody>
          <a:bodyPr/>
          <a:lstStyle/>
          <a:p>
            <a:pPr eaLnBrk="1" hangingPunct="1"/>
            <a:r>
              <a:rPr lang="en-US" altLang="en-US" sz="3200"/>
              <a:t>Grammars,languages, BNF,syntax diagrams</a:t>
            </a:r>
            <a:r>
              <a:rPr lang="en-US" altLang="en-US"/>
              <a:t>                               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84F356D8-8A3F-48E8-9E36-7491D48BB08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219200"/>
            <a:ext cx="8839200" cy="4419600"/>
          </a:xfrm>
        </p:spPr>
        <p:txBody>
          <a:bodyPr/>
          <a:lstStyle/>
          <a:p>
            <a:pPr eaLnBrk="1" hangingPunct="1"/>
            <a:r>
              <a:rPr lang="en-GB" altLang="en-US"/>
              <a:t>The parser takes the token produced by scanner as input and generates a parse tree (or syntax tree). Token arrangements are checked against the grammar of the source language.</a:t>
            </a:r>
          </a:p>
          <a:p>
            <a:pPr eaLnBrk="1" hangingPunct="1"/>
            <a:r>
              <a:rPr lang="en-US" altLang="en-US"/>
              <a:t>Notations for grammar:</a:t>
            </a:r>
            <a:endParaRPr lang="en-GB" altLang="en-US"/>
          </a:p>
          <a:p>
            <a:pPr lvl="1" eaLnBrk="1" hangingPunct="1"/>
            <a:r>
              <a:rPr lang="en-US" altLang="en-US"/>
              <a:t>BNF (Backus-Naur Form) is is a meta language used to express grammars of programming languages</a:t>
            </a:r>
          </a:p>
          <a:p>
            <a:pPr lvl="1" eaLnBrk="1" hangingPunct="1"/>
            <a:r>
              <a:rPr lang="en-US" altLang="en-US"/>
              <a:t>Syntax Diagrams : A pictorial diagram showing the rules for forming an instruction in a programming language, and how the components of the statement are related. Syntax diagrams are like directed graphs.</a:t>
            </a:r>
          </a:p>
        </p:txBody>
      </p:sp>
      <p:sp>
        <p:nvSpPr>
          <p:cNvPr id="22532" name="Slide Number Placeholder 4">
            <a:extLst>
              <a:ext uri="{FF2B5EF4-FFF2-40B4-BE49-F238E27FC236}">
                <a16:creationId xmlns:a16="http://schemas.microsoft.com/office/drawing/2014/main" id="{96A52AC2-6406-47DF-8DFE-931C1521ED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F9C772B2-B898-4575-8D8A-08E0EFC12FB8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E66F83C-86B9-4B40-BD0C-9AF16FCBF5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9144000" cy="762000"/>
          </a:xfrm>
        </p:spPr>
        <p:txBody>
          <a:bodyPr/>
          <a:lstStyle/>
          <a:p>
            <a:pPr eaLnBrk="1" hangingPunct="1"/>
            <a:r>
              <a:rPr lang="en-US" altLang="en-US" sz="3200"/>
              <a:t>BNF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11A0B7F3-E3F5-45A6-9B50-BC2344EC99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066800"/>
            <a:ext cx="8839200" cy="5029200"/>
          </a:xfrm>
        </p:spPr>
        <p:txBody>
          <a:bodyPr/>
          <a:lstStyle/>
          <a:p>
            <a:pPr eaLnBrk="1" hangingPunct="1"/>
            <a:r>
              <a:rPr lang="en-US" altLang="en-US"/>
              <a:t>BNF (and formal grammars) use 2 types  of symbol</a:t>
            </a:r>
          </a:p>
          <a:p>
            <a:pPr eaLnBrk="1" hangingPunct="1"/>
            <a:r>
              <a:rPr lang="en-US" altLang="en-US"/>
              <a:t>Terminals : </a:t>
            </a:r>
          </a:p>
          <a:p>
            <a:pPr lvl="1" eaLnBrk="1" hangingPunct="1"/>
            <a:r>
              <a:rPr lang="en-US" altLang="en-US"/>
              <a:t>Tokens of  the language</a:t>
            </a:r>
          </a:p>
          <a:p>
            <a:pPr lvl="1" eaLnBrk="1" hangingPunct="1"/>
            <a:r>
              <a:rPr lang="en-US" altLang="en-US"/>
              <a:t>Never appear in the left side of any production</a:t>
            </a:r>
          </a:p>
          <a:p>
            <a:pPr eaLnBrk="1" hangingPunct="1"/>
            <a:r>
              <a:rPr lang="en-US" altLang="en-US"/>
              <a:t>Nonterminals</a:t>
            </a:r>
          </a:p>
          <a:p>
            <a:pPr lvl="1" eaLnBrk="1" hangingPunct="1"/>
            <a:r>
              <a:rPr lang="en-US" altLang="en-US"/>
              <a:t>Intermediate symbol to express structures of a language</a:t>
            </a:r>
          </a:p>
          <a:p>
            <a:pPr lvl="1" eaLnBrk="1" hangingPunct="1"/>
            <a:r>
              <a:rPr lang="en-US" altLang="en-US"/>
              <a:t>Must be in a left side of at lease one production</a:t>
            </a:r>
          </a:p>
          <a:p>
            <a:pPr lvl="1" eaLnBrk="1" hangingPunct="1"/>
            <a:r>
              <a:rPr lang="en-US" altLang="en-US"/>
              <a:t>Enclose in  &lt;&gt;</a:t>
            </a:r>
          </a:p>
          <a:p>
            <a:pPr eaLnBrk="1" hangingPunct="1"/>
            <a:r>
              <a:rPr lang="en-US" altLang="en-US"/>
              <a:t>Start symbol </a:t>
            </a:r>
          </a:p>
          <a:p>
            <a:pPr lvl="1" eaLnBrk="1" hangingPunct="1"/>
            <a:r>
              <a:rPr lang="en-US" altLang="en-US"/>
              <a:t>Nonterminal of the first level</a:t>
            </a:r>
          </a:p>
          <a:p>
            <a:pPr lvl="1" eaLnBrk="1" hangingPunct="1"/>
            <a:r>
              <a:rPr lang="en-US" altLang="en-US"/>
              <a:t>Appear at the root of parse tree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</p:txBody>
      </p:sp>
      <p:sp>
        <p:nvSpPr>
          <p:cNvPr id="23556" name="Slide Number Placeholder 4">
            <a:extLst>
              <a:ext uri="{FF2B5EF4-FFF2-40B4-BE49-F238E27FC236}">
                <a16:creationId xmlns:a16="http://schemas.microsoft.com/office/drawing/2014/main" id="{C0F21DC9-CFB6-4989-8183-02A58FC9B7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669B380A-60E7-4B13-9436-0843A6B020A4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14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195055C-A24E-4410-8F37-0F2336819E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457200"/>
            <a:ext cx="9144000" cy="1371600"/>
          </a:xfrm>
        </p:spPr>
        <p:txBody>
          <a:bodyPr/>
          <a:lstStyle/>
          <a:p>
            <a:pPr eaLnBrk="1" hangingPunct="1"/>
            <a:r>
              <a:rPr lang="en-US" altLang="en-US" sz="3200"/>
              <a:t>Grammars,languages, BNF,syntax diagrams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FF0BD16-F74B-4B80-8F90-7E3E22A553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2209800"/>
          </a:xfrm>
        </p:spPr>
        <p:txBody>
          <a:bodyPr/>
          <a:lstStyle/>
          <a:p>
            <a:pPr eaLnBrk="1" hangingPunct="1"/>
            <a:r>
              <a:rPr lang="en-US" altLang="en-US"/>
              <a:t>Start symbol : </a:t>
            </a:r>
          </a:p>
          <a:p>
            <a:pPr lvl="1" eaLnBrk="1" hangingPunct="1"/>
            <a:r>
              <a:rPr lang="en-US" altLang="en-US"/>
              <a:t>Nonterminal of the first level</a:t>
            </a:r>
          </a:p>
          <a:p>
            <a:pPr lvl="1" eaLnBrk="1" hangingPunct="1"/>
            <a:r>
              <a:rPr lang="en-US" altLang="en-US"/>
              <a:t>Appear at the root of parse tree</a:t>
            </a:r>
          </a:p>
        </p:txBody>
      </p:sp>
      <p:sp>
        <p:nvSpPr>
          <p:cNvPr id="24580" name="Slide Number Placeholder 4">
            <a:extLst>
              <a:ext uri="{FF2B5EF4-FFF2-40B4-BE49-F238E27FC236}">
                <a16:creationId xmlns:a16="http://schemas.microsoft.com/office/drawing/2014/main" id="{67BC5D67-5E17-45FD-B25E-A97AB4B1AC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9829FA91-FABB-41AA-B4EB-7B5F7BD1AF94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EAB4D543-F33E-4C4C-83A4-9B15F660AD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686800" cy="1371600"/>
          </a:xfrm>
        </p:spPr>
        <p:txBody>
          <a:bodyPr/>
          <a:lstStyle/>
          <a:p>
            <a:pPr eaLnBrk="1" hangingPunct="1"/>
            <a:r>
              <a:rPr lang="en-US" altLang="en-US" sz="3600"/>
              <a:t>Parsing: Concept and Techniques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CA788711-B1EB-4696-B2F4-BFE6AF27F54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343400"/>
          </a:xfrm>
        </p:spPr>
        <p:txBody>
          <a:bodyPr/>
          <a:lstStyle/>
          <a:p>
            <a:pPr eaLnBrk="1" hangingPunct="1"/>
            <a:r>
              <a:rPr lang="en-US" altLang="en-US"/>
              <a:t>Continuously apply grammatical rules until a string of terminal is generated.</a:t>
            </a:r>
          </a:p>
          <a:p>
            <a:pPr eaLnBrk="1" hangingPunct="1"/>
            <a:r>
              <a:rPr lang="en-US" altLang="en-US"/>
              <a:t>If the parser convert first symbol into the input string, it is syntactically correct</a:t>
            </a:r>
          </a:p>
          <a:p>
            <a:pPr eaLnBrk="1" hangingPunct="1"/>
            <a:r>
              <a:rPr lang="en-US" altLang="en-US"/>
              <a:t>Otherwise, string is not syntactically correct</a:t>
            </a:r>
          </a:p>
        </p:txBody>
      </p:sp>
      <p:sp>
        <p:nvSpPr>
          <p:cNvPr id="25604" name="Slide Number Placeholder 4">
            <a:extLst>
              <a:ext uri="{FF2B5EF4-FFF2-40B4-BE49-F238E27FC236}">
                <a16:creationId xmlns:a16="http://schemas.microsoft.com/office/drawing/2014/main" id="{2C574C1E-29CA-4927-AB8B-8EA9981C4F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B913ED7A-D67E-4BD1-84F8-9215136F8040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60F199E-239E-4230-960D-8A7652CBB5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686800" cy="1371600"/>
          </a:xfrm>
        </p:spPr>
        <p:txBody>
          <a:bodyPr/>
          <a:lstStyle/>
          <a:p>
            <a:pPr eaLnBrk="1" hangingPunct="1"/>
            <a:r>
              <a:rPr lang="en-US" altLang="en-US" sz="3600"/>
              <a:t>Parsing: Concept and techniques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D89EBE7-1F77-42AB-A9C4-344C9EE788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343400"/>
          </a:xfrm>
        </p:spPr>
        <p:txBody>
          <a:bodyPr/>
          <a:lstStyle/>
          <a:p>
            <a:pPr eaLnBrk="1" hangingPunct="1"/>
            <a:r>
              <a:rPr lang="en-US" altLang="en-US" sz="3600"/>
              <a:t>The most important thing of a compiler: grammar</a:t>
            </a:r>
          </a:p>
          <a:p>
            <a:pPr eaLnBrk="1" hangingPunct="1"/>
            <a:r>
              <a:rPr lang="en-US" altLang="en-US" sz="3600"/>
              <a:t>Grammar includes all structures of a program</a:t>
            </a:r>
          </a:p>
          <a:p>
            <a:pPr eaLnBrk="1" hangingPunct="1"/>
            <a:r>
              <a:rPr lang="en-US" altLang="en-US" sz="3600"/>
              <a:t>Not includes any other rule</a:t>
            </a:r>
          </a:p>
        </p:txBody>
      </p:sp>
      <p:sp>
        <p:nvSpPr>
          <p:cNvPr id="26628" name="Slide Number Placeholder 4">
            <a:extLst>
              <a:ext uri="{FF2B5EF4-FFF2-40B4-BE49-F238E27FC236}">
                <a16:creationId xmlns:a16="http://schemas.microsoft.com/office/drawing/2014/main" id="{32D3B29C-ED8E-4006-8E66-A0D8D81254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82E2D22C-2F9B-4164-9181-A70F78E2D60A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17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99FDE510-0A17-4520-A0A7-39BE8B6AEA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686800" cy="1371600"/>
          </a:xfrm>
        </p:spPr>
        <p:txBody>
          <a:bodyPr/>
          <a:lstStyle/>
          <a:p>
            <a:pPr eaLnBrk="1" hangingPunct="1"/>
            <a:r>
              <a:rPr lang="en-US" altLang="en-US" sz="3600"/>
              <a:t>Parsing: Concept and Techniques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D8350399-C546-403A-AAA7-CD1E89B21C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81200"/>
            <a:ext cx="8229600" cy="4343400"/>
          </a:xfrm>
        </p:spPr>
        <p:txBody>
          <a:bodyPr/>
          <a:lstStyle/>
          <a:p>
            <a:pPr eaLnBrk="1" hangingPunct="1"/>
            <a:r>
              <a:rPr lang="en-US" altLang="en-US" sz="3600"/>
              <a:t>Grammar must be unambiguous</a:t>
            </a:r>
          </a:p>
          <a:p>
            <a:pPr eaLnBrk="1" hangingPunct="1"/>
            <a:endParaRPr lang="en-US" altLang="en-US" sz="3600"/>
          </a:p>
          <a:p>
            <a:pPr eaLnBrk="1" hangingPunct="1"/>
            <a:r>
              <a:rPr lang="en-US" altLang="en-US" sz="3600"/>
              <a:t>If grammar is ambiguous, more than one parse tree can be created</a:t>
            </a:r>
          </a:p>
        </p:txBody>
      </p:sp>
      <p:sp>
        <p:nvSpPr>
          <p:cNvPr id="27652" name="Slide Number Placeholder 4">
            <a:extLst>
              <a:ext uri="{FF2B5EF4-FFF2-40B4-BE49-F238E27FC236}">
                <a16:creationId xmlns:a16="http://schemas.microsoft.com/office/drawing/2014/main" id="{AA9CF63C-BDD6-4BFE-9073-0A8D4C6926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DF19BEFC-920A-4FA7-964E-F6DE4946D49D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18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F0C33817-A8E6-40D4-A072-D07C7F876E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Phase 3: Semantic Analysis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CBEF1A3D-2AB6-4986-9E20-D7E7BF988F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905000"/>
            <a:ext cx="8382000" cy="4267200"/>
          </a:xfrm>
        </p:spPr>
        <p:txBody>
          <a:bodyPr/>
          <a:lstStyle/>
          <a:p>
            <a:pPr eaLnBrk="1" hangingPunct="1"/>
            <a:r>
              <a:rPr lang="en-US" altLang="en-US" sz="3600" dirty="0"/>
              <a:t>Certain check are performed to ensure that the components of a program fit together meaningfully </a:t>
            </a:r>
          </a:p>
          <a:p>
            <a:pPr eaLnBrk="1" hangingPunct="1"/>
            <a:r>
              <a:rPr lang="en-US" altLang="en-US" sz="3600" dirty="0"/>
              <a:t>To generate code, source program must be syntactically and semantically  correct</a:t>
            </a:r>
          </a:p>
        </p:txBody>
      </p:sp>
      <p:sp>
        <p:nvSpPr>
          <p:cNvPr id="28676" name="Slide Number Placeholder 4">
            <a:extLst>
              <a:ext uri="{FF2B5EF4-FFF2-40B4-BE49-F238E27FC236}">
                <a16:creationId xmlns:a16="http://schemas.microsoft.com/office/drawing/2014/main" id="{F61DD40A-9F21-49DD-B5BC-7BA52C7E41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98A71AA0-3807-4719-8911-5BD31B93629E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19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9D55F961-940F-423E-97B4-F007167764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sz="3600"/>
              <a:t>Phase 4: Intermediate code generation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CFA51A23-1026-4499-A4C2-1B1CB9941D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" y="1524000"/>
            <a:ext cx="8991600" cy="3886200"/>
          </a:xfrm>
        </p:spPr>
        <p:txBody>
          <a:bodyPr/>
          <a:lstStyle/>
          <a:p>
            <a:pPr marL="523875" indent="-523875" eaLnBrk="1" hangingPunct="1">
              <a:tabLst>
                <a:tab pos="1025525" algn="l"/>
              </a:tabLst>
            </a:pPr>
            <a:r>
              <a:rPr lang="en-US" altLang="en-US"/>
              <a:t>Source program is transferred to an equivalent program in intermediate code by intermediate code generator</a:t>
            </a:r>
          </a:p>
          <a:p>
            <a:pPr marL="523875" indent="-523875" eaLnBrk="1" hangingPunct="1">
              <a:tabLst>
                <a:tab pos="1025525" algn="l"/>
              </a:tabLst>
            </a:pPr>
            <a:r>
              <a:rPr lang="en-GB" altLang="en-US"/>
              <a:t>Intermediate code is close to the target code, which makes it suitable for register and memory allocation, instruction set selection, etc. </a:t>
            </a:r>
          </a:p>
          <a:p>
            <a:pPr marL="523875" indent="-523875" eaLnBrk="1" hangingPunct="1">
              <a:tabLst>
                <a:tab pos="1025525" algn="l"/>
              </a:tabLst>
            </a:pPr>
            <a:r>
              <a:rPr lang="en-GB" altLang="en-US"/>
              <a:t>It is good for machine-dependent optimizations</a:t>
            </a:r>
            <a:r>
              <a:rPr lang="en-US" altLang="en-US"/>
              <a:t>.</a:t>
            </a:r>
          </a:p>
          <a:p>
            <a:pPr marL="523875" indent="-523875" eaLnBrk="1" hangingPunct="1">
              <a:tabLst>
                <a:tab pos="1025525" algn="l"/>
              </a:tabLst>
            </a:pPr>
            <a:endParaRPr lang="en-US" altLang="en-US" sz="3600"/>
          </a:p>
        </p:txBody>
      </p:sp>
      <p:sp>
        <p:nvSpPr>
          <p:cNvPr id="29700" name="Slide Number Placeholder 4">
            <a:extLst>
              <a:ext uri="{FF2B5EF4-FFF2-40B4-BE49-F238E27FC236}">
                <a16:creationId xmlns:a16="http://schemas.microsoft.com/office/drawing/2014/main" id="{0F5691A1-70CE-4803-8D49-BCD3B14A89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E9BD9B1B-EFAF-49F0-8F3F-0CC862EF62F6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4E9171C2-26A4-41AF-947B-E6FD3D6CE1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sz="4000"/>
              <a:t>Advantages of Intermediate Code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C1BE6316-2CF8-4CC1-B576-0BBC2185EA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lvl="1" eaLnBrk="1" hangingPunct="1">
              <a:buFont typeface="Wingdings" panose="05000000000000000000" pitchFamily="2" charset="2"/>
              <a:buAutoNum type="arabicPeriod"/>
            </a:pPr>
            <a:r>
              <a:rPr lang="en-US" altLang="en-US" sz="3200"/>
              <a:t>Easy to translate into object code.</a:t>
            </a:r>
          </a:p>
          <a:p>
            <a:pPr lvl="1" eaLnBrk="1" hangingPunct="1">
              <a:buFont typeface="Wingdings" panose="05000000000000000000" pitchFamily="2" charset="2"/>
              <a:buAutoNum type="arabicPeriod"/>
            </a:pPr>
            <a:r>
              <a:rPr lang="en-US" altLang="en-US" sz="3200"/>
              <a:t>Code optimizer can be applied before code generation</a:t>
            </a:r>
          </a:p>
          <a:p>
            <a:pPr lvl="1" eaLnBrk="1" hangingPunct="1">
              <a:buFont typeface="Wingdings" panose="05000000000000000000" pitchFamily="2" charset="2"/>
              <a:buAutoNum type="arabicPeriod"/>
            </a:pPr>
            <a:r>
              <a:rPr lang="en-US" altLang="en-US" sz="3200"/>
              <a:t>Decrease time cost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lvl="1" eaLnBrk="1" hangingPunct="1">
              <a:buFont typeface="Wingdings" panose="05000000000000000000" pitchFamily="2" charset="2"/>
              <a:buNone/>
            </a:pPr>
            <a:endParaRPr lang="en-US" altLang="en-US" sz="3200" b="1"/>
          </a:p>
          <a:p>
            <a:pPr eaLnBrk="1" hangingPunct="1"/>
            <a:endParaRPr lang="en-US" altLang="en-US"/>
          </a:p>
        </p:txBody>
      </p:sp>
      <p:sp>
        <p:nvSpPr>
          <p:cNvPr id="31748" name="Slide Number Placeholder 4">
            <a:extLst>
              <a:ext uri="{FF2B5EF4-FFF2-40B4-BE49-F238E27FC236}">
                <a16:creationId xmlns:a16="http://schemas.microsoft.com/office/drawing/2014/main" id="{DECE3FB8-D13E-4D78-96C2-F1829B2520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1BC2BC9D-8287-40A2-9400-6913C5F425B2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>
            <a:extLst>
              <a:ext uri="{FF2B5EF4-FFF2-40B4-BE49-F238E27FC236}">
                <a16:creationId xmlns:a16="http://schemas.microsoft.com/office/drawing/2014/main" id="{F0197A06-B97C-4250-9DCA-C7C1EE2CD8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/>
              <a:t>Phase 5: Code Generator</a:t>
            </a:r>
            <a:r>
              <a:rPr lang="en-US" altLang="en-US" sz="6000" b="1"/>
              <a:t> </a:t>
            </a:r>
            <a:endParaRPr lang="en-US" altLang="en-US" sz="6000"/>
          </a:p>
        </p:txBody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3AE9C446-369D-4333-883D-E6DB850050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676400"/>
            <a:ext cx="8686800" cy="2286000"/>
          </a:xfrm>
        </p:spPr>
        <p:txBody>
          <a:bodyPr/>
          <a:lstStyle/>
          <a:p>
            <a:pPr eaLnBrk="1" hangingPunct="1"/>
            <a:r>
              <a:rPr lang="en-US" altLang="en-US" dirty="0"/>
              <a:t>Input: Intermediate code of source program</a:t>
            </a:r>
          </a:p>
          <a:p>
            <a:pPr eaLnBrk="1" hangingPunct="1"/>
            <a:r>
              <a:rPr lang="en-US" altLang="en-US" dirty="0"/>
              <a:t> Output: Object program</a:t>
            </a:r>
          </a:p>
          <a:p>
            <a:pPr lvl="1" eaLnBrk="1" hangingPunct="1"/>
            <a:r>
              <a:rPr lang="en-US" altLang="en-US" sz="3200" dirty="0"/>
              <a:t> </a:t>
            </a:r>
            <a:r>
              <a:rPr lang="en-US" altLang="en-US" dirty="0"/>
              <a:t>Assembly code</a:t>
            </a:r>
          </a:p>
          <a:p>
            <a:pPr lvl="1" eaLnBrk="1" hangingPunct="1"/>
            <a:r>
              <a:rPr lang="en-US" altLang="en-US" dirty="0"/>
              <a:t> Virtual machine code</a:t>
            </a:r>
          </a:p>
          <a:p>
            <a:pPr eaLnBrk="1" hangingPunct="1"/>
            <a:endParaRPr lang="en-US" altLang="en-US" sz="3600" dirty="0"/>
          </a:p>
        </p:txBody>
      </p:sp>
      <p:sp>
        <p:nvSpPr>
          <p:cNvPr id="32772" name="Slide Number Placeholder 4">
            <a:extLst>
              <a:ext uri="{FF2B5EF4-FFF2-40B4-BE49-F238E27FC236}">
                <a16:creationId xmlns:a16="http://schemas.microsoft.com/office/drawing/2014/main" id="{BC657D87-5798-48A0-BD67-46841326B5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D4F87827-04CB-4A02-8527-D182C8522409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32773" name="Picture 5">
            <a:extLst>
              <a:ext uri="{FF2B5EF4-FFF2-40B4-BE49-F238E27FC236}">
                <a16:creationId xmlns:a16="http://schemas.microsoft.com/office/drawing/2014/main" id="{60FAFE20-A4CB-4C89-A4FA-27F8ACE416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657600"/>
            <a:ext cx="5362575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71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171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1710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710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0" grpId="0"/>
      <p:bldP spid="17101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>
            <a:extLst>
              <a:ext uri="{FF2B5EF4-FFF2-40B4-BE49-F238E27FC236}">
                <a16:creationId xmlns:a16="http://schemas.microsoft.com/office/drawing/2014/main" id="{C732CA07-8237-4DF5-8DF1-E61FEA432B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57200"/>
            <a:ext cx="7848600" cy="1371600"/>
          </a:xfrm>
        </p:spPr>
        <p:txBody>
          <a:bodyPr/>
          <a:lstStyle/>
          <a:p>
            <a:pPr eaLnBrk="1" hangingPunct="1"/>
            <a:r>
              <a:rPr lang="en-US" altLang="en-US"/>
              <a:t>Problems</a:t>
            </a:r>
          </a:p>
        </p:txBody>
      </p:sp>
      <p:sp>
        <p:nvSpPr>
          <p:cNvPr id="172035" name="Rectangle 3">
            <a:extLst>
              <a:ext uri="{FF2B5EF4-FFF2-40B4-BE49-F238E27FC236}">
                <a16:creationId xmlns:a16="http://schemas.microsoft.com/office/drawing/2014/main" id="{846487E4-B330-40D2-B654-3A06805355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 marL="533400" indent="-533400" eaLnBrk="1" hangingPunct="1"/>
            <a:r>
              <a:rPr lang="en-US" altLang="en-US" sz="3600" dirty="0"/>
              <a:t>Input</a:t>
            </a:r>
          </a:p>
          <a:p>
            <a:pPr marL="533400" indent="-533400" eaLnBrk="1" hangingPunct="1"/>
            <a:r>
              <a:rPr lang="en-US" altLang="en-US" sz="3600" dirty="0"/>
              <a:t>Output</a:t>
            </a:r>
          </a:p>
          <a:p>
            <a:pPr marL="533400" indent="-533400" eaLnBrk="1" hangingPunct="1"/>
            <a:r>
              <a:rPr lang="en-US" altLang="en-US" sz="3600" dirty="0"/>
              <a:t>Object machine</a:t>
            </a:r>
          </a:p>
          <a:p>
            <a:pPr marL="933450" lvl="1" indent="-533400" eaLnBrk="1" hangingPunct="1"/>
            <a:r>
              <a:rPr lang="en-US" altLang="en-US" sz="2800" dirty="0"/>
              <a:t>Set of instruction</a:t>
            </a:r>
          </a:p>
          <a:p>
            <a:pPr marL="933450" lvl="1" indent="-533400" eaLnBrk="1" hangingPunct="1"/>
            <a:r>
              <a:rPr lang="en-US" altLang="en-US" sz="2800" dirty="0"/>
              <a:t>Register allocation</a:t>
            </a:r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endParaRPr lang="en-US" altLang="en-US" sz="3600" b="1" dirty="0"/>
          </a:p>
          <a:p>
            <a:pPr marL="533400" indent="-533400" eaLnBrk="1" hangingPunct="1">
              <a:buFont typeface="Wingdings" panose="05000000000000000000" pitchFamily="2" charset="2"/>
              <a:buAutoNum type="arabicPeriod"/>
            </a:pPr>
            <a:endParaRPr lang="en-US" altLang="en-US" dirty="0"/>
          </a:p>
          <a:p>
            <a:pPr marL="533400" indent="-533400"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33796" name="Slide Number Placeholder 4">
            <a:extLst>
              <a:ext uri="{FF2B5EF4-FFF2-40B4-BE49-F238E27FC236}">
                <a16:creationId xmlns:a16="http://schemas.microsoft.com/office/drawing/2014/main" id="{77106EBD-A365-4535-AB2D-60BB42D36F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EF3EB83D-207B-475E-9D5D-7303D6DA7BC2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72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034" grpId="0"/>
      <p:bldP spid="172035" grpId="0"/>
    </p:bldLst>
  </p:timing>
</p:sld>
</file>

<file path=ppt/theme/theme1.xml><?xml version="1.0" encoding="utf-8"?>
<a:theme xmlns:a="http://schemas.openxmlformats.org/drawingml/2006/main" name="SoICT-PPT-template-hoi-thao-onlin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SoICT-PPT-template-hoi-thao-online</Template>
  <TotalTime>2453</TotalTime>
  <Words>1108</Words>
  <Application>Microsoft Office PowerPoint</Application>
  <PresentationFormat>On-screen Show (4:3)</PresentationFormat>
  <Paragraphs>165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Calibri</vt:lpstr>
      <vt:lpstr>Arial</vt:lpstr>
      <vt:lpstr>Times New Roman</vt:lpstr>
      <vt:lpstr>Arial Black</vt:lpstr>
      <vt:lpstr>MS PGothic</vt:lpstr>
      <vt:lpstr>Wingdings</vt:lpstr>
      <vt:lpstr>Times</vt:lpstr>
      <vt:lpstr>Courier New</vt:lpstr>
      <vt:lpstr>SoICT-PPT-template-hoi-thao-online</vt:lpstr>
      <vt:lpstr>Unit 2. The phases of a Compiler</vt:lpstr>
      <vt:lpstr>Main phases of a compiler </vt:lpstr>
      <vt:lpstr>Phases of a compiler </vt:lpstr>
      <vt:lpstr>phases of a compiler </vt:lpstr>
      <vt:lpstr>phases of a compiler</vt:lpstr>
      <vt:lpstr>PowerPoint Presentation</vt:lpstr>
      <vt:lpstr>Details of the phases of a Compiler</vt:lpstr>
      <vt:lpstr>The Grouping of phases</vt:lpstr>
      <vt:lpstr>Phase 1:Lexical Analysis</vt:lpstr>
      <vt:lpstr>Phase 2: Parsing</vt:lpstr>
      <vt:lpstr>phase 2: Parsing</vt:lpstr>
      <vt:lpstr>Parse tree of statement a = b + c</vt:lpstr>
      <vt:lpstr>Grammars,languages, BNF,syntax diagrams                               </vt:lpstr>
      <vt:lpstr>BNF</vt:lpstr>
      <vt:lpstr>Grammars,languages, BNF,syntax diagrams</vt:lpstr>
      <vt:lpstr>Parsing: Concept and Techniques</vt:lpstr>
      <vt:lpstr>Parsing: Concept and techniques</vt:lpstr>
      <vt:lpstr>Parsing: Concept and Techniques</vt:lpstr>
      <vt:lpstr>Phase 3: Semantic Analysis</vt:lpstr>
      <vt:lpstr>Phase 4: Intermediate code generation</vt:lpstr>
      <vt:lpstr>Advantages of Intermediate Code</vt:lpstr>
      <vt:lpstr>Phase 5: Code Generator </vt:lpstr>
      <vt:lpstr>Problems</vt:lpstr>
    </vt:vector>
  </TitlesOfParts>
  <Company>Tel 0915 152 158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COSTRUCTION</dc:title>
  <dc:creator>huongnt</dc:creator>
  <cp:lastModifiedBy>Nguyen Thi Thu Huong</cp:lastModifiedBy>
  <cp:revision>288</cp:revision>
  <dcterms:created xsi:type="dcterms:W3CDTF">2008-08-10T02:45:21Z</dcterms:created>
  <dcterms:modified xsi:type="dcterms:W3CDTF">2021-01-19T14:31:41Z</dcterms:modified>
</cp:coreProperties>
</file>