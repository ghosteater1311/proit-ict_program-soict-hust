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4" r:id="rId1"/>
  </p:sldMasterIdLst>
  <p:notesMasterIdLst>
    <p:notesMasterId r:id="rId16"/>
  </p:notesMasterIdLst>
  <p:sldIdLst>
    <p:sldId id="355" r:id="rId2"/>
    <p:sldId id="356" r:id="rId3"/>
    <p:sldId id="357" r:id="rId4"/>
    <p:sldId id="358" r:id="rId5"/>
    <p:sldId id="378" r:id="rId6"/>
    <p:sldId id="391" r:id="rId7"/>
    <p:sldId id="392" r:id="rId8"/>
    <p:sldId id="393" r:id="rId9"/>
    <p:sldId id="394" r:id="rId10"/>
    <p:sldId id="395" r:id="rId11"/>
    <p:sldId id="396" r:id="rId12"/>
    <p:sldId id="399" r:id="rId13"/>
    <p:sldId id="400" r:id="rId14"/>
    <p:sldId id="398" r:id="rId15"/>
  </p:sldIdLst>
  <p:sldSz cx="9144000" cy="6858000" type="screen4x3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064" autoAdjust="0"/>
    <p:restoredTop sz="94915" autoAdjust="0"/>
  </p:normalViewPr>
  <p:slideViewPr>
    <p:cSldViewPr>
      <p:cViewPr varScale="1">
        <p:scale>
          <a:sx n="48" d="100"/>
          <a:sy n="48" d="100"/>
        </p:scale>
        <p:origin x="905" y="4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6279E826-86F7-422B-994F-A1AA0000446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100FBD8B-293F-45C4-A012-9D06CDD155D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E6C958A7-BE40-41BC-9456-E2A8F87F75FA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7" name="Rectangle 5">
            <a:extLst>
              <a:ext uri="{FF2B5EF4-FFF2-40B4-BE49-F238E27FC236}">
                <a16:creationId xmlns:a16="http://schemas.microsoft.com/office/drawing/2014/main" id="{C93E39C3-023D-4F29-BD68-7C29E89A10B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3798" name="Rectangle 6">
            <a:extLst>
              <a:ext uri="{FF2B5EF4-FFF2-40B4-BE49-F238E27FC236}">
                <a16:creationId xmlns:a16="http://schemas.microsoft.com/office/drawing/2014/main" id="{F2426098-625C-49AA-BE35-B8771666CC3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9" name="Rectangle 7">
            <a:extLst>
              <a:ext uri="{FF2B5EF4-FFF2-40B4-BE49-F238E27FC236}">
                <a16:creationId xmlns:a16="http://schemas.microsoft.com/office/drawing/2014/main" id="{6B183D7A-1EA1-4EDF-8D92-941D8EE117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3F50C5BA-6B6E-4832-8680-4973A7673A1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>
            <a:extLst>
              <a:ext uri="{FF2B5EF4-FFF2-40B4-BE49-F238E27FC236}">
                <a16:creationId xmlns:a16="http://schemas.microsoft.com/office/drawing/2014/main" id="{DF949A6E-8A3A-41D3-8499-A19489076B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Notes Placeholder 2">
            <a:extLst>
              <a:ext uri="{FF2B5EF4-FFF2-40B4-BE49-F238E27FC236}">
                <a16:creationId xmlns:a16="http://schemas.microsoft.com/office/drawing/2014/main" id="{E26BADBB-85C5-4713-AB99-B87A2C27A6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20D34813-A733-46F8-8C63-A492B5685C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66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66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66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66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66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3CD7F8A-5F3A-4952-AD50-0156F74686BF}" type="slidenum">
              <a:rPr lang="en-US" altLang="en-US">
                <a:latin typeface="Calibri" panose="020F0502020204030204" pitchFamily="34" charset="0"/>
                <a:cs typeface="Arial" panose="020B0604020202020204" pitchFamily="34" charset="0"/>
              </a:rPr>
              <a:pPr/>
              <a:t>6</a:t>
            </a:fld>
            <a:endParaRPr lang="en-US" altLang="en-US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fld id="{BD25ED01-EC73-4DA8-882A-3FC00850FC7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9379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46842"/>
            <a:ext cx="78867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93851"/>
            <a:ext cx="7886700" cy="44831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57950" y="6141245"/>
            <a:ext cx="2057400" cy="365125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2350" y="6413501"/>
            <a:ext cx="1143000" cy="365125"/>
          </a:xfrm>
        </p:spPr>
        <p:txBody>
          <a:bodyPr/>
          <a:lstStyle/>
          <a:p>
            <a:pPr>
              <a:defRPr/>
            </a:pPr>
            <a:fld id="{11EDA9A1-1126-4D9C-883D-03312721F675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9317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23966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3227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1A5264-8C2B-440E-B1DF-B4D689BC1BD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8723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62877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62877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2FEEE2-F2FA-416C-BCAC-F207A6DFD9F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5416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84A369-24AF-4A37-A28C-E7D4B2C4717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9668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BCEA3C-B5CB-484E-97B5-1C0ABBB0489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7065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900" y="1781176"/>
            <a:ext cx="2711450" cy="4244974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18C3D7-3FC7-4D76-B4D5-CC769DE5A17E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9522891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18C3D7-3FC7-4D76-B4D5-CC769DE5A17E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786719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8C9FCF5-53DE-4C99-8D5A-09DCC964232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3155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18C3D7-3FC7-4D76-B4D5-CC769DE5A17E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236378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18C3D7-3FC7-4D76-B4D5-CC769DE5A17E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47979374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457200"/>
            <a:ext cx="4629150" cy="54038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E76A53-50A6-447B-ABD3-6D781D618BB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38064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457200"/>
            <a:ext cx="4629150" cy="540385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6F2FE9-3BF7-4D5C-BB2A-A7182A62108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41249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732FE-9BB5-4394-8282-191A4B50C9D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15644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6802D71-80EC-4D15-98B3-4B795E65B1B5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37794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C492E76-3595-4685-BD9D-7DBABDA7D06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FB95BAA-4BBE-4DCE-AB3A-57AA7DA5139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7721AF-92A6-4179-9CC1-2977D8F0B02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EA4A6450-629A-4584-A9CB-2FEF4759EFD6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701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5557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625600"/>
            <a:ext cx="7886700" cy="44608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97750" y="6121400"/>
            <a:ext cx="1117600" cy="2762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87850" y="6432550"/>
            <a:ext cx="3009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97750" y="6432551"/>
            <a:ext cx="1117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fld id="{ED18C3D7-3FC7-4D76-B4D5-CC769DE5A17E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712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  <p:sldLayoutId id="2147483786" r:id="rId12"/>
    <p:sldLayoutId id="2147483787" r:id="rId13"/>
    <p:sldLayoutId id="2147483788" r:id="rId14"/>
    <p:sldLayoutId id="2147483789" r:id="rId15"/>
    <p:sldLayoutId id="2147483790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6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6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4">
            <a:extLst>
              <a:ext uri="{FF2B5EF4-FFF2-40B4-BE49-F238E27FC236}">
                <a16:creationId xmlns:a16="http://schemas.microsoft.com/office/drawing/2014/main" id="{71EBE938-6782-4B9E-AA97-F52A00A6DE4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Unit 5</a:t>
            </a:r>
            <a:br>
              <a:rPr lang="en-US" altLang="en-US" dirty="0"/>
            </a:br>
            <a:r>
              <a:rPr lang="en-US" altLang="en-US" dirty="0"/>
              <a:t>Scanner</a:t>
            </a:r>
          </a:p>
        </p:txBody>
      </p:sp>
      <p:sp>
        <p:nvSpPr>
          <p:cNvPr id="4098" name="Rectangle 18">
            <a:extLst>
              <a:ext uri="{FF2B5EF4-FFF2-40B4-BE49-F238E27FC236}">
                <a16:creationId xmlns:a16="http://schemas.microsoft.com/office/drawing/2014/main" id="{D25DD588-7182-4163-933B-55F268F9777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24C2F7D-81AF-41C5-8699-B40C3C8B659E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F61FDD2A-0B0E-411A-BA01-761D140000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381000"/>
            <a:ext cx="8153400" cy="1143000"/>
          </a:xfrm>
        </p:spPr>
        <p:txBody>
          <a:bodyPr/>
          <a:lstStyle/>
          <a:p>
            <a:pPr eaLnBrk="1" hangingPunct="1"/>
            <a:r>
              <a:rPr lang="en-US" altLang="en-US">
                <a:latin typeface="Times New Roman" panose="02020603050405020304" pitchFamily="18" charset="0"/>
              </a:rPr>
              <a:t>Task of a scanner</a:t>
            </a:r>
          </a:p>
        </p:txBody>
      </p:sp>
      <p:sp>
        <p:nvSpPr>
          <p:cNvPr id="5125" name="Rectangle 4">
            <a:extLst>
              <a:ext uri="{FF2B5EF4-FFF2-40B4-BE49-F238E27FC236}">
                <a16:creationId xmlns:a16="http://schemas.microsoft.com/office/drawing/2014/main" id="{B2F35148-8E70-4E65-94F0-C30B6A6F63B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600200"/>
            <a:ext cx="7467600" cy="4648200"/>
          </a:xfrm>
        </p:spPr>
        <p:txBody>
          <a:bodyPr/>
          <a:lstStyle/>
          <a:p>
            <a:pPr eaLnBrk="1" hangingPunct="1"/>
            <a:r>
              <a:rPr lang="en-US" altLang="en-US" sz="2900"/>
              <a:t>Delivers tokens</a:t>
            </a:r>
          </a:p>
          <a:p>
            <a:pPr eaLnBrk="1" hangingPunct="1"/>
            <a:endParaRPr lang="en-US" altLang="en-US" sz="2900"/>
          </a:p>
          <a:p>
            <a:pPr eaLnBrk="1" hangingPunct="1"/>
            <a:endParaRPr lang="en-US" altLang="en-US" sz="2900"/>
          </a:p>
          <a:p>
            <a:pPr eaLnBrk="1" hangingPunct="1"/>
            <a:endParaRPr lang="en-US" altLang="en-US" sz="2900"/>
          </a:p>
          <a:p>
            <a:pPr eaLnBrk="1" hangingPunct="1"/>
            <a:r>
              <a:rPr lang="en-US" altLang="en-US" sz="2900"/>
              <a:t>Skip meaningless characters</a:t>
            </a:r>
          </a:p>
          <a:p>
            <a:pPr lvl="1" eaLnBrk="1" hangingPunct="1"/>
            <a:r>
              <a:rPr lang="en-US" altLang="en-US" sz="2600"/>
              <a:t>blanks</a:t>
            </a:r>
          </a:p>
          <a:p>
            <a:pPr lvl="1" eaLnBrk="1" hangingPunct="1"/>
            <a:r>
              <a:rPr lang="en-US" altLang="en-US" sz="2600"/>
              <a:t>Tabulator characters</a:t>
            </a:r>
          </a:p>
          <a:p>
            <a:pPr lvl="1" eaLnBrk="1" hangingPunct="1"/>
            <a:r>
              <a:rPr lang="en-US" altLang="en-US" sz="2600"/>
              <a:t>End-of-line characters (CR,LF)</a:t>
            </a:r>
          </a:p>
          <a:p>
            <a:pPr lvl="1" eaLnBrk="1" hangingPunct="1"/>
            <a:r>
              <a:rPr lang="en-US" altLang="en-US" sz="2600"/>
              <a:t>Comments</a:t>
            </a:r>
          </a:p>
          <a:p>
            <a:pPr lvl="1" eaLnBrk="1" hangingPunct="1"/>
            <a:endParaRPr lang="en-US" altLang="en-US" sz="2600"/>
          </a:p>
          <a:p>
            <a:pPr eaLnBrk="1" hangingPunct="1"/>
            <a:endParaRPr lang="en-US" altLang="en-US" sz="2900"/>
          </a:p>
          <a:p>
            <a:pPr eaLnBrk="1" hangingPunct="1"/>
            <a:endParaRPr lang="en-US" altLang="en-US" sz="2900"/>
          </a:p>
          <a:p>
            <a:pPr eaLnBrk="1" hangingPunct="1"/>
            <a:endParaRPr lang="en-US" altLang="en-US" sz="2900"/>
          </a:p>
          <a:p>
            <a:pPr eaLnBrk="1" hangingPunct="1"/>
            <a:endParaRPr lang="en-US" altLang="en-US" sz="2900"/>
          </a:p>
          <a:p>
            <a:pPr eaLnBrk="1" hangingPunct="1"/>
            <a:endParaRPr lang="en-US" altLang="en-US" sz="2900"/>
          </a:p>
        </p:txBody>
      </p:sp>
      <p:graphicFrame>
        <p:nvGraphicFramePr>
          <p:cNvPr id="5124" name="Object 3">
            <a:extLst>
              <a:ext uri="{FF2B5EF4-FFF2-40B4-BE49-F238E27FC236}">
                <a16:creationId xmlns:a16="http://schemas.microsoft.com/office/drawing/2014/main" id="{4F70F3FF-F194-409D-941D-240A122A320F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304800" y="2335213"/>
          <a:ext cx="8382000" cy="173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" name="Bitmap Image" r:id="rId3" imgW="6276190" imgH="1295238" progId="Paint.Picture">
                  <p:embed/>
                </p:oleObj>
              </mc:Choice>
              <mc:Fallback>
                <p:oleObj name="Bitmap Image" r:id="rId3" imgW="6276190" imgH="1295238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335213"/>
                        <a:ext cx="8382000" cy="173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2" name="Slide Number Placeholder 5">
            <a:extLst>
              <a:ext uri="{FF2B5EF4-FFF2-40B4-BE49-F238E27FC236}">
                <a16:creationId xmlns:a16="http://schemas.microsoft.com/office/drawing/2014/main" id="{BFD9F867-2968-4374-9788-2F259A54D1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BFFA021-F4EC-4A36-87D3-350F4F420569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3">
            <a:extLst>
              <a:ext uri="{FF2B5EF4-FFF2-40B4-BE49-F238E27FC236}">
                <a16:creationId xmlns:a16="http://schemas.microsoft.com/office/drawing/2014/main" id="{F5FFD397-A98E-485C-8DD9-41E2A522FD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304800"/>
            <a:ext cx="8610600" cy="1143000"/>
          </a:xfrm>
        </p:spPr>
        <p:txBody>
          <a:bodyPr/>
          <a:lstStyle/>
          <a:p>
            <a:pPr eaLnBrk="1" hangingPunct="1"/>
            <a:r>
              <a:rPr lang="en-US" altLang="en-US" sz="4800">
                <a:latin typeface="Times New Roman" panose="02020603050405020304" pitchFamily="18" charset="0"/>
              </a:rPr>
              <a:t>Tokens have a syntactic structure</a:t>
            </a:r>
            <a:r>
              <a:rPr lang="en-US" altLang="en-US" sz="4000"/>
              <a:t> </a:t>
            </a: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09F3B0FE-9C1A-4965-A9EF-3AB3C3A5D51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981200"/>
            <a:ext cx="7924800" cy="3886200"/>
          </a:xfrm>
        </p:spPr>
        <p:txBody>
          <a:bodyPr/>
          <a:lstStyle/>
          <a:p>
            <a:pPr eaLnBrk="1" hangingPunct="1"/>
            <a:endParaRPr lang="en-US" altLang="en-US" sz="2800"/>
          </a:p>
          <a:p>
            <a:pPr eaLnBrk="1" hangingPunct="1"/>
            <a:endParaRPr lang="en-US" altLang="en-US" sz="2800"/>
          </a:p>
          <a:p>
            <a:pPr eaLnBrk="1" hangingPunct="1"/>
            <a:endParaRPr lang="en-US" altLang="en-US" sz="2800"/>
          </a:p>
          <a:p>
            <a:pPr eaLnBrk="1" hangingPunct="1"/>
            <a:endParaRPr lang="en-US" altLang="en-US" sz="2800"/>
          </a:p>
          <a:p>
            <a:pPr eaLnBrk="1" hangingPunct="1"/>
            <a:endParaRPr lang="en-US" altLang="en-US" sz="2800"/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Why is scanning not a part of parsing?</a:t>
            </a:r>
          </a:p>
        </p:txBody>
      </p:sp>
      <p:graphicFrame>
        <p:nvGraphicFramePr>
          <p:cNvPr id="6149" name="Object 4">
            <a:extLst>
              <a:ext uri="{FF2B5EF4-FFF2-40B4-BE49-F238E27FC236}">
                <a16:creationId xmlns:a16="http://schemas.microsoft.com/office/drawing/2014/main" id="{974E97A2-ED03-403B-B2BC-B4E2FDEF8171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1611313" y="2046288"/>
          <a:ext cx="5845175" cy="2678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3" name="Bitmap Image" r:id="rId3" imgW="1933333" imgH="885949" progId="Paint.Picture">
                  <p:embed/>
                </p:oleObj>
              </mc:Choice>
              <mc:Fallback>
                <p:oleObj name="Bitmap Image" r:id="rId3" imgW="1933333" imgH="885949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1313" y="2046288"/>
                        <a:ext cx="5845175" cy="2678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6" name="Slide Number Placeholder 5">
            <a:extLst>
              <a:ext uri="{FF2B5EF4-FFF2-40B4-BE49-F238E27FC236}">
                <a16:creationId xmlns:a16="http://schemas.microsoft.com/office/drawing/2014/main" id="{CE8CBCA1-9321-4248-A4FF-89785504F1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D6A7425-4190-4308-AA2A-C18D292EE451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>
            <a:extLst>
              <a:ext uri="{FF2B5EF4-FFF2-40B4-BE49-F238E27FC236}">
                <a16:creationId xmlns:a16="http://schemas.microsoft.com/office/drawing/2014/main" id="{D9F7D119-840B-4E01-83A9-5B7D085B56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533400"/>
            <a:ext cx="8915400" cy="1371600"/>
          </a:xfrm>
        </p:spPr>
        <p:txBody>
          <a:bodyPr/>
          <a:lstStyle/>
          <a:p>
            <a:pPr eaLnBrk="1" hangingPunct="1"/>
            <a:r>
              <a:rPr lang="en-US" altLang="en-US" sz="4000"/>
              <a:t>Why is scanning not a part of parsing?</a:t>
            </a:r>
            <a:br>
              <a:rPr lang="en-US" altLang="en-US" sz="4000"/>
            </a:br>
            <a:endParaRPr lang="en-US" altLang="en-US" sz="3000" b="1">
              <a:latin typeface="Times New Roman" panose="02020603050405020304" pitchFamily="18" charset="0"/>
            </a:endParaRP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D55724FC-F132-4386-A2AB-B333008B07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3000"/>
              <a:t>It would make parsing more complicated,e.g.</a:t>
            </a:r>
          </a:p>
          <a:p>
            <a:pPr lvl="1" eaLnBrk="1" hangingPunct="1"/>
            <a:r>
              <a:rPr lang="en-US" altLang="en-US"/>
              <a:t>Difficult distinction between identifiers and keywords</a:t>
            </a:r>
          </a:p>
          <a:p>
            <a:pPr lvl="1" eaLnBrk="1" hangingPunct="1"/>
            <a:r>
              <a:rPr lang="en-US" altLang="en-US"/>
              <a:t>The scanner must have complicated rules for eliminating blanks, tabs, comments,etc.</a:t>
            </a:r>
          </a:p>
          <a:p>
            <a:pPr lvl="1" eaLnBrk="1" hangingPunct="1"/>
            <a:r>
              <a:rPr lang="en-US" altLang="en-US"/>
              <a:t>=&gt; would lead to very complicated grammars</a:t>
            </a:r>
          </a:p>
        </p:txBody>
      </p:sp>
      <p:sp>
        <p:nvSpPr>
          <p:cNvPr id="7170" name="Slide Number Placeholder 4">
            <a:extLst>
              <a:ext uri="{FF2B5EF4-FFF2-40B4-BE49-F238E27FC236}">
                <a16:creationId xmlns:a16="http://schemas.microsoft.com/office/drawing/2014/main" id="{2FD00E61-E748-42B2-8CCB-3A7EB2062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4B40CE9-9A75-4797-A0A2-9CA5361E9D6A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>
            <a:extLst>
              <a:ext uri="{FF2B5EF4-FFF2-40B4-BE49-F238E27FC236}">
                <a16:creationId xmlns:a16="http://schemas.microsoft.com/office/drawing/2014/main" id="{41AA0495-9B4F-4C6D-9EE1-15959D24A5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7696200" cy="1143000"/>
          </a:xfrm>
        </p:spPr>
        <p:txBody>
          <a:bodyPr/>
          <a:lstStyle/>
          <a:p>
            <a:pPr eaLnBrk="1" hangingPunct="1"/>
            <a:r>
              <a:rPr lang="en-US" altLang="en-US"/>
              <a:t>Token classes of KPL</a:t>
            </a:r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AD6ADD06-24F4-4522-A007-3F57ABA827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1000" y="1219200"/>
            <a:ext cx="8229600" cy="4343400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en-US" sz="2100"/>
              <a:t>Unsigned integer</a:t>
            </a:r>
          </a:p>
          <a:p>
            <a:pPr eaLnBrk="1" hangingPunct="1"/>
            <a:r>
              <a:rPr lang="en-US" altLang="en-US" sz="2100"/>
              <a:t>Identifier</a:t>
            </a:r>
          </a:p>
          <a:p>
            <a:pPr eaLnBrk="1" hangingPunct="1"/>
            <a:r>
              <a:rPr lang="en-US" altLang="en-US" sz="2100"/>
              <a:t>Key word: begin,end, if,then, while, do, call, const, var, procedure, program,type, function,of,integer,char,else,for, to,array</a:t>
            </a:r>
          </a:p>
          <a:p>
            <a:pPr eaLnBrk="1" hangingPunct="1"/>
            <a:r>
              <a:rPr lang="en-US" altLang="en-US" sz="2100"/>
              <a:t>Character constant </a:t>
            </a:r>
          </a:p>
          <a:p>
            <a:pPr eaLnBrk="1" hangingPunct="1"/>
            <a:r>
              <a:rPr lang="en-US" altLang="en-US" sz="2100"/>
              <a:t>Operators: </a:t>
            </a:r>
          </a:p>
          <a:p>
            <a:pPr lvl="1" eaLnBrk="1" hangingPunct="1"/>
            <a:r>
              <a:rPr lang="en-US" altLang="en-US" sz="2100"/>
              <a:t>Arithmetic 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en-US" sz="2100"/>
              <a:t>+ - */ </a:t>
            </a:r>
          </a:p>
          <a:p>
            <a:pPr lvl="1" eaLnBrk="1" hangingPunct="1"/>
            <a:r>
              <a:rPr lang="en-US" altLang="en-US" sz="2100"/>
              <a:t>Relational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100"/>
              <a:t>	=         !=       &lt;         &gt;     &lt;=           &gt;=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100"/>
              <a:t>Assign :=</a:t>
            </a:r>
          </a:p>
          <a:p>
            <a:pPr eaLnBrk="1" hangingPunct="1"/>
            <a:r>
              <a:rPr lang="en-US" altLang="en-US" sz="2100"/>
              <a:t>Separators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100"/>
              <a:t>(   )   .  :   ;    (.    .)</a:t>
            </a:r>
          </a:p>
          <a:p>
            <a:pPr eaLnBrk="1" hangingPunct="1"/>
            <a:endParaRPr lang="en-US" altLang="en-US" sz="2100"/>
          </a:p>
          <a:p>
            <a:pPr eaLnBrk="1" hangingPunct="1"/>
            <a:endParaRPr lang="en-US" altLang="en-US"/>
          </a:p>
        </p:txBody>
      </p:sp>
      <p:sp>
        <p:nvSpPr>
          <p:cNvPr id="8194" name="Slide Number Placeholder 4">
            <a:extLst>
              <a:ext uri="{FF2B5EF4-FFF2-40B4-BE49-F238E27FC236}">
                <a16:creationId xmlns:a16="http://schemas.microsoft.com/office/drawing/2014/main" id="{8A8DF401-0326-4753-A983-585271BD1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2A96DB8-CA2D-4452-B9DD-DE6E094FBCCA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4">
            <a:extLst>
              <a:ext uri="{FF2B5EF4-FFF2-40B4-BE49-F238E27FC236}">
                <a16:creationId xmlns:a16="http://schemas.microsoft.com/office/drawing/2014/main" id="{4F7EBB46-CD01-436C-9744-FF8755A67D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2362200"/>
            <a:ext cx="3200400" cy="2779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cs typeface="Arial" panose="020B0604020202020204" pitchFamily="34" charset="0"/>
              </a:rPr>
              <a:t>After every recognized token, the scanner starts in state 0 again</a:t>
            </a:r>
          </a:p>
          <a:p>
            <a:pPr>
              <a:buSzPct val="70000"/>
              <a:buFontTx/>
              <a:buNone/>
            </a:pPr>
            <a:r>
              <a:rPr lang="en-US" altLang="en-US" sz="1800">
                <a:cs typeface="Arial" panose="020B0604020202020204" pitchFamily="34" charset="0"/>
              </a:rPr>
              <a:t>If an illegal character is met, the scanner would change to the states 30 or 38  which tell the scanner to stop scanning and return error messages.</a:t>
            </a:r>
            <a:endParaRPr lang="vi-VN" altLang="en-US" sz="1800">
              <a:cs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cs typeface="Arial" panose="020B0604020202020204" pitchFamily="34" charset="0"/>
              </a:rPr>
              <a:t>Notice the yellow states</a:t>
            </a: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6F86070D-4302-4754-A7EE-B6D582DA5A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943600" y="0"/>
            <a:ext cx="3200400" cy="2133600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altLang="en-US" sz="3200"/>
              <a:t>The scanner as Finite Automaton</a:t>
            </a:r>
            <a:endParaRPr lang="en-US" altLang="en-US" sz="3000"/>
          </a:p>
        </p:txBody>
      </p:sp>
      <p:pic>
        <p:nvPicPr>
          <p:cNvPr id="9220" name="Picture 1">
            <a:extLst>
              <a:ext uri="{FF2B5EF4-FFF2-40B4-BE49-F238E27FC236}">
                <a16:creationId xmlns:a16="http://schemas.microsoft.com/office/drawing/2014/main" id="{28805F8F-E20E-4722-A600-7ABE053DF5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2875"/>
            <a:ext cx="5943600" cy="671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B2494FDA-C689-480D-8BB9-3AA5DBC71C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118267"/>
            <a:ext cx="8591550" cy="13255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/>
              <a:t>Scanner implementation based on DFA</a:t>
            </a:r>
            <a:endParaRPr lang="en-US" altLang="en-US" sz="4000" dirty="0">
              <a:cs typeface="Arial" panose="020B0604020202020204" pitchFamily="34" charset="0"/>
            </a:endParaRP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0909AD08-360D-48D5-8C82-0FD05611F6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state = 0;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currentChar</a:t>
            </a: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getCurrentChar</a:t>
            </a: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token = </a:t>
            </a:r>
            <a:r>
              <a:rPr lang="en-US" alt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getToken</a:t>
            </a: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while ( token!=EOF)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{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state =0;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token = </a:t>
            </a:r>
            <a:r>
              <a:rPr lang="en-US" alt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getToken</a:t>
            </a:r>
            <a:r>
              <a:rPr lang="en-US" alt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67167F42-B6B4-498F-8D31-DF60936174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152400"/>
            <a:ext cx="6553200" cy="838200"/>
          </a:xfrm>
        </p:spPr>
        <p:txBody>
          <a:bodyPr/>
          <a:lstStyle/>
          <a:p>
            <a:pPr eaLnBrk="1" hangingPunct="1"/>
            <a:r>
              <a:rPr lang="en-US" altLang="en-US" dirty="0"/>
              <a:t>Token recognizer</a:t>
            </a:r>
          </a:p>
        </p:txBody>
      </p:sp>
      <p:sp>
        <p:nvSpPr>
          <p:cNvPr id="12291" name="Rectangle 14">
            <a:extLst>
              <a:ext uri="{FF2B5EF4-FFF2-40B4-BE49-F238E27FC236}">
                <a16:creationId xmlns:a16="http://schemas.microsoft.com/office/drawing/2014/main" id="{66D7E4C9-B51F-4B49-A015-48A26ACFBECB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381000" y="990600"/>
            <a:ext cx="4648200" cy="52578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switch (state)</a:t>
            </a:r>
          </a:p>
          <a:p>
            <a:pPr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pPr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case 0 :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currentChar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getCurrentChar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switch (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currentChar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  case space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state = 1;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  case 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lpar</a:t>
            </a:r>
            <a:endParaRPr lang="en-US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state = 2;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  case  letter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state = 8;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  case digit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state =10;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  case plus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state = 12;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  ……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000" dirty="0"/>
          </a:p>
          <a:p>
            <a:pPr lvl="1" eaLnBrk="1" hangingPunct="1">
              <a:lnSpc>
                <a:spcPct val="80000"/>
              </a:lnSpc>
            </a:pPr>
            <a:endParaRPr lang="en-US" alt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re 1">
            <a:extLst>
              <a:ext uri="{FF2B5EF4-FFF2-40B4-BE49-F238E27FC236}">
                <a16:creationId xmlns:a16="http://schemas.microsoft.com/office/drawing/2014/main" id="{03DA7D23-F6C0-494A-B11D-24CA5CFE65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Token recognizer (cont’d)</a:t>
            </a:r>
            <a:endParaRPr lang="fr-FR" altLang="en-US"/>
          </a:p>
        </p:txBody>
      </p:sp>
      <p:sp>
        <p:nvSpPr>
          <p:cNvPr id="13315" name="Espace réservé du contenu 2">
            <a:extLst>
              <a:ext uri="{FF2B5EF4-FFF2-40B4-BE49-F238E27FC236}">
                <a16:creationId xmlns:a16="http://schemas.microsoft.com/office/drawing/2014/main" id="{5CF6FEFA-18FA-4B29-A718-23C8B19D67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28625" y="1120140"/>
            <a:ext cx="8229600" cy="54864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c</a:t>
            </a:r>
            <a:r>
              <a:rPr lang="en-US" alt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ase 1: 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while (current Char== space) // skip blanks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currentChar</a:t>
            </a:r>
            <a:r>
              <a:rPr lang="en-US" alt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getCurrentChar</a:t>
            </a:r>
            <a:r>
              <a:rPr lang="en-US" alt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	state =0;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case 2: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currentChar</a:t>
            </a:r>
            <a:r>
              <a:rPr lang="en-US" alt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getCurrentChar</a:t>
            </a:r>
            <a:r>
              <a:rPr lang="en-US" alt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switch  (</a:t>
            </a:r>
            <a:r>
              <a:rPr lang="en-US" alt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currentChar</a:t>
            </a:r>
            <a:r>
              <a:rPr lang="en-US" alt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case period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state = 6;//  token </a:t>
            </a:r>
            <a:r>
              <a:rPr lang="en-US" alt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lsel</a:t>
            </a:r>
            <a:r>
              <a:rPr lang="en-US" alt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case times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state =3; //skip comment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else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		state =7; // token </a:t>
            </a:r>
            <a:r>
              <a:rPr lang="en-US" alt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lpar</a:t>
            </a:r>
            <a:endParaRPr lang="en-US" altLang="en-US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  <a:p>
            <a:pPr>
              <a:buFont typeface="Arial" panose="020B0604020202020204" pitchFamily="34" charset="0"/>
              <a:buNone/>
            </a:pPr>
            <a:endParaRPr lang="fr-FR" altLang="en-US" dirty="0"/>
          </a:p>
        </p:txBody>
      </p:sp>
      <p:pic>
        <p:nvPicPr>
          <p:cNvPr id="13316" name="Picture 2">
            <a:extLst>
              <a:ext uri="{FF2B5EF4-FFF2-40B4-BE49-F238E27FC236}">
                <a16:creationId xmlns:a16="http://schemas.microsoft.com/office/drawing/2014/main" id="{BE6C1CC5-3114-4A56-991C-D897553F21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1600200"/>
            <a:ext cx="1800225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Titre 1">
            <a:extLst>
              <a:ext uri="{FF2B5EF4-FFF2-40B4-BE49-F238E27FC236}">
                <a16:creationId xmlns:a16="http://schemas.microsoft.com/office/drawing/2014/main" id="{F76E641E-3E17-4F1A-B94F-384C2BD7F9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Token recognizer (cont’d)</a:t>
            </a:r>
            <a:endParaRPr lang="fr-FR" altLang="en-US"/>
          </a:p>
        </p:txBody>
      </p:sp>
      <p:sp>
        <p:nvSpPr>
          <p:cNvPr id="14338" name="Espace réservé du contenu 2">
            <a:extLst>
              <a:ext uri="{FF2B5EF4-FFF2-40B4-BE49-F238E27FC236}">
                <a16:creationId xmlns:a16="http://schemas.microsoft.com/office/drawing/2014/main" id="{1B6CDA57-EE74-4048-A778-82FEDCE480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43000"/>
            <a:ext cx="8229600" cy="5029200"/>
          </a:xfrm>
        </p:spPr>
        <p:txBody>
          <a:bodyPr>
            <a:normAutofit fontScale="85000" lnSpcReduction="20000"/>
          </a:bodyPr>
          <a:lstStyle/>
          <a:p>
            <a:pPr>
              <a:buFont typeface="Arial" panose="020B0604020202020204" pitchFamily="34" charset="0"/>
              <a:buNone/>
            </a:pPr>
            <a:r>
              <a:rPr lang="en-US" alt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case 3: // skip comment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sz="1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currentChar</a:t>
            </a:r>
            <a:r>
              <a:rPr lang="en-US" alt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1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getCurrentChar</a:t>
            </a:r>
            <a:r>
              <a:rPr lang="en-US" alt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	while (</a:t>
            </a:r>
            <a:r>
              <a:rPr lang="en-US" altLang="en-US" sz="1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currentChar</a:t>
            </a:r>
            <a:r>
              <a:rPr lang="en-US" alt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!= times) 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	{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state = 3;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en-US" sz="1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currentChar</a:t>
            </a:r>
            <a:r>
              <a:rPr lang="en-US" alt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1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getCurrentChar</a:t>
            </a:r>
            <a:r>
              <a:rPr lang="en-US" alt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	} 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	state = 4;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case 4: 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sz="1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currentChar</a:t>
            </a:r>
            <a:r>
              <a:rPr lang="en-US" alt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1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getCurrentChar</a:t>
            </a:r>
            <a:r>
              <a:rPr lang="en-US" alt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	while (</a:t>
            </a:r>
            <a:r>
              <a:rPr lang="en-US" altLang="en-US" sz="1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currentChar</a:t>
            </a:r>
            <a:r>
              <a:rPr lang="en-US" alt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== times) 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	{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state = 4;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en-US" sz="1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currentChar</a:t>
            </a:r>
            <a:r>
              <a:rPr lang="en-US" alt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1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getCurrentChar</a:t>
            </a:r>
            <a:r>
              <a:rPr lang="en-US" alt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	} 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  (</a:t>
            </a:r>
            <a:r>
              <a:rPr lang="en-US" altLang="en-US" sz="1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currentChar</a:t>
            </a:r>
            <a:r>
              <a:rPr lang="en-US" alt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== </a:t>
            </a:r>
            <a:r>
              <a:rPr lang="en-US" altLang="en-US" sz="1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lpar</a:t>
            </a:r>
            <a:r>
              <a:rPr lang="en-US" altLang="en-US" sz="19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 state = 5; else state =3;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 sz="1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altLang="en-US" sz="2000" dirty="0"/>
          </a:p>
          <a:p>
            <a:pPr>
              <a:buFont typeface="Arial" panose="020B0604020202020204" pitchFamily="34" charset="0"/>
              <a:buNone/>
            </a:pPr>
            <a:endParaRPr lang="en-US" altLang="en-US" sz="2000" dirty="0"/>
          </a:p>
          <a:p>
            <a:pPr>
              <a:buFont typeface="Arial" panose="020B0604020202020204" pitchFamily="34" charset="0"/>
              <a:buNone/>
            </a:pPr>
            <a:endParaRPr lang="en-US" altLang="en-US" sz="2000" dirty="0"/>
          </a:p>
          <a:p>
            <a:pPr>
              <a:buFont typeface="Arial" panose="020B0604020202020204" pitchFamily="34" charset="0"/>
              <a:buNone/>
            </a:pPr>
            <a:endParaRPr lang="en-US" altLang="en-US" sz="2000" dirty="0"/>
          </a:p>
          <a:p>
            <a:pPr>
              <a:buFont typeface="Arial" panose="020B0604020202020204" pitchFamily="34" charset="0"/>
              <a:buNone/>
            </a:pPr>
            <a:endParaRPr lang="fr-FR" altLang="en-US" dirty="0"/>
          </a:p>
        </p:txBody>
      </p:sp>
      <p:pic>
        <p:nvPicPr>
          <p:cNvPr id="14339" name="Picture 4">
            <a:extLst>
              <a:ext uri="{FF2B5EF4-FFF2-40B4-BE49-F238E27FC236}">
                <a16:creationId xmlns:a16="http://schemas.microsoft.com/office/drawing/2014/main" id="{2F9170B3-887D-4389-8018-800F084C4A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3048000"/>
            <a:ext cx="3565525" cy="1658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u contenu 2">
            <a:extLst>
              <a:ext uri="{FF2B5EF4-FFF2-40B4-BE49-F238E27FC236}">
                <a16:creationId xmlns:a16="http://schemas.microsoft.com/office/drawing/2014/main" id="{67A1AB14-1CFA-46A3-B2CC-D1EEDAF8CE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case 9: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if (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checkKeyword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(token) == TK_NONE)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install_ident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();// save to symbol table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else 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return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checkKeyword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(token);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…………</a:t>
            </a:r>
            <a:endParaRPr lang="fr-FR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363" name="Titre 1">
            <a:extLst>
              <a:ext uri="{FF2B5EF4-FFF2-40B4-BE49-F238E27FC236}">
                <a16:creationId xmlns:a16="http://schemas.microsoft.com/office/drawing/2014/main" id="{529B575E-BF2C-4E17-BFF1-A83D189252F3}"/>
              </a:ext>
            </a:extLst>
          </p:cNvPr>
          <p:cNvSpPr txBox="1">
            <a:spLocks/>
          </p:cNvSpPr>
          <p:nvPr/>
        </p:nvSpPr>
        <p:spPr bwMode="auto">
          <a:xfrm>
            <a:off x="457200" y="457200"/>
            <a:ext cx="82296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400"/>
              <a:t>Token recognizer (cont’d)</a:t>
            </a:r>
            <a:endParaRPr lang="fr-FR" altLang="en-US" sz="4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>
            <a:extLst>
              <a:ext uri="{FF2B5EF4-FFF2-40B4-BE49-F238E27FC236}">
                <a16:creationId xmlns:a16="http://schemas.microsoft.com/office/drawing/2014/main" id="{4E94167F-D588-4990-86EB-059B8B0F2B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Initialize a symbol table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B5CD5D42-3F49-45A9-B77B-C8F3304980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550748"/>
            <a:ext cx="7886700" cy="44831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/>
              <a:t>The following information about identifiers is saved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/>
              <a:t>Name:string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/>
              <a:t>Attribute : type name, variable name, constant name. . 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/>
              <a:t>Data type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/>
              <a:t>Scope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/>
              <a:t>Address and size of the memory where the lexeme is located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/>
              <a:t>. . .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800"/>
          </a:p>
          <a:p>
            <a:pPr eaLnBrk="1" hangingPunct="1">
              <a:lnSpc>
                <a:spcPct val="80000"/>
              </a:lnSpc>
            </a:pPr>
            <a:endParaRPr lang="en-US" altLang="en-US" sz="2800"/>
          </a:p>
        </p:txBody>
      </p:sp>
      <p:sp>
        <p:nvSpPr>
          <p:cNvPr id="16386" name="Slide Number Placeholder 4">
            <a:extLst>
              <a:ext uri="{FF2B5EF4-FFF2-40B4-BE49-F238E27FC236}">
                <a16:creationId xmlns:a16="http://schemas.microsoft.com/office/drawing/2014/main" id="{20B5E168-C9DC-47E0-AF33-4136344A1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DDC8E79-12A1-42D1-A4FC-8CA7BFD1DD3E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>
            <a:extLst>
              <a:ext uri="{FF2B5EF4-FFF2-40B4-BE49-F238E27FC236}">
                <a16:creationId xmlns:a16="http://schemas.microsoft.com/office/drawing/2014/main" id="{47DC2A67-6792-4221-B37C-DD603E6D5F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Distinction between identifiers and keywords</a:t>
            </a: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72932F1D-0E9B-4B4B-9624-9560E968E5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3400" y="1701403"/>
            <a:ext cx="7886700" cy="44831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Variable </a:t>
            </a:r>
            <a:r>
              <a:rPr lang="en-US" altLang="en-US" sz="2400" dirty="0" err="1"/>
              <a:t>ch</a:t>
            </a:r>
            <a:r>
              <a:rPr lang="en-US" altLang="en-US" sz="2400" dirty="0"/>
              <a:t> is assigned with the first character of the lexeme.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Read all digits and letters into string 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Use binary search algorithm to find if there is an entry for that string in table of keyword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If found       </a:t>
            </a:r>
            <a:r>
              <a:rPr lang="en-US" altLang="en-US" sz="2400" dirty="0" err="1"/>
              <a:t>t.kind</a:t>
            </a:r>
            <a:r>
              <a:rPr lang="en-US" altLang="en-US" sz="2400" dirty="0"/>
              <a:t> =  order of the keyword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Otherwise, </a:t>
            </a:r>
            <a:r>
              <a:rPr lang="en-US" altLang="en-US" sz="2400" dirty="0" err="1"/>
              <a:t>t.kind</a:t>
            </a:r>
            <a:r>
              <a:rPr lang="en-US" altLang="en-US" sz="2400" dirty="0"/>
              <a:t> =ident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At last, variable </a:t>
            </a:r>
            <a:r>
              <a:rPr lang="en-US" altLang="en-US" sz="2400" dirty="0" err="1"/>
              <a:t>ch</a:t>
            </a:r>
            <a:r>
              <a:rPr lang="en-US" altLang="en-US" sz="2400" dirty="0"/>
              <a:t> contains the first character of the next lexeme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                                                                                                 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dirty="0"/>
          </a:p>
        </p:txBody>
      </p:sp>
      <p:sp>
        <p:nvSpPr>
          <p:cNvPr id="17410" name="Slide Number Placeholder 4">
            <a:extLst>
              <a:ext uri="{FF2B5EF4-FFF2-40B4-BE49-F238E27FC236}">
                <a16:creationId xmlns:a16="http://schemas.microsoft.com/office/drawing/2014/main" id="{F1E60E18-87DC-44B3-9465-FFC42A6F8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7595F56-5AD8-4E70-ACFE-0651E6AF8BD3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>
            <a:extLst>
              <a:ext uri="{FF2B5EF4-FFF2-40B4-BE49-F238E27FC236}">
                <a16:creationId xmlns:a16="http://schemas.microsoft.com/office/drawing/2014/main" id="{3AF54346-5AA5-4022-966E-A805545F44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190500"/>
            <a:ext cx="8229600" cy="838200"/>
          </a:xfrm>
        </p:spPr>
        <p:txBody>
          <a:bodyPr>
            <a:normAutofit/>
          </a:bodyPr>
          <a:lstStyle/>
          <a:p>
            <a:r>
              <a:rPr lang="en-US" altLang="en-US" sz="4000" dirty="0"/>
              <a:t>Data structure for tokens</a:t>
            </a:r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D15D25F9-F4DF-4EC6-A91E-91898CF389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1143000"/>
            <a:ext cx="8686800" cy="50292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 err="1"/>
              <a:t>enum</a:t>
            </a:r>
            <a:r>
              <a:rPr lang="en-US" altLang="en-US" sz="2000" dirty="0"/>
              <a:t> {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/>
              <a:t>  TK_NONE, TK_IDENT, TK_NUMBER, TK_CHAR, TK_EOF,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0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/>
              <a:t>  KW_PROGRAM, KW_CONST, KW_TYPE, KW_VAR,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/>
              <a:t>  KW_INTEGER, KW_CHAR, KW_ARRAY, KW_OF,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/>
              <a:t>  KW_FUNCTION, KW_PROCEDURE,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/>
              <a:t>  KW_BEGIN, KW_END, KW_CALL,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/>
              <a:t>  KW_IF, KW_THEN, KW_ELSE,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/>
              <a:t>  KW_WHILE, KW_DO, KW_FOR, KW_TO,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0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/>
              <a:t>  SB_SEMICOLON, SB_COLON, SB_PERIOD, SB_COMMA,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/>
              <a:t>  SB_ASSIGN, SB_EQ, SB_NEQ, SB_LT, SB_LE, SB_GT, SB_GE,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/>
              <a:t>  SB_PLUS, SB_MINUS, SB_TIMES, SB_SLASH,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/>
              <a:t>  SB_LPAR, SB_RPAR, SB_LSEL, SB_RSEL	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/>
              <a:t>};</a:t>
            </a:r>
          </a:p>
        </p:txBody>
      </p:sp>
      <p:sp>
        <p:nvSpPr>
          <p:cNvPr id="18434" name="Slide Number Placeholder 4">
            <a:extLst>
              <a:ext uri="{FF2B5EF4-FFF2-40B4-BE49-F238E27FC236}">
                <a16:creationId xmlns:a16="http://schemas.microsoft.com/office/drawing/2014/main" id="{D2F4F00D-D484-465B-B1A1-F057241AF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0" y="6400800"/>
            <a:ext cx="2133600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fld id="{E78A708F-5C2A-44F1-8A2B-02A9359D4D86}" type="slidenum">
              <a:rPr lang="en-US" altLang="en-US" sz="1200">
                <a:cs typeface="Arial" panose="020B0604020202020204" pitchFamily="34" charset="0"/>
              </a:rPr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200"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ICT-PPT-template-hoi-thao-onlin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SoICT-PPT-template-hoi-thao-online</Template>
  <TotalTime>3173</TotalTime>
  <Words>867</Words>
  <Application>Microsoft Office PowerPoint</Application>
  <PresentationFormat>On-screen Show (4:3)</PresentationFormat>
  <Paragraphs>157</Paragraphs>
  <Slides>14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Wingdings</vt:lpstr>
      <vt:lpstr>Arial Black</vt:lpstr>
      <vt:lpstr>Times New Roman</vt:lpstr>
      <vt:lpstr>Calibri</vt:lpstr>
      <vt:lpstr>SoICT-PPT-template-hoi-thao-online</vt:lpstr>
      <vt:lpstr>Bitmap Image</vt:lpstr>
      <vt:lpstr>Unit 5 Scanner</vt:lpstr>
      <vt:lpstr>Task of a scanner</vt:lpstr>
      <vt:lpstr>Tokens have a syntactic structure </vt:lpstr>
      <vt:lpstr>Why is scanning not a part of parsing? </vt:lpstr>
      <vt:lpstr>Token classes of KPL</vt:lpstr>
      <vt:lpstr>The scanner as Finite Automaton</vt:lpstr>
      <vt:lpstr>Scanner implementation based on DFA</vt:lpstr>
      <vt:lpstr>Token recognizer</vt:lpstr>
      <vt:lpstr>Token recognizer (cont’d)</vt:lpstr>
      <vt:lpstr>Token recognizer (cont’d)</vt:lpstr>
      <vt:lpstr>PowerPoint Presentation</vt:lpstr>
      <vt:lpstr>Initialize a symbol table</vt:lpstr>
      <vt:lpstr>Distinction between identifiers and keywords</vt:lpstr>
      <vt:lpstr>Data structure for tokens</vt:lpstr>
    </vt:vector>
  </TitlesOfParts>
  <Company>Tel 0915 152 158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COMPILER COSTRUCTION</dc:title>
  <dc:creator>huongnt</dc:creator>
  <cp:lastModifiedBy>Nguyen Thi Thu Huong</cp:lastModifiedBy>
  <cp:revision>316</cp:revision>
  <cp:lastPrinted>2016-09-05T09:03:07Z</cp:lastPrinted>
  <dcterms:created xsi:type="dcterms:W3CDTF">2008-08-10T02:45:21Z</dcterms:created>
  <dcterms:modified xsi:type="dcterms:W3CDTF">2021-01-19T15:31:24Z</dcterms:modified>
</cp:coreProperties>
</file>