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1"/>
  </p:sldMasterIdLst>
  <p:notesMasterIdLst>
    <p:notesMasterId r:id="rId32"/>
  </p:notesMasterIdLst>
  <p:sldIdLst>
    <p:sldId id="355" r:id="rId2"/>
    <p:sldId id="356" r:id="rId3"/>
    <p:sldId id="382" r:id="rId4"/>
    <p:sldId id="357" r:id="rId5"/>
    <p:sldId id="358" r:id="rId6"/>
    <p:sldId id="360" r:id="rId7"/>
    <p:sldId id="361" r:id="rId8"/>
    <p:sldId id="384" r:id="rId9"/>
    <p:sldId id="383" r:id="rId10"/>
    <p:sldId id="362" r:id="rId11"/>
    <p:sldId id="363" r:id="rId12"/>
    <p:sldId id="364" r:id="rId13"/>
    <p:sldId id="365" r:id="rId14"/>
    <p:sldId id="366" r:id="rId15"/>
    <p:sldId id="386" r:id="rId16"/>
    <p:sldId id="367" r:id="rId17"/>
    <p:sldId id="368" r:id="rId18"/>
    <p:sldId id="374" r:id="rId19"/>
    <p:sldId id="375" r:id="rId20"/>
    <p:sldId id="376" r:id="rId21"/>
    <p:sldId id="377" r:id="rId22"/>
    <p:sldId id="381" r:id="rId23"/>
    <p:sldId id="389" r:id="rId24"/>
    <p:sldId id="394" r:id="rId25"/>
    <p:sldId id="393" r:id="rId26"/>
    <p:sldId id="387" r:id="rId27"/>
    <p:sldId id="391" r:id="rId28"/>
    <p:sldId id="390" r:id="rId29"/>
    <p:sldId id="388" r:id="rId30"/>
    <p:sldId id="395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33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29064" autoAdjust="0"/>
    <p:restoredTop sz="94836" autoAdjust="0"/>
  </p:normalViewPr>
  <p:slideViewPr>
    <p:cSldViewPr>
      <p:cViewPr varScale="1">
        <p:scale>
          <a:sx n="52" d="100"/>
          <a:sy n="52" d="100"/>
        </p:scale>
        <p:origin x="1485" y="4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D32AD2B5-33F6-4BF1-8642-646B29515A2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CA87938D-C2E9-43C4-AAB4-7249451783D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>
            <a:extLst>
              <a:ext uri="{FF2B5EF4-FFF2-40B4-BE49-F238E27FC236}">
                <a16:creationId xmlns:a16="http://schemas.microsoft.com/office/drawing/2014/main" id="{95AFD4CC-0207-432C-A4B4-80910AD64D09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A7C97FF8-3826-445E-B875-AADF7206877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3798" name="Rectangle 6">
            <a:extLst>
              <a:ext uri="{FF2B5EF4-FFF2-40B4-BE49-F238E27FC236}">
                <a16:creationId xmlns:a16="http://schemas.microsoft.com/office/drawing/2014/main" id="{C2870993-8DFF-4899-A06C-D9CCB06A3F3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9" name="Rectangle 7">
            <a:extLst>
              <a:ext uri="{FF2B5EF4-FFF2-40B4-BE49-F238E27FC236}">
                <a16:creationId xmlns:a16="http://schemas.microsoft.com/office/drawing/2014/main" id="{AB691F44-375F-4174-85DC-4C0CB58569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CB847C96-5819-41AD-AF40-3A24537E8CB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A4B3F34-0912-4C09-AFE4-D38EEE02B823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4081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46842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93851"/>
            <a:ext cx="7886700" cy="44831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57950" y="6141245"/>
            <a:ext cx="2057400" cy="3651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2350" y="6413501"/>
            <a:ext cx="1143000" cy="365125"/>
          </a:xfrm>
        </p:spPr>
        <p:txBody>
          <a:bodyPr/>
          <a:lstStyle/>
          <a:p>
            <a:fld id="{5A2761A2-D74A-4896-B96C-6D8FF8306C3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0081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23966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3227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5AFC2-229B-4EDD-8F8A-7C98D13850E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2331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62877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62877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0BF6C-FBFF-425D-9698-254FC20D1AA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666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A3C61-CBBC-421B-9D94-EC743FF16D87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063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F5DA-3121-4B41-841D-56F12016AAF0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8463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900" y="1781176"/>
            <a:ext cx="2711450" cy="4244974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992B6-F90B-4BD5-B95B-20143A3C462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0463299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992B6-F90B-4BD5-B95B-20143A3C462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064105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9A035-CBA6-4244-AD6D-BC225BB194E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637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992B6-F90B-4BD5-B95B-20143A3C462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923343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992B6-F90B-4BD5-B95B-20143A3C462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012785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457200"/>
            <a:ext cx="4629150" cy="54038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3675-01F3-4A93-A12A-DA4CF6917E6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51012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457200"/>
            <a:ext cx="4629150" cy="540385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677EE-F5E7-41B5-9993-22A468A0608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6089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BAB5E-BC60-478C-A577-300815CC8EF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09718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8DF6-EBAD-4BD2-B7F8-E7EC9080C176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1385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5557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625600"/>
            <a:ext cx="7886700" cy="44608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97750" y="6121400"/>
            <a:ext cx="1117600" cy="2762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87850" y="6432550"/>
            <a:ext cx="3009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97750" y="6432551"/>
            <a:ext cx="1117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6D992B6-F90B-4BD5-B95B-20143A3C462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2441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  <p:sldLayoutId id="2147483778" r:id="rId13"/>
    <p:sldLayoutId id="2147483779" r:id="rId14"/>
    <p:sldLayoutId id="2147483780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4">
            <a:extLst>
              <a:ext uri="{FF2B5EF4-FFF2-40B4-BE49-F238E27FC236}">
                <a16:creationId xmlns:a16="http://schemas.microsoft.com/office/drawing/2014/main" id="{52B7AE09-E673-4191-9B54-2BDB4493F01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981200"/>
            <a:ext cx="7772400" cy="2387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5400" dirty="0"/>
              <a:t>Unit  6</a:t>
            </a:r>
            <a:br>
              <a:rPr lang="en-US" altLang="en-US" sz="5400" dirty="0"/>
            </a:br>
            <a:r>
              <a:rPr lang="en-US" altLang="en-US" sz="5400" dirty="0"/>
              <a:t>Top down backtrack parsing</a:t>
            </a:r>
          </a:p>
        </p:txBody>
      </p:sp>
      <p:sp>
        <p:nvSpPr>
          <p:cNvPr id="3074" name="Rectangle 18">
            <a:extLst>
              <a:ext uri="{FF2B5EF4-FFF2-40B4-BE49-F238E27FC236}">
                <a16:creationId xmlns:a16="http://schemas.microsoft.com/office/drawing/2014/main" id="{532CBA6D-F884-4419-AB92-A9881E816E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4255944-D6A5-443D-94A0-188029C24911}" type="slidenum">
              <a:rPr lang="en-US" altLang="en-US">
                <a:latin typeface="Arial Black" panose="020B0A04020102020204" pitchFamily="34" charset="0"/>
              </a:rPr>
              <a:pPr/>
              <a:t>1</a:t>
            </a:fld>
            <a:endParaRPr lang="en-US" altLang="en-US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>
            <a:extLst>
              <a:ext uri="{FF2B5EF4-FFF2-40B4-BE49-F238E27FC236}">
                <a16:creationId xmlns:a16="http://schemas.microsoft.com/office/drawing/2014/main" id="{7FAE5A23-6BAC-42E5-8C0C-3F2EB529C9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8915400" cy="1371600"/>
          </a:xfrm>
        </p:spPr>
        <p:txBody>
          <a:bodyPr/>
          <a:lstStyle/>
          <a:p>
            <a:pPr eaLnBrk="1" hangingPunct="1"/>
            <a:r>
              <a:rPr lang="en-US" altLang="en-US" sz="4000"/>
              <a:t> Problem of parsing</a:t>
            </a: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3A5995C8-DEC1-4EE1-A72E-B757592D80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2057400"/>
            <a:ext cx="8229600" cy="406241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/>
              <a:t>	Given a Context Free Grammar G and a string w.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/>
              <a:t>	</a:t>
            </a:r>
            <a:r>
              <a:rPr lang="en-US" altLang="en-US" i="1">
                <a:sym typeface="Symbol" panose="05050102010706020507" pitchFamily="18" charset="2"/>
              </a:rPr>
              <a:t>is  w generated by </a:t>
            </a:r>
            <a:r>
              <a:rPr lang="en-US" altLang="en-US" i="1"/>
              <a:t>G?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FF0000"/>
                </a:solidFill>
              </a:rPr>
              <a:t>	Most parsing methods fall into one of two classes: top down and bottom up, depend on the order in which nodes in the parse tree are constructed</a:t>
            </a:r>
          </a:p>
        </p:txBody>
      </p:sp>
      <p:sp>
        <p:nvSpPr>
          <p:cNvPr id="4098" name="Slide Number Placeholder 4">
            <a:extLst>
              <a:ext uri="{FF2B5EF4-FFF2-40B4-BE49-F238E27FC236}">
                <a16:creationId xmlns:a16="http://schemas.microsoft.com/office/drawing/2014/main" id="{D9D4C46A-4663-47AE-968C-482123D7A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829DEB8-BB8B-4B91-8017-934F9869148C}" type="slidenum">
              <a:rPr lang="en-US" altLang="en-US">
                <a:latin typeface="Arial Black" panose="020B0A04020102020204" pitchFamily="34" charset="0"/>
              </a:rPr>
              <a:pPr/>
              <a:t>2</a:t>
            </a:fld>
            <a:endParaRPr lang="en-US" altLang="en-US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9BD81AED-D17C-4DD9-AE91-BEF87ECAF0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W has been parsed </a:t>
            </a:r>
            <a:r>
              <a:rPr lang="en-US" altLang="en-US" sz="4000">
                <a:sym typeface="Symbol" panose="05050102010706020507" pitchFamily="18" charset="2"/>
              </a:rPr>
              <a:t>parse tree is constructed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1189FA6C-4488-4946-8C4C-B879C8241A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E -&gt; E + 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E -&gt; 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T -&gt; T * F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T -&gt; F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F -&gt; ( E 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F -&gt; ident</a:t>
            </a:r>
          </a:p>
        </p:txBody>
      </p:sp>
      <p:sp>
        <p:nvSpPr>
          <p:cNvPr id="5122" name="Slide Number Placeholder 4">
            <a:extLst>
              <a:ext uri="{FF2B5EF4-FFF2-40B4-BE49-F238E27FC236}">
                <a16:creationId xmlns:a16="http://schemas.microsoft.com/office/drawing/2014/main" id="{D0105BFC-4A38-4C15-9518-AA91070A4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BDF36D-C295-4CF4-AF65-25454D03EB81}" type="slidenum">
              <a:rPr lang="en-US" altLang="en-US">
                <a:latin typeface="Arial Black" panose="020B0A04020102020204" pitchFamily="34" charset="0"/>
              </a:rPr>
              <a:pPr/>
              <a:t>3</a:t>
            </a:fld>
            <a:endParaRPr lang="en-US" altLang="en-US">
              <a:latin typeface="Arial Black" panose="020B0A04020102020204" pitchFamily="34" charset="0"/>
            </a:endParaRPr>
          </a:p>
        </p:txBody>
      </p:sp>
      <p:pic>
        <p:nvPicPr>
          <p:cNvPr id="5125" name="Picture 4">
            <a:extLst>
              <a:ext uri="{FF2B5EF4-FFF2-40B4-BE49-F238E27FC236}">
                <a16:creationId xmlns:a16="http://schemas.microsoft.com/office/drawing/2014/main" id="{ECAE23AA-F3D8-4FB2-ABA4-4CB392B95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828800"/>
            <a:ext cx="34290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6" name="Rectangle 5">
            <a:extLst>
              <a:ext uri="{FF2B5EF4-FFF2-40B4-BE49-F238E27FC236}">
                <a16:creationId xmlns:a16="http://schemas.microsoft.com/office/drawing/2014/main" id="{FEA2E346-513B-479B-A971-385424A3E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5562600"/>
            <a:ext cx="7772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>
                <a:solidFill>
                  <a:srgbClr val="FF0000"/>
                </a:solidFill>
              </a:rPr>
              <a:t>How to express parse trees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>
            <a:extLst>
              <a:ext uri="{FF2B5EF4-FFF2-40B4-BE49-F238E27FC236}">
                <a16:creationId xmlns:a16="http://schemas.microsoft.com/office/drawing/2014/main" id="{8A061B4C-771B-4636-96D8-327AA524D0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   </a:t>
            </a:r>
            <a:r>
              <a:rPr lang="en-US" altLang="en-US"/>
              <a:t>Left parse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B2172DD2-101B-437B-B7B4-BB9D3CBF4D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981200"/>
            <a:ext cx="8305800" cy="4876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	</a:t>
            </a:r>
            <a:endParaRPr lang="en-US" altLang="en-US" sz="2800" i="1" dirty="0"/>
          </a:p>
          <a:p>
            <a:pPr algn="just" eaLnBrk="1" hangingPunct="1"/>
            <a:r>
              <a:rPr lang="en-US" altLang="en-US" i="1" dirty="0">
                <a:solidFill>
                  <a:srgbClr val="FF0000"/>
                </a:solidFill>
              </a:rPr>
              <a:t>Left parse of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>
                <a:latin typeface="Symbol" panose="05050102010706020507" pitchFamily="18" charset="2"/>
              </a:rPr>
              <a:t>a</a:t>
            </a:r>
            <a:r>
              <a:rPr lang="en-US" altLang="en-US" dirty="0"/>
              <a:t> is the sequence of productions used in left derivation of </a:t>
            </a:r>
            <a:r>
              <a:rPr lang="en-US" altLang="en-US" dirty="0">
                <a:latin typeface="Symbol" panose="05050102010706020507" pitchFamily="18" charset="2"/>
              </a:rPr>
              <a:t>a</a:t>
            </a:r>
            <a:r>
              <a:rPr lang="en-US" altLang="en-US" dirty="0"/>
              <a:t> from S</a:t>
            </a:r>
          </a:p>
          <a:p>
            <a:pPr algn="just" eaLnBrk="1" hangingPunct="1"/>
            <a:endParaRPr lang="en-US" altLang="en-US" i="1" dirty="0"/>
          </a:p>
          <a:p>
            <a:pPr algn="just" eaLnBrk="1" hangingPunct="1"/>
            <a:r>
              <a:rPr lang="en-US" altLang="en-US" i="1" dirty="0"/>
              <a:t>Left parse is a string with numbers from 1 to p</a:t>
            </a:r>
          </a:p>
        </p:txBody>
      </p:sp>
      <p:sp>
        <p:nvSpPr>
          <p:cNvPr id="6146" name="Slide Number Placeholder 4">
            <a:extLst>
              <a:ext uri="{FF2B5EF4-FFF2-40B4-BE49-F238E27FC236}">
                <a16:creationId xmlns:a16="http://schemas.microsoft.com/office/drawing/2014/main" id="{D977B7A1-672C-4336-BB23-171779084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64E9260-62C7-446D-8388-8A96FE592694}" type="slidenum">
              <a:rPr lang="en-US" altLang="en-US">
                <a:latin typeface="Arial Black" panose="020B0A04020102020204" pitchFamily="34" charset="0"/>
              </a:rPr>
              <a:pPr/>
              <a:t>4</a:t>
            </a:fld>
            <a:endParaRPr lang="en-US" altLang="en-US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>
            <a:extLst>
              <a:ext uri="{FF2B5EF4-FFF2-40B4-BE49-F238E27FC236}">
                <a16:creationId xmlns:a16="http://schemas.microsoft.com/office/drawing/2014/main" id="{8E17F291-A4DC-4101-A870-A814883A98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/>
              <a:t>Example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DC700B26-E8ED-4BF6-80A9-D520327C43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8229600" cy="4343400"/>
          </a:xfrm>
        </p:spPr>
        <p:txBody>
          <a:bodyPr>
            <a:normAutofit lnSpcReduction="10000"/>
          </a:bodyPr>
          <a:lstStyle/>
          <a:p>
            <a:pPr marL="533400" indent="-533400" eaLnBrk="1" hangingPunct="1">
              <a:lnSpc>
                <a:spcPct val="80000"/>
              </a:lnSpc>
            </a:pPr>
            <a:r>
              <a:rPr lang="en-US" altLang="en-US" sz="2800"/>
              <a:t>Consider grammar G, with productions are numbered</a:t>
            </a:r>
          </a:p>
          <a:p>
            <a:pPr marL="2171700" lvl="4" indent="-342900" eaLnBrk="1" hangingPunct="1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3200"/>
              <a:t>E </a:t>
            </a:r>
            <a:r>
              <a:rPr lang="en-US" altLang="en-US" sz="3200">
                <a:sym typeface="Symbol" panose="05050102010706020507" pitchFamily="18" charset="2"/>
              </a:rPr>
              <a:t></a:t>
            </a:r>
            <a:r>
              <a:rPr lang="en-US" altLang="en-US" sz="3200"/>
              <a:t> T+E</a:t>
            </a:r>
          </a:p>
          <a:p>
            <a:pPr marL="2171700" lvl="4" indent="-342900" eaLnBrk="1" hangingPunct="1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3200"/>
              <a:t>E </a:t>
            </a:r>
            <a:r>
              <a:rPr lang="en-US" altLang="en-US" sz="3200">
                <a:sym typeface="Symbol" panose="05050102010706020507" pitchFamily="18" charset="2"/>
              </a:rPr>
              <a:t></a:t>
            </a:r>
            <a:r>
              <a:rPr lang="en-US" altLang="en-US" sz="3200"/>
              <a:t> T</a:t>
            </a:r>
          </a:p>
          <a:p>
            <a:pPr marL="2171700" lvl="4" indent="-342900" eaLnBrk="1" hangingPunct="1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3200"/>
              <a:t>T </a:t>
            </a:r>
            <a:r>
              <a:rPr lang="en-US" altLang="en-US" sz="3200">
                <a:sym typeface="Symbol" panose="05050102010706020507" pitchFamily="18" charset="2"/>
              </a:rPr>
              <a:t></a:t>
            </a:r>
            <a:r>
              <a:rPr lang="en-US" altLang="en-US" sz="3200"/>
              <a:t> F* T</a:t>
            </a:r>
          </a:p>
          <a:p>
            <a:pPr marL="2171700" lvl="4" indent="-342900" eaLnBrk="1" hangingPunct="1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3200"/>
              <a:t>T </a:t>
            </a:r>
            <a:r>
              <a:rPr lang="en-US" altLang="en-US" sz="3200">
                <a:sym typeface="Symbol" panose="05050102010706020507" pitchFamily="18" charset="2"/>
              </a:rPr>
              <a:t></a:t>
            </a:r>
            <a:r>
              <a:rPr lang="en-US" altLang="en-US" sz="3200"/>
              <a:t> F</a:t>
            </a:r>
          </a:p>
          <a:p>
            <a:pPr marL="2171700" lvl="4" indent="-342900" eaLnBrk="1" hangingPunct="1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3200"/>
              <a:t>F </a:t>
            </a:r>
            <a:r>
              <a:rPr lang="en-US" altLang="en-US" sz="3200">
                <a:sym typeface="Symbol" panose="05050102010706020507" pitchFamily="18" charset="2"/>
              </a:rPr>
              <a:t></a:t>
            </a:r>
            <a:r>
              <a:rPr lang="en-US" altLang="en-US" sz="3200"/>
              <a:t> (E)</a:t>
            </a:r>
          </a:p>
          <a:p>
            <a:pPr marL="2171700" lvl="4" indent="-342900" eaLnBrk="1" hangingPunct="1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3200"/>
              <a:t>F </a:t>
            </a:r>
            <a:r>
              <a:rPr lang="en-US" altLang="en-US" sz="3200">
                <a:sym typeface="Symbol" panose="05050102010706020507" pitchFamily="18" charset="2"/>
              </a:rPr>
              <a:t></a:t>
            </a:r>
            <a:r>
              <a:rPr lang="en-US" altLang="en-US" sz="3200"/>
              <a:t> a</a:t>
            </a:r>
          </a:p>
          <a:p>
            <a:pPr marL="2171700" lvl="4" indent="-342900" eaLnBrk="1" hangingPunct="1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endParaRPr lang="en-US" altLang="en-US" sz="3200"/>
          </a:p>
          <a:p>
            <a:pPr marL="533400" indent="-533400" eaLnBrk="1" hangingPunct="1">
              <a:lnSpc>
                <a:spcPct val="80000"/>
              </a:lnSpc>
            </a:pPr>
            <a:r>
              <a:rPr lang="en-US" altLang="en-US" sz="2800"/>
              <a:t>Left parse of string a*(a+a) is 23645146246</a:t>
            </a:r>
          </a:p>
        </p:txBody>
      </p:sp>
      <p:sp>
        <p:nvSpPr>
          <p:cNvPr id="7170" name="Slide Number Placeholder 4">
            <a:extLst>
              <a:ext uri="{FF2B5EF4-FFF2-40B4-BE49-F238E27FC236}">
                <a16:creationId xmlns:a16="http://schemas.microsoft.com/office/drawing/2014/main" id="{E9E0ED1B-D28B-466E-8A24-787CBF7A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2C25D13-EAA5-4FD6-AB6E-306BD572397C}" type="slidenum">
              <a:rPr lang="en-US" altLang="en-US">
                <a:latin typeface="Arial Black" panose="020B0A04020102020204" pitchFamily="34" charset="0"/>
              </a:rPr>
              <a:pPr/>
              <a:t>5</a:t>
            </a:fld>
            <a:endParaRPr lang="en-US" altLang="en-US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>
            <a:extLst>
              <a:ext uri="{FF2B5EF4-FFF2-40B4-BE49-F238E27FC236}">
                <a16:creationId xmlns:a16="http://schemas.microsoft.com/office/drawing/2014/main" id="{EC8E4AD7-D1E4-4DE4-8897-5071A1E1CC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8915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Top down backtrack parsing algorithm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1851D767-2E3C-4206-9DE9-76F932DDC9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US" altLang="en-US"/>
              <a:t>Input: Grammar G, string w </a:t>
            </a:r>
          </a:p>
          <a:p>
            <a:pPr algn="just" eaLnBrk="1" hangingPunct="1"/>
            <a:r>
              <a:rPr lang="en-US" altLang="en-US"/>
              <a:t>Output one left parse for w if one exists. The output “error” otherwise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algn="just" eaLnBrk="1" hangingPunct="1"/>
            <a:r>
              <a:rPr lang="en-US" altLang="en-US"/>
              <a:t>For each nonterminal  A , order the alternate for A :	A </a:t>
            </a:r>
            <a:r>
              <a:rPr lang="en-US" altLang="en-US">
                <a:sym typeface="Symbol" panose="05050102010706020507" pitchFamily="18" charset="2"/>
              </a:rPr>
              <a:t></a:t>
            </a:r>
            <a:r>
              <a:rPr lang="en-US" altLang="en-US"/>
              <a:t> </a:t>
            </a:r>
            <a:r>
              <a:rPr lang="en-US" altLang="en-US">
                <a:latin typeface="Symbol" panose="05050102010706020507" pitchFamily="18" charset="2"/>
              </a:rPr>
              <a:t>a</a:t>
            </a:r>
            <a:r>
              <a:rPr lang="en-US" altLang="en-US" sz="1600" b="1">
                <a:latin typeface="Times New Roman" panose="02020603050405020304" pitchFamily="18" charset="0"/>
              </a:rPr>
              <a:t>1</a:t>
            </a:r>
            <a:r>
              <a:rPr lang="en-US" altLang="en-US">
                <a:latin typeface="Symbol" panose="05050102010706020507" pitchFamily="18" charset="2"/>
              </a:rPr>
              <a:t> | a</a:t>
            </a:r>
            <a:r>
              <a:rPr lang="en-US" altLang="en-US" sz="1600" b="1">
                <a:latin typeface="Times New Roman" panose="02020603050405020304" pitchFamily="18" charset="0"/>
              </a:rPr>
              <a:t>2</a:t>
            </a:r>
            <a:r>
              <a:rPr lang="en-US" altLang="en-US">
                <a:latin typeface="Symbol" panose="05050102010706020507" pitchFamily="18" charset="2"/>
              </a:rPr>
              <a:t> | . . . .| a</a:t>
            </a:r>
            <a:r>
              <a:rPr lang="en-US" altLang="en-US" sz="1600" b="1"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8194" name="Slide Number Placeholder 4">
            <a:extLst>
              <a:ext uri="{FF2B5EF4-FFF2-40B4-BE49-F238E27FC236}">
                <a16:creationId xmlns:a16="http://schemas.microsoft.com/office/drawing/2014/main" id="{44C4C104-324D-48CE-83A3-163655367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DD8BC3-41FC-401F-9184-E159B02FA04A}" type="slidenum">
              <a:rPr lang="en-US" altLang="en-US">
                <a:latin typeface="Arial Black" panose="020B0A04020102020204" pitchFamily="34" charset="0"/>
              </a:rPr>
              <a:pPr/>
              <a:t>6</a:t>
            </a:fld>
            <a:endParaRPr lang="en-US" altLang="en-US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>
            <a:extLst>
              <a:ext uri="{FF2B5EF4-FFF2-40B4-BE49-F238E27FC236}">
                <a16:creationId xmlns:a16="http://schemas.microsoft.com/office/drawing/2014/main" id="{26493EF2-9080-4640-90E2-1AFD6E4366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1169987"/>
          </a:xfrm>
        </p:spPr>
        <p:txBody>
          <a:bodyPr/>
          <a:lstStyle/>
          <a:p>
            <a:pPr eaLnBrk="1" hangingPunct="1"/>
            <a:r>
              <a:rPr lang="en-US" altLang="en-US"/>
              <a:t>Description of algorithm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D7BCB1C7-1397-406D-9367-C30F1CB816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600200"/>
            <a:ext cx="8305800" cy="52578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US" sz="3600"/>
              <a:t>Begin with a tree containing one node labeled  S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3600"/>
              <a:t>S is considered active node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3600"/>
              <a:t>Other nodes are generated recursively</a:t>
            </a:r>
          </a:p>
        </p:txBody>
      </p:sp>
      <p:sp>
        <p:nvSpPr>
          <p:cNvPr id="9218" name="Slide Number Placeholder 4">
            <a:extLst>
              <a:ext uri="{FF2B5EF4-FFF2-40B4-BE49-F238E27FC236}">
                <a16:creationId xmlns:a16="http://schemas.microsoft.com/office/drawing/2014/main" id="{684A69AC-1C7E-420B-9DE5-EE2A4A610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02AB352-4B03-40F5-A747-D956B71EBE98}" type="slidenum">
              <a:rPr lang="en-US" altLang="en-US">
                <a:latin typeface="Arial Black" panose="020B0A04020102020204" pitchFamily="34" charset="0"/>
              </a:rPr>
              <a:pPr/>
              <a:t>7</a:t>
            </a:fld>
            <a:endParaRPr lang="en-US" altLang="en-US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>
            <a:extLst>
              <a:ext uri="{FF2B5EF4-FFF2-40B4-BE49-F238E27FC236}">
                <a16:creationId xmlns:a16="http://schemas.microsoft.com/office/drawing/2014/main" id="{C3A3F0C3-6FF6-4305-9B32-4CFD8C7A8B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457200"/>
            <a:ext cx="8534400" cy="1371600"/>
          </a:xfrm>
        </p:spPr>
        <p:txBody>
          <a:bodyPr/>
          <a:lstStyle/>
          <a:p>
            <a:pPr eaLnBrk="1" hangingPunct="1"/>
            <a:r>
              <a:rPr lang="en-US" altLang="en-US" sz="4000"/>
              <a:t>Active node is label by nonterminal A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05C1EA11-6556-43F4-B616-DB606ACE74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981200"/>
            <a:ext cx="9144000" cy="38862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spcBef>
                <a:spcPct val="30000"/>
              </a:spcBef>
              <a:spcAft>
                <a:spcPct val="30000"/>
              </a:spcAft>
            </a:pPr>
            <a:r>
              <a:rPr lang="en-US" altLang="en-US" sz="2800"/>
              <a:t>Choose the first alternate of A: X</a:t>
            </a:r>
            <a:r>
              <a:rPr lang="en-US" altLang="en-US" sz="2800" baseline="-25000"/>
              <a:t>1</a:t>
            </a:r>
            <a:r>
              <a:rPr lang="en-US" altLang="en-US" sz="2800"/>
              <a:t>X</a:t>
            </a:r>
            <a:r>
              <a:rPr lang="en-US" altLang="en-US" sz="2800" baseline="-25000"/>
              <a:t>2</a:t>
            </a:r>
            <a:r>
              <a:rPr lang="en-US" altLang="en-US" sz="2800"/>
              <a:t>. . . .X</a:t>
            </a:r>
            <a:r>
              <a:rPr lang="en-US" altLang="en-US" sz="2800" baseline="-25000"/>
              <a:t>k</a:t>
            </a:r>
            <a:r>
              <a:rPr lang="en-US" altLang="en-US" sz="2800"/>
              <a:t>. </a:t>
            </a:r>
          </a:p>
          <a:p>
            <a:pPr algn="just" eaLnBrk="1" hangingPunct="1">
              <a:lnSpc>
                <a:spcPct val="80000"/>
              </a:lnSpc>
              <a:spcBef>
                <a:spcPct val="30000"/>
              </a:spcBef>
              <a:spcAft>
                <a:spcPct val="30000"/>
              </a:spcAft>
            </a:pPr>
            <a:r>
              <a:rPr lang="en-US" altLang="en-US" sz="2800"/>
              <a:t>Create k direct descendants for A labeled  X</a:t>
            </a:r>
            <a:r>
              <a:rPr lang="en-US" altLang="en-US" sz="2800" baseline="-25000"/>
              <a:t>1</a:t>
            </a:r>
            <a:r>
              <a:rPr lang="en-US" altLang="en-US" sz="2800"/>
              <a:t>, X</a:t>
            </a:r>
            <a:r>
              <a:rPr lang="en-US" altLang="en-US" sz="2800" baseline="-25000"/>
              <a:t>2</a:t>
            </a:r>
            <a:r>
              <a:rPr lang="en-US" altLang="en-US" sz="2800"/>
              <a:t>, . . . .X</a:t>
            </a:r>
            <a:r>
              <a:rPr lang="en-US" altLang="en-US" sz="2800" baseline="-25000"/>
              <a:t>k</a:t>
            </a:r>
            <a:r>
              <a:rPr lang="en-US" altLang="en-US" sz="2800"/>
              <a:t>. </a:t>
            </a:r>
          </a:p>
          <a:p>
            <a:pPr algn="just" eaLnBrk="1" hangingPunct="1">
              <a:lnSpc>
                <a:spcPct val="80000"/>
              </a:lnSpc>
              <a:spcBef>
                <a:spcPct val="30000"/>
              </a:spcBef>
              <a:spcAft>
                <a:spcPct val="30000"/>
              </a:spcAft>
            </a:pPr>
            <a:r>
              <a:rPr lang="en-US" altLang="en-US" sz="2800"/>
              <a:t>Make X</a:t>
            </a:r>
            <a:r>
              <a:rPr lang="en-US" altLang="en-US" sz="2800" baseline="-25000"/>
              <a:t>1 </a:t>
            </a:r>
            <a:r>
              <a:rPr lang="en-US" altLang="en-US" sz="2800"/>
              <a:t>the active node</a:t>
            </a:r>
          </a:p>
          <a:p>
            <a:pPr algn="just" eaLnBrk="1" hangingPunct="1">
              <a:lnSpc>
                <a:spcPct val="80000"/>
              </a:lnSpc>
              <a:spcBef>
                <a:spcPct val="30000"/>
              </a:spcBef>
              <a:spcAft>
                <a:spcPct val="30000"/>
              </a:spcAft>
            </a:pPr>
            <a:r>
              <a:rPr lang="en-US" altLang="en-US" sz="2800"/>
              <a:t>If k = 0, (production A </a:t>
            </a:r>
            <a:r>
              <a:rPr lang="en-US" altLang="en-US" sz="2800">
                <a:sym typeface="Symbol" panose="05050102010706020507" pitchFamily="18" charset="2"/>
              </a:rPr>
              <a:t> </a:t>
            </a:r>
            <a:r>
              <a:rPr lang="en-US" altLang="en-US" sz="2800">
                <a:latin typeface="Symbol" panose="05050102010706020507" pitchFamily="18" charset="2"/>
              </a:rPr>
              <a:t>e</a:t>
            </a:r>
            <a:r>
              <a:rPr lang="en-US" altLang="en-US" sz="2800"/>
              <a:t>) make the node immediately to the right pf A active</a:t>
            </a:r>
          </a:p>
          <a:p>
            <a:pPr eaLnBrk="1" hangingPunct="1">
              <a:lnSpc>
                <a:spcPct val="80000"/>
              </a:lnSpc>
            </a:pPr>
            <a:endParaRPr lang="en-US" altLang="en-US" sz="2000"/>
          </a:p>
        </p:txBody>
      </p:sp>
      <p:sp>
        <p:nvSpPr>
          <p:cNvPr id="10242" name="Slide Number Placeholder 4">
            <a:extLst>
              <a:ext uri="{FF2B5EF4-FFF2-40B4-BE49-F238E27FC236}">
                <a16:creationId xmlns:a16="http://schemas.microsoft.com/office/drawing/2014/main" id="{95C492AC-1AA5-4C80-860D-9A88BA432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FE9FE93-1915-4618-9B9D-A8B1BF023812}" type="slidenum">
              <a:rPr lang="en-US" altLang="en-US">
                <a:latin typeface="Arial Black" panose="020B0A04020102020204" pitchFamily="34" charset="0"/>
              </a:rPr>
              <a:pPr/>
              <a:t>8</a:t>
            </a:fld>
            <a:endParaRPr lang="en-US" altLang="en-US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>
            <a:extLst>
              <a:ext uri="{FF2B5EF4-FFF2-40B4-BE49-F238E27FC236}">
                <a16:creationId xmlns:a16="http://schemas.microsoft.com/office/drawing/2014/main" id="{EEAE232B-D3F9-4C70-8CE6-856BE3FD2A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842"/>
            <a:ext cx="828675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Active node is labeled by a terminal </a:t>
            </a:r>
            <a:r>
              <a:rPr lang="en-US" altLang="en-US" sz="4000" i="1" dirty="0"/>
              <a:t>a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7FE274FA-8DFA-437C-A3F3-E392E657CE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485543"/>
            <a:ext cx="8229600" cy="45720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US" sz="2800" dirty="0"/>
              <a:t>Compare the current input symbol with a. 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/>
              <a:t>If they match, make the active node immediately to the right of </a:t>
            </a:r>
            <a:r>
              <a:rPr lang="en-US" altLang="en-US" sz="2400" i="1" dirty="0"/>
              <a:t>a</a:t>
            </a:r>
            <a:r>
              <a:rPr lang="en-US" altLang="en-US" sz="2400" dirty="0"/>
              <a:t>, move the input pointer one symbol to the right.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/>
              <a:t>If they do not match, go back to the node where the previous production was applied.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/>
              <a:t>Adjust the input pointer if necessary, and try the next alternate. If no alternate is possible, go back to the next previous node, and so forth.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800" dirty="0"/>
              <a:t>If the current node is the root and no alternate is possible, emit an error message.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US" sz="2800" dirty="0"/>
          </a:p>
        </p:txBody>
      </p:sp>
      <p:sp>
        <p:nvSpPr>
          <p:cNvPr id="11266" name="Slide Number Placeholder 4">
            <a:extLst>
              <a:ext uri="{FF2B5EF4-FFF2-40B4-BE49-F238E27FC236}">
                <a16:creationId xmlns:a16="http://schemas.microsoft.com/office/drawing/2014/main" id="{8F6A47EF-D53F-43BC-BDAB-3212AE6E3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82A59AD-4946-4CCC-9749-14F6ECE276B7}" type="slidenum">
              <a:rPr lang="en-US" altLang="en-US">
                <a:latin typeface="Arial Black" panose="020B0A04020102020204" pitchFamily="34" charset="0"/>
              </a:rPr>
              <a:pPr/>
              <a:t>9</a:t>
            </a:fld>
            <a:endParaRPr lang="en-US" altLang="en-US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>
            <a:extLst>
              <a:ext uri="{FF2B5EF4-FFF2-40B4-BE49-F238E27FC236}">
                <a16:creationId xmlns:a16="http://schemas.microsoft.com/office/drawing/2014/main" id="{8640C916-5920-4941-83AE-984EF170AD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stringent condition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BD85D666-1E2C-4E16-95CA-28C060DBC0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3048000"/>
            <a:ext cx="8610600" cy="4530725"/>
          </a:xfrm>
        </p:spPr>
        <p:txBody>
          <a:bodyPr/>
          <a:lstStyle/>
          <a:p>
            <a:pPr algn="just" eaLnBrk="1" hangingPunct="1"/>
            <a:r>
              <a:rPr lang="en-US" altLang="en-US" sz="3600" i="1"/>
              <a:t>Grammar G must be non left recursive to avoid a non-termination</a:t>
            </a:r>
          </a:p>
        </p:txBody>
      </p:sp>
      <p:sp>
        <p:nvSpPr>
          <p:cNvPr id="12290" name="Slide Number Placeholder 4">
            <a:extLst>
              <a:ext uri="{FF2B5EF4-FFF2-40B4-BE49-F238E27FC236}">
                <a16:creationId xmlns:a16="http://schemas.microsoft.com/office/drawing/2014/main" id="{2B0832C6-340C-4F11-98EF-D96C193DA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60A3864-5FD4-4302-9A57-251220531AE5}" type="slidenum">
              <a:rPr lang="en-US" altLang="en-US">
                <a:latin typeface="Arial Black" panose="020B0A04020102020204" pitchFamily="34" charset="0"/>
              </a:rPr>
              <a:pPr/>
              <a:t>10</a:t>
            </a:fld>
            <a:endParaRPr lang="en-US" altLang="en-US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>
            <a:extLst>
              <a:ext uri="{FF2B5EF4-FFF2-40B4-BE49-F238E27FC236}">
                <a16:creationId xmlns:a16="http://schemas.microsoft.com/office/drawing/2014/main" id="{809C53D7-349E-41EC-AD7F-32DB4C1018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33F99C90-D5D5-4BB8-B7CB-906FB9F74A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Given grammar </a:t>
            </a:r>
            <a:endParaRPr lang="en-US" altLang="en-US" i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/>
              <a:t>		S </a:t>
            </a:r>
            <a:r>
              <a:rPr lang="en-US" altLang="en-US" i="1">
                <a:sym typeface="Symbol" panose="05050102010706020507" pitchFamily="18" charset="2"/>
              </a:rPr>
              <a:t></a:t>
            </a:r>
            <a:r>
              <a:rPr lang="en-US" altLang="en-US" i="1"/>
              <a:t> aSb | c</a:t>
            </a: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  productions are numbered from 1 to 2.</a:t>
            </a:r>
          </a:p>
          <a:p>
            <a:pPr eaLnBrk="1" hangingPunct="1"/>
            <a:r>
              <a:rPr lang="en-US" altLang="en-US"/>
              <a:t>And string w= aacbb </a:t>
            </a:r>
          </a:p>
        </p:txBody>
      </p:sp>
      <p:sp>
        <p:nvSpPr>
          <p:cNvPr id="13314" name="Slide Number Placeholder 4">
            <a:extLst>
              <a:ext uri="{FF2B5EF4-FFF2-40B4-BE49-F238E27FC236}">
                <a16:creationId xmlns:a16="http://schemas.microsoft.com/office/drawing/2014/main" id="{C3520F99-AA3E-4DF0-A68D-8F8ED0148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AE311C6-5648-413B-8D6C-C1323AE7F492}" type="slidenum">
              <a:rPr lang="en-US" altLang="en-US">
                <a:latin typeface="Arial Black" panose="020B0A04020102020204" pitchFamily="34" charset="0"/>
              </a:rPr>
              <a:pPr/>
              <a:t>11</a:t>
            </a:fld>
            <a:endParaRPr lang="en-US" altLang="en-US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21218238-B8F6-47EB-8BC6-A3DB4FE6A3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Build parse tree</a:t>
            </a:r>
          </a:p>
        </p:txBody>
      </p:sp>
      <p:pic>
        <p:nvPicPr>
          <p:cNvPr id="14340" name="Picture 5">
            <a:extLst>
              <a:ext uri="{FF2B5EF4-FFF2-40B4-BE49-F238E27FC236}">
                <a16:creationId xmlns:a16="http://schemas.microsoft.com/office/drawing/2014/main" id="{EC52D759-B8C6-436D-B4DA-65A595D544F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2050" y="1219200"/>
            <a:ext cx="6781800" cy="4876800"/>
          </a:xfrm>
        </p:spPr>
      </p:pic>
      <p:sp>
        <p:nvSpPr>
          <p:cNvPr id="14338" name="Slide Number Placeholder 4">
            <a:extLst>
              <a:ext uri="{FF2B5EF4-FFF2-40B4-BE49-F238E27FC236}">
                <a16:creationId xmlns:a16="http://schemas.microsoft.com/office/drawing/2014/main" id="{7F845F8A-F7C3-48C9-BD1A-AFD7CB233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64AC090-3F80-4134-8F89-6135F13BA1D6}" type="slidenum">
              <a:rPr lang="en-US" altLang="en-US">
                <a:latin typeface="Arial Black" panose="020B0A04020102020204" pitchFamily="34" charset="0"/>
              </a:rPr>
              <a:pPr/>
              <a:t>12</a:t>
            </a:fld>
            <a:endParaRPr lang="en-US" altLang="en-US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>
            <a:extLst>
              <a:ext uri="{FF2B5EF4-FFF2-40B4-BE49-F238E27FC236}">
                <a16:creationId xmlns:a16="http://schemas.microsoft.com/office/drawing/2014/main" id="{C3A680D9-2BED-43CE-BDD4-44788B25CC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Try another alternate</a:t>
            </a:r>
          </a:p>
        </p:txBody>
      </p:sp>
      <p:pic>
        <p:nvPicPr>
          <p:cNvPr id="15364" name="Picture 5">
            <a:extLst>
              <a:ext uri="{FF2B5EF4-FFF2-40B4-BE49-F238E27FC236}">
                <a16:creationId xmlns:a16="http://schemas.microsoft.com/office/drawing/2014/main" id="{003B1433-6CEC-4696-A45C-663E8BDE1F7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828800"/>
            <a:ext cx="7086600" cy="4572000"/>
          </a:xfrm>
        </p:spPr>
      </p:pic>
      <p:sp>
        <p:nvSpPr>
          <p:cNvPr id="15362" name="Slide Number Placeholder 4">
            <a:extLst>
              <a:ext uri="{FF2B5EF4-FFF2-40B4-BE49-F238E27FC236}">
                <a16:creationId xmlns:a16="http://schemas.microsoft.com/office/drawing/2014/main" id="{64D5147C-0516-4E1B-B318-947D6574B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886DC50-B1B7-4163-8D1C-D956FC33387A}" type="slidenum">
              <a:rPr lang="en-US" altLang="en-US">
                <a:latin typeface="Arial Black" panose="020B0A04020102020204" pitchFamily="34" charset="0"/>
              </a:rPr>
              <a:pPr/>
              <a:t>13</a:t>
            </a:fld>
            <a:endParaRPr lang="en-US" altLang="en-US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>
            <a:extLst>
              <a:ext uri="{FF2B5EF4-FFF2-40B4-BE49-F238E27FC236}">
                <a16:creationId xmlns:a16="http://schemas.microsoft.com/office/drawing/2014/main" id="{2EF1A83C-8E3A-47E8-B771-43D21C9DB1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610600" cy="914400"/>
          </a:xfrm>
        </p:spPr>
        <p:txBody>
          <a:bodyPr/>
          <a:lstStyle/>
          <a:p>
            <a:pPr eaLnBrk="1" hangingPunct="1"/>
            <a:r>
              <a:rPr lang="en-US" altLang="en-US" sz="4000"/>
              <a:t>The top down parsing algorithm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FF0C1B8-3943-4885-A2E9-74D8FD65DA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905000"/>
            <a:ext cx="7772400" cy="4953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 b="1" u="sng"/>
              <a:t>Input</a:t>
            </a:r>
            <a:endParaRPr lang="en-US" altLang="en-US" sz="240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200"/>
              <a:t>   A non-left recursive context free grammar G,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200"/>
              <a:t>   Input string  w = a</a:t>
            </a:r>
            <a:r>
              <a:rPr lang="en-US" altLang="en-US" sz="1300"/>
              <a:t>1</a:t>
            </a:r>
            <a:r>
              <a:rPr lang="en-US" altLang="en-US" sz="2200"/>
              <a:t>. . . .a</a:t>
            </a:r>
            <a:r>
              <a:rPr lang="en-US" altLang="en-US" sz="1300"/>
              <a:t>n</a:t>
            </a:r>
            <a:r>
              <a:rPr lang="en-US" altLang="en-US" sz="2200"/>
              <a:t>, n </a:t>
            </a:r>
            <a:r>
              <a:rPr lang="en-US" altLang="en-US" sz="2200">
                <a:sym typeface="Symbol" panose="05050102010706020507" pitchFamily="18" charset="2"/>
              </a:rPr>
              <a:t></a:t>
            </a:r>
            <a:r>
              <a:rPr lang="en-US" altLang="en-US" sz="2200"/>
              <a:t> 0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200"/>
              <a:t>   Assume the productions in P are numbered 1,. . .  q</a:t>
            </a:r>
            <a:endParaRPr lang="en-US" altLang="en-US" sz="2200" u="sng"/>
          </a:p>
          <a:p>
            <a:pPr eaLnBrk="1" hangingPunct="1">
              <a:lnSpc>
                <a:spcPct val="80000"/>
              </a:lnSpc>
            </a:pPr>
            <a:r>
              <a:rPr lang="en-US" altLang="en-US" sz="2400" b="1" u="sng"/>
              <a:t>Output</a:t>
            </a:r>
            <a:endParaRPr lang="en-US" altLang="en-US" sz="240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200"/>
              <a:t>   One left parse for w if one exist.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200"/>
              <a:t>   “Error” otherwise.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200" b="1"/>
          </a:p>
        </p:txBody>
      </p:sp>
      <p:sp>
        <p:nvSpPr>
          <p:cNvPr id="16386" name="Slide Number Placeholder 4">
            <a:extLst>
              <a:ext uri="{FF2B5EF4-FFF2-40B4-BE49-F238E27FC236}">
                <a16:creationId xmlns:a16="http://schemas.microsoft.com/office/drawing/2014/main" id="{B5BFE9AA-F711-4B29-B0A9-5841C9D0C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E9AA28F-B278-449E-A235-8CAF2E8787FA}" type="slidenum">
              <a:rPr lang="en-US" altLang="en-US">
                <a:latin typeface="Arial Black" panose="020B0A04020102020204" pitchFamily="34" charset="0"/>
              </a:rPr>
              <a:pPr/>
              <a:t>14</a:t>
            </a:fld>
            <a:endParaRPr lang="en-US" altLang="en-US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>
            <a:extLst>
              <a:ext uri="{FF2B5EF4-FFF2-40B4-BE49-F238E27FC236}">
                <a16:creationId xmlns:a16="http://schemas.microsoft.com/office/drawing/2014/main" id="{85B9960B-BEBF-4A9B-AAEE-230350A051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Method 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D93C610F-2F04-4561-8D42-7E25409928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 i="1"/>
              <a:t>(The algorithm uses 2 stacks D</a:t>
            </a:r>
            <a:r>
              <a:rPr lang="en-US" altLang="en-US" sz="1600" b="1" i="1"/>
              <a:t>1</a:t>
            </a:r>
            <a:r>
              <a:rPr lang="en-US" altLang="en-US" sz="2800" i="1"/>
              <a:t> and D</a:t>
            </a:r>
            <a:r>
              <a:rPr lang="en-US" altLang="en-US" sz="1600" b="1" i="1"/>
              <a:t>2</a:t>
            </a:r>
            <a:r>
              <a:rPr lang="en-US" altLang="en-US" sz="2800" i="1"/>
              <a:t>). 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i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i="1"/>
              <a:t>D</a:t>
            </a:r>
            <a:r>
              <a:rPr lang="en-US" altLang="en-US" sz="1600" b="1" i="1"/>
              <a:t>2</a:t>
            </a:r>
            <a:r>
              <a:rPr lang="en-US" altLang="en-US" sz="2800" i="1"/>
              <a:t> represents the current left sentential form, which our expansion of nonterminals has produced.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i="1"/>
              <a:t>D</a:t>
            </a:r>
            <a:r>
              <a:rPr lang="en-US" altLang="en-US" sz="1600" b="1" i="1"/>
              <a:t>1  </a:t>
            </a:r>
            <a:r>
              <a:rPr lang="en-US" altLang="en-US" sz="2800" i="1"/>
              <a:t>represents the current history of the choices of alternates made and the input symbols over which the input head has shifted.</a:t>
            </a:r>
          </a:p>
          <a:p>
            <a:pPr eaLnBrk="1" hangingPunct="1"/>
            <a:endParaRPr lang="en-US" altLang="en-US" sz="2800"/>
          </a:p>
        </p:txBody>
      </p:sp>
      <p:sp>
        <p:nvSpPr>
          <p:cNvPr id="17410" name="Slide Number Placeholder 4">
            <a:extLst>
              <a:ext uri="{FF2B5EF4-FFF2-40B4-BE49-F238E27FC236}">
                <a16:creationId xmlns:a16="http://schemas.microsoft.com/office/drawing/2014/main" id="{EF62CCD5-E00E-4115-946C-99842C222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CF9717D-8C19-4D09-BE42-AF6C1918680C}" type="slidenum">
              <a:rPr lang="en-US" altLang="en-US">
                <a:latin typeface="Arial Black" panose="020B0A04020102020204" pitchFamily="34" charset="0"/>
              </a:rPr>
              <a:pPr/>
              <a:t>15</a:t>
            </a:fld>
            <a:endParaRPr lang="en-US" altLang="en-US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>
            <a:extLst>
              <a:ext uri="{FF2B5EF4-FFF2-40B4-BE49-F238E27FC236}">
                <a16:creationId xmlns:a16="http://schemas.microsoft.com/office/drawing/2014/main" id="{DD2828BF-ADBA-45E6-928B-442F8FCE78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(1)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16A876C4-21A1-4C3F-B6D5-8B8345396B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 </a:t>
            </a:r>
            <a:r>
              <a:rPr lang="en-US" altLang="en-US">
                <a:sym typeface="Symbol" panose="05050102010706020507" pitchFamily="18" charset="2"/>
              </a:rPr>
              <a:t></a:t>
            </a:r>
            <a:r>
              <a:rPr lang="en-US" altLang="en-US"/>
              <a:t> A </a:t>
            </a:r>
            <a:r>
              <a:rPr lang="en-US" altLang="en-US">
                <a:sym typeface="Symbol" panose="05050102010706020507" pitchFamily="18" charset="2"/>
              </a:rPr>
              <a:t></a:t>
            </a:r>
            <a:r>
              <a:rPr lang="en-US" altLang="en-US"/>
              <a:t> N , if all af A-productions in P are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		A </a:t>
            </a:r>
            <a:r>
              <a:rPr lang="en-US" altLang="en-US">
                <a:sym typeface="Symbol" panose="05050102010706020507" pitchFamily="18" charset="2"/>
              </a:rPr>
              <a:t></a:t>
            </a:r>
            <a:r>
              <a:rPr lang="en-US" altLang="en-US"/>
              <a:t> </a:t>
            </a:r>
            <a:r>
              <a:rPr lang="en-US" altLang="en-US">
                <a:latin typeface="Symbol" panose="05050102010706020507" pitchFamily="18" charset="2"/>
              </a:rPr>
              <a:t>a</a:t>
            </a:r>
            <a:r>
              <a:rPr lang="en-US" altLang="en-US" sz="1800"/>
              <a:t>1 </a:t>
            </a:r>
            <a:r>
              <a:rPr lang="en-US" altLang="en-US"/>
              <a:t>| </a:t>
            </a:r>
            <a:r>
              <a:rPr lang="en-US" altLang="en-US">
                <a:latin typeface="Symbol" panose="05050102010706020507" pitchFamily="18" charset="2"/>
              </a:rPr>
              <a:t>a</a:t>
            </a:r>
            <a:r>
              <a:rPr lang="en-US" altLang="en-US" sz="1800"/>
              <a:t>2</a:t>
            </a:r>
            <a:r>
              <a:rPr lang="en-US" altLang="en-US"/>
              <a:t> | . . . .| </a:t>
            </a:r>
            <a:r>
              <a:rPr lang="en-US" altLang="en-US">
                <a:latin typeface="Symbol" panose="05050102010706020507" pitchFamily="18" charset="2"/>
              </a:rPr>
              <a:t>a</a:t>
            </a:r>
            <a:r>
              <a:rPr lang="en-US" altLang="en-US" sz="1800"/>
              <a:t>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Order the alternates</a:t>
            </a:r>
          </a:p>
          <a:p>
            <a:pPr lvl="4" eaLnBrk="1" hangingPunct="1">
              <a:buFont typeface="Wingdings" panose="05000000000000000000" pitchFamily="2" charset="2"/>
              <a:buNone/>
            </a:pPr>
            <a:r>
              <a:rPr lang="en-US" altLang="en-US" sz="2800"/>
              <a:t>A</a:t>
            </a:r>
            <a:r>
              <a:rPr lang="en-US" altLang="en-US" sz="1600"/>
              <a:t>1</a:t>
            </a:r>
            <a:r>
              <a:rPr lang="en-US" altLang="en-US" sz="2800"/>
              <a:t> </a:t>
            </a:r>
            <a:r>
              <a:rPr lang="en-US" altLang="en-US" sz="2800">
                <a:sym typeface="Symbol" panose="05050102010706020507" pitchFamily="18" charset="2"/>
              </a:rPr>
              <a:t></a:t>
            </a:r>
            <a:r>
              <a:rPr lang="en-US" altLang="en-US" sz="2800"/>
              <a:t> </a:t>
            </a:r>
            <a:r>
              <a:rPr lang="en-US" altLang="en-US" sz="2800">
                <a:latin typeface="Symbol" panose="05050102010706020507" pitchFamily="18" charset="2"/>
              </a:rPr>
              <a:t>a</a:t>
            </a:r>
            <a:r>
              <a:rPr lang="en-US" altLang="en-US" sz="1600"/>
              <a:t>1</a:t>
            </a:r>
          </a:p>
          <a:p>
            <a:pPr lvl="4" eaLnBrk="1" hangingPunct="1">
              <a:buFont typeface="Wingdings" panose="05000000000000000000" pitchFamily="2" charset="2"/>
              <a:buNone/>
            </a:pPr>
            <a:r>
              <a:rPr lang="en-US" altLang="en-US" sz="2800"/>
              <a:t>. . . .</a:t>
            </a:r>
          </a:p>
          <a:p>
            <a:pPr lvl="4" eaLnBrk="1" hangingPunct="1">
              <a:buFont typeface="Wingdings" panose="05000000000000000000" pitchFamily="2" charset="2"/>
              <a:buNone/>
            </a:pPr>
            <a:r>
              <a:rPr lang="en-US" altLang="en-US" sz="2800"/>
              <a:t>A</a:t>
            </a:r>
            <a:r>
              <a:rPr lang="en-US" altLang="en-US" sz="1600"/>
              <a:t>n</a:t>
            </a:r>
            <a:r>
              <a:rPr lang="en-US" altLang="en-US" sz="2800"/>
              <a:t> </a:t>
            </a:r>
            <a:r>
              <a:rPr lang="en-US" altLang="en-US" sz="2800">
                <a:sym typeface="Symbol" panose="05050102010706020507" pitchFamily="18" charset="2"/>
              </a:rPr>
              <a:t></a:t>
            </a:r>
            <a:r>
              <a:rPr lang="en-US" altLang="en-US" sz="2800"/>
              <a:t> </a:t>
            </a:r>
            <a:r>
              <a:rPr lang="en-US" altLang="en-US" sz="2800">
                <a:latin typeface="Symbol" panose="05050102010706020507" pitchFamily="18" charset="2"/>
              </a:rPr>
              <a:t>a</a:t>
            </a:r>
            <a:r>
              <a:rPr lang="en-US" altLang="en-US" sz="1600"/>
              <a:t>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  </a:t>
            </a:r>
          </a:p>
        </p:txBody>
      </p:sp>
      <p:sp>
        <p:nvSpPr>
          <p:cNvPr id="18434" name="Slide Number Placeholder 4">
            <a:extLst>
              <a:ext uri="{FF2B5EF4-FFF2-40B4-BE49-F238E27FC236}">
                <a16:creationId xmlns:a16="http://schemas.microsoft.com/office/drawing/2014/main" id="{365FD185-393E-4932-AC6D-EF9CC3B8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7BD87F3-A0BD-4571-BABB-F950972D4814}" type="slidenum">
              <a:rPr lang="en-US" altLang="en-US">
                <a:latin typeface="Arial Black" panose="020B0A04020102020204" pitchFamily="34" charset="0"/>
              </a:rPr>
              <a:pPr/>
              <a:t>16</a:t>
            </a:fld>
            <a:endParaRPr lang="en-US" altLang="en-US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>
            <a:extLst>
              <a:ext uri="{FF2B5EF4-FFF2-40B4-BE49-F238E27FC236}">
                <a16:creationId xmlns:a16="http://schemas.microsoft.com/office/drawing/2014/main" id="{CDB80C76-EEB4-4512-87DE-85E174262C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Configuration of the algorithm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8F2B5B39-26E3-4929-98CF-3EEED2E4D7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828800"/>
            <a:ext cx="9144000" cy="3886200"/>
          </a:xfrm>
        </p:spPr>
        <p:txBody>
          <a:bodyPr>
            <a:normAutofit lnSpcReduction="10000"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sz="2800"/>
              <a:t>4-tuple (s, i, </a:t>
            </a:r>
            <a:r>
              <a:rPr lang="en-US" altLang="en-US" sz="2800">
                <a:latin typeface="Symbol" panose="05050102010706020507" pitchFamily="18" charset="2"/>
              </a:rPr>
              <a:t>a, b</a:t>
            </a:r>
            <a:r>
              <a:rPr lang="en-US" altLang="en-US" sz="2800"/>
              <a:t>)</a:t>
            </a:r>
          </a:p>
          <a:p>
            <a:pPr algn="just" eaLnBrk="1" hangingPunct="1"/>
            <a:r>
              <a:rPr lang="en-US" altLang="en-US" sz="2800"/>
              <a:t>s </a:t>
            </a:r>
            <a:r>
              <a:rPr lang="en-US" altLang="en-US" sz="2800">
                <a:sym typeface="Symbol" panose="05050102010706020507" pitchFamily="18" charset="2"/>
              </a:rPr>
              <a:t></a:t>
            </a:r>
            <a:r>
              <a:rPr lang="en-US" altLang="en-US" sz="2800"/>
              <a:t> Q: the current state</a:t>
            </a:r>
          </a:p>
          <a:p>
            <a:pPr lvl="4" algn="just" eaLnBrk="1" hangingPunct="1"/>
            <a:r>
              <a:rPr lang="en-US" altLang="en-US" sz="2400"/>
              <a:t>q: normal operation</a:t>
            </a:r>
          </a:p>
          <a:p>
            <a:pPr lvl="4" algn="just" eaLnBrk="1" hangingPunct="1"/>
            <a:r>
              <a:rPr lang="en-US" altLang="en-US" sz="2400"/>
              <a:t>b: backtracking</a:t>
            </a:r>
          </a:p>
          <a:p>
            <a:pPr lvl="4" algn="just" eaLnBrk="1" hangingPunct="1"/>
            <a:r>
              <a:rPr lang="en-US" altLang="en-US" sz="2400"/>
              <a:t>t: terminating</a:t>
            </a:r>
          </a:p>
          <a:p>
            <a:pPr algn="just" eaLnBrk="1" hangingPunct="1"/>
            <a:r>
              <a:rPr lang="en-US" altLang="en-US" sz="2800"/>
              <a:t>i : location of the input pointer (the n+1 st  “input symbol” is #, the right endmarker)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latin typeface="Symbol" panose="05050102010706020507" pitchFamily="18" charset="2"/>
              </a:rPr>
              <a:t>	a</a:t>
            </a:r>
            <a:r>
              <a:rPr lang="en-US" altLang="en-US" sz="2800"/>
              <a:t>: content of the first stack (D1)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sz="2800"/>
              <a:t>	</a:t>
            </a:r>
            <a:r>
              <a:rPr lang="en-US" altLang="en-US" sz="2800">
                <a:latin typeface="Symbol" panose="05050102010706020507" pitchFamily="18" charset="2"/>
              </a:rPr>
              <a:t>b</a:t>
            </a:r>
            <a:r>
              <a:rPr lang="en-US" altLang="en-US" sz="2800"/>
              <a:t>: content of the second stack (D2) </a:t>
            </a:r>
          </a:p>
        </p:txBody>
      </p:sp>
      <p:sp>
        <p:nvSpPr>
          <p:cNvPr id="19458" name="Slide Number Placeholder 4">
            <a:extLst>
              <a:ext uri="{FF2B5EF4-FFF2-40B4-BE49-F238E27FC236}">
                <a16:creationId xmlns:a16="http://schemas.microsoft.com/office/drawing/2014/main" id="{68F68AC1-6767-4D61-8628-42BFB405A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14C64E5-AE33-455E-9EB5-4AB0B677C94F}" type="slidenum">
              <a:rPr lang="en-US" altLang="en-US">
                <a:latin typeface="Arial Black" panose="020B0A04020102020204" pitchFamily="34" charset="0"/>
              </a:rPr>
              <a:pPr/>
              <a:t>17</a:t>
            </a:fld>
            <a:endParaRPr lang="en-US" altLang="en-US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>
            <a:extLst>
              <a:ext uri="{FF2B5EF4-FFF2-40B4-BE49-F238E27FC236}">
                <a16:creationId xmlns:a16="http://schemas.microsoft.com/office/drawing/2014/main" id="{987E86FF-B034-44C3-B03A-796185877C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Execution of the algorithm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040D6217-1E93-4A5D-9928-3ABC2D45D2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0" y="1981200"/>
            <a:ext cx="7772400" cy="4530725"/>
          </a:xfrm>
        </p:spPr>
        <p:txBody>
          <a:bodyPr/>
          <a:lstStyle/>
          <a:p>
            <a:pPr algn="just" eaLnBrk="1" hangingPunct="1"/>
            <a:r>
              <a:rPr lang="en-US" altLang="en-US"/>
              <a:t>Starting in the initial configuration, compute successive  next configurations until no further configuration can be computed.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algn="just" eaLnBrk="1" hangingPunct="1"/>
            <a:r>
              <a:rPr lang="en-US" altLang="en-US"/>
              <a:t>If the last computed configuration is (t,n+1,</a:t>
            </a:r>
            <a:r>
              <a:rPr lang="en-US" altLang="en-US">
                <a:latin typeface="Symbol" panose="05050102010706020507" pitchFamily="18" charset="2"/>
              </a:rPr>
              <a:t>g</a:t>
            </a:r>
            <a:r>
              <a:rPr lang="en-US" altLang="en-US"/>
              <a:t>,</a:t>
            </a:r>
            <a:r>
              <a:rPr lang="en-US" altLang="en-US">
                <a:latin typeface="Symbol" panose="05050102010706020507" pitchFamily="18" charset="2"/>
              </a:rPr>
              <a:t>e</a:t>
            </a:r>
            <a:r>
              <a:rPr lang="en-US" altLang="en-US"/>
              <a:t>), emit h(</a:t>
            </a:r>
            <a:r>
              <a:rPr lang="en-US" altLang="en-US">
                <a:latin typeface="Symbol" panose="05050102010706020507" pitchFamily="18" charset="2"/>
              </a:rPr>
              <a:t>g</a:t>
            </a:r>
            <a:r>
              <a:rPr lang="en-US" altLang="en-US"/>
              <a:t>) and halt. Otherwise emit the error signal.</a:t>
            </a:r>
          </a:p>
        </p:txBody>
      </p:sp>
      <p:sp>
        <p:nvSpPr>
          <p:cNvPr id="20482" name="Slide Number Placeholder 4">
            <a:extLst>
              <a:ext uri="{FF2B5EF4-FFF2-40B4-BE49-F238E27FC236}">
                <a16:creationId xmlns:a16="http://schemas.microsoft.com/office/drawing/2014/main" id="{C0248505-A725-4797-AA81-F387454A7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69A1CE1-CC23-4550-AD66-9FFF9E9710CE}" type="slidenum">
              <a:rPr lang="en-US" altLang="en-US">
                <a:latin typeface="Arial Black" panose="020B0A04020102020204" pitchFamily="34" charset="0"/>
              </a:rPr>
              <a:pPr/>
              <a:t>18</a:t>
            </a:fld>
            <a:endParaRPr lang="en-US" altLang="en-US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>
            <a:extLst>
              <a:ext uri="{FF2B5EF4-FFF2-40B4-BE49-F238E27FC236}">
                <a16:creationId xmlns:a16="http://schemas.microsoft.com/office/drawing/2014/main" id="{E1FC8BA7-19EB-44D9-B8E9-9311D2CEED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DD58446B-D940-41E1-8EB9-D791768BE3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905000"/>
            <a:ext cx="7772400" cy="4419600"/>
          </a:xfrm>
        </p:spPr>
        <p:txBody>
          <a:bodyPr/>
          <a:lstStyle/>
          <a:p>
            <a:pPr eaLnBrk="1" hangingPunct="1"/>
            <a:r>
              <a:rPr lang="en-US" altLang="en-US"/>
              <a:t>Consider string aacbb  and grammar G </a:t>
            </a:r>
            <a:r>
              <a:rPr lang="en-US" altLang="en-US" sz="4000"/>
              <a:t>	</a:t>
            </a:r>
          </a:p>
          <a:p>
            <a:pPr lvl="3" eaLnBrk="1" hangingPunct="1">
              <a:buFont typeface="Wingdings" panose="05000000000000000000" pitchFamily="2" charset="2"/>
              <a:buNone/>
            </a:pPr>
            <a:r>
              <a:rPr lang="en-US" altLang="en-US" sz="2800"/>
              <a:t>		S </a:t>
            </a:r>
            <a:r>
              <a:rPr lang="en-US" altLang="en-US" sz="2800">
                <a:sym typeface="Symbol" panose="05050102010706020507" pitchFamily="18" charset="2"/>
              </a:rPr>
              <a:t></a:t>
            </a:r>
            <a:r>
              <a:rPr lang="en-US" altLang="en-US" sz="2800"/>
              <a:t> aSb</a:t>
            </a:r>
          </a:p>
          <a:p>
            <a:pPr lvl="3" eaLnBrk="1" hangingPunct="1">
              <a:buFont typeface="Wingdings" panose="05000000000000000000" pitchFamily="2" charset="2"/>
              <a:buNone/>
            </a:pPr>
            <a:r>
              <a:rPr lang="en-US" altLang="en-US" sz="2800"/>
              <a:t>		S </a:t>
            </a:r>
            <a:r>
              <a:rPr lang="en-US" altLang="en-US" sz="2800">
                <a:sym typeface="Symbol" panose="05050102010706020507" pitchFamily="18" charset="2"/>
              </a:rPr>
              <a:t></a:t>
            </a:r>
            <a:r>
              <a:rPr lang="en-US" altLang="en-US" sz="2800"/>
              <a:t> c</a:t>
            </a:r>
          </a:p>
        </p:txBody>
      </p:sp>
      <p:sp>
        <p:nvSpPr>
          <p:cNvPr id="21506" name="Slide Number Placeholder 4">
            <a:extLst>
              <a:ext uri="{FF2B5EF4-FFF2-40B4-BE49-F238E27FC236}">
                <a16:creationId xmlns:a16="http://schemas.microsoft.com/office/drawing/2014/main" id="{EF34DD7A-907C-46BF-BE55-676A50477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354F223-C20F-424C-B0E2-CE4DB37107C9}" type="slidenum">
              <a:rPr lang="en-US" altLang="en-US">
                <a:latin typeface="Arial Black" panose="020B0A04020102020204" pitchFamily="34" charset="0"/>
              </a:rPr>
              <a:pPr/>
              <a:t>19</a:t>
            </a:fld>
            <a:endParaRPr lang="en-US" altLang="en-US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>
            <a:extLst>
              <a:ext uri="{FF2B5EF4-FFF2-40B4-BE49-F238E27FC236}">
                <a16:creationId xmlns:a16="http://schemas.microsoft.com/office/drawing/2014/main" id="{795D816A-4197-475F-AAFF-F3D5BE6C91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Number productions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C2992C7E-3E7A-4A7A-BDDA-E2F3D913AE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82688" y="1981200"/>
            <a:ext cx="5083175" cy="3886200"/>
          </a:xfrm>
        </p:spPr>
        <p:txBody>
          <a:bodyPr/>
          <a:lstStyle/>
          <a:p>
            <a:pPr marL="533400" indent="-533400" eaLnBrk="1" hangingPunct="1"/>
            <a:endParaRPr lang="en-US" altLang="en-US"/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en-US"/>
              <a:t>S</a:t>
            </a:r>
            <a:r>
              <a:rPr lang="en-US" altLang="en-US" sz="1800"/>
              <a:t>1</a:t>
            </a:r>
            <a:r>
              <a:rPr lang="en-US" altLang="en-US"/>
              <a:t>  </a:t>
            </a:r>
            <a:r>
              <a:rPr lang="en-US" altLang="en-US">
                <a:sym typeface="Symbol" panose="05050102010706020507" pitchFamily="18" charset="2"/>
              </a:rPr>
              <a:t></a:t>
            </a:r>
            <a:r>
              <a:rPr lang="en-US" altLang="en-US"/>
              <a:t> aSb</a:t>
            </a:r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en-US"/>
              <a:t>S</a:t>
            </a:r>
            <a:r>
              <a:rPr lang="en-US" altLang="en-US" sz="1800"/>
              <a:t>2</a:t>
            </a:r>
            <a:r>
              <a:rPr lang="en-US" altLang="en-US"/>
              <a:t> </a:t>
            </a:r>
            <a:r>
              <a:rPr lang="en-US" altLang="en-US">
                <a:sym typeface="Symbol" panose="05050102010706020507" pitchFamily="18" charset="2"/>
              </a:rPr>
              <a:t></a:t>
            </a:r>
            <a:r>
              <a:rPr lang="en-US" altLang="en-US"/>
              <a:t> c</a:t>
            </a:r>
          </a:p>
        </p:txBody>
      </p:sp>
      <p:sp>
        <p:nvSpPr>
          <p:cNvPr id="22530" name="Slide Number Placeholder 4">
            <a:extLst>
              <a:ext uri="{FF2B5EF4-FFF2-40B4-BE49-F238E27FC236}">
                <a16:creationId xmlns:a16="http://schemas.microsoft.com/office/drawing/2014/main" id="{79A8AA28-5C2F-46AA-844E-E2689A0EA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CFC5BFE-54C1-4808-BE2A-41F4D503CFF6}" type="slidenum">
              <a:rPr lang="en-US" altLang="en-US">
                <a:latin typeface="Arial Black" panose="020B0A04020102020204" pitchFamily="34" charset="0"/>
              </a:rPr>
              <a:pPr/>
              <a:t>20</a:t>
            </a:fld>
            <a:endParaRPr lang="en-US" altLang="en-US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>
            <a:extLst>
              <a:ext uri="{FF2B5EF4-FFF2-40B4-BE49-F238E27FC236}">
                <a16:creationId xmlns:a16="http://schemas.microsoft.com/office/drawing/2014/main" id="{4E79042A-AA1E-48EC-B32E-36FF36DE05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Sequence of configurations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EFE6300B-7C78-4865-84E8-CA6C00AF25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1524000"/>
            <a:ext cx="6781800" cy="48006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      (q,1, </a:t>
            </a:r>
            <a:r>
              <a:rPr lang="en-US" altLang="en-US" sz="2400">
                <a:latin typeface="Symbol" panose="05050102010706020507" pitchFamily="18" charset="2"/>
              </a:rPr>
              <a:t>e</a:t>
            </a:r>
            <a:r>
              <a:rPr lang="en-US" altLang="en-US" sz="2400"/>
              <a:t>, S#)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|</a:t>
            </a:r>
            <a:r>
              <a:rPr lang="en-US" altLang="en-US" sz="2400">
                <a:sym typeface="Symbol" panose="05050102010706020507" pitchFamily="18" charset="2"/>
              </a:rPr>
              <a:t></a:t>
            </a:r>
            <a:r>
              <a:rPr lang="en-US" altLang="en-US" sz="2400"/>
              <a:t> (q, 1, S</a:t>
            </a:r>
            <a:r>
              <a:rPr lang="en-US" altLang="en-US" sz="2400" baseline="-25000"/>
              <a:t>1</a:t>
            </a:r>
            <a:r>
              <a:rPr lang="en-US" altLang="en-US" sz="2400"/>
              <a:t>, aSb#)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|</a:t>
            </a:r>
            <a:r>
              <a:rPr lang="en-US" altLang="en-US" sz="2400">
                <a:sym typeface="Symbol" panose="05050102010706020507" pitchFamily="18" charset="2"/>
              </a:rPr>
              <a:t></a:t>
            </a:r>
            <a:r>
              <a:rPr lang="en-US" altLang="en-US" sz="2400"/>
              <a:t> (q, 2, S</a:t>
            </a:r>
            <a:r>
              <a:rPr lang="en-US" altLang="en-US" sz="1400" b="1"/>
              <a:t>1</a:t>
            </a:r>
            <a:r>
              <a:rPr lang="en-US" altLang="en-US" sz="2400"/>
              <a:t>a, Sb#)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|</a:t>
            </a:r>
            <a:r>
              <a:rPr lang="en-US" altLang="en-US" sz="2400">
                <a:sym typeface="Symbol" panose="05050102010706020507" pitchFamily="18" charset="2"/>
              </a:rPr>
              <a:t></a:t>
            </a:r>
            <a:r>
              <a:rPr lang="en-US" altLang="en-US" sz="2400"/>
              <a:t> (q, 2, S</a:t>
            </a:r>
            <a:r>
              <a:rPr lang="en-US" altLang="en-US" sz="1400" b="1"/>
              <a:t>1</a:t>
            </a:r>
            <a:r>
              <a:rPr lang="en-US" altLang="en-US" sz="2400"/>
              <a:t>aS</a:t>
            </a:r>
            <a:r>
              <a:rPr lang="en-US" altLang="en-US" sz="1400" b="1"/>
              <a:t>1</a:t>
            </a:r>
            <a:r>
              <a:rPr lang="en-US" altLang="en-US" sz="2400"/>
              <a:t>,aSbb#)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|</a:t>
            </a:r>
            <a:r>
              <a:rPr lang="en-US" altLang="en-US" sz="2400">
                <a:sym typeface="Symbol" panose="05050102010706020507" pitchFamily="18" charset="2"/>
              </a:rPr>
              <a:t></a:t>
            </a:r>
            <a:r>
              <a:rPr lang="en-US" altLang="en-US" sz="2400"/>
              <a:t> (q, 3, S</a:t>
            </a:r>
            <a:r>
              <a:rPr lang="en-US" altLang="en-US" sz="1400" b="1"/>
              <a:t>1</a:t>
            </a:r>
            <a:r>
              <a:rPr lang="en-US" altLang="en-US" sz="2400"/>
              <a:t>aS</a:t>
            </a:r>
            <a:r>
              <a:rPr lang="en-US" altLang="en-US" sz="1400" b="1"/>
              <a:t>1</a:t>
            </a:r>
            <a:r>
              <a:rPr lang="en-US" altLang="en-US" sz="2400"/>
              <a:t>a, Sbb#)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|</a:t>
            </a:r>
            <a:r>
              <a:rPr lang="en-US" altLang="en-US" sz="2400">
                <a:sym typeface="Symbol" panose="05050102010706020507" pitchFamily="18" charset="2"/>
              </a:rPr>
              <a:t></a:t>
            </a:r>
            <a:r>
              <a:rPr lang="en-US" altLang="en-US" sz="2400"/>
              <a:t> (q, 3, S</a:t>
            </a:r>
            <a:r>
              <a:rPr lang="en-US" altLang="en-US" sz="1400" b="1"/>
              <a:t>1</a:t>
            </a:r>
            <a:r>
              <a:rPr lang="en-US" altLang="en-US" sz="2400"/>
              <a:t>aS</a:t>
            </a:r>
            <a:r>
              <a:rPr lang="en-US" altLang="en-US" sz="1400" b="1"/>
              <a:t>1</a:t>
            </a:r>
            <a:r>
              <a:rPr lang="en-US" altLang="en-US" sz="2400"/>
              <a:t>aS</a:t>
            </a:r>
            <a:r>
              <a:rPr lang="en-US" altLang="en-US" sz="1400" b="1"/>
              <a:t>1</a:t>
            </a:r>
            <a:r>
              <a:rPr lang="en-US" altLang="en-US" sz="2400"/>
              <a:t>,aSbbb#)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|</a:t>
            </a:r>
            <a:r>
              <a:rPr lang="en-US" altLang="en-US" sz="2400">
                <a:sym typeface="Symbol" panose="05050102010706020507" pitchFamily="18" charset="2"/>
              </a:rPr>
              <a:t></a:t>
            </a:r>
            <a:r>
              <a:rPr lang="en-US" altLang="en-US" sz="2400"/>
              <a:t> (b, 3, S</a:t>
            </a:r>
            <a:r>
              <a:rPr lang="en-US" altLang="en-US" sz="1400" b="1"/>
              <a:t>1</a:t>
            </a:r>
            <a:r>
              <a:rPr lang="en-US" altLang="en-US" sz="2400"/>
              <a:t>aS</a:t>
            </a:r>
            <a:r>
              <a:rPr lang="en-US" altLang="en-US" sz="1400" b="1"/>
              <a:t>1</a:t>
            </a:r>
            <a:r>
              <a:rPr lang="en-US" altLang="en-US" sz="2400"/>
              <a:t>aS</a:t>
            </a:r>
            <a:r>
              <a:rPr lang="en-US" altLang="en-US" sz="1400" b="1"/>
              <a:t>1</a:t>
            </a:r>
            <a:r>
              <a:rPr lang="en-US" altLang="en-US" sz="2400"/>
              <a:t>,aSbbb#)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|</a:t>
            </a:r>
            <a:r>
              <a:rPr lang="en-US" altLang="en-US" sz="2400">
                <a:sym typeface="Symbol" panose="05050102010706020507" pitchFamily="18" charset="2"/>
              </a:rPr>
              <a:t></a:t>
            </a:r>
            <a:r>
              <a:rPr lang="en-US" altLang="en-US" sz="2400"/>
              <a:t> (q, 3, S</a:t>
            </a:r>
            <a:r>
              <a:rPr lang="en-US" altLang="en-US" sz="1400" b="1"/>
              <a:t>1</a:t>
            </a:r>
            <a:r>
              <a:rPr lang="en-US" altLang="en-US" sz="2400"/>
              <a:t>aS</a:t>
            </a:r>
            <a:r>
              <a:rPr lang="en-US" altLang="en-US" sz="1400" b="1"/>
              <a:t>1</a:t>
            </a:r>
            <a:r>
              <a:rPr lang="en-US" altLang="en-US" sz="2400"/>
              <a:t>aS</a:t>
            </a:r>
            <a:r>
              <a:rPr lang="en-US" altLang="en-US" sz="1400" b="1"/>
              <a:t>2</a:t>
            </a:r>
            <a:r>
              <a:rPr lang="en-US" altLang="en-US" sz="2400"/>
              <a:t>, cbb#)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|</a:t>
            </a:r>
            <a:r>
              <a:rPr lang="en-US" altLang="en-US" sz="2400">
                <a:sym typeface="Symbol" panose="05050102010706020507" pitchFamily="18" charset="2"/>
              </a:rPr>
              <a:t></a:t>
            </a:r>
            <a:r>
              <a:rPr lang="en-US" altLang="en-US" sz="2400"/>
              <a:t> (q, 4, S</a:t>
            </a:r>
            <a:r>
              <a:rPr lang="en-US" altLang="en-US" sz="1400" b="1"/>
              <a:t>1</a:t>
            </a:r>
            <a:r>
              <a:rPr lang="en-US" altLang="en-US" sz="2400"/>
              <a:t>aS</a:t>
            </a:r>
            <a:r>
              <a:rPr lang="en-US" altLang="en-US" sz="1400" b="1"/>
              <a:t>1</a:t>
            </a:r>
            <a:r>
              <a:rPr lang="en-US" altLang="en-US" sz="2400"/>
              <a:t>aS</a:t>
            </a:r>
            <a:r>
              <a:rPr lang="en-US" altLang="en-US" sz="1400" b="1"/>
              <a:t>2</a:t>
            </a:r>
            <a:r>
              <a:rPr lang="en-US" altLang="en-US" sz="2400"/>
              <a:t>c,bb#)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|</a:t>
            </a:r>
            <a:r>
              <a:rPr lang="en-US" altLang="en-US" sz="2400">
                <a:sym typeface="Symbol" panose="05050102010706020507" pitchFamily="18" charset="2"/>
              </a:rPr>
              <a:t></a:t>
            </a:r>
            <a:r>
              <a:rPr lang="en-US" altLang="en-US" sz="2400"/>
              <a:t> (q, 5, S</a:t>
            </a:r>
            <a:r>
              <a:rPr lang="en-US" altLang="en-US" sz="1400" b="1"/>
              <a:t>1</a:t>
            </a:r>
            <a:r>
              <a:rPr lang="en-US" altLang="en-US" sz="2400"/>
              <a:t>aS</a:t>
            </a:r>
            <a:r>
              <a:rPr lang="en-US" altLang="en-US" sz="1400" b="1"/>
              <a:t>1</a:t>
            </a:r>
            <a:r>
              <a:rPr lang="en-US" altLang="en-US" sz="2400"/>
              <a:t>aS</a:t>
            </a:r>
            <a:r>
              <a:rPr lang="en-US" altLang="en-US" sz="1400" b="1"/>
              <a:t>2</a:t>
            </a:r>
            <a:r>
              <a:rPr lang="en-US" altLang="en-US" sz="2400"/>
              <a:t>cb,b#)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|</a:t>
            </a:r>
            <a:r>
              <a:rPr lang="en-US" altLang="en-US" sz="2400">
                <a:sym typeface="Symbol" panose="05050102010706020507" pitchFamily="18" charset="2"/>
              </a:rPr>
              <a:t></a:t>
            </a:r>
            <a:r>
              <a:rPr lang="en-US" altLang="en-US" sz="2400"/>
              <a:t> (q, 6, S</a:t>
            </a:r>
            <a:r>
              <a:rPr lang="en-US" altLang="en-US" sz="1400" b="1"/>
              <a:t>1</a:t>
            </a:r>
            <a:r>
              <a:rPr lang="en-US" altLang="en-US" sz="2400"/>
              <a:t>aS</a:t>
            </a:r>
            <a:r>
              <a:rPr lang="en-US" altLang="en-US" sz="1400" b="1"/>
              <a:t>1</a:t>
            </a:r>
            <a:r>
              <a:rPr lang="en-US" altLang="en-US" sz="2400"/>
              <a:t>aS</a:t>
            </a:r>
            <a:r>
              <a:rPr lang="en-US" altLang="en-US" sz="1400" b="1"/>
              <a:t>2</a:t>
            </a:r>
            <a:r>
              <a:rPr lang="en-US" altLang="en-US" sz="2400"/>
              <a:t>cbb,#)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|</a:t>
            </a:r>
            <a:r>
              <a:rPr lang="en-US" altLang="en-US" sz="2400">
                <a:sym typeface="Symbol" panose="05050102010706020507" pitchFamily="18" charset="2"/>
              </a:rPr>
              <a:t></a:t>
            </a:r>
            <a:r>
              <a:rPr lang="en-US" altLang="en-US" sz="2400"/>
              <a:t> (t, 6, S</a:t>
            </a:r>
            <a:r>
              <a:rPr lang="en-US" altLang="en-US" sz="1400" b="1"/>
              <a:t>1</a:t>
            </a:r>
            <a:r>
              <a:rPr lang="en-US" altLang="en-US" sz="2400"/>
              <a:t>aS</a:t>
            </a:r>
            <a:r>
              <a:rPr lang="en-US" altLang="en-US" sz="1400" b="1"/>
              <a:t>1</a:t>
            </a:r>
            <a:r>
              <a:rPr lang="en-US" altLang="en-US" sz="2400"/>
              <a:t>aS</a:t>
            </a:r>
            <a:r>
              <a:rPr lang="en-US" altLang="en-US" sz="1400" b="1"/>
              <a:t>2</a:t>
            </a:r>
            <a:r>
              <a:rPr lang="en-US" altLang="en-US" sz="2400"/>
              <a:t>cbb, </a:t>
            </a:r>
            <a:r>
              <a:rPr lang="en-US" altLang="en-US" sz="2400">
                <a:latin typeface="Symbol" panose="05050102010706020507" pitchFamily="18" charset="2"/>
              </a:rPr>
              <a:t>e</a:t>
            </a:r>
            <a:r>
              <a:rPr lang="en-US" altLang="en-US" sz="2400"/>
              <a:t> 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40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400"/>
          </a:p>
        </p:txBody>
      </p:sp>
      <p:sp>
        <p:nvSpPr>
          <p:cNvPr id="23554" name="Slide Number Placeholder 4">
            <a:extLst>
              <a:ext uri="{FF2B5EF4-FFF2-40B4-BE49-F238E27FC236}">
                <a16:creationId xmlns:a16="http://schemas.microsoft.com/office/drawing/2014/main" id="{01172F02-7F10-4937-98EF-FE37374A3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A4D5DA7-0BAE-4321-8E4E-103AACF1AA83}" type="slidenum">
              <a:rPr lang="en-US" altLang="en-US">
                <a:latin typeface="Arial Black" panose="020B0A04020102020204" pitchFamily="34" charset="0"/>
              </a:rPr>
              <a:pPr/>
              <a:t>21</a:t>
            </a:fld>
            <a:endParaRPr lang="en-US" altLang="en-US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>
            <a:extLst>
              <a:ext uri="{FF2B5EF4-FFF2-40B4-BE49-F238E27FC236}">
                <a16:creationId xmlns:a16="http://schemas.microsoft.com/office/drawing/2014/main" id="{B9D08D25-3133-44CD-81B9-EB924320AA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Recover the left parse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370ACB19-C521-4758-AB77-EECD2821DD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676400"/>
            <a:ext cx="8229600" cy="3886200"/>
          </a:xfrm>
        </p:spPr>
        <p:txBody>
          <a:bodyPr>
            <a:normAutofit lnSpcReduction="10000"/>
          </a:bodyPr>
          <a:lstStyle/>
          <a:p>
            <a:pPr marL="533400" indent="-533400" eaLnBrk="1" hangingPunct="1">
              <a:lnSpc>
                <a:spcPct val="80000"/>
              </a:lnSpc>
            </a:pPr>
            <a:r>
              <a:rPr lang="en-US" altLang="en-US" sz="2800" i="1"/>
              <a:t>    h(a) = </a:t>
            </a:r>
            <a:r>
              <a:rPr lang="en-US" altLang="en-US" sz="2800" i="1">
                <a:latin typeface="Symbol" panose="05050102010706020507" pitchFamily="18" charset="2"/>
              </a:rPr>
              <a:t>e</a:t>
            </a:r>
            <a:r>
              <a:rPr lang="en-US" altLang="en-US" sz="2800" i="1"/>
              <a:t> for all terminal a </a:t>
            </a:r>
          </a:p>
          <a:p>
            <a:pPr marL="533400" indent="-5334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i="1"/>
              <a:t>		h(A</a:t>
            </a:r>
            <a:r>
              <a:rPr lang="en-US" altLang="en-US" sz="1600" b="1" i="1"/>
              <a:t>i</a:t>
            </a:r>
            <a:r>
              <a:rPr lang="en-US" altLang="en-US" sz="2800" i="1"/>
              <a:t>)= p , </a:t>
            </a:r>
          </a:p>
          <a:p>
            <a:pPr marL="533400" indent="-5334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i="1"/>
              <a:t>		p is the production number associated with the production A</a:t>
            </a:r>
            <a:r>
              <a:rPr lang="en-US" altLang="en-US" sz="2800" i="1">
                <a:sym typeface="Symbol" panose="05050102010706020507" pitchFamily="18" charset="2"/>
              </a:rPr>
              <a:t></a:t>
            </a:r>
            <a:r>
              <a:rPr lang="en-US" altLang="en-US" sz="2800" i="1"/>
              <a:t> </a:t>
            </a:r>
            <a:r>
              <a:rPr lang="en-US" altLang="en-US" sz="2800" i="1">
                <a:latin typeface="Symbol" panose="05050102010706020507" pitchFamily="18" charset="2"/>
              </a:rPr>
              <a:t>g </a:t>
            </a:r>
            <a:r>
              <a:rPr lang="en-US" altLang="en-US" sz="2800" i="1"/>
              <a:t>and </a:t>
            </a:r>
            <a:r>
              <a:rPr lang="en-US" altLang="en-US" sz="2800" i="1">
                <a:latin typeface="Symbol" panose="05050102010706020507" pitchFamily="18" charset="2"/>
              </a:rPr>
              <a:t> g</a:t>
            </a:r>
            <a:r>
              <a:rPr lang="en-US" altLang="en-US" sz="2800" i="1"/>
              <a:t> is </a:t>
            </a:r>
            <a:r>
              <a:rPr lang="en-US" altLang="en-US" sz="2800"/>
              <a:t>i</a:t>
            </a:r>
            <a:r>
              <a:rPr lang="en-US" altLang="en-US" sz="2800" i="1"/>
              <a:t>th alternate for  A</a:t>
            </a:r>
          </a:p>
          <a:p>
            <a:pPr marL="533400" indent="-533400" eaLnBrk="1" hangingPunct="1">
              <a:lnSpc>
                <a:spcPct val="80000"/>
              </a:lnSpc>
            </a:pPr>
            <a:r>
              <a:rPr lang="en-US" altLang="en-US" sz="2800" i="1"/>
              <a:t>Example : with grammar</a:t>
            </a:r>
          </a:p>
          <a:p>
            <a:pPr marL="533400" indent="-533400" eaLnBrk="1" hangingPunct="1">
              <a:lnSpc>
                <a:spcPct val="80000"/>
              </a:lnSpc>
            </a:pPr>
            <a:endParaRPr lang="en-US" altLang="en-US" sz="2800"/>
          </a:p>
          <a:p>
            <a:pPr marL="533400" indent="-533400" eaLnBrk="1" hangingPunct="1">
              <a:lnSpc>
                <a:spcPct val="80000"/>
              </a:lnSpc>
            </a:pPr>
            <a:endParaRPr lang="en-US" altLang="en-US" sz="2800"/>
          </a:p>
          <a:p>
            <a:pPr marL="533400" indent="-533400" eaLnBrk="1" hangingPunct="1">
              <a:lnSpc>
                <a:spcPct val="80000"/>
              </a:lnSpc>
            </a:pPr>
            <a:endParaRPr lang="en-US" altLang="en-US" sz="2800"/>
          </a:p>
          <a:p>
            <a:pPr marL="533400" indent="-533400" eaLnBrk="1" hangingPunct="1">
              <a:lnSpc>
                <a:spcPct val="80000"/>
              </a:lnSpc>
            </a:pPr>
            <a:r>
              <a:rPr lang="en-US" altLang="en-US" sz="2800"/>
              <a:t>h(S</a:t>
            </a:r>
            <a:r>
              <a:rPr lang="en-US" altLang="en-US" sz="1800" b="1"/>
              <a:t>1</a:t>
            </a:r>
            <a:r>
              <a:rPr lang="en-US" altLang="en-US"/>
              <a:t>aS</a:t>
            </a:r>
            <a:r>
              <a:rPr lang="en-US" altLang="en-US" sz="1800" b="1"/>
              <a:t>1</a:t>
            </a:r>
            <a:r>
              <a:rPr lang="en-US" altLang="en-US"/>
              <a:t>aS</a:t>
            </a:r>
            <a:r>
              <a:rPr lang="en-US" altLang="en-US" sz="1800" b="1"/>
              <a:t>2</a:t>
            </a:r>
            <a:r>
              <a:rPr lang="en-US" altLang="en-US"/>
              <a:t>cbb)=112</a:t>
            </a:r>
            <a:endParaRPr lang="en-US" altLang="en-US" sz="2800" i="1"/>
          </a:p>
          <a:p>
            <a:pPr marL="533400" indent="-533400" eaLnBrk="1" hangingPunct="1">
              <a:lnSpc>
                <a:spcPct val="80000"/>
              </a:lnSpc>
            </a:pPr>
            <a:endParaRPr lang="en-US" altLang="en-US"/>
          </a:p>
        </p:txBody>
      </p:sp>
      <p:sp>
        <p:nvSpPr>
          <p:cNvPr id="24578" name="Slide Number Placeholder 4">
            <a:extLst>
              <a:ext uri="{FF2B5EF4-FFF2-40B4-BE49-F238E27FC236}">
                <a16:creationId xmlns:a16="http://schemas.microsoft.com/office/drawing/2014/main" id="{9AF74D49-7188-4A56-929F-30436930F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FF15446-298E-46C5-A9FE-9FEEFBCF0E9F}" type="slidenum">
              <a:rPr lang="en-US" altLang="en-US">
                <a:latin typeface="Arial Black" panose="020B0A04020102020204" pitchFamily="34" charset="0"/>
              </a:rPr>
              <a:pPr/>
              <a:t>22</a:t>
            </a:fld>
            <a:endParaRPr lang="en-US" altLang="en-US">
              <a:latin typeface="Arial Black" panose="020B0A04020102020204" pitchFamily="34" charset="0"/>
            </a:endParaRPr>
          </a:p>
        </p:txBody>
      </p:sp>
      <p:sp>
        <p:nvSpPr>
          <p:cNvPr id="24581" name="Rectangle 4">
            <a:extLst>
              <a:ext uri="{FF2B5EF4-FFF2-40B4-BE49-F238E27FC236}">
                <a16:creationId xmlns:a16="http://schemas.microsoft.com/office/drawing/2014/main" id="{24401393-F311-4606-83EC-5C8D076E3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3733800"/>
            <a:ext cx="50831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AutoNum type="arabicPeriod"/>
            </a:pPr>
            <a:r>
              <a:rPr lang="en-US" altLang="en-US" sz="3200"/>
              <a:t>S</a:t>
            </a:r>
            <a:r>
              <a:rPr lang="en-US" altLang="en-US"/>
              <a:t>1</a:t>
            </a:r>
            <a:r>
              <a:rPr lang="en-US" altLang="en-US" sz="3200"/>
              <a:t>  </a:t>
            </a:r>
            <a:r>
              <a:rPr lang="en-US" altLang="en-US" sz="3200">
                <a:sym typeface="Symbol" panose="05050102010706020507" pitchFamily="18" charset="2"/>
              </a:rPr>
              <a:t></a:t>
            </a:r>
            <a:r>
              <a:rPr lang="en-US" altLang="en-US" sz="3200"/>
              <a:t> aSb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AutoNum type="arabicPeriod"/>
            </a:pPr>
            <a:r>
              <a:rPr lang="en-US" altLang="en-US" sz="3200"/>
              <a:t>S</a:t>
            </a:r>
            <a:r>
              <a:rPr lang="en-US" altLang="en-US"/>
              <a:t>2</a:t>
            </a:r>
            <a:r>
              <a:rPr lang="en-US" altLang="en-US" sz="3200"/>
              <a:t> </a:t>
            </a:r>
            <a:r>
              <a:rPr lang="en-US" altLang="en-US" sz="3200">
                <a:sym typeface="Symbol" panose="05050102010706020507" pitchFamily="18" charset="2"/>
              </a:rPr>
              <a:t></a:t>
            </a:r>
            <a:r>
              <a:rPr lang="en-US" altLang="en-US" sz="3200"/>
              <a:t> 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>
            <a:extLst>
              <a:ext uri="{FF2B5EF4-FFF2-40B4-BE49-F238E27FC236}">
                <a16:creationId xmlns:a16="http://schemas.microsoft.com/office/drawing/2014/main" id="{E805EFCA-511A-4CB5-9C96-F568A08E94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1371600"/>
          </a:xfrm>
        </p:spPr>
        <p:txBody>
          <a:bodyPr/>
          <a:lstStyle/>
          <a:p>
            <a:pPr eaLnBrk="1" hangingPunct="1"/>
            <a:r>
              <a:rPr lang="en-US" altLang="en-US" sz="3600"/>
              <a:t>Top-down parser with bactraking for KPL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8A5EE64C-67C6-47CD-B039-B17FCD81EF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Scan the stream and find tokens</a:t>
            </a:r>
          </a:p>
          <a:p>
            <a:pPr eaLnBrk="1" hangingPunct="1"/>
            <a:r>
              <a:rPr lang="en-US" altLang="en-US"/>
              <a:t>Set of production</a:t>
            </a:r>
          </a:p>
        </p:txBody>
      </p:sp>
      <p:sp>
        <p:nvSpPr>
          <p:cNvPr id="25602" name="Slide Number Placeholder 4">
            <a:extLst>
              <a:ext uri="{FF2B5EF4-FFF2-40B4-BE49-F238E27FC236}">
                <a16:creationId xmlns:a16="http://schemas.microsoft.com/office/drawing/2014/main" id="{3A8B9591-B71C-438D-BFE3-12EE0B55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9970F65-C7AE-4E60-97A1-CE1A6073BC1A}" type="slidenum">
              <a:rPr lang="en-US" altLang="en-US">
                <a:latin typeface="Arial Black" panose="020B0A04020102020204" pitchFamily="34" charset="0"/>
              </a:rPr>
              <a:pPr/>
              <a:t>23</a:t>
            </a:fld>
            <a:endParaRPr lang="en-US" altLang="en-US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>
            <a:extLst>
              <a:ext uri="{FF2B5EF4-FFF2-40B4-BE49-F238E27FC236}">
                <a16:creationId xmlns:a16="http://schemas.microsoft.com/office/drawing/2014/main" id="{04D1DF4F-2AFB-43E9-A66A-A960ECEE9F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From syntax diagrams to BNF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C9606647-0B6F-4DD3-AFB4-8BBC819FA8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&lt;program &gt;::= </a:t>
            </a:r>
            <a:r>
              <a:rPr lang="en-US" altLang="en-US" i="1">
                <a:solidFill>
                  <a:srgbClr val="FF0000"/>
                </a:solidFill>
              </a:rPr>
              <a:t>program</a:t>
            </a:r>
            <a:r>
              <a:rPr lang="en-US" altLang="en-US"/>
              <a:t>  </a:t>
            </a:r>
            <a:r>
              <a:rPr lang="en-US" altLang="en-US" i="1">
                <a:solidFill>
                  <a:srgbClr val="FF0000"/>
                </a:solidFill>
              </a:rPr>
              <a:t>ident</a:t>
            </a:r>
            <a:r>
              <a:rPr lang="en-US" altLang="en-US"/>
              <a:t> </a:t>
            </a:r>
            <a:r>
              <a:rPr lang="en-US" altLang="en-US" i="1">
                <a:solidFill>
                  <a:srgbClr val="FF0000"/>
                </a:solidFill>
              </a:rPr>
              <a:t>;</a:t>
            </a:r>
            <a:r>
              <a:rPr lang="en-US" altLang="en-US"/>
              <a:t> &lt;block&gt;</a:t>
            </a:r>
            <a:r>
              <a:rPr lang="en-US" altLang="en-US">
                <a:solidFill>
                  <a:srgbClr val="FF0000"/>
                </a:solidFill>
              </a:rPr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&lt;block&gt;::= &lt;const-decl&gt;&lt;type-decl&gt;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&lt;proc-decl&gt;&lt;func-decl&gt;&lt;var-decl&gt; </a:t>
            </a:r>
            <a:r>
              <a:rPr lang="en-US" altLang="en-US" i="1">
                <a:solidFill>
                  <a:srgbClr val="FF0000"/>
                </a:solidFill>
              </a:rPr>
              <a:t>begin</a:t>
            </a:r>
            <a:r>
              <a:rPr lang="en-US" altLang="en-US"/>
              <a:t> &lt;statement-list&gt; </a:t>
            </a:r>
            <a:r>
              <a:rPr lang="en-US" altLang="en-US" i="1">
                <a:solidFill>
                  <a:srgbClr val="FF0000"/>
                </a:solidFill>
              </a:rPr>
              <a:t>end</a:t>
            </a:r>
          </a:p>
        </p:txBody>
      </p:sp>
      <p:sp>
        <p:nvSpPr>
          <p:cNvPr id="26626" name="Slide Number Placeholder 4">
            <a:extLst>
              <a:ext uri="{FF2B5EF4-FFF2-40B4-BE49-F238E27FC236}">
                <a16:creationId xmlns:a16="http://schemas.microsoft.com/office/drawing/2014/main" id="{1DFD966E-65B0-4445-AF25-CAF4ABDFE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A3814DC-FA5B-4A26-944E-B349CAAF14F3}" type="slidenum">
              <a:rPr lang="en-US" altLang="en-US">
                <a:latin typeface="Arial Black" panose="020B0A04020102020204" pitchFamily="34" charset="0"/>
              </a:rPr>
              <a:pPr/>
              <a:t>24</a:t>
            </a:fld>
            <a:endParaRPr lang="en-US" altLang="en-US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4">
            <a:extLst>
              <a:ext uri="{FF2B5EF4-FFF2-40B4-BE49-F238E27FC236}">
                <a16:creationId xmlns:a16="http://schemas.microsoft.com/office/drawing/2014/main" id="{52DCD6E6-B7CC-44B5-94C1-6D63B7BF7B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Non-terminal encoding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D6E32ED5-B69E-495F-A950-7615F88A9A3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533400" y="1981200"/>
            <a:ext cx="4038600" cy="3886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if(str=="&lt;program&gt;") return 1;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if(str=="&lt;block&gt;") return 2;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if(str=="&lt;const-decl&gt;") return 3;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if (str == "&lt;const-assign-list&gt;") return 4;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if (str == "&lt;constant&gt;") return 5;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if(str=="&lt;type-decl&gt;") return 6;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if (str =="&lt;type-assign-list&gt;") return 7;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if (str == "&lt;type&gt;") return 8;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if (str == "&lt;basictype&gt;") return 9;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if(str=="&lt;var-decl&gt;") return 10;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if (str == "&lt;ident-list&gt;") return 11;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if(str=="&lt;proc-decl&gt;") return 12;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80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800"/>
          </a:p>
          <a:p>
            <a:pPr eaLnBrk="1" hangingPunct="1">
              <a:lnSpc>
                <a:spcPct val="80000"/>
              </a:lnSpc>
            </a:pPr>
            <a:endParaRPr lang="en-US" altLang="en-US" sz="1800"/>
          </a:p>
        </p:txBody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FFE52BC4-27EB-433D-A902-4C6746D5C9BA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if (str == "&lt;para-list&gt;") return 13;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if (str == "&lt;para-one&gt;") return 14;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if(str=="&lt;func-decl&gt;") return 15;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if(str=="&lt;statement-list&gt;") return 16;                                           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if(str=="&lt;statement&gt;" ) return 17;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if (str == "&lt;condition&gt;") return 18;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if (str == "&lt;relation&gt;") return 19;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if(str=="&lt;expression&gt;") return 20;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if (str == "&lt;adding-op&gt;") return 21;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if(str=="&lt;term&gt;") return 22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if(str=="&lt;multiplying-op&gt;") return 23;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if (str == "&lt;factor&gt;") return 24;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800"/>
          </a:p>
          <a:p>
            <a:pPr eaLnBrk="1" hangingPunct="1">
              <a:lnSpc>
                <a:spcPct val="80000"/>
              </a:lnSpc>
            </a:pPr>
            <a:endParaRPr lang="en-US" altLang="en-US" sz="1800"/>
          </a:p>
        </p:txBody>
      </p:sp>
      <p:sp>
        <p:nvSpPr>
          <p:cNvPr id="27650" name="Slide Number Placeholder 5">
            <a:extLst>
              <a:ext uri="{FF2B5EF4-FFF2-40B4-BE49-F238E27FC236}">
                <a16:creationId xmlns:a16="http://schemas.microsoft.com/office/drawing/2014/main" id="{0A4731CE-9890-4B33-AECB-535DB9EC3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09DA4B2-C91D-4C19-87E5-9F5A02BBAAA1}" type="slidenum">
              <a:rPr lang="en-US" altLang="en-US">
                <a:latin typeface="Arial Black" panose="020B0A04020102020204" pitchFamily="34" charset="0"/>
              </a:rPr>
              <a:pPr/>
              <a:t>25</a:t>
            </a:fld>
            <a:endParaRPr lang="en-US" altLang="en-US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DE618221-1696-42A1-ABEC-CBC36B3663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8686800" cy="1371600"/>
          </a:xfrm>
        </p:spPr>
        <p:txBody>
          <a:bodyPr/>
          <a:lstStyle/>
          <a:p>
            <a:pPr eaLnBrk="1" hangingPunct="1"/>
            <a:r>
              <a:rPr lang="en-US" altLang="en-US" sz="4000"/>
              <a:t>Token encoding: identifiers, number, character constants, specific symbols</a:t>
            </a:r>
          </a:p>
        </p:txBody>
      </p:sp>
      <p:sp>
        <p:nvSpPr>
          <p:cNvPr id="28676" name="Rectangle 4">
            <a:extLst>
              <a:ext uri="{FF2B5EF4-FFF2-40B4-BE49-F238E27FC236}">
                <a16:creationId xmlns:a16="http://schemas.microsoft.com/office/drawing/2014/main" id="{7973BF57-7D3B-4BC9-A8A9-A6316CC6E0C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0" y="1676400"/>
            <a:ext cx="4800600" cy="4191000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// ident;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 if(str == "ident") return 25;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//const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 if(str == "number")return 26;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 if (str == "charcon") return 27;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//operator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 if(str == "plus")return 28;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 if (str == "minus") return 29;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 if (str == "times") return 30;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 if (str == "slash") return 31;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 if (str == "assign") return 33;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 if (str == "leq") return 34;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          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                        </a:t>
            </a:r>
          </a:p>
        </p:txBody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id="{D1C9CBDA-2370-4662-984D-263D6C62FFC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4419600" y="1828800"/>
            <a:ext cx="4724400" cy="4419600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//specific symbol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if (str =="lparen") return 35;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if (str == "rparen") return 36;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if (str == "comma") return 37;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if (str == "semicolon") return 38;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if (str == "period") return 39;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if (str == "becomes") return 40;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if (str == "lbrace") return 41;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if (str == "rbrace") return 42;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if (str == "lbrack") return 43;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if (str == "rbrack") return 44;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            </a:t>
            </a:r>
          </a:p>
        </p:txBody>
      </p:sp>
      <p:sp>
        <p:nvSpPr>
          <p:cNvPr id="28674" name="Slide Number Placeholder 5">
            <a:extLst>
              <a:ext uri="{FF2B5EF4-FFF2-40B4-BE49-F238E27FC236}">
                <a16:creationId xmlns:a16="http://schemas.microsoft.com/office/drawing/2014/main" id="{E8851086-FD1A-4153-ADD7-2A2ECA543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A71F5E1-5BE0-4BD4-A15C-A8AB295A6F8F}" type="slidenum">
              <a:rPr lang="en-US" altLang="en-US">
                <a:latin typeface="Arial Black" panose="020B0A04020102020204" pitchFamily="34" charset="0"/>
              </a:rPr>
              <a:pPr/>
              <a:t>26</a:t>
            </a:fld>
            <a:endParaRPr lang="en-US" altLang="en-US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4">
            <a:extLst>
              <a:ext uri="{FF2B5EF4-FFF2-40B4-BE49-F238E27FC236}">
                <a16:creationId xmlns:a16="http://schemas.microsoft.com/office/drawing/2014/main" id="{1CC14479-AF4C-43E1-A443-8C4D3E1F07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Token encoding: keywords</a:t>
            </a:r>
          </a:p>
        </p:txBody>
      </p:sp>
      <p:sp>
        <p:nvSpPr>
          <p:cNvPr id="29700" name="Rectangle 5">
            <a:extLst>
              <a:ext uri="{FF2B5EF4-FFF2-40B4-BE49-F238E27FC236}">
                <a16:creationId xmlns:a16="http://schemas.microsoft.com/office/drawing/2014/main" id="{B1349F83-35CE-4B13-9F8B-4475DCE474B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0" y="1981200"/>
            <a:ext cx="4495800" cy="3886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40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if (str == "beginsym") return 45;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if (str == "endsym") return 46;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if (str == "ifsym") return 47;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if (str == "thensym") return 48;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if (str == "whilesym") return 49;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if (str == "dosym") return 50;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if (str == "callsym") return 51;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if (str == "constsym") return 52;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                        </a:t>
            </a:r>
          </a:p>
          <a:p>
            <a:pPr eaLnBrk="1" hangingPunct="1">
              <a:lnSpc>
                <a:spcPct val="80000"/>
              </a:lnSpc>
            </a:pPr>
            <a:endParaRPr lang="en-US" altLang="en-US" sz="2400"/>
          </a:p>
        </p:txBody>
      </p:sp>
      <p:sp>
        <p:nvSpPr>
          <p:cNvPr id="29701" name="Rectangle 6">
            <a:extLst>
              <a:ext uri="{FF2B5EF4-FFF2-40B4-BE49-F238E27FC236}">
                <a16:creationId xmlns:a16="http://schemas.microsoft.com/office/drawing/2014/main" id="{3F8EDBE6-60F7-46E0-89E0-9A909B5FED33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4648200" y="2209800"/>
            <a:ext cx="4495800" cy="3886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if (str == "varsym") return 53;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if (str == "progsym") return 54;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if (str == "funcsym") return 55;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if (str == "typesym") return 56;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if (str == "arraysym") return 57;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if (str == "ofsym") return 58;            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if (str == "intsym") return 59;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if (str == "charsym") return 60;</a:t>
            </a:r>
          </a:p>
          <a:p>
            <a:pPr eaLnBrk="1" hangingPunct="1">
              <a:lnSpc>
                <a:spcPct val="80000"/>
              </a:lnSpc>
            </a:pPr>
            <a:endParaRPr lang="en-US" altLang="en-US" sz="2400"/>
          </a:p>
        </p:txBody>
      </p:sp>
      <p:sp>
        <p:nvSpPr>
          <p:cNvPr id="29698" name="Slide Number Placeholder 5">
            <a:extLst>
              <a:ext uri="{FF2B5EF4-FFF2-40B4-BE49-F238E27FC236}">
                <a16:creationId xmlns:a16="http://schemas.microsoft.com/office/drawing/2014/main" id="{5D6A596E-B219-4C4B-BE10-673FFC0BE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345C88E-D59A-483D-A893-9E8174EADBBB}" type="slidenum">
              <a:rPr lang="en-US" altLang="en-US">
                <a:latin typeface="Arial Black" panose="020B0A04020102020204" pitchFamily="34" charset="0"/>
              </a:rPr>
              <a:pPr/>
              <a:t>27</a:t>
            </a:fld>
            <a:endParaRPr lang="en-US" altLang="en-US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4">
            <a:extLst>
              <a:ext uri="{FF2B5EF4-FFF2-40B4-BE49-F238E27FC236}">
                <a16:creationId xmlns:a16="http://schemas.microsoft.com/office/drawing/2014/main" id="{4DE7BFDC-9A5E-4D0C-9FB4-BD6C8B2B34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Token encoding : relop</a:t>
            </a:r>
          </a:p>
        </p:txBody>
      </p:sp>
      <p:sp>
        <p:nvSpPr>
          <p:cNvPr id="30724" name="Rectangle 5">
            <a:extLst>
              <a:ext uri="{FF2B5EF4-FFF2-40B4-BE49-F238E27FC236}">
                <a16:creationId xmlns:a16="http://schemas.microsoft.com/office/drawing/2014/main" id="{BFCF0CF3-F798-42C6-86B1-93EF0C8B899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28600" y="1676400"/>
            <a:ext cx="5029200" cy="5181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//relations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if (str == "eql") return 61;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if (str == "leq") return 62;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if (str == "neq") return 63;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if (str == "lss") return 64;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if (str == "gtr") return 65;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if (str == "geq") return 66;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      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</p:txBody>
      </p:sp>
      <p:sp>
        <p:nvSpPr>
          <p:cNvPr id="30725" name="Rectangle 6">
            <a:extLst>
              <a:ext uri="{FF2B5EF4-FFF2-40B4-BE49-F238E27FC236}">
                <a16:creationId xmlns:a16="http://schemas.microsoft.com/office/drawing/2014/main" id="{6F793810-B41D-422C-9D79-2EF55A128428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4800600" y="914400"/>
            <a:ext cx="4572000" cy="3886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000"/>
          </a:p>
          <a:p>
            <a:pPr eaLnBrk="1" hangingPunct="1">
              <a:lnSpc>
                <a:spcPct val="80000"/>
              </a:lnSpc>
            </a:pPr>
            <a:endParaRPr lang="en-US" altLang="en-US" sz="2000"/>
          </a:p>
        </p:txBody>
      </p:sp>
      <p:sp>
        <p:nvSpPr>
          <p:cNvPr id="30722" name="Slide Number Placeholder 5">
            <a:extLst>
              <a:ext uri="{FF2B5EF4-FFF2-40B4-BE49-F238E27FC236}">
                <a16:creationId xmlns:a16="http://schemas.microsoft.com/office/drawing/2014/main" id="{C8FD6882-C709-4FED-AC66-2E7EE0E24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52014DE-2950-4D25-AB2D-63CDED891C72}" type="slidenum">
              <a:rPr lang="en-US" altLang="en-US">
                <a:latin typeface="Arial Black" panose="020B0A04020102020204" pitchFamily="34" charset="0"/>
              </a:rPr>
              <a:pPr/>
              <a:t>28</a:t>
            </a:fld>
            <a:endParaRPr lang="en-US" altLang="en-US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>
            <a:extLst>
              <a:ext uri="{FF2B5EF4-FFF2-40B4-BE49-F238E27FC236}">
                <a16:creationId xmlns:a16="http://schemas.microsoft.com/office/drawing/2014/main" id="{FD8973F6-D7B8-488E-B8A0-4986530D35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Production encoding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5BF9312D-5E9D-4019-9907-A7FE217E7EC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304800" y="1981200"/>
            <a:ext cx="9144000" cy="3886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&lt;program &gt;::= </a:t>
            </a:r>
            <a:r>
              <a:rPr lang="en-US" altLang="en-US" sz="2400" i="1">
                <a:solidFill>
                  <a:srgbClr val="FF0000"/>
                </a:solidFill>
              </a:rPr>
              <a:t>program</a:t>
            </a:r>
            <a:r>
              <a:rPr lang="en-US" altLang="en-US" sz="2400"/>
              <a:t>  </a:t>
            </a:r>
            <a:r>
              <a:rPr lang="en-US" altLang="en-US" sz="2400" i="1">
                <a:solidFill>
                  <a:srgbClr val="FF0000"/>
                </a:solidFill>
              </a:rPr>
              <a:t>ident</a:t>
            </a:r>
            <a:r>
              <a:rPr lang="en-US" altLang="en-US" sz="2400"/>
              <a:t> </a:t>
            </a:r>
            <a:r>
              <a:rPr lang="en-US" altLang="en-US" sz="2400" i="1">
                <a:solidFill>
                  <a:srgbClr val="FF0000"/>
                </a:solidFill>
              </a:rPr>
              <a:t>;</a:t>
            </a:r>
            <a:r>
              <a:rPr lang="en-US" altLang="en-US" sz="2400"/>
              <a:t> &lt;block&gt;</a:t>
            </a:r>
            <a:r>
              <a:rPr lang="en-US" altLang="en-US" sz="2400">
                <a:solidFill>
                  <a:srgbClr val="FF0000"/>
                </a:solidFill>
              </a:rPr>
              <a:t>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40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setlaw[1,1]="54 25 38 2 39 ";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40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&lt;block&gt;::= &lt;const-decl&gt;&lt;type-decl&gt;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&lt;proc-decl&gt;&lt;func-decl&gt;&lt;var-decl&gt; </a:t>
            </a:r>
            <a:r>
              <a:rPr lang="en-US" altLang="en-US" sz="2400" i="1">
                <a:solidFill>
                  <a:srgbClr val="FF0000"/>
                </a:solidFill>
              </a:rPr>
              <a:t>begin</a:t>
            </a:r>
            <a:r>
              <a:rPr lang="en-US" altLang="en-US" sz="2400"/>
              <a:t> &lt;statement-list&gt; </a:t>
            </a:r>
            <a:r>
              <a:rPr lang="en-US" altLang="en-US" sz="2400" i="1">
                <a:solidFill>
                  <a:srgbClr val="FF0000"/>
                </a:solidFill>
              </a:rPr>
              <a:t>end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40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setlaw[2,1]=" 3 6  12 15 10 45 16 46 ";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40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            </a:t>
            </a:r>
          </a:p>
        </p:txBody>
      </p:sp>
      <p:sp>
        <p:nvSpPr>
          <p:cNvPr id="31746" name="Slide Number Placeholder 5">
            <a:extLst>
              <a:ext uri="{FF2B5EF4-FFF2-40B4-BE49-F238E27FC236}">
                <a16:creationId xmlns:a16="http://schemas.microsoft.com/office/drawing/2014/main" id="{1A5F3DD1-CFD6-4ED3-A7A7-1CC73669F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2656AFF-15BC-4608-9B5F-E1C4C93BA976}" type="slidenum">
              <a:rPr lang="en-US" altLang="en-US">
                <a:latin typeface="Arial Black" panose="020B0A04020102020204" pitchFamily="34" charset="0"/>
              </a:rPr>
              <a:pPr/>
              <a:t>29</a:t>
            </a:fld>
            <a:endParaRPr lang="en-US" altLang="en-US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>
            <a:extLst>
              <a:ext uri="{FF2B5EF4-FFF2-40B4-BE49-F238E27FC236}">
                <a16:creationId xmlns:a16="http://schemas.microsoft.com/office/drawing/2014/main" id="{0A1BF11F-5B0E-4D51-829F-F1BEDE47DC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Conclude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B3438662-C39B-44C9-917B-1D7DF1BFF8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Too complicated with backtracking.</a:t>
            </a:r>
          </a:p>
          <a:p>
            <a:pPr eaLnBrk="1" hangingPunct="1"/>
            <a:r>
              <a:rPr lang="en-US" altLang="en-US"/>
              <a:t>Spent exponential amount of time.</a:t>
            </a:r>
          </a:p>
          <a:p>
            <a:pPr eaLnBrk="1" hangingPunct="1"/>
            <a:r>
              <a:rPr lang="en-US" altLang="en-US"/>
              <a:t>Difficult to handle errors.</a:t>
            </a:r>
          </a:p>
        </p:txBody>
      </p:sp>
      <p:sp>
        <p:nvSpPr>
          <p:cNvPr id="32770" name="Slide Number Placeholder 4">
            <a:extLst>
              <a:ext uri="{FF2B5EF4-FFF2-40B4-BE49-F238E27FC236}">
                <a16:creationId xmlns:a16="http://schemas.microsoft.com/office/drawing/2014/main" id="{C1B248DE-8986-411D-8344-BE9DA49F7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8042B3A-C731-4C66-928B-231D58E5B2D2}" type="slidenum">
              <a:rPr lang="en-US" altLang="en-US">
                <a:latin typeface="Arial Black" panose="020B0A04020102020204" pitchFamily="34" charset="0"/>
              </a:rPr>
              <a:pPr/>
              <a:t>30</a:t>
            </a:fld>
            <a:endParaRPr lang="en-US" altLang="en-US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ICT-PPT-template-hoi-thao-onlin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SoICT-PPT-template-hoi-thao-online</Template>
  <TotalTime>3454</TotalTime>
  <Words>1799</Words>
  <Application>Microsoft Office PowerPoint</Application>
  <PresentationFormat>On-screen Show (4:3)</PresentationFormat>
  <Paragraphs>258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Wingdings</vt:lpstr>
      <vt:lpstr>Arial Black</vt:lpstr>
      <vt:lpstr>Times New Roman</vt:lpstr>
      <vt:lpstr>Symbol</vt:lpstr>
      <vt:lpstr>SoICT-PPT-template-hoi-thao-online</vt:lpstr>
      <vt:lpstr>Unit  6 Top down backtrack parsing</vt:lpstr>
      <vt:lpstr> Problem of parsing</vt:lpstr>
      <vt:lpstr>W has been parsed parse tree is constructed</vt:lpstr>
      <vt:lpstr>   Left parse</vt:lpstr>
      <vt:lpstr>Example</vt:lpstr>
      <vt:lpstr>Top down backtrack parsing algorithm</vt:lpstr>
      <vt:lpstr>Description of algorithm</vt:lpstr>
      <vt:lpstr>Active node is label by nonterminal A</vt:lpstr>
      <vt:lpstr>Active node is labeled by a terminal a</vt:lpstr>
      <vt:lpstr>A stringent condition</vt:lpstr>
      <vt:lpstr>Example</vt:lpstr>
      <vt:lpstr>Build parse tree</vt:lpstr>
      <vt:lpstr>Try another alternate</vt:lpstr>
      <vt:lpstr>The top down parsing algorithm</vt:lpstr>
      <vt:lpstr>Method </vt:lpstr>
      <vt:lpstr>(1)</vt:lpstr>
      <vt:lpstr>Configuration of the algorithm</vt:lpstr>
      <vt:lpstr>Execution of the algorithm</vt:lpstr>
      <vt:lpstr>Example</vt:lpstr>
      <vt:lpstr>Number productions</vt:lpstr>
      <vt:lpstr>Sequence of configurations</vt:lpstr>
      <vt:lpstr>Recover the left parse</vt:lpstr>
      <vt:lpstr>Top-down parser with bactraking for KPL</vt:lpstr>
      <vt:lpstr>From syntax diagrams to BNF</vt:lpstr>
      <vt:lpstr>Non-terminal encoding</vt:lpstr>
      <vt:lpstr>Token encoding: identifiers, number, character constants, specific symbols</vt:lpstr>
      <vt:lpstr>Token encoding: keywords</vt:lpstr>
      <vt:lpstr>Token encoding : relop</vt:lpstr>
      <vt:lpstr>Production encoding</vt:lpstr>
      <vt:lpstr>Conclude</vt:lpstr>
    </vt:vector>
  </TitlesOfParts>
  <Company>Tel 0915 152 158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COMPILER COSTRUCTION</dc:title>
  <dc:creator>huongnt</dc:creator>
  <cp:lastModifiedBy>Nguyen Thi Thu Huong</cp:lastModifiedBy>
  <cp:revision>350</cp:revision>
  <dcterms:created xsi:type="dcterms:W3CDTF">2008-08-10T02:45:21Z</dcterms:created>
  <dcterms:modified xsi:type="dcterms:W3CDTF">2021-01-19T16:15:01Z</dcterms:modified>
</cp:coreProperties>
</file>