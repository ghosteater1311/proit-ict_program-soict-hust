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30"/>
  </p:notesMasterIdLst>
  <p:sldIdLst>
    <p:sldId id="355" r:id="rId2"/>
    <p:sldId id="356" r:id="rId3"/>
    <p:sldId id="357" r:id="rId4"/>
    <p:sldId id="358" r:id="rId5"/>
    <p:sldId id="373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7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85" r:id="rId27"/>
    <p:sldId id="387" r:id="rId28"/>
    <p:sldId id="386" r:id="rId2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915" autoAdjust="0"/>
  </p:normalViewPr>
  <p:slideViewPr>
    <p:cSldViewPr>
      <p:cViewPr varScale="1">
        <p:scale>
          <a:sx n="52" d="100"/>
          <a:sy n="52" d="100"/>
        </p:scale>
        <p:origin x="1248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E317448-8ED4-478C-945D-0F5C0A25D8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0421EA8-C418-43DD-9C31-8A7BED57A7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A9C6760-ED5E-43B2-AE23-2E54C2FB0E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F1DD0B69-CA9D-4D48-A581-068531AA25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0DF878A9-8F21-4D6B-B51B-8E7CA9F65D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52754614-5CAA-4715-9EEA-172977FB81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E8392CB-B37B-4F65-9BD5-B81266054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5C357352-581B-428A-982F-CEC8D9336CA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8BA067EC-3E8F-43C7-817E-191329E692F1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7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EF96818B-0ECC-4C2F-AD46-D9509D05EC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3A820317-6F83-4144-9A2C-949C4171D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47B9125-C435-4918-957E-FD996DB656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4FC17C9A-9E96-4B71-B25A-A6E198BF6E97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8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EA80C9E4-1725-45B1-AFBD-92761699BB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B2CD8C05-4DFB-41C4-8F45-F94DDEA54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D1A1C1F-7B5E-4EBD-BD89-3FEFAFFFA4C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02638EA3-4663-4829-8B0B-0DCA439462E7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9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32368093-7A33-4E12-8C3F-F18C6E631F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A5126032-D420-4F16-86EB-6221AED20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C301FC1-C104-4A00-BDEE-9B9733102D5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5B108C18-1460-41E6-A5B4-826DCA7B349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10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2531" name="Rectangle 1">
            <a:extLst>
              <a:ext uri="{FF2B5EF4-FFF2-40B4-BE49-F238E27FC236}">
                <a16:creationId xmlns:a16="http://schemas.microsoft.com/office/drawing/2014/main" id="{F87988CC-869C-4653-926C-FB21311B9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3E406195-71CE-435A-945B-F4041FAD8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45B50C-6E38-499F-929C-ACD5B91BB0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E511EA92-C7E3-46C3-A021-EC76B039BF6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11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86569A19-F858-4241-9B24-00B9FC3F5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C3F9431-159A-411A-8B92-C96D1E7F7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3BCD876-CDA9-4B78-9506-FE4BC92414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4F1CD63B-06C1-4BF7-A5EC-F3BB002145EE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12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A5EE7705-E0DA-48A5-B803-F0D82B6A98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031EBD90-D6A1-4D33-B2E0-D715D2BE4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518B278-C530-444A-9521-795C8BE6E30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FC934FCF-014B-4FEB-B2EF-0B39AEE75F19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13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6BF47281-CD3B-46E7-898B-7C36D5E9F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1794A8A-23F9-4129-91B5-2B0F73BDC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5AE430F2-5D58-48D9-96C9-60938675A3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23AD0503-F358-43D9-9516-F7A89F21D5FC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14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0F040E27-76D1-4F01-8709-669AC71F96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0FA70932-F1C6-4853-A911-BEB8EA636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137CD1BD-9250-454B-A37F-8438DF29C65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fld id="{C530F58E-8E6A-4C64-8428-9C555798EB02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  <a:buFont typeface="Wingdings" panose="05000000000000000000" pitchFamily="2" charset="2"/>
                <a:buNone/>
              </a:pPr>
              <a:t>15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5DF9C3E7-9423-4152-A5D8-D4D3FD79F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2DDEEE1-04C9-45C0-A372-B87E6026A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E4C36-900F-4D36-81B8-AD8D2395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EF63-7C49-425D-AF65-960F92D3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D8D13-D704-4933-B51F-86B86A34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B0EC822E-5704-43A7-9D25-816C6A8DD6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67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2B709-C282-4671-9180-36729966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7950" y="6142038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5173EAA-5573-4443-AB1D-86CA40B341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2350" y="6413500"/>
            <a:ext cx="1143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C3847-52BA-42C3-AD13-11FD85BDAC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80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26AAF-579C-435E-B85E-5886F426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3CD6C-D382-41CB-8813-A0221217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FBED2-2871-4AE1-BD0B-D56CA504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66372-3C2C-43D7-9E40-F747F9193B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32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8F49FE2-AE27-493E-BDD5-05A25BDC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91795A-5E17-4730-A859-0F22A68D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0DEFC7-CD89-4EED-9344-FDD5F63E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FC3C8-8CFB-4E9C-8974-3B4E992FCB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48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7411999-B919-4EB1-B1ED-58D43505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8D1E0D6-76BD-4E98-8E13-5F0284E6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40F3D4-6B95-41A1-AAC3-1411AF5A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1E17C-6AE4-4989-B9AC-68CDF6B844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073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83F8F26-8214-4322-9D89-E44B95D8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82D5676-138B-4BE3-B7C9-1BBD4BA4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E98E0D-FFB8-43E0-A39F-ED30798D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D7D71-7459-4BDB-ADA7-C8A71E4051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27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4F02D-E1D9-4377-9758-AA427FEF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B57FF-9CC5-41B3-A4C4-00597C75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AC336-F6E9-4F68-963D-BB073CDB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3C67E-990F-431A-84F0-293B542F61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5373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75025-DAEE-4C57-B30F-00F0E990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F5F5F-3AA8-4B58-AA73-A4AA4784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7B7F8-A4E9-46AA-AEE7-76AFAB6E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6F948-0D6F-42E2-9511-C086BDAD5F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334754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EAF1843-A920-48B7-8677-DB4B4BED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28C095-9364-49E1-B88B-7AC395AE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11EFCE-7C65-490F-AD75-B02FE116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F0EC0-CC9B-457D-9C7B-66F8D6913E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72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00AF1-F5E0-4D09-A932-12564580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5FA94-87DA-40BC-990B-0F8A9097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D3F81-5B4A-49BD-B954-C40492A6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04A1C-4765-4062-96DE-4B9B36134E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5237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558C40-D16D-4DA6-87AF-7F080C6B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D4F91-1102-4F9B-97C3-E289C56D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BB24A-395A-49BC-8FCE-66894353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88F49-0222-47DB-B683-8D3E84F998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21876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F594E9-B669-42C5-A839-AE8320B9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1407CE-ACD2-45C1-93E3-47951EAD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86FD5C1-B74D-4A7B-A193-1D3A53B7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0B4A5-B694-4B5B-A052-25FC0CDC6A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043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D40CF4-8679-4F25-9DEB-32B284BA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A10D51-1D24-4647-810F-5168604A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DD1E45-51A2-408E-8159-EE9B33E6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CE4B2-F55A-483E-9863-A3237D1549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89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4BEAE-8CD3-413F-9B56-5E06D22E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988BC-C4F4-4186-BBCD-6978A9C5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58D-BF8F-468E-9765-5848DE7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4CA22-96DE-470F-B50D-176EA724CB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9555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D3E2-01F1-4CEC-8EC9-B8884FEC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26F32-BE9C-4BF9-98F8-3159A5B9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FBB3-4BD9-4D46-9E3A-DD191828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526A1-7484-4FD0-87CE-019A314B36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065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835FD5-88B5-4176-859D-3A98790B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75B42B-3CA6-47E0-A240-0BDB0512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F46FAA-4E57-4AA8-9F1A-289A088F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F51F5-84E3-4C09-9849-26A164BB34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120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5FCA295-8E1D-44DF-9485-8CA17178C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5557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6BD5281-2BA7-4AE4-8324-83800FEE4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25600"/>
            <a:ext cx="78867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02A8-2FC5-40BA-AFD6-021FCF406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57E32-6366-4429-A5E4-2DEA3D740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2CE69-73ED-475A-AE6C-4C982E9A6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97750" y="6432550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37C0F85-7E1E-4CC1-91DE-90BA225304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07" r:id="rId3"/>
    <p:sldLayoutId id="2147483808" r:id="rId4"/>
    <p:sldLayoutId id="2147483809" r:id="rId5"/>
    <p:sldLayoutId id="2147483810" r:id="rId6"/>
    <p:sldLayoutId id="2147483819" r:id="rId7"/>
    <p:sldLayoutId id="2147483820" r:id="rId8"/>
    <p:sldLayoutId id="2147483811" r:id="rId9"/>
    <p:sldLayoutId id="2147483821" r:id="rId10"/>
    <p:sldLayoutId id="2147483822" r:id="rId11"/>
    <p:sldLayoutId id="2147483812" r:id="rId12"/>
    <p:sldLayoutId id="2147483813" r:id="rId13"/>
    <p:sldLayoutId id="2147483814" r:id="rId14"/>
    <p:sldLayoutId id="2147483815" r:id="rId15"/>
    <p:sldLayoutId id="2147483816" r:id="rId16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BC2AB022-2F09-4F76-AD33-18538B776A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524000"/>
            <a:ext cx="88392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Unit 4</a:t>
            </a:r>
            <a:br>
              <a:rPr lang="en-US" altLang="en-US" dirty="0"/>
            </a:br>
            <a:r>
              <a:rPr lang="en-US" altLang="en-US" dirty="0"/>
              <a:t>BNF and Syntax Diagrams</a:t>
            </a:r>
          </a:p>
        </p:txBody>
      </p:sp>
      <p:sp>
        <p:nvSpPr>
          <p:cNvPr id="9219" name="Rectangle 18">
            <a:extLst>
              <a:ext uri="{FF2B5EF4-FFF2-40B4-BE49-F238E27FC236}">
                <a16:creationId xmlns:a16="http://schemas.microsoft.com/office/drawing/2014/main" id="{A458D633-07D9-4549-A9CA-8D062297D4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37CA1A5-567B-4DA2-927F-1D110C2AFE7A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7FE67AC5-70E1-4D16-AC0E-C8170C27C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9916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en-US" sz="4000"/>
            </a:br>
            <a:r>
              <a:rPr lang="en-US" altLang="en-US" sz="4000"/>
              <a:t> Backus-Naur form and variants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E196EC-F7F5-4B00-937E-E2D99EF59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229600" cy="4800600"/>
          </a:xfrm>
        </p:spPr>
        <p:txBody>
          <a:bodyPr/>
          <a:lstStyle/>
          <a:p>
            <a:pPr algn="just" eaLnBrk="1" hangingPunct="1"/>
            <a:r>
              <a:rPr lang="en-US" altLang="en-US" b="1" dirty="0" err="1"/>
              <a:t>Metasyntax</a:t>
            </a:r>
            <a:r>
              <a:rPr lang="en-US" altLang="en-US" dirty="0"/>
              <a:t>: a syntax used to describe the syntax of languages,</a:t>
            </a:r>
          </a:p>
          <a:p>
            <a:pPr algn="just" eaLnBrk="1" hangingPunct="1"/>
            <a:r>
              <a:rPr lang="en-US" altLang="en-US" b="1" u="sng" dirty="0"/>
              <a:t>BNF</a:t>
            </a:r>
            <a:r>
              <a:rPr lang="en-US" altLang="en-US" b="1" dirty="0"/>
              <a:t> </a:t>
            </a:r>
            <a:r>
              <a:rPr lang="en-US" altLang="en-US" b="1" u="sng" dirty="0"/>
              <a:t>(</a:t>
            </a:r>
            <a:r>
              <a:rPr lang="en-US" altLang="en-US" dirty="0"/>
              <a:t>Backus–</a:t>
            </a:r>
            <a:r>
              <a:rPr lang="en-US" altLang="en-US" dirty="0" err="1"/>
              <a:t>Naur</a:t>
            </a:r>
            <a:r>
              <a:rPr lang="en-US" altLang="en-US" dirty="0"/>
              <a:t> Form) is a </a:t>
            </a:r>
            <a:r>
              <a:rPr lang="en-US" altLang="en-US" dirty="0" err="1"/>
              <a:t>metasyntax</a:t>
            </a:r>
            <a:r>
              <a:rPr lang="en-US" altLang="en-US" dirty="0"/>
              <a:t> used to express context free grammars </a:t>
            </a:r>
          </a:p>
          <a:p>
            <a:pPr algn="just" eaLnBrk="1" hangingPunct="1"/>
            <a:r>
              <a:rPr lang="en-US" altLang="en-US" dirty="0"/>
              <a:t>BNF is widely used as a notation for the grammars programming languages, instruction sets, communication protocols and parts of natural language grammars </a:t>
            </a: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0A4DD49E-D840-42B7-95F6-E1BBB6BC98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ABCFF1D-E547-4282-B601-4032F60CE571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B7DA55-B3F5-462B-9E2E-5C1F0AEC8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Backus-Naur form and variants (cont)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1B95B67-1F04-4FC0-8215-B5D351522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827213"/>
            <a:ext cx="8302625" cy="4497387"/>
          </a:xfrm>
        </p:spPr>
        <p:txBody>
          <a:bodyPr/>
          <a:lstStyle/>
          <a:p>
            <a:pPr eaLnBrk="1" hangingPunct="1"/>
            <a:r>
              <a:rPr lang="en-US" altLang="en-US"/>
              <a:t>A set of rules is specified. These are known as </a:t>
            </a:r>
            <a:r>
              <a:rPr lang="en-US" altLang="en-US" b="1"/>
              <a:t>production</a:t>
            </a:r>
            <a:r>
              <a:rPr lang="en-US" altLang="en-US"/>
              <a:t> rules. </a:t>
            </a:r>
          </a:p>
          <a:p>
            <a:pPr eaLnBrk="1" hangingPunct="1"/>
            <a:r>
              <a:rPr lang="en-US" altLang="en-US"/>
              <a:t>Each production rule defines the pattern that represents a named structured part of the language</a:t>
            </a:r>
          </a:p>
          <a:p>
            <a:pPr eaLnBrk="1" hangingPunct="1"/>
            <a:r>
              <a:rPr lang="en-US" altLang="en-US"/>
              <a:t>The name of such a part is called a </a:t>
            </a:r>
            <a:r>
              <a:rPr lang="en-US" altLang="en-US" b="1"/>
              <a:t>non-terminal</a:t>
            </a:r>
            <a:r>
              <a:rPr lang="en-US" altLang="en-US"/>
              <a:t> symbol in the language. </a:t>
            </a:r>
          </a:p>
          <a:p>
            <a:pPr eaLnBrk="1" hangingPunct="1"/>
            <a:r>
              <a:rPr lang="en-US" altLang="en-US"/>
              <a:t>The basic elements of the language are called </a:t>
            </a:r>
            <a:r>
              <a:rPr lang="en-US" altLang="en-US" b="1"/>
              <a:t>terminal</a:t>
            </a:r>
            <a:r>
              <a:rPr lang="en-US" altLang="en-US"/>
              <a:t> symbols. </a:t>
            </a:r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3E771DBD-B0D1-4F1A-BE69-BA1C8EC9C7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3D3786D-F09A-4CA1-A262-7DC240C13E31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F5DF124-4BA4-4BFC-B392-8636C5DBD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1625"/>
            <a:ext cx="8991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Backus-Naur form and variants (cont)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D1511F0-B609-4195-AD83-193E4D8BC3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382000" cy="4419600"/>
          </a:xfrm>
        </p:spPr>
        <p:txBody>
          <a:bodyPr/>
          <a:lstStyle/>
          <a:p>
            <a:pPr eaLnBrk="1" hangingPunct="1"/>
            <a:r>
              <a:rPr lang="en-US" altLang="en-US"/>
              <a:t>Each rule contains the name of the non-terminal being defined, followed by the sequence or alternative sequences allowed for that symbol. A defining sequence can contain any terminal and non-terminal  symbols  allowed for that language. </a:t>
            </a:r>
          </a:p>
          <a:p>
            <a:pPr eaLnBrk="1" hangingPunct="1"/>
            <a:r>
              <a:rPr lang="en-US" altLang="en-US"/>
              <a:t>The definition of a rule can also contain the symbol being defined by that rules. This is called </a:t>
            </a:r>
            <a:r>
              <a:rPr lang="en-US" altLang="en-US" b="1"/>
              <a:t>recursive</a:t>
            </a:r>
            <a:r>
              <a:rPr lang="en-US" altLang="en-US"/>
              <a:t> definition. 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A4EAF13C-8A2B-4D57-889E-9C48B306B2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8F2B6351-E83F-46E2-8375-C95E8B77FD66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FFC2A9-2D48-4CA9-A4E4-551F01B8E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Example: Grammar for </a:t>
            </a:r>
            <a:br>
              <a:rPr lang="en-US" altLang="en-US" sz="4000" dirty="0"/>
            </a:br>
            <a:r>
              <a:rPr lang="en-US" altLang="en-US" sz="4000" dirty="0"/>
              <a:t>Arithmetic Expressions 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5ED2B38-9C4E-4C51-92C0-9D5801865A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71613"/>
            <a:ext cx="8915400" cy="45720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b="1" dirty="0"/>
              <a:t>Productions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&lt;Exp&gt;   ::=  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“+”&lt;Expr2&gt;|”-”&lt;Expr2&gt;|&lt;Expr2&gt;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&lt;Expr2&gt; ::= &lt;Term&gt;&lt;Expr3&gt;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&lt;Expr3&gt; ::= “+” &lt;Term&gt;&lt;Expr3&gt;|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”-”&lt;Term&gt;&lt;Expr3&gt;|</a:t>
            </a:r>
            <a:r>
              <a:rPr lang="en-US" altLang="en-US" sz="2000" b="1" dirty="0">
                <a:solidFill>
                  <a:srgbClr val="000000"/>
                </a:solidFill>
                <a:latin typeface="Symbol" panose="05050102010706020507" pitchFamily="18" charset="2"/>
              </a:rPr>
              <a:t>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Courier New" panose="02070309020205020404" pitchFamily="49" charset="0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&lt;Term&gt;  ::= &lt;Factor&gt; &lt;Term2&gt;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Courier New" panose="02070309020205020404" pitchFamily="49" charset="0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&lt;Term2&gt; ::= “*” &lt;Factor&gt; &lt;Term2&gt; |”/”&lt;Factor&gt; &lt;Term2&gt;|</a:t>
            </a:r>
            <a:r>
              <a:rPr lang="en-US" altLang="en-US" sz="2000" b="1" dirty="0">
                <a:solidFill>
                  <a:srgbClr val="000000"/>
                </a:solidFill>
                <a:latin typeface="Symbol" panose="05050102010706020507" pitchFamily="18" charset="2"/>
              </a:rPr>
              <a:t></a:t>
            </a:r>
          </a:p>
          <a:p>
            <a:pPr eaLnBrk="1" fontAlgn="auto" hangingPunct="1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Courier New" panose="02070309020205020404" pitchFamily="49" charset="0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&lt;Factor&gt; ::=“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ident”|”number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”|”(“&lt;Exp&gt;”)”</a:t>
            </a:r>
            <a:endParaRPr lang="en-US" altLang="en-US" sz="2000" b="1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b="1" dirty="0"/>
              <a:t>Terminal symbols 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dirty="0"/>
              <a:t>simple TS: 	"+", "-", "*", "/", "(", ")" </a:t>
            </a:r>
            <a:endParaRPr lang="en-US" altLang="en-US" sz="2000" i="1" dirty="0"/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dirty="0"/>
              <a:t>terminal classes: 	“ident”, “number”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b="1" dirty="0"/>
              <a:t>Nonterminal symbols</a:t>
            </a:r>
            <a:endParaRPr lang="en-US" altLang="en-US" sz="2000" dirty="0"/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dirty="0"/>
              <a:t>&lt;Expr&gt;, &lt;Expr2&gt;, &lt;Expr3&gt;, &lt;Term&gt;, &lt;Term2&gt;, &lt;Factor&gt;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b="1" dirty="0"/>
              <a:t>Start symbol</a:t>
            </a:r>
            <a:r>
              <a:rPr lang="en-US" altLang="en-US" sz="2000" dirty="0"/>
              <a:t> 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000" dirty="0"/>
              <a:t>&lt;Expr&gt; </a:t>
            </a:r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D1B29499-9DC0-4551-A529-347AEAC921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226B1E80-BF5D-405B-81BE-38CFC7519369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BADB1DB-D19E-44FD-9E0F-5F685ECE5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EBNF(Extended BNF)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7150652-72B6-4028-9B32-C6D49AD0C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Terminal symbols start with lower-case letters</a:t>
            </a:r>
          </a:p>
          <a:p>
            <a:pPr eaLnBrk="1" hangingPunct="1"/>
            <a:r>
              <a:rPr lang="en-US" altLang="en-US"/>
              <a:t>Nonterminal symbols start with upper-case letters</a:t>
            </a:r>
          </a:p>
          <a:p>
            <a:pPr eaLnBrk="1" hangingPunct="1"/>
            <a:r>
              <a:rPr lang="en-US" altLang="en-US" b="1"/>
              <a:t>Metasymbols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| (...) separates alternatives groups </a:t>
            </a:r>
          </a:p>
          <a:p>
            <a:pPr lvl="1" eaLnBrk="1" hangingPunct="1"/>
            <a:r>
              <a:rPr lang="en-US" altLang="en-US"/>
              <a:t>[...] alternatives optional part </a:t>
            </a:r>
          </a:p>
          <a:p>
            <a:pPr lvl="1" eaLnBrk="1" hangingPunct="1"/>
            <a:r>
              <a:rPr lang="en-US" altLang="en-US"/>
              <a:t>{...} iterative part 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7FD3170B-B4DE-4BFF-9816-A781A2E7F4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BF67C76-1514-46AB-9DDD-E65BB1AB8151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E36112E5-AAF3-406D-98E5-DFBFBAEE4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>
                <a:latin typeface="Arial" panose="020B060402020202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B3016044-02AA-46C7-BA3B-757D657C0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01) Prog ::= KW_PROGRAM Ident SB_SEMICOLON Block SB_PERIOD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02) Block  ::= KW_CONST ConstDecl ConstDecls Block2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03) Block  ::= Block2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04) Block2 ::= KW_TYPE TypeDecl TypeDecls Block3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05) Block2 ::= Block3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06) Block3 ::= KW_VAR VarDecl VarDecls Block4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07) Block3 ::= Block4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08) Block4 ::= SubDecls Block5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09) Block5 ::= KW_BEGIN Statements KW_END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01444DFC-55A6-42B1-9CD8-C8ABDE393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68275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FAE1B86C-C0B7-42DB-B1A3-75CCBFDD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4478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10)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ConstDecls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11)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12)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Ident SB_EQUAL Constant SB_SEMICOLON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13)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TypeDecls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14)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15)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Ident SB_EQUAL Type SB_SEMICOLON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16)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VarDecls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17)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18)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::= Ident SB_COLON Type SB_SEMICOLON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19)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FunDecl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SubDecls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20)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ProcDecl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SubDecls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21)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SubDecls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>
            <a:extLst>
              <a:ext uri="{FF2B5EF4-FFF2-40B4-BE49-F238E27FC236}">
                <a16:creationId xmlns:a16="http://schemas.microsoft.com/office/drawing/2014/main" id="{171167B9-B4CC-4D45-BE69-90ECCD029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8275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19459" name="Text Box 4">
            <a:extLst>
              <a:ext uri="{FF2B5EF4-FFF2-40B4-BE49-F238E27FC236}">
                <a16:creationId xmlns:a16="http://schemas.microsoft.com/office/drawing/2014/main" id="{990D630D-8EA7-44CD-8BEB-C4CEFFC27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5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22) FunDecl   ::= KW_FUNCTION Ident Params SB_COLON BasicType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		SB_SEMICOLON Block SB_SEMICOLON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23) ProcDecl  ::= KW_PROCEDURE Ident Params SB_SEMICOLON Block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		SB_SEMICOLON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24) Params    ::= SB_LPAR Param Params2 SB_RPAR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25) Params    ::= </a:t>
            </a:r>
            <a:r>
              <a:rPr lang="en-US" altLang="en-US" sz="1600" b="1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26) Params2 ::= SB_SEMICOLON Param Params2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27) Params2 ::= </a:t>
            </a:r>
            <a:r>
              <a:rPr lang="en-US" altLang="en-US" sz="1600" b="1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28) Param   ::= Ident SB_COLON BasicType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29) Param   ::= KW_VAR Ident SB_COLON BasicType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>
            <a:extLst>
              <a:ext uri="{FF2B5EF4-FFF2-40B4-BE49-F238E27FC236}">
                <a16:creationId xmlns:a16="http://schemas.microsoft.com/office/drawing/2014/main" id="{E87E87D3-BC44-4F05-8C3F-F1FF83C6F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21507" name="Text Box 4">
            <a:extLst>
              <a:ext uri="{FF2B5EF4-FFF2-40B4-BE49-F238E27FC236}">
                <a16:creationId xmlns:a16="http://schemas.microsoft.com/office/drawing/2014/main" id="{B20DE6F0-2E7F-4BE1-9927-07EF350BC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227137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30) Type ::= KW_INTEGER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31) Type ::= KW_CHAR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32) Type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TypeIdent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33) Type ::= KW_ARRAY SB_LSEL Number SB_RSEL KW_OF Type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34)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BasicType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KW_INTEGER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35)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BasicType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KW_CHAR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36)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UnsignedConstant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Number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37)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UnsignedConstant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ConstIdent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38)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UnsignedConstant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ConstChar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40) Constant ::= SB_PLUS Constant2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41) Constant ::= SB_MINUS Constant2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42) Constant ::= Constant2 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43) Constant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ConstChar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44) Constant2::=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ConstIdent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45) Constant2::= Number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>
            <a:extLst>
              <a:ext uri="{FF2B5EF4-FFF2-40B4-BE49-F238E27FC236}">
                <a16:creationId xmlns:a16="http://schemas.microsoft.com/office/drawing/2014/main" id="{43161D11-F7B8-4852-9BA3-0DCD4D95B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68275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F0195E4C-94AC-49AC-B548-8CA6A3B09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46) Statements ::= Statement Statements2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47) Statements2 ::= KW_SEMICOLON Statement Statements2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48) Statements2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49)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AssignSt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50)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CallSt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51)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GroupSt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52)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53)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WhileSt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54) Statement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ForSt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55) Statement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>
            <a:extLst>
              <a:ext uri="{FF2B5EF4-FFF2-40B4-BE49-F238E27FC236}">
                <a16:creationId xmlns:a16="http://schemas.microsoft.com/office/drawing/2014/main" id="{630809ED-4769-4FBA-B87F-E4305F667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68275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25603" name="Text Box 4">
            <a:extLst>
              <a:ext uri="{FF2B5EF4-FFF2-40B4-BE49-F238E27FC236}">
                <a16:creationId xmlns:a16="http://schemas.microsoft.com/office/drawing/2014/main" id="{86CED8DA-30E0-4200-86FC-86FB5C0A8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27137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56)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AssignSt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Variable SB_ASSIGN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Expession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57)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AssignSt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FunctionIdent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SB_ASSIGN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58)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CallSt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::= KW_CALL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ProcedureIdent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Arguments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59)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GroupSt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 KW_BEGIN Statements KW_END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60)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::= KW_IF Condition KW_THEN Statement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ElseSt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61)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::= KW_ELSE Statement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62)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63)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WhileSt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::=	KW_WHILE Condition KW_DO Statement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64)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ForSt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::=	KW_FOR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VariableIdent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SB_ASSIGN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	      	KW_TO Expression KW_DO Statement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>
            <a:extLst>
              <a:ext uri="{FF2B5EF4-FFF2-40B4-BE49-F238E27FC236}">
                <a16:creationId xmlns:a16="http://schemas.microsoft.com/office/drawing/2014/main" id="{88B24C66-3C5C-4299-8141-4BEEA4528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27651" name="Text Box 4">
            <a:extLst>
              <a:ext uri="{FF2B5EF4-FFF2-40B4-BE49-F238E27FC236}">
                <a16:creationId xmlns:a16="http://schemas.microsoft.com/office/drawing/2014/main" id="{CC24A90E-B73E-416C-AB02-F1ABA0825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371600"/>
            <a:ext cx="8001000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65) Arguments ::= SB_LPAR Expression Arguments2 SB_RPAR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66) Arguments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67) Arguments2::= SB_COMMA Expression Arguments2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68) Arguments2::=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68) Condition ::= Expression Condition2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69) Condition2::= SB_EQ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70) Condition2::= SB_NEQ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71) Condition2::= SB_LE Expression	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72) Condition2::= SB_LT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73) Condition2::= SB_GE Expression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74) Condition2::= SB_GT Expression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">
            <a:extLst>
              <a:ext uri="{FF2B5EF4-FFF2-40B4-BE49-F238E27FC236}">
                <a16:creationId xmlns:a16="http://schemas.microsoft.com/office/drawing/2014/main" id="{37F0908B-7F72-4E3C-868A-CA8C3DA03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44A0C1C1-25D9-42F9-AA3A-656BE67AC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75) Expression ::= SB_PLUS Expression2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76) Expression ::= SB_MINUS Expression2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77) Expression ::= Expression2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78) Expression2 ::= Term Expression3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79) Expression3 ::= SB_PLUS Term Expression3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80) Expression3 ::= SB_MINUS Term Expression3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81) Expression3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82) Term ::=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83) Term2 ::= SB_TIMES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84) Term2 ::= SB_SLASH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85) Term2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">
            <a:extLst>
              <a:ext uri="{FF2B5EF4-FFF2-40B4-BE49-F238E27FC236}">
                <a16:creationId xmlns:a16="http://schemas.microsoft.com/office/drawing/2014/main" id="{59639A94-8709-4D40-9D61-E66C9D38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4400" dirty="0">
                <a:latin typeface="Calibri" panose="020F0502020204030204" pitchFamily="34" charset="0"/>
                <a:cs typeface="Arial" panose="020B0604020202020204" pitchFamily="34" charset="0"/>
              </a:rPr>
              <a:t>KPL Grammar in BNF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17C513A2-5018-4A6F-B461-43D1B2A69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800100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86) Factor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UnsignedConstant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87) Factor ::= Variable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88) Factor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FunctionApplication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89) Factor ::= SB_LPAR Expression SB_RPAR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90) Variable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VariableIdent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Indexes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91)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FunctionApplication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::=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FunctionIdent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Arguments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92) Indexes ::= SB_LSEL Expression SB_RSEL Indexes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93) Indexes ::= </a:t>
            </a:r>
            <a:r>
              <a:rPr lang="en-US" altLang="en-US" sz="1600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6E4CA01-14F5-41DF-B2CD-5AD449344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FC22D63-01D5-4472-B20C-3D35F9DCBD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Each diagram defines a non-terminal</a:t>
            </a:r>
          </a:p>
          <a:p>
            <a:pPr eaLnBrk="1" hangingPunct="1"/>
            <a:r>
              <a:rPr lang="en-US" altLang="en-US"/>
              <a:t>There is a main diagram which defines the language</a:t>
            </a:r>
          </a:p>
          <a:p>
            <a:pPr eaLnBrk="1" hangingPunct="1"/>
            <a:r>
              <a:rPr lang="en-US" altLang="en-US"/>
              <a:t>Each diagram has an entry point and an end point</a:t>
            </a:r>
          </a:p>
          <a:p>
            <a:pPr eaLnBrk="1" hangingPunct="1"/>
            <a:r>
              <a:rPr lang="en-US" altLang="en-US"/>
              <a:t>Terminals are represented by round boxes</a:t>
            </a:r>
          </a:p>
          <a:p>
            <a:pPr eaLnBrk="1" hangingPunct="1"/>
            <a:r>
              <a:rPr lang="en-US" altLang="en-US"/>
              <a:t>Nonterminals are represented by square boxes.</a:t>
            </a:r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C7B5C07A-02C3-42FC-B3ED-970936BD9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29578A1-B902-44C4-983B-C0DE49635EE5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084E36D-920A-40B8-824B-24AC3DBFE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Examples of syntax diagram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DD16A459-9AC3-435A-8CC1-AFAF102B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D070EE5-8220-42BE-9D74-9310BDEDAC10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9F5FF56-3B39-4EAE-89C6-65A41F489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34821" name="Picture 7">
            <a:extLst>
              <a:ext uri="{FF2B5EF4-FFF2-40B4-BE49-F238E27FC236}">
                <a16:creationId xmlns:a16="http://schemas.microsoft.com/office/drawing/2014/main" id="{E9A2E615-5981-4D3E-B506-FAE74752D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88" y="1557338"/>
            <a:ext cx="733583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08EE75DC-4A75-47DB-8526-28060A75F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425" y="228600"/>
            <a:ext cx="843915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Syntax Diagrams of KPL (program)</a:t>
            </a:r>
          </a:p>
        </p:txBody>
      </p:sp>
      <p:sp>
        <p:nvSpPr>
          <p:cNvPr id="35843" name="Slide Number Placeholder 4">
            <a:extLst>
              <a:ext uri="{FF2B5EF4-FFF2-40B4-BE49-F238E27FC236}">
                <a16:creationId xmlns:a16="http://schemas.microsoft.com/office/drawing/2014/main" id="{30B4C7E7-8015-453B-A18F-F6B3EC3E9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6D3EBDF-1DC3-4CF2-AEBF-2722D86D4A4E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5844" name="Picture 5">
            <a:extLst>
              <a:ext uri="{FF2B5EF4-FFF2-40B4-BE49-F238E27FC236}">
                <a16:creationId xmlns:a16="http://schemas.microsoft.com/office/drawing/2014/main" id="{2A7A1D01-B2B2-47A4-A87B-71E3614D9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05038"/>
            <a:ext cx="720090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DED24D3-E3D8-4B23-B2B6-17C092463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KPL(block)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BF9C8641-8B57-42E4-8216-F42DC0D4D5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6A58955-C3E8-40E6-BEE6-F5ED2DF9D7A7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6868" name="Picture 5">
            <a:extLst>
              <a:ext uri="{FF2B5EF4-FFF2-40B4-BE49-F238E27FC236}">
                <a16:creationId xmlns:a16="http://schemas.microsoft.com/office/drawing/2014/main" id="{8B3D2554-0B68-4CB5-92E6-C2E06ABE2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295400"/>
            <a:ext cx="80200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B959B00C-0247-4906-AF67-B47F53FC6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Syntax Diagrams of KPL </a:t>
            </a:r>
            <a:br>
              <a:rPr lang="en-US" altLang="en-US" sz="4000" dirty="0"/>
            </a:br>
            <a:r>
              <a:rPr lang="en-US" altLang="en-US" sz="4000" dirty="0"/>
              <a:t>(list of parameters, unsigned constant)</a:t>
            </a:r>
          </a:p>
        </p:txBody>
      </p:sp>
      <p:sp>
        <p:nvSpPr>
          <p:cNvPr id="37891" name="Slide Number Placeholder 4">
            <a:extLst>
              <a:ext uri="{FF2B5EF4-FFF2-40B4-BE49-F238E27FC236}">
                <a16:creationId xmlns:a16="http://schemas.microsoft.com/office/drawing/2014/main" id="{737C3AF7-FD9C-46D4-AB14-630B7682B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9760901-BB18-4D29-9BCB-126D22F8FCC8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7892" name="Picture 6">
            <a:extLst>
              <a:ext uri="{FF2B5EF4-FFF2-40B4-BE49-F238E27FC236}">
                <a16:creationId xmlns:a16="http://schemas.microsoft.com/office/drawing/2014/main" id="{67771A3F-BB75-4D1E-A4A5-DB071A6D1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36" y="1905000"/>
            <a:ext cx="621030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>
            <a:extLst>
              <a:ext uri="{FF2B5EF4-FFF2-40B4-BE49-F238E27FC236}">
                <a16:creationId xmlns:a16="http://schemas.microsoft.com/office/drawing/2014/main" id="{92C77FFE-29A3-4768-A208-2C223539E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 </a:t>
            </a:r>
            <a:br>
              <a:rPr lang="en-US" altLang="en-US"/>
            </a:br>
            <a:r>
              <a:rPr lang="en-US" altLang="en-US"/>
              <a:t>(declarations)</a:t>
            </a:r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ED056A31-7AA4-4D8F-A4FE-89DEE8241C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F1FD7E2-A0D2-4608-9AF4-63E331925743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8916" name="Picture 6">
            <a:extLst>
              <a:ext uri="{FF2B5EF4-FFF2-40B4-BE49-F238E27FC236}">
                <a16:creationId xmlns:a16="http://schemas.microsoft.com/office/drawing/2014/main" id="{CBA998A4-F243-4EE4-9C01-E679241A2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844675"/>
            <a:ext cx="671512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FCF97E1-0117-4996-9779-047DE99F9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 </a:t>
            </a:r>
            <a:br>
              <a:rPr lang="en-US" altLang="en-US"/>
            </a:br>
            <a:r>
              <a:rPr lang="en-US" altLang="en-US"/>
              <a:t>(statement)</a:t>
            </a:r>
          </a:p>
        </p:txBody>
      </p:sp>
      <p:sp>
        <p:nvSpPr>
          <p:cNvPr id="39939" name="Slide Number Placeholder 4">
            <a:extLst>
              <a:ext uri="{FF2B5EF4-FFF2-40B4-BE49-F238E27FC236}">
                <a16:creationId xmlns:a16="http://schemas.microsoft.com/office/drawing/2014/main" id="{F8DE8C09-BFB1-48EA-9DC0-703A263B17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649F8D4-6E61-4370-989F-6834FBC3CFD0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021AFC86-AFD0-4202-9186-A249F6D10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5" t="27849" r="22824" b="27118"/>
          <a:stretch>
            <a:fillRect/>
          </a:stretch>
        </p:blipFill>
        <p:spPr bwMode="auto">
          <a:xfrm>
            <a:off x="914400" y="1600200"/>
            <a:ext cx="6858000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>
            <a:extLst>
              <a:ext uri="{FF2B5EF4-FFF2-40B4-BE49-F238E27FC236}">
                <a16:creationId xmlns:a16="http://schemas.microsoft.com/office/drawing/2014/main" id="{F7656887-20C6-4042-98FB-5391261EC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 </a:t>
            </a:r>
            <a:br>
              <a:rPr lang="en-US" altLang="en-US"/>
            </a:br>
            <a:r>
              <a:rPr lang="en-US" altLang="en-US"/>
              <a:t>(variable,expression,term)</a:t>
            </a:r>
          </a:p>
        </p:txBody>
      </p:sp>
      <p:sp>
        <p:nvSpPr>
          <p:cNvPr id="40963" name="Slide Number Placeholder 4">
            <a:extLst>
              <a:ext uri="{FF2B5EF4-FFF2-40B4-BE49-F238E27FC236}">
                <a16:creationId xmlns:a16="http://schemas.microsoft.com/office/drawing/2014/main" id="{84F82813-155E-45DE-BD3A-6FCCAA7516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9D18D73-A47C-4FF1-957C-904F29D56184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4EF14269-8B3F-4BDC-B181-D09F92828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0" t="31543" r="24010" b="28596"/>
          <a:stretch>
            <a:fillRect/>
          </a:stretch>
        </p:blipFill>
        <p:spPr bwMode="auto">
          <a:xfrm>
            <a:off x="1079500" y="1698625"/>
            <a:ext cx="66929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C3123EE-C16B-45C6-866C-685E5E929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 </a:t>
            </a:r>
            <a:br>
              <a:rPr lang="en-US" altLang="en-US"/>
            </a:br>
            <a:r>
              <a:rPr lang="en-US" altLang="en-US"/>
              <a:t>(factor,condition)</a:t>
            </a:r>
          </a:p>
        </p:txBody>
      </p:sp>
      <p:sp>
        <p:nvSpPr>
          <p:cNvPr id="41987" name="Slide Number Placeholder 4">
            <a:extLst>
              <a:ext uri="{FF2B5EF4-FFF2-40B4-BE49-F238E27FC236}">
                <a16:creationId xmlns:a16="http://schemas.microsoft.com/office/drawing/2014/main" id="{4D46DA24-73D6-455D-AA7C-326A69138F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51BAC20-BB5B-4BAB-9216-7F9E3BE2FA58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AAA081F6-9867-4ACE-B2E6-5B8B2306E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0" t="33759" r="24011" b="30063"/>
          <a:stretch>
            <a:fillRect/>
          </a:stretch>
        </p:blipFill>
        <p:spPr bwMode="auto">
          <a:xfrm>
            <a:off x="838200" y="1981200"/>
            <a:ext cx="7467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77C14674-C04C-4094-AF7D-00DDE3D68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Syntax Diagrams of KPL </a:t>
            </a:r>
            <a:br>
              <a:rPr lang="en-US" altLang="en-US"/>
            </a:br>
            <a:r>
              <a:rPr lang="en-US" altLang="en-US"/>
              <a:t>(identifier,unsigned integer)</a:t>
            </a:r>
          </a:p>
        </p:txBody>
      </p:sp>
      <p:sp>
        <p:nvSpPr>
          <p:cNvPr id="43011" name="Slide Number Placeholder 4">
            <a:extLst>
              <a:ext uri="{FF2B5EF4-FFF2-40B4-BE49-F238E27FC236}">
                <a16:creationId xmlns:a16="http://schemas.microsoft.com/office/drawing/2014/main" id="{82AF757B-8177-42A5-AAAF-5EC90131FA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34EC4F6-58A2-4635-8E46-F8397B0A31F0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857935F8-A06C-4162-AC2A-A23A30EE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2090738"/>
            <a:ext cx="484822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74F17E57-50C5-4D14-8BF4-C3941BB1D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Exercise: a KPL program</a:t>
            </a:r>
            <a:endParaRPr lang="en-GB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3B1B7FC4-1DAC-4372-9D2A-EE7FA63E2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709862"/>
            <a:ext cx="8686800" cy="38862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3200" dirty="0"/>
              <a:t>Write a program that asks the user to type the value of an integer and compute its factorial.</a:t>
            </a:r>
            <a:endParaRPr lang="en-GB" altLang="en-US" sz="32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8C3BBB7D-5177-42C9-90A6-DDFDADACFD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C0E044A-B97E-470E-9E52-785F454B614C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A376C57-7907-4568-9F49-D1017CB4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Solution 1</a:t>
            </a:r>
            <a:endParaRPr lang="en-GB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BBC2B05F-8368-43A0-AA61-BF4719BA1C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72000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 example1; (* Factorial *)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n : integer; i: integer; f:integer;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:=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f:=1;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 &gt;=2</a:t>
            </a: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GB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i:= 2 to n do </a:t>
            </a: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f:= f*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writeln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(f);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END. (* Factorial *)</a:t>
            </a:r>
            <a:b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30E3CEF-59A1-48CF-9CB5-51C475636B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AFB98A4E-FA5C-44F2-8313-D8A753405543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DC905C5-753D-4FAD-A95F-975FCB806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pPr eaLnBrk="1" hangingPunct="1"/>
            <a:br>
              <a:rPr lang="en-GB" altLang="en-US" sz="2400" dirty="0"/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 example2; (* Factorial *)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n : integer;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f(k : integer) : integer;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begin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k = 0 Then f := 1 Else f := k * f (k - 1);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end;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n := </a:t>
            </a:r>
            <a:r>
              <a:rPr lang="en-GB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readI</a:t>
            </a: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call </a:t>
            </a:r>
            <a:r>
              <a:rPr lang="en-GB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writeln</a:t>
            </a: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call </a:t>
            </a:r>
            <a:r>
              <a:rPr lang="en-GB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writeI</a:t>
            </a: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(f(n));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END. (* Factorial *)</a:t>
            </a:r>
            <a:b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110FB1C5-3232-49AC-AA8C-08DE95187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601F104-87EB-4B0D-9651-C5AC88935A6C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6084" name="Title 1">
            <a:extLst>
              <a:ext uri="{FF2B5EF4-FFF2-40B4-BE49-F238E27FC236}">
                <a16:creationId xmlns:a16="http://schemas.microsoft.com/office/drawing/2014/main" id="{316DFE46-18A0-4451-ABCC-13F8F62029F7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/>
              <a:t>Solution 2 (using KPL functions)</a:t>
            </a:r>
            <a:endParaRPr lang="en-GB" alt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6078</TotalTime>
  <Words>1459</Words>
  <Application>Microsoft Office PowerPoint</Application>
  <PresentationFormat>On-screen Show (4:3)</PresentationFormat>
  <Paragraphs>237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Calibri</vt:lpstr>
      <vt:lpstr>Arial</vt:lpstr>
      <vt:lpstr>Times New Roman</vt:lpstr>
      <vt:lpstr>Arial Black</vt:lpstr>
      <vt:lpstr>Courier New</vt:lpstr>
      <vt:lpstr>Symbol</vt:lpstr>
      <vt:lpstr>Wingdings</vt:lpstr>
      <vt:lpstr>SoICT-PPT-template-hoi-thao-online</vt:lpstr>
      <vt:lpstr>Unit 4 BNF and Syntax Diagrams</vt:lpstr>
      <vt:lpstr>  Backus-Naur form and variants</vt:lpstr>
      <vt:lpstr>Backus-Naur form and variants (cont)</vt:lpstr>
      <vt:lpstr>Backus-Naur form and variants (cont)</vt:lpstr>
      <vt:lpstr>Example: Grammar for  Arithmetic Expressions </vt:lpstr>
      <vt:lpstr>EBNF(Extended BNF)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Syntax Diagram</vt:lpstr>
      <vt:lpstr>Examples of syntax diagram</vt:lpstr>
      <vt:lpstr>Syntax Diagrams of KPL (program)</vt:lpstr>
      <vt:lpstr>Syntax Diagrams of KPL(block)</vt:lpstr>
      <vt:lpstr>Syntax Diagrams of KPL  (list of parameters, unsigned constant)</vt:lpstr>
      <vt:lpstr>Syntax Diagrams of KPL  (declarations)</vt:lpstr>
      <vt:lpstr>Syntax Diagrams of KPL  (statement)</vt:lpstr>
      <vt:lpstr>Syntax Diagrams of KPL  (variable,expression,term)</vt:lpstr>
      <vt:lpstr>Syntax Diagrams of KPL  (factor,condition)</vt:lpstr>
      <vt:lpstr>Syntax Diagrams of KPL  (identifier,unsigned integer)</vt:lpstr>
      <vt:lpstr>Exercise: a KPL program</vt:lpstr>
      <vt:lpstr>Solution 1</vt:lpstr>
      <vt:lpstr> program example2; (* Factorial *) var n : integer; function f(k : integer) : integer;   begin     If k = 0 Then f := 1 Else f := k * f (k - 1);   end;  BEGIN  n := readI;  call writeln;  call writeI(f(n));     END. (* Factorial *) 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287</cp:revision>
  <dcterms:created xsi:type="dcterms:W3CDTF">2008-08-10T02:45:21Z</dcterms:created>
  <dcterms:modified xsi:type="dcterms:W3CDTF">2021-01-19T15:19:34Z</dcterms:modified>
</cp:coreProperties>
</file>