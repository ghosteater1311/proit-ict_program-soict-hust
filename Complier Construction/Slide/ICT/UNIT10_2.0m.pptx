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5" r:id="rId1"/>
  </p:sldMasterIdLst>
  <p:notesMasterIdLst>
    <p:notesMasterId r:id="rId44"/>
  </p:notesMasterIdLst>
  <p:sldIdLst>
    <p:sldId id="351" r:id="rId2"/>
    <p:sldId id="349" r:id="rId3"/>
    <p:sldId id="395" r:id="rId4"/>
    <p:sldId id="382" r:id="rId5"/>
    <p:sldId id="363" r:id="rId6"/>
    <p:sldId id="364" r:id="rId7"/>
    <p:sldId id="352" r:id="rId8"/>
    <p:sldId id="353" r:id="rId9"/>
    <p:sldId id="354" r:id="rId10"/>
    <p:sldId id="355" r:id="rId11"/>
    <p:sldId id="356" r:id="rId12"/>
    <p:sldId id="357" r:id="rId13"/>
    <p:sldId id="391" r:id="rId14"/>
    <p:sldId id="384" r:id="rId15"/>
    <p:sldId id="390" r:id="rId16"/>
    <p:sldId id="385" r:id="rId17"/>
    <p:sldId id="386" r:id="rId18"/>
    <p:sldId id="392" r:id="rId19"/>
    <p:sldId id="393" r:id="rId20"/>
    <p:sldId id="389" r:id="rId21"/>
    <p:sldId id="365" r:id="rId22"/>
    <p:sldId id="770" r:id="rId23"/>
    <p:sldId id="771" r:id="rId24"/>
    <p:sldId id="362" r:id="rId25"/>
    <p:sldId id="366" r:id="rId26"/>
    <p:sldId id="367" r:id="rId27"/>
    <p:sldId id="383" r:id="rId28"/>
    <p:sldId id="368" r:id="rId29"/>
    <p:sldId id="369" r:id="rId30"/>
    <p:sldId id="370" r:id="rId31"/>
    <p:sldId id="371" r:id="rId32"/>
    <p:sldId id="372" r:id="rId33"/>
    <p:sldId id="373" r:id="rId34"/>
    <p:sldId id="394" r:id="rId35"/>
    <p:sldId id="374" r:id="rId36"/>
    <p:sldId id="375" r:id="rId37"/>
    <p:sldId id="376" r:id="rId38"/>
    <p:sldId id="377" r:id="rId39"/>
    <p:sldId id="378" r:id="rId40"/>
    <p:sldId id="379" r:id="rId41"/>
    <p:sldId id="380" r:id="rId42"/>
    <p:sldId id="381" r:id="rId43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50" autoAdjust="0"/>
    <p:restoredTop sz="94660"/>
  </p:normalViewPr>
  <p:slideViewPr>
    <p:cSldViewPr>
      <p:cViewPr varScale="1">
        <p:scale>
          <a:sx n="48" d="100"/>
          <a:sy n="48" d="100"/>
        </p:scale>
        <p:origin x="1258" y="19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C31A150D-5AD8-4064-B788-C16BB4E343A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30345C75-6EC1-4986-B31F-867742DC302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83488516-9132-4FED-B0AA-9BB89792AEB4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7" name="Rectangle 5">
            <a:extLst>
              <a:ext uri="{FF2B5EF4-FFF2-40B4-BE49-F238E27FC236}">
                <a16:creationId xmlns:a16="http://schemas.microsoft.com/office/drawing/2014/main" id="{F825CFEE-9A4E-4431-BFA4-935F15A7820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3798" name="Rectangle 6">
            <a:extLst>
              <a:ext uri="{FF2B5EF4-FFF2-40B4-BE49-F238E27FC236}">
                <a16:creationId xmlns:a16="http://schemas.microsoft.com/office/drawing/2014/main" id="{94E2ABE5-8A83-40BC-A4EF-DB9BB932AE3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9" name="Rectangle 7">
            <a:extLst>
              <a:ext uri="{FF2B5EF4-FFF2-40B4-BE49-F238E27FC236}">
                <a16:creationId xmlns:a16="http://schemas.microsoft.com/office/drawing/2014/main" id="{91E325AB-F757-422B-99EC-8D6DC2F19B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F749EB7-E8F7-452D-8772-F9BE2AD8D1F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FCAF8F45-3A59-4672-81F8-B63923E08A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ED4F45D5-34D4-4CEF-B8E8-809C9E711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4293D844-8CD3-44DB-BA12-AE3F800BC2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AF6FF7-CE8F-4829-BB68-2758157D14F2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E4C0DB-75CF-4D6E-9F12-0F2036EEB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84610-7E07-46F4-BD14-036A36C9F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368C8-6C57-4458-A2C7-F7A58BD34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E1725D59-E252-412A-A6FE-A7CC6357CB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4608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46842"/>
            <a:ext cx="78867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93851"/>
            <a:ext cx="7886700" cy="44831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B66E5-1494-4FA9-94B3-4DA0F8689A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57950" y="6142038"/>
            <a:ext cx="2057400" cy="365125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518119D-46F9-42BB-8857-38F502310F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372350" y="6413500"/>
            <a:ext cx="11430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1DCBA2-71B7-4B42-9982-D6F95BA8070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9497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23966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3227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BB42E-1A9C-47E3-89D7-C995471CC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CCAEB-5428-422A-9812-651AD9626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84A08-A8E0-4E70-A693-B59C9E95E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A6F7E8-6672-4133-BF25-825AB6B3BB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2365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62877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62877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BCF1135-9D3B-4AFB-8BA4-B7E0D0477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CEDD21D-402D-4DDB-9CDD-18763D308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112F56A-2B09-46F0-A2F7-ECD5ADC89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C95AE3-FB77-42E5-8569-5F146BA2BD7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1865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BC15915-43B5-4CE3-BBAA-AE419E5A7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D90F912-6294-4FCB-9BC2-58C940837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2EF6AE8-38D4-4908-96AA-1570EE678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F15BDF-CC18-48CD-9E17-FCE3488BAF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6740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7D413F7-C939-4FB5-B9C7-4CC6534A5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07E5EA3-3606-4577-99C3-0204B988E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03C368-2473-4D9C-B9BF-0B21A78AF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4540E-B1C3-4875-AA1D-0C3724848E4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0154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900" y="1781176"/>
            <a:ext cx="2711450" cy="4244974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721BD-EFAB-4AF9-8271-A801C33B0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BA6037-1786-457B-952A-25458A0D3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A6B199-31DD-4EAF-B619-B6FC0DEDD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4C8DE8-6491-49FD-AF7E-46B2886CC20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7176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B47EE1-5B92-4F84-8012-29DD4586D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08E48B-B9AE-4330-89F1-399A13781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04DAE7-433A-4B2B-9600-172D306D1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1BEE59-B711-418D-8C6A-807C9F3E4D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7221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8A78683C-D02A-4D64-A9AB-816FF79B3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68101C9-9EFB-457A-8F69-20B09A9F4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8E7FA8B-81B8-491C-A5DD-AC11F1187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058BD5-73CA-4FD3-945D-EAEA979314F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7349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F7613F-FE04-4860-ACD8-5D056B5EB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233898-3060-40DA-84D6-E7EA8B913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EA5B70-596C-485D-A25E-E44DD3BA9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0FE51F-FD3E-474B-85B7-9D2E4E48D75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7034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78D5C9-EB33-46FA-AD52-01BC2C4D7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D62EFA-9032-451B-934E-C1B93DA5A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2807F7-E376-4A8D-A1BC-96FB4BCEE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FB1A4-986E-471F-8A1D-B975CCD168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48476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457200"/>
            <a:ext cx="4629150" cy="54038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D04C11A-D92A-4496-9A5A-8124E803B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1D6CCC5-C48F-4A6A-A416-7FC080A35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83EA283-E41A-43C3-9DAA-CA1F37C2D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9BF842-BEEA-4115-819D-A3A9FE26E2A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16576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457200"/>
            <a:ext cx="4629150" cy="5403851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altLang="zh-CN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7C96AF2-86C3-42E8-A40E-609AE9F6B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A291024-7033-4648-917B-E0DEBFE6F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7DED998-C46B-4C7E-B92D-367D7CBD8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2879C-E731-4010-98B4-8C5980EF4A5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08789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6C94F-4AF8-4B33-B3DD-C044D6538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5DAEF-2177-421C-B726-23F02C87A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74D76-5C43-4861-82AA-66519F73C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9BE253-BB38-4FB3-B85F-1C13CC2D166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8428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6DFBF-04BF-405F-B6C3-0162361D6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AA732-E615-4A12-8A2C-64FC53E79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0EC4F-E67C-4B27-9420-3461D4C2C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2B627D-91AC-4575-8BC5-C75537A12EB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54417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3886200"/>
          </a:xfrm>
        </p:spPr>
        <p:txBody>
          <a:bodyPr rtlCol="0">
            <a:normAutofit/>
          </a:bodyPr>
          <a:lstStyle/>
          <a:p>
            <a:pPr lvl="0"/>
            <a:endParaRPr lang="en-US" noProof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AF4E657-07B7-48DE-BA2F-B6FB0248B77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1CC2402-6C84-4411-9490-2C2FEFC65BA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38FB57-4537-4D06-A31E-67F7A46C0A1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FCB49524-D0E1-4300-A8A9-FFD1C455B18C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581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8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DA5E3BA1-B50B-477A-B0C0-90A4D1E18E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15557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  <a:endParaRPr lang="en-US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75A16FF5-67EC-49B6-9E24-0A16A5F7BF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625600"/>
            <a:ext cx="7886700" cy="446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2758F-5F52-4AB3-969F-6500133291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97750" y="6121400"/>
            <a:ext cx="1117600" cy="2762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52F3A7-E9E8-4D06-8A81-2A9FBD56CF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7850" y="6432550"/>
            <a:ext cx="3009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DE6021-B69B-4B99-B436-759EDEEAE4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397750" y="6432550"/>
            <a:ext cx="1117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251404C-06C2-4BE4-BBFF-2862095A711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889" r:id="rId3"/>
    <p:sldLayoutId id="2147483890" r:id="rId4"/>
    <p:sldLayoutId id="2147483891" r:id="rId5"/>
    <p:sldLayoutId id="2147483892" r:id="rId6"/>
    <p:sldLayoutId id="2147483900" r:id="rId7"/>
    <p:sldLayoutId id="2147483901" r:id="rId8"/>
    <p:sldLayoutId id="2147483893" r:id="rId9"/>
    <p:sldLayoutId id="2147483902" r:id="rId10"/>
    <p:sldLayoutId id="2147483903" r:id="rId11"/>
    <p:sldLayoutId id="2147483894" r:id="rId12"/>
    <p:sldLayoutId id="2147483895" r:id="rId13"/>
    <p:sldLayoutId id="2147483896" r:id="rId14"/>
    <p:sldLayoutId id="2147483897" r:id="rId15"/>
    <p:sldLayoutId id="2147483904" r:id="rId16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>
            <a:extLst>
              <a:ext uri="{FF2B5EF4-FFF2-40B4-BE49-F238E27FC236}">
                <a16:creationId xmlns:a16="http://schemas.microsoft.com/office/drawing/2014/main" id="{0F7CF061-0555-4E63-8A9C-940EBBB6A5A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Unit 10 </a:t>
            </a:r>
            <a:br>
              <a:rPr lang="en-US" altLang="en-US"/>
            </a:br>
            <a:r>
              <a:rPr lang="en-US" altLang="en-US"/>
              <a:t>Semantic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95DC762-2700-4034-86FC-1D301A94EC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r>
              <a:rPr lang="en-US" altLang="en-US"/>
              <a:t>Summary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83D411EC-2B96-48E5-8DEF-952949D6DA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981200"/>
            <a:ext cx="8229600" cy="4343400"/>
          </a:xfrm>
        </p:spPr>
        <p:txBody>
          <a:bodyPr/>
          <a:lstStyle/>
          <a:p>
            <a:r>
              <a:rPr lang="en-US" altLang="en-US" b="1"/>
              <a:t>Semantics of programming languages</a:t>
            </a:r>
          </a:p>
          <a:p>
            <a:r>
              <a:rPr lang="en-US" altLang="en-US" b="1"/>
              <a:t>Symbol tables</a:t>
            </a:r>
            <a:endParaRPr lang="en-US" altLang="en-US"/>
          </a:p>
          <a:p>
            <a:pPr lvl="1"/>
            <a:r>
              <a:rPr lang="en-US" altLang="en-US"/>
              <a:t>Scope Rules and Symbol Tables</a:t>
            </a:r>
            <a:endParaRPr lang="en-US" altLang="en-US" b="1"/>
          </a:p>
          <a:p>
            <a:pPr lvl="1"/>
            <a:r>
              <a:rPr lang="en-US" altLang="en-US"/>
              <a:t>Translation Schemes for building Symbol Tables</a:t>
            </a:r>
          </a:p>
          <a:p>
            <a:r>
              <a:rPr lang="en-US" altLang="en-US" b="1"/>
              <a:t>Type checking</a:t>
            </a:r>
          </a:p>
          <a:p>
            <a:pPr lvl="1"/>
            <a:r>
              <a:rPr lang="en-US" altLang="en-US"/>
              <a:t>Type system</a:t>
            </a:r>
          </a:p>
          <a:p>
            <a:pPr lvl="1"/>
            <a:r>
              <a:rPr lang="en-US" altLang="en-US"/>
              <a:t>Specifying a Type Checker</a:t>
            </a:r>
            <a:endParaRPr lang="en-US" altLang="en-US" b="1"/>
          </a:p>
          <a:p>
            <a:pPr lvl="1"/>
            <a:r>
              <a:rPr lang="en-US" altLang="en-US"/>
              <a:t>Type Conversion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41BB8BF9-9ADF-4FFC-9913-C4690CC724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r>
              <a:rPr lang="en-US" altLang="en-US"/>
              <a:t>Semantic analysis</a:t>
            </a:r>
            <a:endParaRPr lang="en-GB" altLang="en-US"/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CAD37060-6E3B-4435-8E74-69B7B80422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524000"/>
            <a:ext cx="8229600" cy="3886200"/>
          </a:xfrm>
        </p:spPr>
        <p:txBody>
          <a:bodyPr/>
          <a:lstStyle/>
          <a:p>
            <a:r>
              <a:rPr lang="en-GB" altLang="en-US"/>
              <a:t>Extract types and other information from the program </a:t>
            </a:r>
          </a:p>
          <a:p>
            <a:r>
              <a:rPr lang="en-GB" altLang="en-US"/>
              <a:t>Check language rules that go beyond the grammar </a:t>
            </a:r>
          </a:p>
          <a:p>
            <a:r>
              <a:rPr lang="en-GB" altLang="en-US"/>
              <a:t>Assign storage locations </a:t>
            </a:r>
          </a:p>
          <a:p>
            <a:r>
              <a:rPr lang="en-GB" altLang="en-US"/>
              <a:t>Construct symbol tables – For each identiﬁer in the program, record its attributes (kind, type, etc.)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C93B0AE-EBBC-4F9E-B99F-FFCB8D156F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609600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en-US"/>
              <a:t>Semantic analysis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9E8E92BC-3F5E-48D9-9177-6180D6D748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19200"/>
            <a:ext cx="8229600" cy="4648200"/>
          </a:xfrm>
        </p:spPr>
        <p:txBody>
          <a:bodyPr/>
          <a:lstStyle/>
          <a:p>
            <a:r>
              <a:rPr lang="en-US" altLang="en-US"/>
              <a:t>Find errors after parsing</a:t>
            </a:r>
          </a:p>
          <a:p>
            <a:pPr lvl="1"/>
            <a:r>
              <a:rPr lang="en-GB" altLang="en-US" sz="2000"/>
              <a:t>The type of the right-side expression of an assignment statement should match the type of the left-side, and the left-side needs to be a properly declared and assignable identiﬁer (i.e. not some sort of constant). </a:t>
            </a:r>
          </a:p>
          <a:p>
            <a:pPr lvl="1"/>
            <a:r>
              <a:rPr lang="en-GB" altLang="en-US" sz="2000"/>
              <a:t>The parameters of a function should match the arguments of a function call in both number and type. </a:t>
            </a:r>
          </a:p>
          <a:p>
            <a:pPr lvl="1"/>
            <a:r>
              <a:rPr lang="en-GB" altLang="en-US" sz="2000"/>
              <a:t>The language may require that identiﬁers are unique, disallowing a global variable and function of the same name.  </a:t>
            </a:r>
          </a:p>
          <a:p>
            <a:pPr lvl="1"/>
            <a:r>
              <a:rPr lang="en-GB" altLang="en-US" sz="2000"/>
              <a:t>The operands to multiplication operation will need to be of numeric type, perhaps even the exact same type depending on the strictness of the language</a:t>
            </a:r>
          </a:p>
          <a:p>
            <a:r>
              <a:rPr lang="en-US" altLang="en-US"/>
              <a:t>Parse trees are used in semantic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3A892B1-B81A-4015-9FB9-034CBA1C7C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r>
              <a:rPr lang="en-US" altLang="en-US"/>
              <a:t>Type checking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222E324D-7492-4FBE-ABA8-891E39F84A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593850"/>
            <a:ext cx="7886700" cy="4483100"/>
          </a:xfrm>
        </p:spPr>
        <p:txBody>
          <a:bodyPr/>
          <a:lstStyle/>
          <a:p>
            <a:r>
              <a:rPr lang="en-US" altLang="en-US"/>
              <a:t>A </a:t>
            </a:r>
            <a:r>
              <a:rPr lang="en-US" altLang="en-US" b="1"/>
              <a:t>compiler</a:t>
            </a:r>
            <a:r>
              <a:rPr lang="en-US" altLang="en-US"/>
              <a:t> must check that the program follows the </a:t>
            </a:r>
            <a:r>
              <a:rPr lang="en-US" altLang="en-US" i="1"/>
              <a:t>Type Rules </a:t>
            </a:r>
            <a:r>
              <a:rPr lang="en-US" altLang="en-US"/>
              <a:t>of the language.</a:t>
            </a:r>
          </a:p>
          <a:p>
            <a:r>
              <a:rPr lang="en-US" altLang="en-US"/>
              <a:t>Information about </a:t>
            </a:r>
            <a:r>
              <a:rPr lang="en-US" altLang="en-US" i="1"/>
              <a:t>Data Types </a:t>
            </a:r>
            <a:r>
              <a:rPr lang="en-US" altLang="en-US"/>
              <a:t>is maintained and computed by the </a:t>
            </a:r>
            <a:r>
              <a:rPr lang="en-US" altLang="en-US" b="1"/>
              <a:t>compiler</a:t>
            </a:r>
            <a:r>
              <a:rPr lang="en-US" altLang="en-US"/>
              <a:t>. </a:t>
            </a:r>
          </a:p>
          <a:p>
            <a:r>
              <a:rPr lang="en-US" altLang="en-US"/>
              <a:t>The </a:t>
            </a:r>
            <a:r>
              <a:rPr lang="en-US" altLang="en-US" i="1"/>
              <a:t>Type Checker </a:t>
            </a:r>
            <a:r>
              <a:rPr lang="en-US" altLang="en-US"/>
              <a:t>is a module of a </a:t>
            </a:r>
            <a:r>
              <a:rPr lang="en-US" altLang="en-US" b="1"/>
              <a:t>compiler</a:t>
            </a:r>
            <a:r>
              <a:rPr lang="en-US" altLang="en-US"/>
              <a:t> devoted to type checking tasks.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EB95DA17-778C-41B0-B82A-6F96908231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r>
              <a:rPr lang="en-US" altLang="en-US"/>
              <a:t>Examples of Tasks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2A3C937F-914A-45A4-9D64-3363969DAE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593850"/>
            <a:ext cx="7886700" cy="4483100"/>
          </a:xfrm>
        </p:spPr>
        <p:txBody>
          <a:bodyPr/>
          <a:lstStyle/>
          <a:p>
            <a:endParaRPr lang="en-US" altLang="en-US"/>
          </a:p>
          <a:p>
            <a:r>
              <a:rPr lang="en-US" altLang="en-US"/>
              <a:t>The operator modulus (%) is defined only if the operands are integers;</a:t>
            </a:r>
          </a:p>
          <a:p>
            <a:r>
              <a:rPr lang="en-US" altLang="en-US"/>
              <a:t>Indexing is allowed only on an array and the index must be an integer;</a:t>
            </a:r>
          </a:p>
          <a:p>
            <a:r>
              <a:rPr lang="en-US" altLang="en-US"/>
              <a:t>A function must have a precise number of arguments and the parameters must have a correct type;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5904EA97-15F3-4288-841E-CF3A612C13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r>
              <a:rPr lang="en-US" altLang="en-US"/>
              <a:t>Type checking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DB496B51-D627-401B-BC36-9B756F1825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/>
              <a:t>Type Checking may be either </a:t>
            </a:r>
            <a:r>
              <a:rPr lang="en-US" altLang="en-US" i="1"/>
              <a:t>static </a:t>
            </a:r>
            <a:r>
              <a:rPr lang="en-US" altLang="en-US"/>
              <a:t>or </a:t>
            </a:r>
            <a:r>
              <a:rPr lang="en-US" altLang="en-US" i="1"/>
              <a:t>dynamic</a:t>
            </a:r>
            <a:r>
              <a:rPr lang="en-US" altLang="en-US"/>
              <a:t>.</a:t>
            </a:r>
          </a:p>
          <a:p>
            <a:pPr>
              <a:lnSpc>
                <a:spcPct val="80000"/>
              </a:lnSpc>
            </a:pPr>
            <a:r>
              <a:rPr lang="en-US" altLang="en-US"/>
              <a:t>The one done at compile time is static.</a:t>
            </a:r>
          </a:p>
          <a:p>
            <a:pPr>
              <a:lnSpc>
                <a:spcPct val="80000"/>
              </a:lnSpc>
            </a:pPr>
            <a:r>
              <a:rPr lang="en-US" altLang="en-US"/>
              <a:t>In languages like Pascal and C type checking is primarily static and is used to check the correctness of a program before its execution.</a:t>
            </a:r>
          </a:p>
          <a:p>
            <a:pPr>
              <a:lnSpc>
                <a:spcPct val="80000"/>
              </a:lnSpc>
            </a:pPr>
            <a:r>
              <a:rPr lang="en-US" altLang="en-US"/>
              <a:t>Static type checking is also useful to determine the amount of memory needed to store variables.</a:t>
            </a:r>
          </a:p>
          <a:p>
            <a:pPr>
              <a:lnSpc>
                <a:spcPct val="80000"/>
              </a:lnSpc>
            </a:pPr>
            <a:r>
              <a:rPr lang="en-US" altLang="en-US"/>
              <a:t>The design of a Type Checker depends on the syntactic structure of language constructs, the </a:t>
            </a:r>
            <a:r>
              <a:rPr lang="en-US" altLang="en-US" i="1"/>
              <a:t>Type Expressions </a:t>
            </a:r>
            <a:r>
              <a:rPr lang="en-US" altLang="en-US"/>
              <a:t>of the language, and the rules for assigning types to constructs.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06FA6574-0466-47C8-86A1-20D4AA868E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r>
              <a:rPr lang="en-US" altLang="en-US" sz="4000"/>
              <a:t>Type Expressions</a:t>
            </a:r>
            <a:br>
              <a:rPr lang="en-US" altLang="en-US" sz="4000"/>
            </a:br>
            <a:endParaRPr lang="en-US" altLang="en-US" sz="4000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AE15A99C-8ECF-4D20-9653-EE5634E605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524000"/>
            <a:ext cx="8229600" cy="4876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/>
              <a:t>A </a:t>
            </a:r>
            <a:r>
              <a:rPr lang="en-US" altLang="en-US" b="1"/>
              <a:t>Type Expression </a:t>
            </a:r>
            <a:r>
              <a:rPr lang="en-US" altLang="en-US"/>
              <a:t>denotes the type of a language construct.</a:t>
            </a:r>
          </a:p>
          <a:p>
            <a:pPr>
              <a:lnSpc>
                <a:spcPct val="80000"/>
              </a:lnSpc>
            </a:pPr>
            <a:r>
              <a:rPr lang="en-US" altLang="en-US"/>
              <a:t>A type expression is either a </a:t>
            </a:r>
            <a:r>
              <a:rPr lang="en-US" altLang="en-US" i="1"/>
              <a:t>Basic Type </a:t>
            </a:r>
            <a:r>
              <a:rPr lang="en-US" altLang="en-US"/>
              <a:t>or is built applying </a:t>
            </a:r>
            <a:r>
              <a:rPr lang="en-US" altLang="en-US" i="1"/>
              <a:t>Type Constructors </a:t>
            </a:r>
            <a:r>
              <a:rPr lang="en-US" altLang="en-US"/>
              <a:t>to other types.</a:t>
            </a:r>
          </a:p>
          <a:p>
            <a:pPr>
              <a:lnSpc>
                <a:spcPct val="80000"/>
              </a:lnSpc>
            </a:pPr>
            <a:r>
              <a:rPr lang="en-US" altLang="en-US"/>
              <a:t>A </a:t>
            </a:r>
            <a:r>
              <a:rPr lang="en-US" altLang="en-US" i="1"/>
              <a:t>Basic Type </a:t>
            </a:r>
            <a:r>
              <a:rPr lang="en-US" altLang="en-US"/>
              <a:t>is a type expression (int, real, boolean, char). The basic type void represents the empty set and allows statements to be checked;</a:t>
            </a:r>
          </a:p>
          <a:p>
            <a:pPr>
              <a:lnSpc>
                <a:spcPct val="80000"/>
              </a:lnSpc>
            </a:pPr>
            <a:r>
              <a:rPr lang="en-US" altLang="en-US"/>
              <a:t>Type expressions can be associated with a name: </a:t>
            </a:r>
            <a:r>
              <a:rPr lang="en-US" altLang="en-US" i="1"/>
              <a:t>Type Names </a:t>
            </a:r>
            <a:r>
              <a:rPr lang="en-US" altLang="en-US"/>
              <a:t>are type expressions;</a:t>
            </a:r>
          </a:p>
          <a:p>
            <a:pPr>
              <a:lnSpc>
                <a:spcPct val="80000"/>
              </a:lnSpc>
            </a:pPr>
            <a:r>
              <a:rPr lang="en-US" altLang="en-US"/>
              <a:t>A </a:t>
            </a:r>
            <a:r>
              <a:rPr lang="en-US" altLang="en-US" i="1"/>
              <a:t>Type Constructor </a:t>
            </a:r>
            <a:r>
              <a:rPr lang="en-US" altLang="en-US"/>
              <a:t>applied to type expressions is a type expression. </a:t>
            </a:r>
            <a:endParaRPr lang="en-US" altLang="en-US"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2B458ABE-1B8C-4767-AFDE-4BA1FD70AD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r>
              <a:rPr lang="en-US" altLang="en-US"/>
              <a:t>Type expresions (con’d)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F64F5364-941E-489D-8B81-7A535AD236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229600" cy="4724400"/>
          </a:xfrm>
        </p:spPr>
        <p:txBody>
          <a:bodyPr/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400"/>
          </a:p>
          <a:p>
            <a:pPr>
              <a:lnSpc>
                <a:spcPct val="80000"/>
              </a:lnSpc>
            </a:pPr>
            <a:r>
              <a:rPr lang="en-US" altLang="en-US" sz="2400" i="1"/>
              <a:t>Array</a:t>
            </a:r>
            <a:r>
              <a:rPr lang="en-US" altLang="en-US" sz="2400"/>
              <a:t>. If T is a type expression, then </a:t>
            </a:r>
            <a:r>
              <a:rPr lang="en-US" altLang="en-US" sz="2400" i="1"/>
              <a:t>array</a:t>
            </a:r>
            <a:r>
              <a:rPr lang="en-US" altLang="en-US" sz="2400"/>
              <a:t>(I,T) is a type expression denoting an array with elements of type T and index range in I (e.g.,array[1..10] of int == array(1..10,int))</a:t>
            </a:r>
          </a:p>
          <a:p>
            <a:pPr>
              <a:lnSpc>
                <a:spcPct val="80000"/>
              </a:lnSpc>
            </a:pPr>
            <a:r>
              <a:rPr lang="en-US" altLang="en-US" sz="2400"/>
              <a:t>Cartesian Product If T</a:t>
            </a:r>
            <a:r>
              <a:rPr lang="en-US" altLang="en-US" sz="2400" baseline="-25000"/>
              <a:t>1</a:t>
            </a:r>
            <a:r>
              <a:rPr lang="en-US" altLang="en-US" sz="2400"/>
              <a:t>and T</a:t>
            </a:r>
            <a:r>
              <a:rPr lang="en-US" altLang="en-US" sz="2400" baseline="-25000"/>
              <a:t>2</a:t>
            </a:r>
            <a:r>
              <a:rPr lang="en-US" altLang="en-US" sz="2400"/>
              <a:t> are type expressions, then their Cartesian Product T1× T2 is a type expression;</a:t>
            </a:r>
          </a:p>
          <a:p>
            <a:pPr>
              <a:lnSpc>
                <a:spcPct val="80000"/>
              </a:lnSpc>
            </a:pPr>
            <a:r>
              <a:rPr lang="en-US" altLang="en-US" sz="2400"/>
              <a:t>Record. Similar to Product but with names for different fields (used to access the components of a record). 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Example of a C record type</a:t>
            </a:r>
          </a:p>
          <a:p>
            <a:pPr lvl="2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/>
              <a:t>struct</a:t>
            </a:r>
          </a:p>
          <a:p>
            <a:pPr lvl="2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/>
              <a:t>{</a:t>
            </a:r>
          </a:p>
          <a:p>
            <a:pPr lvl="2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/>
              <a:t>double r;</a:t>
            </a:r>
          </a:p>
          <a:p>
            <a:pPr lvl="2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/>
              <a:t>int i;</a:t>
            </a:r>
          </a:p>
          <a:p>
            <a:pPr lvl="2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/>
              <a:t>}	</a:t>
            </a:r>
            <a:r>
              <a:rPr lang="en-US" altLang="en-US" sz="1000"/>
              <a:t>	</a:t>
            </a:r>
            <a:endParaRPr lang="en-US" altLang="en-US"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2FD7A9AA-E88E-44CF-A4BE-5CEA59CF0E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r>
              <a:rPr lang="en-US" altLang="en-US"/>
              <a:t>Type expressions (con’d)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9FD0E288-2352-46BB-B6CA-A5D879C054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905000"/>
            <a:ext cx="8229600" cy="39624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i="1"/>
              <a:t>Pointer</a:t>
            </a:r>
            <a:r>
              <a:rPr lang="en-US" altLang="en-US"/>
              <a:t>. If T is a type expression, then pointer(T) is the type expression “pointer to an object of type T” </a:t>
            </a:r>
          </a:p>
          <a:p>
            <a:pPr>
              <a:lnSpc>
                <a:spcPct val="80000"/>
              </a:lnSpc>
            </a:pPr>
            <a:r>
              <a:rPr lang="en-US" altLang="en-US" i="1"/>
              <a:t>Function</a:t>
            </a:r>
            <a:r>
              <a:rPr lang="en-US" altLang="en-US"/>
              <a:t>. If D is the domain and R the range of the function then wedenote its type by the type expression: D : R.</a:t>
            </a:r>
          </a:p>
          <a:p>
            <a:pPr>
              <a:lnSpc>
                <a:spcPct val="80000"/>
              </a:lnSpc>
            </a:pPr>
            <a:r>
              <a:rPr lang="en-US" altLang="en-US"/>
              <a:t>Example 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/>
              <a:t>The Pascal function: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/>
              <a:t>function f(a, b: char): integer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/>
              <a:t>has type: </a:t>
            </a:r>
            <a:r>
              <a:rPr lang="en-US" altLang="en-US" i="1"/>
              <a:t>char </a:t>
            </a:r>
            <a:r>
              <a:rPr lang="en-US" altLang="en-US"/>
              <a:t>× </a:t>
            </a:r>
            <a:r>
              <a:rPr lang="en-US" altLang="en-US" i="1"/>
              <a:t>char : int</a:t>
            </a:r>
            <a:r>
              <a:rPr lang="en-US" altLang="en-US"/>
              <a:t>. </a:t>
            </a:r>
            <a:r>
              <a:rPr lang="en-US" altLang="en-US" sz="2000"/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20B5A057-6CDB-4435-BEAA-ED0CBD8EFE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r>
              <a:rPr lang="en-US" altLang="en-US"/>
              <a:t>Type System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0FB206D9-ED0E-4A8B-A285-3E57921B9A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981200"/>
            <a:ext cx="8229600" cy="4572000"/>
          </a:xfrm>
        </p:spPr>
        <p:txBody>
          <a:bodyPr/>
          <a:lstStyle/>
          <a:p>
            <a:r>
              <a:rPr lang="en-US" altLang="en-US" b="1"/>
              <a:t>Type System: </a:t>
            </a:r>
            <a:r>
              <a:rPr lang="en-US" altLang="en-US"/>
              <a:t>Collection of rules for assigning type expressions to the various part of a program.</a:t>
            </a:r>
          </a:p>
          <a:p>
            <a:r>
              <a:rPr lang="en-US" altLang="en-US"/>
              <a:t>Type Systems are specified using syntax directed definitions.</a:t>
            </a:r>
          </a:p>
          <a:p>
            <a:r>
              <a:rPr lang="en-US" altLang="en-US"/>
              <a:t>A </a:t>
            </a:r>
            <a:r>
              <a:rPr lang="en-US" altLang="en-US" i="1"/>
              <a:t>type checker </a:t>
            </a:r>
            <a:r>
              <a:rPr lang="en-US" altLang="en-US"/>
              <a:t>implements a type system.</a:t>
            </a:r>
          </a:p>
          <a:p>
            <a:r>
              <a:rPr lang="en-US" altLang="en-US"/>
              <a:t>A language is </a:t>
            </a:r>
            <a:r>
              <a:rPr lang="en-US" altLang="en-US" i="1"/>
              <a:t>strongly typed </a:t>
            </a:r>
            <a:r>
              <a:rPr lang="en-US" altLang="en-US"/>
              <a:t>if its </a:t>
            </a:r>
            <a:r>
              <a:rPr lang="en-US" altLang="en-US" b="1"/>
              <a:t>compiler</a:t>
            </a:r>
            <a:r>
              <a:rPr lang="en-US" altLang="en-US"/>
              <a:t> can guarantee that the program it accepts will execute without type errors.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573A3528-AB86-4F0C-94A0-12614796AE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r>
              <a:rPr lang="en-US" altLang="en-US"/>
              <a:t>Specification of a Type Checker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FBB56A73-1A15-4E2D-A8F2-9FE795305F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981200"/>
            <a:ext cx="8229600" cy="4572000"/>
          </a:xfrm>
        </p:spPr>
        <p:txBody>
          <a:bodyPr/>
          <a:lstStyle/>
          <a:p>
            <a:r>
              <a:rPr lang="en-US" altLang="en-US"/>
              <a:t>We specify a type checker for a simple language where identifiers have an associated type.</a:t>
            </a:r>
          </a:p>
          <a:p>
            <a:r>
              <a:rPr lang="en-US" altLang="en-US"/>
              <a:t>Attribute Grammar for Declarations and Expressions: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en-US"/>
              <a:t>P → D;E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en-US"/>
              <a:t>D → D;D | id : T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en-US"/>
              <a:t>T → char | int | array[num] of T | ↑T</a:t>
            </a:r>
            <a:endParaRPr lang="pt-BR" altLang="en-US"/>
          </a:p>
          <a:p>
            <a:pPr lvl="2">
              <a:buFont typeface="Wingdings" panose="05000000000000000000" pitchFamily="2" charset="2"/>
              <a:buNone/>
            </a:pPr>
            <a:r>
              <a:rPr lang="pt-BR" altLang="en-US"/>
              <a:t>E → literal | num | id | E mod E | E[E] | E↑</a:t>
            </a:r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02FBFD1E-5437-46AC-824D-F40654F925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762000"/>
          </a:xfrm>
        </p:spPr>
        <p:txBody>
          <a:bodyPr/>
          <a:lstStyle/>
          <a:p>
            <a:r>
              <a:rPr lang="en-GB" altLang="en-US" sz="4000"/>
              <a:t>Syntax-Directed Translation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DBF92BAA-18B4-43C1-B586-A66D887936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1219200"/>
            <a:ext cx="8763000" cy="4114800"/>
          </a:xfrm>
        </p:spPr>
        <p:txBody>
          <a:bodyPr rtlCol="0">
            <a:normAutofit fontScale="92500"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GB" altLang="en-US"/>
              <a:t>Technique used to build semantic information for large structures, based on its syntax. </a:t>
            </a:r>
          </a:p>
          <a:p>
            <a:pPr fontAlgn="auto">
              <a:spcAft>
                <a:spcPts val="0"/>
              </a:spcAft>
              <a:defRPr/>
            </a:pPr>
            <a:r>
              <a:rPr lang="en-GB" altLang="en-US"/>
              <a:t>In a compiler, Syntax-Directed Translation is used for 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GB" altLang="en-US" sz="2000"/>
              <a:t>Constructing Abstract Syntax Tree 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GB" altLang="en-US" sz="2000"/>
              <a:t>Type checking 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GB" altLang="en-US" sz="2000"/>
              <a:t>Intermediate code generation</a:t>
            </a:r>
          </a:p>
          <a:p>
            <a:pPr fontAlgn="auto">
              <a:spcAft>
                <a:spcPts val="0"/>
              </a:spcAft>
              <a:defRPr/>
            </a:pPr>
            <a:r>
              <a:rPr lang="en-GB" altLang="en-US"/>
              <a:t>The semantics (i.e., meaning) of the various constructs in the language is viewed as attributes of the corresponding grammar symbols.</a:t>
            </a:r>
          </a:p>
          <a:p>
            <a:pPr fontAlgn="auto">
              <a:spcAft>
                <a:spcPts val="0"/>
              </a:spcAft>
              <a:defRPr/>
            </a:pPr>
            <a:r>
              <a:rPr lang="en-GB" altLang="en-US"/>
              <a:t>Attributes are associated with Terminal as well as Nonterminal symbols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7F81FC25-6F12-46AB-B86B-BFD5752887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r>
              <a:rPr lang="en-US" altLang="en-US"/>
              <a:t>Attributes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BF66B04F-02A3-4955-A0FE-73C7542C86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458200" cy="3886200"/>
          </a:xfrm>
        </p:spPr>
        <p:txBody>
          <a:bodyPr rtlCol="0">
            <a:normAutofit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en-US" b="1"/>
              <a:t>Synthesized attribute</a:t>
            </a:r>
            <a:r>
              <a:rPr lang="en-US" altLang="en-US"/>
              <a:t>: An </a:t>
            </a:r>
            <a:r>
              <a:rPr lang="en-US" altLang="en-US" b="1"/>
              <a:t>attribute</a:t>
            </a:r>
            <a:r>
              <a:rPr lang="en-US" altLang="en-US"/>
              <a:t> that gets its values from the attributes attached to the children of its nonterminal.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GB" altLang="en-US"/>
              <a:t>Value flows from child to parent in the parse tree. 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GB" altLang="en-US"/>
              <a:t>Example: val in Expression grammar</a:t>
            </a:r>
            <a:endParaRPr lang="en-US" altLang="en-US"/>
          </a:p>
          <a:p>
            <a:pPr fontAlgn="auto">
              <a:spcAft>
                <a:spcPts val="0"/>
              </a:spcAft>
              <a:defRPr/>
            </a:pPr>
            <a:r>
              <a:rPr lang="en-US" altLang="en-US" b="1"/>
              <a:t>Inherited attribute</a:t>
            </a:r>
            <a:r>
              <a:rPr lang="en-US" altLang="en-US"/>
              <a:t>: An </a:t>
            </a:r>
            <a:r>
              <a:rPr lang="en-US" altLang="en-US" b="1"/>
              <a:t>attribute</a:t>
            </a:r>
            <a:r>
              <a:rPr lang="en-US" altLang="en-US"/>
              <a:t> that gets its values from the attributes attached to the parent (or siblings) of its nonterminal</a:t>
            </a:r>
            <a:r>
              <a:rPr lang="en-US" altLang="en-US" sz="2400"/>
              <a:t>.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GB" altLang="en-US" sz="2000"/>
              <a:t>Value flows into a node in the parse tree from parents and/or siblings. 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GB" altLang="en-US" sz="2000"/>
              <a:t>Example: type of VarList in declaration grammar</a:t>
            </a:r>
            <a:endParaRPr lang="en-US" altLang="en-US"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4D07858D-D3B3-4FC8-91DB-7D56BF2970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r>
              <a:rPr lang="en-US" altLang="en-US"/>
              <a:t>Syntax Directed Definition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DEE8C9EA-55E9-429B-BA77-C24AC5A669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593850"/>
            <a:ext cx="7886700" cy="44831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b="1"/>
              <a:t>Syntax Directed Definitions </a:t>
            </a:r>
            <a:r>
              <a:rPr lang="en-US" altLang="en-US"/>
              <a:t>are a generalization of context-free grammars in which: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/>
              <a:t>1. Grammar symbols have an associated set of </a:t>
            </a:r>
            <a:r>
              <a:rPr lang="en-US" altLang="en-US" b="1"/>
              <a:t>Attributes</a:t>
            </a:r>
            <a:r>
              <a:rPr lang="en-US" altLang="en-US"/>
              <a:t>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/>
              <a:t>2. Productions are associated with </a:t>
            </a:r>
            <a:r>
              <a:rPr lang="en-US" altLang="en-US" b="1"/>
              <a:t>Semantic Rules </a:t>
            </a:r>
            <a:r>
              <a:rPr lang="en-US" altLang="en-US"/>
              <a:t>for computing the values of attributes.</a:t>
            </a:r>
          </a:p>
          <a:p>
            <a:pPr>
              <a:lnSpc>
                <a:spcPct val="80000"/>
              </a:lnSpc>
            </a:pPr>
            <a:r>
              <a:rPr lang="en-US" altLang="en-US"/>
              <a:t>Such formalism generates </a:t>
            </a:r>
            <a:r>
              <a:rPr lang="en-US" altLang="en-US" b="1"/>
              <a:t>Annotated Parse-Trees </a:t>
            </a:r>
            <a:r>
              <a:rPr lang="en-US" altLang="en-US"/>
              <a:t>where each node of the tree is a record with a field for each attribute (e.g., X.a indicates the attribute a of the grammar symbol X).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C300E48E-15B1-476C-9F2D-07CA76B6E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533400"/>
            <a:ext cx="8534400" cy="914400"/>
          </a:xfrm>
        </p:spPr>
        <p:txBody>
          <a:bodyPr/>
          <a:lstStyle/>
          <a:p>
            <a:r>
              <a:rPr lang="en-US" altLang="en-US" sz="3600"/>
              <a:t>Forms of  a syntax directed definition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90D16697-C5F4-4FE0-8A46-F39F0D1ABA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1524000"/>
            <a:ext cx="8839200" cy="5029200"/>
          </a:xfrm>
        </p:spPr>
        <p:txBody>
          <a:bodyPr/>
          <a:lstStyle/>
          <a:p>
            <a:pPr>
              <a:lnSpc>
                <a:spcPct val="80000"/>
              </a:lnSpc>
            </a:pPr>
            <a:endParaRPr lang="en-US" altLang="en-US" sz="1200"/>
          </a:p>
          <a:p>
            <a:pPr>
              <a:lnSpc>
                <a:spcPct val="80000"/>
              </a:lnSpc>
            </a:pPr>
            <a:r>
              <a:rPr lang="en-US" altLang="en-US"/>
              <a:t>A grammar production Y --&gt; X</a:t>
            </a:r>
            <a:r>
              <a:rPr lang="en-US" altLang="en-US" baseline="-25000"/>
              <a:t>1</a:t>
            </a:r>
            <a:r>
              <a:rPr lang="en-US" altLang="en-US"/>
              <a:t> … X</a:t>
            </a:r>
            <a:r>
              <a:rPr lang="en-US" altLang="en-US" baseline="-25000"/>
              <a:t>n</a:t>
            </a:r>
            <a:r>
              <a:rPr lang="en-US" altLang="en-US"/>
              <a:t> may have zero or more associated semantic rules. Each semantic rules has the form, b = f(c</a:t>
            </a:r>
            <a:r>
              <a:rPr lang="en-US" altLang="en-US" baseline="-25000"/>
              <a:t>1</a:t>
            </a:r>
            <a:r>
              <a:rPr lang="en-US" altLang="en-US"/>
              <a:t>,…,c</a:t>
            </a:r>
            <a:r>
              <a:rPr lang="en-US" altLang="en-US" baseline="-25000"/>
              <a:t>k</a:t>
            </a:r>
            <a:r>
              <a:rPr lang="en-US" altLang="en-US"/>
              <a:t>) are attributes of the grammar symbol in the production such that: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/>
              <a:t>	1. b is a </a:t>
            </a:r>
            <a:r>
              <a:rPr lang="en-US" altLang="en-US">
                <a:solidFill>
                  <a:srgbClr val="FF0000"/>
                </a:solidFill>
              </a:rPr>
              <a:t>synthesized attribute </a:t>
            </a:r>
            <a:r>
              <a:rPr lang="en-US" altLang="en-US"/>
              <a:t>and c</a:t>
            </a:r>
            <a:r>
              <a:rPr lang="en-US" altLang="en-US" baseline="-25000"/>
              <a:t>1</a:t>
            </a:r>
            <a:r>
              <a:rPr lang="en-US" altLang="en-US"/>
              <a:t>,…,c</a:t>
            </a:r>
            <a:r>
              <a:rPr lang="en-US" altLang="en-US" baseline="-25000"/>
              <a:t>k</a:t>
            </a:r>
            <a:r>
              <a:rPr lang="en-US" altLang="en-US"/>
              <a:t> are the attributes of the grammar symbols on the rhs or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/>
              <a:t>	2. b is an </a:t>
            </a:r>
            <a:r>
              <a:rPr lang="en-US" altLang="en-US">
                <a:solidFill>
                  <a:srgbClr val="FF0000"/>
                </a:solidFill>
              </a:rPr>
              <a:t>inherited attribute </a:t>
            </a:r>
            <a:r>
              <a:rPr lang="en-US" altLang="en-US"/>
              <a:t>of one of the RHS grammar symbols and c</a:t>
            </a:r>
            <a:r>
              <a:rPr lang="en-US" altLang="en-US" baseline="-25000"/>
              <a:t>1</a:t>
            </a:r>
            <a:r>
              <a:rPr lang="en-US" altLang="en-US"/>
              <a:t>,…,c</a:t>
            </a:r>
            <a:r>
              <a:rPr lang="en-US" altLang="en-US" baseline="-25000"/>
              <a:t>k</a:t>
            </a:r>
            <a:r>
              <a:rPr lang="en-US" altLang="en-US"/>
              <a:t> are any other attributes in the production.   </a:t>
            </a:r>
          </a:p>
          <a:p>
            <a:pPr>
              <a:lnSpc>
                <a:spcPct val="80000"/>
              </a:lnSpc>
            </a:pPr>
            <a:r>
              <a:rPr lang="en-US" altLang="en-US"/>
              <a:t> </a:t>
            </a:r>
            <a:r>
              <a:rPr lang="en-GB" altLang="en-US"/>
              <a:t>If the function f does not have side effects, syntax directed definitions is also called as attribute grammars. </a:t>
            </a:r>
            <a:br>
              <a:rPr lang="en-US" altLang="en-US"/>
            </a:br>
            <a:r>
              <a:rPr lang="en-US" altLang="en-US"/>
              <a:t> </a:t>
            </a:r>
            <a:br>
              <a:rPr lang="en-US" altLang="en-US"/>
            </a:br>
            <a:endParaRPr lang="en-US" altLang="en-US" sz="2000">
              <a:latin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3C0F7946-C687-41C3-8B27-473009FFFC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5400"/>
              <a:t>Example</a:t>
            </a:r>
          </a:p>
        </p:txBody>
      </p:sp>
      <p:graphicFrame>
        <p:nvGraphicFramePr>
          <p:cNvPr id="229411" name="Group 35">
            <a:extLst>
              <a:ext uri="{FF2B5EF4-FFF2-40B4-BE49-F238E27FC236}">
                <a16:creationId xmlns:a16="http://schemas.microsoft.com/office/drawing/2014/main" id="{980D1EF5-7130-4A92-8CD7-7C9CC0F0F967}"/>
              </a:ext>
            </a:extLst>
          </p:cNvPr>
          <p:cNvGraphicFramePr>
            <a:graphicFrameLocks noGrp="1"/>
          </p:cNvGraphicFramePr>
          <p:nvPr>
            <p:ph type="tbl" idx="1"/>
          </p:nvPr>
        </p:nvGraphicFramePr>
        <p:xfrm>
          <a:off x="533400" y="1676400"/>
          <a:ext cx="8074025" cy="3178175"/>
        </p:xfrm>
        <a:graphic>
          <a:graphicData uri="http://schemas.openxmlformats.org/drawingml/2006/table">
            <a:tbl>
              <a:tblPr/>
              <a:tblGrid>
                <a:gridCol w="4037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7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Production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Semantic rules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0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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E return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Print (E.val)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7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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E</a:t>
                      </a:r>
                      <a:r>
                        <a:rPr kumimoji="0" lang="en-US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+T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E.val = E1.val + T.val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7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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E.val = T.val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4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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* F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T.val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T1.val *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F.val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44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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F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T.val = F.val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7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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(E)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F.val = E.val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30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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num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F.val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num.Lexval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7680" name="Text Box 32">
            <a:extLst>
              <a:ext uri="{FF2B5EF4-FFF2-40B4-BE49-F238E27FC236}">
                <a16:creationId xmlns:a16="http://schemas.microsoft.com/office/drawing/2014/main" id="{2F0BD04E-4BD9-4B50-A23E-B8A0097423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105400"/>
            <a:ext cx="75438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/>
              <a:t> C</a:t>
            </a:r>
            <a:r>
              <a:rPr lang="en-US" altLang="en-US" sz="1800" i="1">
                <a:latin typeface="Arial" panose="020B0604020202020204" pitchFamily="34" charset="0"/>
              </a:rPr>
              <a:t>onsider the Grammar for arithmetic expressions above. The </a:t>
            </a:r>
            <a:r>
              <a:rPr lang="en-US" altLang="en-US" sz="1800" b="1" i="1">
                <a:latin typeface="Arial" panose="020B0604020202020204" pitchFamily="34" charset="0"/>
              </a:rPr>
              <a:t>Syntax</a:t>
            </a:r>
            <a:r>
              <a:rPr lang="en-US" altLang="en-US" sz="1800" i="1">
                <a:latin typeface="Arial" panose="020B0604020202020204" pitchFamily="34" charset="0"/>
              </a:rPr>
              <a:t> </a:t>
            </a:r>
            <a:r>
              <a:rPr lang="en-US" altLang="en-US" sz="1800" b="1" i="1">
                <a:latin typeface="Arial" panose="020B0604020202020204" pitchFamily="34" charset="0"/>
              </a:rPr>
              <a:t>Directed</a:t>
            </a:r>
            <a:r>
              <a:rPr lang="en-US" altLang="en-US" sz="1800" i="1">
                <a:latin typeface="Arial" panose="020B0604020202020204" pitchFamily="34" charset="0"/>
              </a:rPr>
              <a:t> </a:t>
            </a:r>
            <a:r>
              <a:rPr lang="en-US" altLang="en-US" sz="1800" b="1" i="1">
                <a:latin typeface="Arial" panose="020B0604020202020204" pitchFamily="34" charset="0"/>
              </a:rPr>
              <a:t>Definition</a:t>
            </a:r>
            <a:r>
              <a:rPr lang="en-US" altLang="en-US" sz="1800" i="1">
                <a:latin typeface="Arial" panose="020B0604020202020204" pitchFamily="34" charset="0"/>
              </a:rPr>
              <a:t> associates to each non terminal a synthesized an attribute called </a:t>
            </a:r>
            <a:r>
              <a:rPr lang="en-US" altLang="en-US" sz="1800" b="1" i="1">
                <a:latin typeface="Arial" panose="020B0604020202020204" pitchFamily="34" charset="0"/>
              </a:rPr>
              <a:t>val</a:t>
            </a:r>
            <a:r>
              <a:rPr lang="en-US" altLang="en-US" sz="1800" i="1"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D7012ACC-6E85-4412-B2AB-AACA401A92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610600" cy="838200"/>
          </a:xfrm>
        </p:spPr>
        <p:txBody>
          <a:bodyPr/>
          <a:lstStyle/>
          <a:p>
            <a:r>
              <a:rPr lang="en-GB" altLang="en-US" sz="4000"/>
              <a:t>Synthesized Attribute Example</a:t>
            </a:r>
          </a:p>
        </p:txBody>
      </p:sp>
      <p:pic>
        <p:nvPicPr>
          <p:cNvPr id="28675" name="Picture 2">
            <a:extLst>
              <a:ext uri="{FF2B5EF4-FFF2-40B4-BE49-F238E27FC236}">
                <a16:creationId xmlns:a16="http://schemas.microsoft.com/office/drawing/2014/main" id="{AE7E4250-FAE7-41A4-A0BD-7CEA8356DD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" y="1303338"/>
            <a:ext cx="4095750" cy="2085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676" name="Picture 3">
            <a:extLst>
              <a:ext uri="{FF2B5EF4-FFF2-40B4-BE49-F238E27FC236}">
                <a16:creationId xmlns:a16="http://schemas.microsoft.com/office/drawing/2014/main" id="{CFE536AB-89C3-4E02-BF43-42CBC9992C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6600" y="3657600"/>
            <a:ext cx="4200525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677" name="Rectangle 3">
            <a:extLst>
              <a:ext uri="{FF2B5EF4-FFF2-40B4-BE49-F238E27FC236}">
                <a16:creationId xmlns:a16="http://schemas.microsoft.com/office/drawing/2014/main" id="{EEA7F262-F013-4A6A-BFAC-B0B346D00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3116263"/>
            <a:ext cx="29606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Information Flow for 3*2+5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3">
            <a:extLst>
              <a:ext uri="{FF2B5EF4-FFF2-40B4-BE49-F238E27FC236}">
                <a16:creationId xmlns:a16="http://schemas.microsoft.com/office/drawing/2014/main" id="{D05024D5-937A-4F9F-A61C-C7ED6468BA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733800"/>
            <a:ext cx="4105275" cy="2657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555" name="Title 1">
            <a:extLst>
              <a:ext uri="{FF2B5EF4-FFF2-40B4-BE49-F238E27FC236}">
                <a16:creationId xmlns:a16="http://schemas.microsoft.com/office/drawing/2014/main" id="{DA610158-CD28-48D4-BD89-9191BB925E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685800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GB" altLang="en-US"/>
              <a:t>Inherited Attribute Example</a:t>
            </a:r>
          </a:p>
        </p:txBody>
      </p:sp>
      <p:pic>
        <p:nvPicPr>
          <p:cNvPr id="29700" name="Picture 2">
            <a:extLst>
              <a:ext uri="{FF2B5EF4-FFF2-40B4-BE49-F238E27FC236}">
                <a16:creationId xmlns:a16="http://schemas.microsoft.com/office/drawing/2014/main" id="{D7EFFC7F-376F-473E-980C-965F8BDBD9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181100"/>
            <a:ext cx="5286375" cy="287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8FF10086-8C2A-40BB-9617-298CBAB534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r>
              <a:rPr lang="en-US" altLang="en-US" sz="4000"/>
              <a:t>Example of annotated parse tree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0D5C7053-BE97-45A5-A9B4-040D276BD9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3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30724" name="Object 4">
            <a:extLst>
              <a:ext uri="{FF2B5EF4-FFF2-40B4-BE49-F238E27FC236}">
                <a16:creationId xmlns:a16="http://schemas.microsoft.com/office/drawing/2014/main" id="{5617661A-671C-4CAF-B2AD-0DD8030C42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" y="1676400"/>
          <a:ext cx="7086600" cy="434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6" name="Bitmap Image" r:id="rId3" imgW="6304762" imgH="3648584" progId="Paint.Picture">
                  <p:embed/>
                </p:oleObj>
              </mc:Choice>
              <mc:Fallback>
                <p:oleObj name="Bitmap Image" r:id="rId3" imgW="6304762" imgH="3648584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676400"/>
                        <a:ext cx="7086600" cy="434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1FD5CB4E-78FE-419E-A590-E66AE01204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r>
              <a:rPr lang="en-US" altLang="en-US"/>
              <a:t>Type checker of identifiers</a:t>
            </a:r>
          </a:p>
        </p:txBody>
      </p:sp>
      <p:pic>
        <p:nvPicPr>
          <p:cNvPr id="31747" name="Picture 5">
            <a:extLst>
              <a:ext uri="{FF2B5EF4-FFF2-40B4-BE49-F238E27FC236}">
                <a16:creationId xmlns:a16="http://schemas.microsoft.com/office/drawing/2014/main" id="{938D5085-5F06-42FF-BBF9-986DDC6435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438400"/>
            <a:ext cx="7924800" cy="351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Content Placeholder 2">
            <a:extLst>
              <a:ext uri="{FF2B5EF4-FFF2-40B4-BE49-F238E27FC236}">
                <a16:creationId xmlns:a16="http://schemas.microsoft.com/office/drawing/2014/main" id="{44BB6CF8-18EE-40BE-A109-0019B2389D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76250" y="1485900"/>
            <a:ext cx="8229600" cy="3886200"/>
          </a:xfrm>
        </p:spPr>
        <p:txBody>
          <a:bodyPr rtlCol="0">
            <a:normAutofit fontScale="62500" lnSpcReduction="20000"/>
          </a:bodyPr>
          <a:lstStyle/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en-US" sz="2400" dirty="0"/>
              <a:t> </a:t>
            </a: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do {// code in </a:t>
            </a:r>
            <a:r>
              <a:rPr lang="en-US" alt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compileVardecl</a:t>
            </a: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function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eat(TK_IDENT);  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checkFreshIdent</a:t>
            </a: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currentToken</a:t>
            </a: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-&gt;string);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varObj</a:t>
            </a: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createVariableObject</a:t>
            </a: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currentToken</a:t>
            </a: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-&gt;string);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eat(SB_COLON);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varType</a:t>
            </a: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compileType</a:t>
            </a: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varObj</a:t>
            </a: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alt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varAttrs</a:t>
            </a: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-&gt;type = </a:t>
            </a:r>
            <a:r>
              <a:rPr lang="en-US" alt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varType</a:t>
            </a: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declareObject</a:t>
            </a: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varObj</a:t>
            </a: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eat(SB_SEMICOLON);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 while (</a:t>
            </a:r>
            <a:r>
              <a:rPr lang="en-US" alt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lookAhead</a:t>
            </a: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alt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tokenType</a:t>
            </a: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== TK_IDENT);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//data type is returned by function </a:t>
            </a:r>
            <a:r>
              <a:rPr lang="en-US" alt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compileType</a:t>
            </a: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in the </a:t>
            </a:r>
            <a:r>
              <a:rPr lang="en-US" alt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next slide. </a:t>
            </a:r>
            <a:endParaRPr lang="en-US" alt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GB" altLang="en-US" sz="2400" dirty="0"/>
          </a:p>
        </p:txBody>
      </p:sp>
      <p:sp>
        <p:nvSpPr>
          <p:cNvPr id="32771" name="Date Placeholder 4">
            <a:extLst>
              <a:ext uri="{FF2B5EF4-FFF2-40B4-BE49-F238E27FC236}">
                <a16:creationId xmlns:a16="http://schemas.microsoft.com/office/drawing/2014/main" id="{9B95F186-4CA2-4226-96F3-349081170B4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6553200" y="6248400"/>
            <a:ext cx="2133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2772" name="Slide Number Placeholder 3">
            <a:extLst>
              <a:ext uri="{FF2B5EF4-FFF2-40B4-BE49-F238E27FC236}">
                <a16:creationId xmlns:a16="http://schemas.microsoft.com/office/drawing/2014/main" id="{E08B2DC1-175D-464D-B343-E0D799F8FB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3124200" y="6248400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F2BA99CC-533F-4DB8-81D1-889D3F73941D}" type="slidenum">
              <a:rPr lang="en-US" altLang="en-US" sz="1400">
                <a:latin typeface="Calibri" panose="020F0502020204030204" pitchFamily="34" charset="0"/>
                <a:cs typeface="Arial" panose="020B0604020202020204" pitchFamily="34" charset="0"/>
              </a:rPr>
              <a:pPr algn="ctr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22</a:t>
            </a:fld>
            <a:endParaRPr lang="en-US" altLang="en-US" sz="1400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2773" name="Rectangle 2">
            <a:extLst>
              <a:ext uri="{FF2B5EF4-FFF2-40B4-BE49-F238E27FC236}">
                <a16:creationId xmlns:a16="http://schemas.microsoft.com/office/drawing/2014/main" id="{93693183-3DA4-410F-AD4B-3748682F64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5750" y="146050"/>
            <a:ext cx="8705850" cy="1149350"/>
          </a:xfrm>
        </p:spPr>
        <p:txBody>
          <a:bodyPr/>
          <a:lstStyle/>
          <a:p>
            <a:r>
              <a:rPr lang="en-US" altLang="en-US"/>
              <a:t>Insert type of variable to symbol table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Content Placeholder 2">
            <a:extLst>
              <a:ext uri="{FF2B5EF4-FFF2-40B4-BE49-F238E27FC236}">
                <a16:creationId xmlns:a16="http://schemas.microsoft.com/office/drawing/2014/main" id="{20252332-4466-4E08-A9F3-E51EF164FB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457200"/>
            <a:ext cx="3810000" cy="6172200"/>
          </a:xfrm>
        </p:spPr>
        <p:txBody>
          <a:bodyPr rtlCol="0">
            <a:normAutofit fontScale="85000" lnSpcReduction="20000"/>
          </a:bodyPr>
          <a:lstStyle/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Type*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compileType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(void) {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Type* type;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Type*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elementType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int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arraySize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Object* obj;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switch 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lookAhead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tokenType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case KW_INTEGER: 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eat(KW_INTEGER);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type = 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makeIntType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break;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case KW_CHAR: 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eat(KW_CHAR); 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type =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makeCharType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break;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case KW_ARRAY: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eat(KW_ARRAY);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eat(SB_LSEL);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eat(TK_NUMBER);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en-US" sz="1800" b="1" dirty="0"/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en-US" sz="1800" dirty="0"/>
              <a:t>    </a:t>
            </a:r>
            <a:endParaRPr lang="en-GB" altLang="en-US" sz="1800" dirty="0"/>
          </a:p>
        </p:txBody>
      </p:sp>
      <p:sp>
        <p:nvSpPr>
          <p:cNvPr id="33795" name="Date Placeholder 4">
            <a:extLst>
              <a:ext uri="{FF2B5EF4-FFF2-40B4-BE49-F238E27FC236}">
                <a16:creationId xmlns:a16="http://schemas.microsoft.com/office/drawing/2014/main" id="{5CB5B419-A94A-4D20-8D13-311CF57A52A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6553200" y="6248400"/>
            <a:ext cx="2133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3796" name="Slide Number Placeholder 3">
            <a:extLst>
              <a:ext uri="{FF2B5EF4-FFF2-40B4-BE49-F238E27FC236}">
                <a16:creationId xmlns:a16="http://schemas.microsoft.com/office/drawing/2014/main" id="{DC05CA02-569D-4CED-8991-4A7D53B8CF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3124200" y="6248400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3D07B44E-4314-4DB4-87A4-D2C3B4B4AC8F}" type="slidenum">
              <a:rPr lang="en-US" altLang="en-US" sz="1400">
                <a:latin typeface="Calibri" panose="020F0502020204030204" pitchFamily="34" charset="0"/>
                <a:cs typeface="Arial" panose="020B0604020202020204" pitchFamily="34" charset="0"/>
              </a:rPr>
              <a:pPr algn="ctr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23</a:t>
            </a:fld>
            <a:endParaRPr lang="en-US" altLang="en-US" sz="1400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3797" name="Content Placeholder 2">
            <a:extLst>
              <a:ext uri="{FF2B5EF4-FFF2-40B4-BE49-F238E27FC236}">
                <a16:creationId xmlns:a16="http://schemas.microsoft.com/office/drawing/2014/main" id="{AAB6E1EC-EE2E-4CFD-91B5-C1AF69580CA3}"/>
              </a:ext>
            </a:extLst>
          </p:cNvPr>
          <p:cNvSpPr txBox="1">
            <a:spLocks/>
          </p:cNvSpPr>
          <p:nvPr/>
        </p:nvSpPr>
        <p:spPr bwMode="auto">
          <a:xfrm>
            <a:off x="4419600" y="304800"/>
            <a:ext cx="38100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arraySize</a:t>
            </a:r>
            <a:r>
              <a:rPr lang="en-US" alt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currentToken</a:t>
            </a:r>
            <a:r>
              <a:rPr lang="en-US" alt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-&gt;value;</a:t>
            </a:r>
          </a:p>
          <a:p>
            <a:pPr eaLnBrk="1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eat(SB_RSEL);</a:t>
            </a:r>
          </a:p>
          <a:p>
            <a:pPr eaLnBrk="1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eat(KW_OF);</a:t>
            </a:r>
          </a:p>
          <a:p>
            <a:pPr eaLnBrk="1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elementType</a:t>
            </a:r>
            <a:r>
              <a:rPr lang="en-US" alt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compileType</a:t>
            </a:r>
            <a:r>
              <a:rPr lang="en-US" alt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type = </a:t>
            </a:r>
            <a:r>
              <a:rPr lang="en-US" altLang="en-US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makeArrayType</a:t>
            </a:r>
            <a:r>
              <a:rPr lang="en-US" alt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arraySize</a:t>
            </a:r>
            <a:r>
              <a:rPr lang="en-US" alt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elementType</a:t>
            </a:r>
            <a:r>
              <a:rPr lang="en-US" alt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break;</a:t>
            </a:r>
          </a:p>
          <a:p>
            <a:pPr eaLnBrk="1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case TK_IDENT:</a:t>
            </a:r>
          </a:p>
          <a:p>
            <a:pPr eaLnBrk="1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eat(TK_IDENT);</a:t>
            </a:r>
          </a:p>
          <a:p>
            <a:pPr eaLnBrk="1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obj = </a:t>
            </a:r>
            <a:r>
              <a:rPr lang="en-US" altLang="en-US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checkDeclaredType</a:t>
            </a:r>
            <a:r>
              <a:rPr lang="en-US" alt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currentToken</a:t>
            </a:r>
            <a:r>
              <a:rPr lang="en-US" alt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-&gt;string);</a:t>
            </a:r>
          </a:p>
          <a:p>
            <a:pPr eaLnBrk="1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type = </a:t>
            </a:r>
            <a:r>
              <a:rPr lang="en-US" altLang="en-US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duplicateType</a:t>
            </a:r>
            <a:r>
              <a:rPr lang="en-US" alt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(obj-&gt;</a:t>
            </a:r>
            <a:r>
              <a:rPr lang="en-US" altLang="en-US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typeAttrs</a:t>
            </a:r>
            <a:r>
              <a:rPr lang="en-US" alt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altLang="en-US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actualType</a:t>
            </a:r>
            <a:r>
              <a:rPr lang="en-US" alt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break;</a:t>
            </a:r>
          </a:p>
          <a:p>
            <a:pPr eaLnBrk="1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default:</a:t>
            </a:r>
          </a:p>
          <a:p>
            <a:pPr eaLnBrk="1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GB" alt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error(ERR_INVALID_TYPE, </a:t>
            </a:r>
            <a:r>
              <a:rPr lang="en-GB" altLang="en-US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lookAhead</a:t>
            </a:r>
            <a:r>
              <a:rPr lang="en-GB" alt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GB" altLang="en-US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lineNo</a:t>
            </a:r>
            <a:r>
              <a:rPr lang="en-GB" alt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altLang="en-US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lookAhead</a:t>
            </a:r>
            <a:r>
              <a:rPr lang="en-GB" alt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GB" altLang="en-US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colNo</a:t>
            </a:r>
            <a:r>
              <a:rPr lang="en-GB" alt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break;</a:t>
            </a:r>
          </a:p>
          <a:p>
            <a:pPr eaLnBrk="1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eaLnBrk="1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return type;}</a:t>
            </a:r>
          </a:p>
          <a:p>
            <a:pPr eaLnBrk="1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1800" dirty="0">
              <a:solidFill>
                <a:srgbClr val="0033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endParaRPr lang="en-GB" altLang="en-US" sz="1800" dirty="0">
              <a:solidFill>
                <a:srgbClr val="0033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F36AC35A-29CB-46F5-A8F1-AC19A8A2CC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r>
              <a:rPr lang="en-US" altLang="en-US"/>
              <a:t>Type checker of expressions</a:t>
            </a:r>
          </a:p>
        </p:txBody>
      </p:sp>
      <p:pic>
        <p:nvPicPr>
          <p:cNvPr id="34819" name="Picture 5">
            <a:extLst>
              <a:ext uri="{FF2B5EF4-FFF2-40B4-BE49-F238E27FC236}">
                <a16:creationId xmlns:a16="http://schemas.microsoft.com/office/drawing/2014/main" id="{53515A6A-3D3D-42AD-BD9A-0C4047A71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76400"/>
            <a:ext cx="7942263" cy="467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B5265598-2AFA-455C-A9A1-9F6FB435D3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r>
              <a:rPr lang="en-US" altLang="en-US"/>
              <a:t>Type checker of statements</a:t>
            </a:r>
          </a:p>
        </p:txBody>
      </p:sp>
      <p:pic>
        <p:nvPicPr>
          <p:cNvPr id="35843" name="Picture 5">
            <a:extLst>
              <a:ext uri="{FF2B5EF4-FFF2-40B4-BE49-F238E27FC236}">
                <a16:creationId xmlns:a16="http://schemas.microsoft.com/office/drawing/2014/main" id="{787028A4-466C-4E9E-AEF7-5D87D41816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905000"/>
            <a:ext cx="81534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2BAA3D54-2AB1-4E85-8645-2A7A6DD056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r>
              <a:rPr lang="en-US" altLang="en-US"/>
              <a:t>Type checker of functions</a:t>
            </a:r>
          </a:p>
        </p:txBody>
      </p:sp>
      <p:pic>
        <p:nvPicPr>
          <p:cNvPr id="36867" name="Picture 5">
            <a:extLst>
              <a:ext uri="{FF2B5EF4-FFF2-40B4-BE49-F238E27FC236}">
                <a16:creationId xmlns:a16="http://schemas.microsoft.com/office/drawing/2014/main" id="{3E18424F-E425-417E-90CE-5479C6F5AA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88" y="1524000"/>
            <a:ext cx="8837612" cy="430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C195187D-EBC0-45C7-A696-6DEC409058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914400"/>
          </a:xfrm>
        </p:spPr>
        <p:txBody>
          <a:bodyPr/>
          <a:lstStyle/>
          <a:p>
            <a:r>
              <a:rPr lang="en-US" altLang="en-US" sz="3600"/>
              <a:t>Function  for checking equivalence of types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0544B247-8310-4728-B72D-7C61F1BA9C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990600"/>
            <a:ext cx="8610600" cy="5486400"/>
          </a:xfrm>
        </p:spPr>
        <p:txBody>
          <a:bodyPr rtlCol="0">
            <a:normAutofit fontScale="92500" lnSpcReduction="20000"/>
          </a:bodyPr>
          <a:lstStyle/>
          <a:p>
            <a:pPr fontAlgn="auto">
              <a:lnSpc>
                <a:spcPct val="8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2000" dirty="0"/>
              <a:t> 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sequiv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(s, t):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  if s and t have the same basic type then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        return true;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  else if s = array(s1, s2) and t  = array(t1, t2) then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        return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sequiv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(s1, t1) and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sequiv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(s2, t2)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  else if s = s1 x s2 and t  = t1 x t2) then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        return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sequiv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(s1, t1) and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sequiv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(s2, t2)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  else if s = pointer(s1) and t  = pointer(t1) then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        return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sequiv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(s1, t1) 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  else if s = s1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s2 and t  = t1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t2 then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        return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sequiv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(s1, t1) and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sequiv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(s2, t2)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  else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        return false;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end; 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3900FB52-36CC-42D9-8BF3-3898AB22D5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r>
              <a:rPr lang="en-US" altLang="en-US"/>
              <a:t>Type Conversion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990FF72D-0427-4FC3-B744-458439BC39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371600"/>
            <a:ext cx="8686800" cy="4495800"/>
          </a:xfrm>
        </p:spPr>
        <p:txBody>
          <a:bodyPr/>
          <a:lstStyle/>
          <a:p>
            <a:endParaRPr lang="en-US" altLang="en-US" sz="2400"/>
          </a:p>
          <a:p>
            <a:r>
              <a:rPr lang="en-US" altLang="en-US" sz="2400"/>
              <a:t>What’s the type of “x + i” if: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000"/>
              <a:t>1. x is of type real;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000"/>
              <a:t>2. i is of type int;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000"/>
              <a:t>3. Different machine instructions are used for operations on reals and integers.</a:t>
            </a:r>
          </a:p>
          <a:p>
            <a:r>
              <a:rPr lang="en-US" altLang="en-US" sz="2400"/>
              <a:t>Depending on the language, specific conversion rules must be adopted by the </a:t>
            </a:r>
            <a:r>
              <a:rPr lang="en-US" altLang="en-US" sz="2400" b="1"/>
              <a:t>compiler</a:t>
            </a:r>
            <a:r>
              <a:rPr lang="en-US" altLang="en-US" sz="2400"/>
              <a:t> to convert the type of one of the operand of +.</a:t>
            </a:r>
            <a:endParaRPr lang="en-US" altLang="en-US" sz="2400" b="1"/>
          </a:p>
          <a:p>
            <a:r>
              <a:rPr lang="en-US" altLang="en-US" sz="2400"/>
              <a:t>The type checker in a </a:t>
            </a:r>
            <a:r>
              <a:rPr lang="en-US" altLang="en-US" sz="2400" b="1"/>
              <a:t>compiler</a:t>
            </a:r>
            <a:r>
              <a:rPr lang="en-US" altLang="en-US" sz="2400"/>
              <a:t> can insert these conversion operators into the intermediate code.</a:t>
            </a:r>
            <a:endParaRPr lang="en-US" altLang="en-US" sz="2400" b="1"/>
          </a:p>
          <a:p>
            <a:r>
              <a:rPr lang="en-US" altLang="en-US" sz="2400"/>
              <a:t>Such an implicit type conversion is called </a:t>
            </a:r>
            <a:r>
              <a:rPr lang="en-US" altLang="en-US" sz="2400" i="1"/>
              <a:t>Coercion</a:t>
            </a:r>
            <a:r>
              <a:rPr lang="en-US" altLang="en-US" sz="2400"/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C75B316E-0CC2-426B-BE9B-12A332278A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229600" cy="1371600"/>
          </a:xfrm>
        </p:spPr>
        <p:txBody>
          <a:bodyPr/>
          <a:lstStyle/>
          <a:p>
            <a:r>
              <a:rPr lang="en-US" altLang="en-US"/>
              <a:t>Type coercion rules</a:t>
            </a:r>
          </a:p>
        </p:txBody>
      </p:sp>
      <p:pic>
        <p:nvPicPr>
          <p:cNvPr id="39939" name="Picture 5">
            <a:extLst>
              <a:ext uri="{FF2B5EF4-FFF2-40B4-BE49-F238E27FC236}">
                <a16:creationId xmlns:a16="http://schemas.microsoft.com/office/drawing/2014/main" id="{DA2EA77A-2294-4575-A32A-2B444C08AA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447800"/>
            <a:ext cx="8494713" cy="509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7F8C0EBB-8540-4757-9CDF-E5CE128C31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838200"/>
          </a:xfrm>
        </p:spPr>
        <p:txBody>
          <a:bodyPr/>
          <a:lstStyle/>
          <a:p>
            <a:r>
              <a:rPr lang="en-US" altLang="en-US"/>
              <a:t>Symbol Table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53C2EC96-2308-40A4-AA38-A3312ADD45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29600" cy="5105400"/>
          </a:xfrm>
        </p:spPr>
        <p:txBody>
          <a:bodyPr/>
          <a:lstStyle/>
          <a:p>
            <a:r>
              <a:rPr lang="en-US" altLang="en-US"/>
              <a:t>The </a:t>
            </a:r>
            <a:r>
              <a:rPr lang="en-US" altLang="en-US" b="1"/>
              <a:t>Symbol Table </a:t>
            </a:r>
            <a:r>
              <a:rPr lang="en-US" altLang="en-US"/>
              <a:t>is the major inherited attribute and the major data structure as well.</a:t>
            </a:r>
          </a:p>
          <a:p>
            <a:r>
              <a:rPr lang="en-US" altLang="en-US"/>
              <a:t>Symbol Tables store information about the name, type, scope and allocation size.</a:t>
            </a:r>
          </a:p>
          <a:p>
            <a:r>
              <a:rPr lang="en-US" altLang="en-US"/>
              <a:t>Symbol Table must maintain efficiency against insertion and lookup.</a:t>
            </a:r>
          </a:p>
          <a:p>
            <a:r>
              <a:rPr lang="en-US" altLang="en-US"/>
              <a:t>Dynamic data structures must be used to implement a symbol table: Linear Lists and Hash Tables are the most used.</a:t>
            </a:r>
            <a:endParaRPr lang="en-US" altLang="en-US" b="1"/>
          </a:p>
          <a:p>
            <a:r>
              <a:rPr lang="en-US" altLang="en-US"/>
              <a:t>Each entry has the form of a record with a field for each peace of information.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091F2278-A83B-4473-9BFF-B37375018E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r>
              <a:rPr lang="en-US" altLang="en-US"/>
              <a:t>Storing names</a:t>
            </a:r>
          </a:p>
        </p:txBody>
      </p:sp>
      <p:pic>
        <p:nvPicPr>
          <p:cNvPr id="41987" name="Picture 5">
            <a:extLst>
              <a:ext uri="{FF2B5EF4-FFF2-40B4-BE49-F238E27FC236}">
                <a16:creationId xmlns:a16="http://schemas.microsoft.com/office/drawing/2014/main" id="{26D46639-286F-4EE4-9652-820DD72F6F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828800"/>
            <a:ext cx="6942138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24F064D6-EAFA-4C06-8F31-A9619A41D0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458200" cy="914400"/>
          </a:xfrm>
        </p:spPr>
        <p:txBody>
          <a:bodyPr/>
          <a:lstStyle/>
          <a:p>
            <a:r>
              <a:rPr lang="en-US" altLang="en-US"/>
              <a:t>Symbol Tables and Scope Rules</a:t>
            </a:r>
            <a:endParaRPr lang="en-US" altLang="en-US" sz="4000"/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119EFA4C-1322-4F79-BFB2-D5662F0090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pPr>
              <a:lnSpc>
                <a:spcPct val="80000"/>
              </a:lnSpc>
            </a:pPr>
            <a:endParaRPr lang="en-US" altLang="en-US"/>
          </a:p>
          <a:p>
            <a:pPr>
              <a:lnSpc>
                <a:spcPct val="80000"/>
              </a:lnSpc>
            </a:pPr>
            <a:r>
              <a:rPr lang="en-US" altLang="en-US"/>
              <a:t>A </a:t>
            </a:r>
            <a:r>
              <a:rPr lang="en-US" altLang="en-US" b="1"/>
              <a:t>Block </a:t>
            </a:r>
            <a:r>
              <a:rPr lang="en-US" altLang="en-US"/>
              <a:t>in a programming language is any set of language constructs that can contain declarations.</a:t>
            </a:r>
          </a:p>
          <a:p>
            <a:pPr>
              <a:lnSpc>
                <a:spcPct val="80000"/>
              </a:lnSpc>
            </a:pPr>
            <a:r>
              <a:rPr lang="en-US" altLang="en-US"/>
              <a:t>A language is </a:t>
            </a:r>
            <a:r>
              <a:rPr lang="en-US" altLang="en-US" b="1"/>
              <a:t>Block Structured </a:t>
            </a:r>
            <a:r>
              <a:rPr lang="en-US" altLang="en-US"/>
              <a:t>if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/>
              <a:t>1. Blocks can be </a:t>
            </a:r>
            <a:r>
              <a:rPr lang="en-US" altLang="en-US" i="1"/>
              <a:t>nested </a:t>
            </a:r>
            <a:r>
              <a:rPr lang="en-US" altLang="en-US"/>
              <a:t>inside other blocks, and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/>
              <a:t>2. The </a:t>
            </a:r>
            <a:r>
              <a:rPr lang="en-US" altLang="en-US" i="1"/>
              <a:t>Scope </a:t>
            </a:r>
            <a:r>
              <a:rPr lang="en-US" altLang="en-US"/>
              <a:t>of declarations in a block is limited to that block and the blocks contained in that block.</a:t>
            </a:r>
          </a:p>
          <a:p>
            <a:pPr>
              <a:lnSpc>
                <a:spcPct val="80000"/>
              </a:lnSpc>
            </a:pPr>
            <a:r>
              <a:rPr lang="en-US" altLang="en-US" b="1"/>
              <a:t>Most Closely Nested Rule. </a:t>
            </a:r>
            <a:r>
              <a:rPr lang="en-US" altLang="en-US"/>
              <a:t>Given several different declarations for the same identifier, the declaration that applies is the one in the most closely nested block.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F322C911-E374-4C04-8938-BBE12AF117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3400"/>
            <a:ext cx="9372600" cy="914400"/>
          </a:xfrm>
        </p:spPr>
        <p:txBody>
          <a:bodyPr/>
          <a:lstStyle/>
          <a:p>
            <a:r>
              <a:rPr lang="en-US" altLang="en-US" sz="4000"/>
              <a:t>Symbol Tables and Scope Rules (con’d) 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5194C282-6E8F-4096-92FF-428544F980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981200"/>
            <a:ext cx="8229600" cy="4648200"/>
          </a:xfrm>
        </p:spPr>
        <p:txBody>
          <a:bodyPr/>
          <a:lstStyle/>
          <a:p>
            <a:r>
              <a:rPr lang="en-US" altLang="en-US"/>
              <a:t>To implement symbol tables complying with nested scopes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/>
              <a:t>1. The </a:t>
            </a:r>
            <a:r>
              <a:rPr lang="en-US" altLang="en-US" i="1"/>
              <a:t>insert </a:t>
            </a:r>
            <a:r>
              <a:rPr lang="en-US" altLang="en-US"/>
              <a:t>operation into the symbol table must not overwrite previous declarations;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/>
              <a:t>2. The </a:t>
            </a:r>
            <a:r>
              <a:rPr lang="en-US" altLang="en-US" i="1"/>
              <a:t>lookup </a:t>
            </a:r>
            <a:r>
              <a:rPr lang="en-US" altLang="en-US"/>
              <a:t>operation into the symbol table must always refer to the most close block rule;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/>
              <a:t>3. The </a:t>
            </a:r>
            <a:r>
              <a:rPr lang="en-US" altLang="en-US" i="1"/>
              <a:t>delete </a:t>
            </a:r>
            <a:r>
              <a:rPr lang="en-US" altLang="en-US"/>
              <a:t>operation must delete only the most recent declarations.</a:t>
            </a:r>
          </a:p>
          <a:p>
            <a:r>
              <a:rPr lang="en-US" altLang="en-US"/>
              <a:t>The symbol table behaves in a stack-like manner.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753F3B3E-9FDA-4908-AE76-90FEC83F04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Procedure Activations: Example</a:t>
            </a:r>
          </a:p>
        </p:txBody>
      </p:sp>
      <p:sp>
        <p:nvSpPr>
          <p:cNvPr id="45059" name="Slide Number Placeholder 4">
            <a:extLst>
              <a:ext uri="{FF2B5EF4-FFF2-40B4-BE49-F238E27FC236}">
                <a16:creationId xmlns:a16="http://schemas.microsoft.com/office/drawing/2014/main" id="{7BFC96A3-D828-49D4-84E2-97990B220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l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5D896216-237E-4DCF-8491-62F8CF325403}" type="slidenum">
              <a:rPr lang="en-US" altLang="en-US" sz="1200">
                <a:latin typeface="Arial" panose="020B0604020202020204" pitchFamily="34" charset="0"/>
              </a:rPr>
              <a:pPr algn="l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34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45060" name="Text Box 3">
            <a:extLst>
              <a:ext uri="{FF2B5EF4-FFF2-40B4-BE49-F238E27FC236}">
                <a16:creationId xmlns:a16="http://schemas.microsoft.com/office/drawing/2014/main" id="{98178641-33E1-4981-84E9-DAD1C77E89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447800"/>
            <a:ext cx="7848600" cy="452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program sort;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var a : array[0..10] of integer;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    x : integer;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procedure readarray;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   var i : integer;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   begin … a … end { readarray };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procedure exchange</a:t>
            </a:r>
            <a:r>
              <a:rPr lang="en-US" altLang="ko-KR" sz="1800" b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( i:integer; j : integer );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   begin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       x := a[i]; a[i] := a[j]; a[j] := 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   end { exchange };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procedure quicksort</a:t>
            </a:r>
            <a:r>
              <a:rPr lang="en-US" altLang="ko-KR" sz="1800" b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( m: integer; n: integer );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   var k, v : integer;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function partition</a:t>
            </a:r>
            <a:r>
              <a:rPr lang="en-US" altLang="ko-KR" sz="1800" b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( y:integer; z: integer ): integer;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   var i, j : integer;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   begin… a …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         … v …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         … exchange( i, j ); …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   end { partition };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begin … end { quicksort };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begin … end { sort };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C325C133-DDCC-4914-A05B-C2EFFBE6B8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r>
              <a:rPr lang="en-US" altLang="en-US" sz="4000"/>
              <a:t>Maintain separate symbol tables </a:t>
            </a:r>
            <a:br>
              <a:rPr lang="en-US" altLang="en-US" sz="4000"/>
            </a:br>
            <a:r>
              <a:rPr lang="en-US" altLang="en-US" sz="4000"/>
              <a:t>for each scope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47530B91-3A98-4324-BF12-DA9BB1009E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536700"/>
            <a:ext cx="8229600" cy="990600"/>
          </a:xfrm>
        </p:spPr>
        <p:txBody>
          <a:bodyPr/>
          <a:lstStyle/>
          <a:p>
            <a:r>
              <a:rPr lang="en-US" altLang="en-US"/>
              <a:t>Tables must be linked both from inner to outer scope, and from outer to inner </a:t>
            </a:r>
          </a:p>
        </p:txBody>
      </p:sp>
      <p:pic>
        <p:nvPicPr>
          <p:cNvPr id="46084" name="Picture 4">
            <a:extLst>
              <a:ext uri="{FF2B5EF4-FFF2-40B4-BE49-F238E27FC236}">
                <a16:creationId xmlns:a16="http://schemas.microsoft.com/office/drawing/2014/main" id="{EC36B4E7-943C-445A-A48A-FCADE1184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590800"/>
            <a:ext cx="5057775" cy="364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61F19374-AB9E-4431-8E08-BE537F3D7C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685800"/>
            <a:ext cx="8153400" cy="609600"/>
          </a:xfrm>
        </p:spPr>
        <p:txBody>
          <a:bodyPr/>
          <a:lstStyle/>
          <a:p>
            <a:r>
              <a:rPr lang="en-US" altLang="en-US" sz="3600"/>
              <a:t>Lexical- Vs. Syntactic-Time Construction</a:t>
            </a:r>
            <a:br>
              <a:rPr lang="en-US" altLang="en-US" sz="4800"/>
            </a:br>
            <a:endParaRPr lang="en-US" altLang="en-US"/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2A98288A-D636-4468-8C54-F04BB2BDDC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5334000"/>
          </a:xfrm>
        </p:spPr>
        <p:txBody>
          <a:bodyPr/>
          <a:lstStyle/>
          <a:p>
            <a:r>
              <a:rPr lang="en-US" altLang="en-US"/>
              <a:t>Information is first entered into a symbol table by the lexical analyzer only if the programming language does not allow for different declarations for the same identifier (scope).</a:t>
            </a:r>
          </a:p>
          <a:p>
            <a:r>
              <a:rPr lang="en-US" altLang="en-US"/>
              <a:t>If scoping is allowed, the lexical analyzer will only return the name of the identifier together with the token</a:t>
            </a:r>
            <a:endParaRPr lang="en-US" altLang="en-US" b="1"/>
          </a:p>
          <a:p>
            <a:r>
              <a:rPr lang="en-US" altLang="en-US"/>
              <a:t>The identifier is inserted into the symbol table when the syntactic role played by the identifier is discovered.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6E6F9E34-7909-47E8-AA29-8B99C27501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r>
              <a:rPr lang="en-US" altLang="en-US"/>
              <a:t>Relative Address 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504D367A-7D4F-4CD6-A524-F8B886F1DD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593850"/>
            <a:ext cx="7886700" cy="4483100"/>
          </a:xfrm>
        </p:spPr>
        <p:txBody>
          <a:bodyPr/>
          <a:lstStyle/>
          <a:p>
            <a:r>
              <a:rPr lang="en-US" altLang="en-US" b="1"/>
              <a:t>Relative Address. </a:t>
            </a:r>
            <a:r>
              <a:rPr lang="en-US" altLang="en-US"/>
              <a:t>Is a storage allocation information consisting of an offset from a base (usually zero) address: The Loader will be responsible for the run-time storage.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B1ECEEEB-464B-4C84-9143-F7EEB9368B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r>
              <a:rPr lang="en-US" altLang="en-US"/>
              <a:t>Computes relative address</a:t>
            </a:r>
          </a:p>
        </p:txBody>
      </p:sp>
      <p:pic>
        <p:nvPicPr>
          <p:cNvPr id="49155" name="Picture 4">
            <a:extLst>
              <a:ext uri="{FF2B5EF4-FFF2-40B4-BE49-F238E27FC236}">
                <a16:creationId xmlns:a16="http://schemas.microsoft.com/office/drawing/2014/main" id="{CE0BC87E-4E71-4989-9888-FF07EF770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133600"/>
            <a:ext cx="7170738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6" name="Text Box 5">
            <a:extLst>
              <a:ext uri="{FF2B5EF4-FFF2-40B4-BE49-F238E27FC236}">
                <a16:creationId xmlns:a16="http://schemas.microsoft.com/office/drawing/2014/main" id="{576BF0C2-F815-4AFD-AF49-0EB65CDBFE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524000"/>
            <a:ext cx="807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Use a global variable called </a:t>
            </a:r>
            <a:r>
              <a:rPr lang="en-US" altLang="en-US" sz="2400" i="1">
                <a:latin typeface="Arial" panose="020B0604020202020204" pitchFamily="34" charset="0"/>
              </a:rPr>
              <a:t>offset</a:t>
            </a:r>
            <a:r>
              <a:rPr lang="en-US" altLang="en-US" sz="2400"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4">
            <a:extLst>
              <a:ext uri="{FF2B5EF4-FFF2-40B4-BE49-F238E27FC236}">
                <a16:creationId xmlns:a16="http://schemas.microsoft.com/office/drawing/2014/main" id="{32F3AFE6-775F-4751-A2C9-A5B708BBFA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143000"/>
          </a:xfrm>
          <a:noFill/>
        </p:spPr>
        <p:txBody>
          <a:bodyPr/>
          <a:lstStyle/>
          <a:p>
            <a:r>
              <a:rPr lang="en-US" altLang="en-US"/>
              <a:t>Computes relative address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0A5DE277-34B6-41BA-8BEE-6EC0D81813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752600"/>
            <a:ext cx="8229600" cy="4724400"/>
          </a:xfrm>
        </p:spPr>
        <p:txBody>
          <a:bodyPr/>
          <a:lstStyle/>
          <a:p>
            <a:r>
              <a:rPr lang="en-US" altLang="en-US"/>
              <a:t>The global variable </a:t>
            </a:r>
            <a:r>
              <a:rPr lang="en-US" altLang="en-US" i="1"/>
              <a:t>offset </a:t>
            </a:r>
            <a:r>
              <a:rPr lang="en-US" altLang="en-US"/>
              <a:t>keeps track of the next available address.</a:t>
            </a:r>
            <a:endParaRPr lang="en-US" altLang="en-US" b="1"/>
          </a:p>
          <a:p>
            <a:r>
              <a:rPr lang="en-US" altLang="en-US"/>
              <a:t>Before the first declaration, </a:t>
            </a:r>
            <a:r>
              <a:rPr lang="en-US" altLang="en-US" i="1"/>
              <a:t>offset </a:t>
            </a:r>
            <a:r>
              <a:rPr lang="en-US" altLang="en-US"/>
              <a:t>is set to 0</a:t>
            </a:r>
            <a:endParaRPr lang="en-US" altLang="en-US" b="1"/>
          </a:p>
          <a:p>
            <a:r>
              <a:rPr lang="en-US" altLang="en-US"/>
              <a:t>As each new identifier is seen it is entered in the symbol table and </a:t>
            </a:r>
            <a:r>
              <a:rPr lang="en-US" altLang="en-US" i="1"/>
              <a:t>offset </a:t>
            </a:r>
            <a:r>
              <a:rPr lang="en-US" altLang="en-US"/>
              <a:t>is incremented.</a:t>
            </a:r>
          </a:p>
          <a:p>
            <a:r>
              <a:rPr lang="en-US" altLang="en-US" i="1"/>
              <a:t>type </a:t>
            </a:r>
            <a:r>
              <a:rPr lang="en-US" altLang="en-US"/>
              <a:t>and </a:t>
            </a:r>
            <a:r>
              <a:rPr lang="en-US" altLang="en-US" i="1"/>
              <a:t>width </a:t>
            </a:r>
            <a:r>
              <a:rPr lang="en-US" altLang="en-US"/>
              <a:t>are synthesized attributes for non-terminal 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25D1DF30-2C66-4307-9219-636AFF1995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686800" cy="685800"/>
          </a:xfrm>
        </p:spPr>
        <p:txBody>
          <a:bodyPr/>
          <a:lstStyle/>
          <a:p>
            <a:r>
              <a:rPr lang="en-US" altLang="en-US" sz="4000"/>
              <a:t>Keeping Track of Scope Information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38B31CE1-C58F-4CA1-A17D-D446BDDC04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593850"/>
            <a:ext cx="7886700" cy="4483100"/>
          </a:xfrm>
        </p:spPr>
        <p:txBody>
          <a:bodyPr/>
          <a:lstStyle/>
          <a:p>
            <a:r>
              <a:rPr lang="en-US" altLang="en-US"/>
              <a:t>Consider </a:t>
            </a:r>
            <a:r>
              <a:rPr lang="en-US" altLang="en-US" i="1"/>
              <a:t>Nested Procedures</a:t>
            </a:r>
            <a:r>
              <a:rPr lang="en-US" altLang="en-US"/>
              <a:t>: When a nested procedure is seen processing of declarations in the enclosing procedure is suspended.</a:t>
            </a:r>
          </a:p>
          <a:p>
            <a:r>
              <a:rPr lang="en-US" altLang="en-US"/>
              <a:t>To keep track of nesting a stack is maintained.</a:t>
            </a:r>
          </a:p>
          <a:p>
            <a:r>
              <a:rPr lang="en-US" altLang="en-US"/>
              <a:t> We associate a new symbol table for each procedure:</a:t>
            </a:r>
            <a:endParaRPr lang="en-US" altLang="en-US" b="1"/>
          </a:p>
          <a:p>
            <a:r>
              <a:rPr lang="en-US" altLang="en-US"/>
              <a:t>When we need to </a:t>
            </a:r>
            <a:r>
              <a:rPr lang="en-US" altLang="en-US" i="1"/>
              <a:t>enter </a:t>
            </a:r>
            <a:r>
              <a:rPr lang="en-US" altLang="en-US"/>
              <a:t>a new identifier into a symbol table we need to specify which symbol table to use.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B4479969-12AA-4751-96F2-93D542E5D2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458200" cy="762000"/>
          </a:xfrm>
        </p:spPr>
        <p:txBody>
          <a:bodyPr/>
          <a:lstStyle/>
          <a:p>
            <a:r>
              <a:rPr lang="en-US" altLang="en-US" sz="3200"/>
              <a:t>Processing declarations in nested procedures</a:t>
            </a:r>
          </a:p>
        </p:txBody>
      </p:sp>
      <p:pic>
        <p:nvPicPr>
          <p:cNvPr id="52227" name="Picture 4">
            <a:extLst>
              <a:ext uri="{FF2B5EF4-FFF2-40B4-BE49-F238E27FC236}">
                <a16:creationId xmlns:a16="http://schemas.microsoft.com/office/drawing/2014/main" id="{A50346AC-0FC0-477C-9E4A-213BC40431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828800"/>
            <a:ext cx="7456488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A4728AD1-AF5C-42B1-883E-BF0C596BC3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686800" cy="1371600"/>
          </a:xfrm>
        </p:spPr>
        <p:txBody>
          <a:bodyPr/>
          <a:lstStyle/>
          <a:p>
            <a:r>
              <a:rPr lang="en-US" altLang="en-US" sz="4000"/>
              <a:t>Keeping Track of Scope Information</a:t>
            </a:r>
            <a:r>
              <a:rPr lang="en-US" altLang="en-US"/>
              <a:t> 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F291740C-FD63-45B5-AD36-29A1EC14D1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676400"/>
            <a:ext cx="8686800" cy="50292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400"/>
              <a:t>The semantic rules make use of the following procedures and stack variables: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1. </a:t>
            </a:r>
            <a:r>
              <a:rPr lang="en-US" altLang="en-US" sz="2000" i="1"/>
              <a:t>mktable(previous) </a:t>
            </a:r>
            <a:r>
              <a:rPr lang="en-US" altLang="en-US" sz="2000"/>
              <a:t>creates a new symbol table and returns its pointer. The argument </a:t>
            </a:r>
            <a:r>
              <a:rPr lang="en-US" altLang="en-US" sz="2000" i="1"/>
              <a:t>previous </a:t>
            </a:r>
            <a:r>
              <a:rPr lang="en-US" altLang="en-US" sz="2000"/>
              <a:t>is the pointer to the enclosing procedure.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2. The stack </a:t>
            </a:r>
            <a:r>
              <a:rPr lang="en-US" altLang="en-US" sz="2000" i="1"/>
              <a:t>tblptr </a:t>
            </a:r>
            <a:r>
              <a:rPr lang="en-US" altLang="en-US" sz="2000"/>
              <a:t>holds pointers to symbol tables of the enclosing procedures.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3. The stack </a:t>
            </a:r>
            <a:r>
              <a:rPr lang="en-US" altLang="en-US" sz="2000" i="1"/>
              <a:t>offset </a:t>
            </a:r>
            <a:r>
              <a:rPr lang="en-US" altLang="en-US" sz="2000"/>
              <a:t>keeps track of the relative address w.r.t. a given nesting level.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4. </a:t>
            </a:r>
            <a:r>
              <a:rPr lang="en-US" altLang="en-US" sz="2000" i="1"/>
              <a:t>enter(table,name,type,offset) </a:t>
            </a:r>
            <a:r>
              <a:rPr lang="en-US" altLang="en-US" sz="2000"/>
              <a:t>creates a new entry for the identifier </a:t>
            </a:r>
            <a:r>
              <a:rPr lang="en-US" altLang="en-US" sz="2000" i="1"/>
              <a:t>name </a:t>
            </a:r>
            <a:r>
              <a:rPr lang="en-US" altLang="en-US" sz="2000"/>
              <a:t>in the symbol table pointed to by </a:t>
            </a:r>
            <a:r>
              <a:rPr lang="en-US" altLang="en-US" sz="2000" i="1"/>
              <a:t>table</a:t>
            </a:r>
            <a:r>
              <a:rPr lang="en-US" altLang="en-US" sz="2000"/>
              <a:t>, specifying its </a:t>
            </a:r>
            <a:r>
              <a:rPr lang="en-US" altLang="en-US" sz="2000" i="1"/>
              <a:t>type </a:t>
            </a:r>
            <a:r>
              <a:rPr lang="en-US" altLang="en-US" sz="2000"/>
              <a:t>and </a:t>
            </a:r>
            <a:r>
              <a:rPr lang="en-US" altLang="en-US" sz="2000" i="1"/>
              <a:t>offset</a:t>
            </a:r>
            <a:r>
              <a:rPr lang="en-US" altLang="en-US" sz="2000"/>
              <a:t>.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5. </a:t>
            </a:r>
            <a:r>
              <a:rPr lang="en-US" altLang="en-US" sz="2000" i="1"/>
              <a:t>addwidth(table,width) </a:t>
            </a:r>
            <a:r>
              <a:rPr lang="en-US" altLang="en-US" sz="2000"/>
              <a:t>records the cumulative </a:t>
            </a:r>
            <a:r>
              <a:rPr lang="en-US" altLang="en-US" sz="2000" i="1"/>
              <a:t>width </a:t>
            </a:r>
            <a:r>
              <a:rPr lang="en-US" altLang="en-US" sz="2000"/>
              <a:t>of all the entries in </a:t>
            </a:r>
            <a:r>
              <a:rPr lang="en-US" altLang="en-US" sz="2000" i="1"/>
              <a:t>table </a:t>
            </a:r>
            <a:r>
              <a:rPr lang="en-US" altLang="en-US" sz="2000"/>
              <a:t>in the header of the symbol table.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6. </a:t>
            </a:r>
            <a:r>
              <a:rPr lang="en-US" altLang="en-US" sz="2000" i="1"/>
              <a:t>enterproc(table,name,newtable) </a:t>
            </a:r>
            <a:r>
              <a:rPr lang="en-US" altLang="en-US" sz="2000"/>
              <a:t>creates a new entry for procedure </a:t>
            </a:r>
            <a:r>
              <a:rPr lang="en-US" altLang="en-US" sz="2000" i="1"/>
              <a:t>name </a:t>
            </a:r>
            <a:r>
              <a:rPr lang="en-US" altLang="en-US" sz="2000"/>
              <a:t>inthe symbol table pointed to by </a:t>
            </a:r>
            <a:r>
              <a:rPr lang="en-US" altLang="en-US" sz="2000" i="1"/>
              <a:t>table</a:t>
            </a:r>
            <a:r>
              <a:rPr lang="en-US" altLang="en-US" sz="2000"/>
              <a:t>. The argument </a:t>
            </a:r>
            <a:r>
              <a:rPr lang="en-US" altLang="en-US" sz="2000" i="1"/>
              <a:t>newtable </a:t>
            </a:r>
            <a:r>
              <a:rPr lang="en-US" altLang="en-US" sz="2000"/>
              <a:t>points to the symbol table for this procedure </a:t>
            </a:r>
            <a:r>
              <a:rPr lang="en-US" altLang="en-US" sz="2000" i="1"/>
              <a:t>name</a:t>
            </a:r>
            <a:r>
              <a:rPr lang="en-US" altLang="en-US" sz="200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ICT-PPT-template-hoi-thao-onlin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SoICT-PPT-template-hoi-thao-online</Template>
  <TotalTime>7219</TotalTime>
  <Words>2808</Words>
  <Application>Microsoft Office PowerPoint</Application>
  <PresentationFormat>On-screen Show (4:3)</PresentationFormat>
  <Paragraphs>279</Paragraphs>
  <Slides>42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1" baseType="lpstr">
      <vt:lpstr>Calibri</vt:lpstr>
      <vt:lpstr>Arial</vt:lpstr>
      <vt:lpstr>Times New Roman</vt:lpstr>
      <vt:lpstr>Wingdings</vt:lpstr>
      <vt:lpstr>Symbol</vt:lpstr>
      <vt:lpstr>Courier New</vt:lpstr>
      <vt:lpstr>굴림</vt:lpstr>
      <vt:lpstr>SoICT-PPT-template-hoi-thao-online</vt:lpstr>
      <vt:lpstr>Bitmap Image</vt:lpstr>
      <vt:lpstr>Unit 10  Semantic Analysis</vt:lpstr>
      <vt:lpstr>Summary</vt:lpstr>
      <vt:lpstr>Semantic analysis</vt:lpstr>
      <vt:lpstr>Semantic analysis</vt:lpstr>
      <vt:lpstr>Type checking</vt:lpstr>
      <vt:lpstr>Examples of Tasks</vt:lpstr>
      <vt:lpstr>Type checking</vt:lpstr>
      <vt:lpstr>Type Expressions </vt:lpstr>
      <vt:lpstr>Type expresions (con’d)</vt:lpstr>
      <vt:lpstr>Type expressions (con’d)</vt:lpstr>
      <vt:lpstr>Type System</vt:lpstr>
      <vt:lpstr>Specification of a Type Checker</vt:lpstr>
      <vt:lpstr>Syntax-Directed Translation</vt:lpstr>
      <vt:lpstr>Attributes</vt:lpstr>
      <vt:lpstr>Syntax Directed Definition</vt:lpstr>
      <vt:lpstr>Forms of  a syntax directed definition</vt:lpstr>
      <vt:lpstr>Example</vt:lpstr>
      <vt:lpstr>Synthesized Attribute Example</vt:lpstr>
      <vt:lpstr>Inherited Attribute Example</vt:lpstr>
      <vt:lpstr>Example of annotated parse tree</vt:lpstr>
      <vt:lpstr>Type checker of identifiers</vt:lpstr>
      <vt:lpstr>Insert type of variable to symbol table</vt:lpstr>
      <vt:lpstr>PowerPoint Presentation</vt:lpstr>
      <vt:lpstr>Type checker of expressions</vt:lpstr>
      <vt:lpstr>Type checker of statements</vt:lpstr>
      <vt:lpstr>Type checker of functions</vt:lpstr>
      <vt:lpstr>Function  for checking equivalence of types</vt:lpstr>
      <vt:lpstr>Type Conversion</vt:lpstr>
      <vt:lpstr>Type coercion rules</vt:lpstr>
      <vt:lpstr>Symbol Table</vt:lpstr>
      <vt:lpstr>Storing names</vt:lpstr>
      <vt:lpstr>Symbol Tables and Scope Rules</vt:lpstr>
      <vt:lpstr>Symbol Tables and Scope Rules (con’d) </vt:lpstr>
      <vt:lpstr>Procedure Activations: Example</vt:lpstr>
      <vt:lpstr>Maintain separate symbol tables  for each scope</vt:lpstr>
      <vt:lpstr>Lexical- Vs. Syntactic-Time Construction </vt:lpstr>
      <vt:lpstr>Relative Address </vt:lpstr>
      <vt:lpstr>Computes relative address</vt:lpstr>
      <vt:lpstr>Computes relative address</vt:lpstr>
      <vt:lpstr>Keeping Track of Scope Information</vt:lpstr>
      <vt:lpstr>Processing declarations in nested procedures</vt:lpstr>
      <vt:lpstr>Keeping Track of Scope Information </vt:lpstr>
    </vt:vector>
  </TitlesOfParts>
  <Company>Tel 0915 152 158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COMPILER COSTRUCTION</dc:title>
  <dc:creator>huongnt</dc:creator>
  <cp:lastModifiedBy>Nguyen Thi Thu Huong</cp:lastModifiedBy>
  <cp:revision>358</cp:revision>
  <dcterms:created xsi:type="dcterms:W3CDTF">2008-08-10T02:45:21Z</dcterms:created>
  <dcterms:modified xsi:type="dcterms:W3CDTF">2021-01-19T14:23:05Z</dcterms:modified>
</cp:coreProperties>
</file>